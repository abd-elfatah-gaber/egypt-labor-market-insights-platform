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2.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3.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webextensions/webextension1.xml" ContentType="application/vnd.ms-office.webextension+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heme/themeOverride4.xml" ContentType="application/vnd.openxmlformats-officedocument.themeOverr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heme/themeOverride5.xml" ContentType="application/vnd.openxmlformats-officedocument.themeOverr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5"/>
  </p:notesMasterIdLst>
  <p:sldIdLst>
    <p:sldId id="256" r:id="rId2"/>
    <p:sldId id="257" r:id="rId3"/>
    <p:sldId id="258" r:id="rId4"/>
    <p:sldId id="260" r:id="rId5"/>
    <p:sldId id="345" r:id="rId6"/>
    <p:sldId id="267" r:id="rId7"/>
    <p:sldId id="346" r:id="rId8"/>
    <p:sldId id="261" r:id="rId9"/>
    <p:sldId id="347" r:id="rId10"/>
    <p:sldId id="295" r:id="rId11"/>
    <p:sldId id="296" r:id="rId12"/>
    <p:sldId id="297" r:id="rId13"/>
    <p:sldId id="298" r:id="rId14"/>
    <p:sldId id="299" r:id="rId15"/>
    <p:sldId id="300" r:id="rId16"/>
    <p:sldId id="303" r:id="rId17"/>
    <p:sldId id="301" r:id="rId18"/>
    <p:sldId id="348" r:id="rId19"/>
    <p:sldId id="352" r:id="rId20"/>
    <p:sldId id="353" r:id="rId21"/>
    <p:sldId id="354" r:id="rId22"/>
    <p:sldId id="355" r:id="rId23"/>
    <p:sldId id="349" r:id="rId24"/>
    <p:sldId id="269" r:id="rId25"/>
    <p:sldId id="302" r:id="rId26"/>
    <p:sldId id="309" r:id="rId27"/>
    <p:sldId id="310" r:id="rId28"/>
    <p:sldId id="311" r:id="rId29"/>
    <p:sldId id="312" r:id="rId30"/>
    <p:sldId id="313" r:id="rId31"/>
    <p:sldId id="314" r:id="rId32"/>
    <p:sldId id="315" r:id="rId33"/>
    <p:sldId id="306" r:id="rId34"/>
    <p:sldId id="351" r:id="rId35"/>
    <p:sldId id="316" r:id="rId36"/>
    <p:sldId id="268" r:id="rId37"/>
    <p:sldId id="317" r:id="rId38"/>
    <p:sldId id="270" r:id="rId39"/>
    <p:sldId id="271" r:id="rId40"/>
    <p:sldId id="272" r:id="rId41"/>
    <p:sldId id="318" r:id="rId42"/>
    <p:sldId id="319" r:id="rId43"/>
    <p:sldId id="320" r:id="rId44"/>
    <p:sldId id="321" r:id="rId45"/>
    <p:sldId id="322" r:id="rId46"/>
    <p:sldId id="323" r:id="rId47"/>
    <p:sldId id="324" r:id="rId48"/>
    <p:sldId id="325" r:id="rId49"/>
    <p:sldId id="326" r:id="rId50"/>
    <p:sldId id="327" r:id="rId51"/>
    <p:sldId id="328" r:id="rId52"/>
    <p:sldId id="329" r:id="rId53"/>
    <p:sldId id="330" r:id="rId54"/>
    <p:sldId id="331" r:id="rId55"/>
    <p:sldId id="332" r:id="rId56"/>
    <p:sldId id="333" r:id="rId57"/>
    <p:sldId id="334" r:id="rId58"/>
    <p:sldId id="307" r:id="rId59"/>
    <p:sldId id="336" r:id="rId60"/>
    <p:sldId id="337" r:id="rId61"/>
    <p:sldId id="338" r:id="rId62"/>
    <p:sldId id="350" r:id="rId63"/>
    <p:sldId id="288" r:id="rId64"/>
    <p:sldId id="289" r:id="rId65"/>
    <p:sldId id="339" r:id="rId66"/>
    <p:sldId id="340" r:id="rId67"/>
    <p:sldId id="341" r:id="rId68"/>
    <p:sldId id="293" r:id="rId69"/>
    <p:sldId id="294" r:id="rId70"/>
    <p:sldId id="290" r:id="rId71"/>
    <p:sldId id="342" r:id="rId72"/>
    <p:sldId id="343" r:id="rId73"/>
    <p:sldId id="344" r:id="rId74"/>
    <p:sldId id="259" r:id="rId75"/>
    <p:sldId id="262" r:id="rId76"/>
    <p:sldId id="263" r:id="rId77"/>
    <p:sldId id="265" r:id="rId78"/>
    <p:sldId id="273" r:id="rId79"/>
    <p:sldId id="274" r:id="rId80"/>
    <p:sldId id="275" r:id="rId81"/>
    <p:sldId id="276" r:id="rId82"/>
    <p:sldId id="277" r:id="rId83"/>
    <p:sldId id="278" r:id="rId84"/>
    <p:sldId id="279" r:id="rId85"/>
    <p:sldId id="280" r:id="rId86"/>
    <p:sldId id="281" r:id="rId87"/>
    <p:sldId id="282" r:id="rId88"/>
    <p:sldId id="283" r:id="rId89"/>
    <p:sldId id="284" r:id="rId90"/>
    <p:sldId id="285" r:id="rId91"/>
    <p:sldId id="286" r:id="rId92"/>
    <p:sldId id="287" r:id="rId93"/>
    <p:sldId id="266" r:id="rId9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204F"/>
    <a:srgbClr val="F5F6FA"/>
    <a:srgbClr val="36ADA3"/>
    <a:srgbClr val="FFFFFF"/>
    <a:srgbClr val="0B80A1"/>
    <a:srgbClr val="2F578A"/>
    <a:srgbClr val="016394"/>
    <a:srgbClr val="063F78"/>
    <a:srgbClr val="032E66"/>
    <a:srgbClr val="232F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18" autoAdjust="0"/>
    <p:restoredTop sz="94610"/>
  </p:normalViewPr>
  <p:slideViewPr>
    <p:cSldViewPr snapToGrid="0" snapToObjects="1">
      <p:cViewPr varScale="1">
        <p:scale>
          <a:sx n="92" d="100"/>
          <a:sy n="92" d="100"/>
        </p:scale>
        <p:origin x="74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2308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5AB7D-2A07-0367-5D05-DDC38CC15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AA3637-1C20-4382-F028-D2162C9580B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8DC5910-C24A-42BE-3A20-0331623401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0ACCCA-BFFD-4A8A-A22C-47A65C5F4E3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261004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07F8A-034B-3A4C-33A2-0ABE1A4FF1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78874-3ABB-D4C5-CD5B-1FFC555796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AABEF-FA50-86A6-5FFD-CB2ABA4101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16278B-4370-2661-CA06-E24D1E7FA09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79062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348BE-BF9B-43C9-E189-5C9C56BB03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322B2-C019-6905-D6C4-A557C7AF7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4AFF6-BD43-450B-3849-9EFF3A5443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6568EB-2C0D-0DAF-5809-69CB303F303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337553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AE49D-87DE-A218-4AC6-CFD3ED0BC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343B8-2016-6F24-EC26-C0F39DF6E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F1A75-1F2C-5FBD-5BF5-2CDF2338E9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F057E2-EF0E-325C-0EA7-E446E81B2829}"/>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5699001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04975-9B8E-044F-99B6-212E3497C1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B4C4F-C631-83EB-5696-649EFD68A8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948360-FD7C-30E2-6E58-B02E7333EF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6AC06C-C293-F416-24B8-C0F569E80302}"/>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593658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8BB91-E237-12A5-94CB-1AD7C729C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AD617B-D204-E6C0-1B16-39068BB099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30CE39-EEB2-DE02-A235-E0FC877756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B5ED1D-2795-9637-13B5-A01C1F387585}"/>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4201826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3F10E-8E5D-5FF5-88B4-38F0E3CBB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9AA7D-520F-D012-AF5F-55F2CDFA0D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45C7A0-6522-BC70-3168-EA78EAE26B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A193FB-A53F-E408-8BF2-FFFB1FD5DAE3}"/>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1581537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10A94-DF45-C67F-0D9C-8A17FE8619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1FCA9-F91B-A265-5FA7-DC53F5EF9F3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28C00F-EC6A-AC46-91F8-D33612B87D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7400D4-E85E-733B-0A6E-6B4C8FEE0594}"/>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8846014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33A39-15F1-32EA-FDDC-A1C8C8153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DA52E-7C27-297B-3360-524357B12CC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639028-4B74-4664-CA35-E9A51134E5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42A2EC-E1CE-07F8-0372-8233E0ED3A5E}"/>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3206206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56F46-5447-077D-231F-4E67110101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3B8AA-E694-5C05-D2F3-27D7714829E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92E132-8CF4-12EF-BA29-C648CDD2EC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7B0434-D560-6837-FF1D-7F27FDFCB676}"/>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25600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55385-1BA1-9CA9-FE90-D9BD89C41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9BB95D-4B77-9900-EE27-419BD3D30B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AD22CB8-3D19-D8C2-8B67-C96FF7F284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4411E8-00CC-B88A-2080-B6176C8FE150}"/>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32383805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F6948-5DC7-768B-C826-392EBD20D3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A15BC3-D727-EA18-B8F4-8D2C3D6BD3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CEADBA-1BD3-7011-3F35-E7A15F05F3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797AE0-D261-7156-1B7E-279CD890C6CF}"/>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29580823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88B12-B562-C9CD-0673-BEAD50FDC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D6540-70B7-CF5F-B860-17511D269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CE4F1-6E0D-E3AC-B6F4-FA94735864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022E90-2181-E52A-A7B1-7244050010A8}"/>
              </a:ext>
            </a:extLst>
          </p:cNvPr>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1102742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191B9-8F82-E4C7-6BCF-3EAF424DA6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06CCC-E66E-20F1-C84F-EE7BB21DF4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85D352-AB9B-9007-FC55-11266C2B0A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468A57-D870-8B24-71E9-D958698F95FC}"/>
              </a:ext>
            </a:extLst>
          </p:cNvPr>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42507403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73FF-60A1-F833-7814-CBADED784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3BDC6-8A96-8573-CF31-F2A1B36708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8A48C9-30FE-6699-70C9-BF6E8FC286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DE99E6-7CBB-4AF6-C821-55D8632AAEC1}"/>
              </a:ext>
            </a:extLst>
          </p:cNvPr>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717259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PPTIST_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6090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26951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178928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4.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1.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hemeOverride" Target="../theme/themeOverride2.xml"/><Relationship Id="rId5" Type="http://schemas.openxmlformats.org/officeDocument/2006/relationships/image" Target="../media/image1.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hemeOverride" Target="../theme/themeOverride3.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0.png"/><Relationship Id="rId4" Type="http://schemas.microsoft.com/office/2011/relationships/webextension" Target="../webextensions/webextension1.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71.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72.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73.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77.png"/></Relationships>
</file>

<file path=ppt/slides/_rels/slide7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themeOverride" Target="../theme/themeOverride4.xml"/><Relationship Id="rId5" Type="http://schemas.openxmlformats.org/officeDocument/2006/relationships/image" Target="../media/image1.png"/><Relationship Id="rId4" Type="http://schemas.openxmlformats.org/officeDocument/2006/relationships/image" Target="../media/image81.png"/></Relationships>
</file>

<file path=ppt/slides/_rels/slide8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4.png"/></Relationships>
</file>

<file path=ppt/slides/_rels/slide8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s>
</file>

<file path=ppt/slides/_rels/slide8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91.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themeOverride" Target="../theme/themeOverride5.xml"/><Relationship Id="rId5" Type="http://schemas.openxmlformats.org/officeDocument/2006/relationships/image" Target="../media/image1.png"/><Relationship Id="rId4" Type="http://schemas.openxmlformats.org/officeDocument/2006/relationships/image" Target="../media/image92.jpg"/></Relationships>
</file>

<file path=ppt/slides/_rels/slide8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flip="none" rotWithShape="1">
          <a:gsLst>
            <a:gs pos="0">
              <a:srgbClr val="FFFFFF"/>
            </a:gs>
            <a:gs pos="50000">
              <a:srgbClr val="232F72"/>
            </a:gs>
            <a:gs pos="100000">
              <a:srgbClr val="2F578A"/>
            </a:gs>
          </a:gsLst>
          <a:lin ang="8100000" scaled="1"/>
        </a:gra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6ADA3"/>
          </a:solidFill>
          <a:ln/>
        </p:spPr>
        <p:txBody>
          <a:bodyPr/>
          <a:lstStyle/>
          <a:p>
            <a:endParaRPr lang="en-US"/>
          </a:p>
        </p:txBody>
      </p:sp>
      <p:sp>
        <p:nvSpPr>
          <p:cNvPr id="3" name="Shape 1"/>
          <p:cNvSpPr/>
          <p:nvPr/>
        </p:nvSpPr>
        <p:spPr>
          <a:xfrm>
            <a:off x="109728" y="4389120"/>
            <a:ext cx="9034272" cy="754380"/>
          </a:xfrm>
          <a:prstGeom prst="rect">
            <a:avLst/>
          </a:prstGeom>
          <a:solidFill>
            <a:srgbClr val="232F72"/>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498080" y="228600"/>
            <a:ext cx="1371600" cy="1353312"/>
          </a:xfrm>
          <a:prstGeom prst="rect">
            <a:avLst/>
          </a:prstGeom>
        </p:spPr>
      </p:pic>
      <p:sp>
        <p:nvSpPr>
          <p:cNvPr id="5" name="Text 2"/>
          <p:cNvSpPr/>
          <p:nvPr/>
        </p:nvSpPr>
        <p:spPr>
          <a:xfrm>
            <a:off x="457200" y="1005840"/>
            <a:ext cx="6858000" cy="914400"/>
          </a:xfrm>
          <a:prstGeom prst="rect">
            <a:avLst/>
          </a:prstGeom>
          <a:noFill/>
          <a:ln/>
        </p:spPr>
        <p:txBody>
          <a:bodyPr wrap="square" rtlCol="0" anchor="ctr"/>
          <a:lstStyle/>
          <a:p>
            <a:pPr marL="0" indent="0">
              <a:buNone/>
            </a:pPr>
            <a:r>
              <a:rPr lang="en-US" sz="3400" b="1" dirty="0">
                <a:solidFill>
                  <a:srgbClr val="FFFFFF"/>
                </a:solidFill>
                <a:latin typeface="Quattrocento Sans" pitchFamily="34" charset="0"/>
                <a:ea typeface="Quattrocento Sans" pitchFamily="34" charset="-122"/>
                <a:cs typeface="Quattrocento Sans" pitchFamily="34" charset="-120"/>
              </a:rPr>
              <a:t>Egypt Labor Market Insights</a:t>
            </a:r>
            <a:endParaRPr lang="en-US" sz="3400" dirty="0">
              <a:solidFill>
                <a:srgbClr val="FFFFFF"/>
              </a:solidFill>
            </a:endParaRPr>
          </a:p>
        </p:txBody>
      </p:sp>
      <p:sp>
        <p:nvSpPr>
          <p:cNvPr id="7" name="Text 4"/>
          <p:cNvSpPr/>
          <p:nvPr/>
        </p:nvSpPr>
        <p:spPr>
          <a:xfrm>
            <a:off x="457200" y="2514600"/>
            <a:ext cx="6858000" cy="411480"/>
          </a:xfrm>
          <a:prstGeom prst="rect">
            <a:avLst/>
          </a:prstGeom>
          <a:noFill/>
          <a:ln/>
        </p:spPr>
        <p:txBody>
          <a:bodyPr wrap="square" rtlCol="0" anchor="ctr"/>
          <a:lstStyle/>
          <a:p>
            <a:pPr marL="0" indent="0">
              <a:buNone/>
            </a:pPr>
            <a:r>
              <a:rPr lang="en-US" sz="1400" dirty="0">
                <a:solidFill>
                  <a:srgbClr val="FFFFFF"/>
                </a:solidFill>
                <a:latin typeface="Quattrocento Sans" pitchFamily="34" charset="0"/>
                <a:ea typeface="Quattrocento Sans" pitchFamily="34" charset="-122"/>
                <a:cs typeface="Quattrocento Sans" pitchFamily="34" charset="-120"/>
              </a:rPr>
              <a:t>CAPMAS 2024 Survey Data  ·  End-to-End Solution</a:t>
            </a:r>
            <a:endParaRPr lang="en-US" sz="1400" dirty="0">
              <a:solidFill>
                <a:srgbClr val="FFFFFF"/>
              </a:solidFill>
            </a:endParaRPr>
          </a:p>
        </p:txBody>
      </p:sp>
      <p:sp>
        <p:nvSpPr>
          <p:cNvPr id="8" name="Text 5"/>
          <p:cNvSpPr/>
          <p:nvPr/>
        </p:nvSpPr>
        <p:spPr>
          <a:xfrm>
            <a:off x="274320" y="4434840"/>
            <a:ext cx="8595360" cy="548640"/>
          </a:xfrm>
          <a:prstGeom prst="rect">
            <a:avLst/>
          </a:prstGeom>
          <a:noFill/>
          <a:ln/>
        </p:spPr>
        <p:txBody>
          <a:bodyPr wrap="square" rtlCol="0" anchor="ctr"/>
          <a:lstStyle/>
          <a:p>
            <a:pPr marL="0" indent="0" algn="r">
              <a:buNone/>
            </a:pPr>
            <a:r>
              <a:rPr lang="en-US" sz="1200" dirty="0">
                <a:solidFill>
                  <a:srgbClr val="36ADA3"/>
                </a:solidFill>
                <a:latin typeface="Quattrocento Sans" pitchFamily="34" charset="0"/>
                <a:ea typeface="Quattrocento Sans" pitchFamily="34" charset="-122"/>
                <a:cs typeface="Quattrocento Sans" pitchFamily="34" charset="-120"/>
              </a:rPr>
              <a:t>Powered by CAPMAS Egypt  |  2024-2025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gradFill flip="none" rotWithShape="1">
            <a:gsLst>
              <a:gs pos="0">
                <a:srgbClr val="121358"/>
              </a:gs>
              <a:gs pos="75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600" b="1" dirty="0">
                <a:solidFill>
                  <a:srgbClr val="FFFFFF"/>
                </a:solidFill>
                <a:latin typeface="Quattrocento Sans" pitchFamily="34" charset="0"/>
                <a:ea typeface="Quattrocento Sans" pitchFamily="34" charset="-122"/>
                <a:cs typeface="Quattrocento Sans" pitchFamily="34" charset="-120"/>
              </a:rPr>
              <a:t>What We Built</a:t>
            </a:r>
            <a:endParaRPr lang="en-US" sz="2600" dirty="0"/>
          </a:p>
        </p:txBody>
      </p:sp>
      <p:pic>
        <p:nvPicPr>
          <p:cNvPr id="4" name="Image 0" descr="preencoded.png"/>
          <p:cNvPicPr>
            <a:picLocks noChangeAspect="1"/>
          </p:cNvPicPr>
          <p:nvPr/>
        </p:nvPicPr>
        <p:blipFill>
          <a:blip r:embed="rId3"/>
          <a:stretch>
            <a:fillRect/>
          </a:stretch>
        </p:blipFill>
        <p:spPr>
          <a:xfrm>
            <a:off x="8046720" y="45720"/>
            <a:ext cx="685800" cy="676656"/>
          </a:xfrm>
          <a:prstGeom prst="rect">
            <a:avLst/>
          </a:prstGeom>
        </p:spPr>
      </p:pic>
      <p:sp>
        <p:nvSpPr>
          <p:cNvPr id="5" name="Shape 2"/>
          <p:cNvSpPr/>
          <p:nvPr/>
        </p:nvSpPr>
        <p:spPr>
          <a:xfrm>
            <a:off x="320040" y="960120"/>
            <a:ext cx="4114800" cy="868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6" name="Shape 3"/>
          <p:cNvSpPr/>
          <p:nvPr/>
        </p:nvSpPr>
        <p:spPr>
          <a:xfrm>
            <a:off x="365760" y="1124712"/>
            <a:ext cx="530352" cy="530352"/>
          </a:xfrm>
          <a:prstGeom prst="ellipse">
            <a:avLst/>
          </a:prstGeom>
          <a:solidFill>
            <a:srgbClr val="36ADA3"/>
          </a:solidFill>
          <a:ln/>
        </p:spPr>
        <p:txBody>
          <a:bodyPr/>
          <a:lstStyle/>
          <a:p>
            <a:endParaRPr lang="en-US"/>
          </a:p>
        </p:txBody>
      </p:sp>
      <p:sp>
        <p:nvSpPr>
          <p:cNvPr id="7" name="Text 4"/>
          <p:cNvSpPr/>
          <p:nvPr/>
        </p:nvSpPr>
        <p:spPr>
          <a:xfrm>
            <a:off x="365760" y="1124712"/>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8" name="Text 5"/>
          <p:cNvSpPr/>
          <p:nvPr/>
        </p:nvSpPr>
        <p:spPr>
          <a:xfrm>
            <a:off x="960120" y="1005840"/>
            <a:ext cx="3383280" cy="716280"/>
          </a:xfrm>
          <a:prstGeom prst="rect">
            <a:avLst/>
          </a:prstGeom>
          <a:noFill/>
          <a:ln/>
        </p:spPr>
        <p:txBody>
          <a:bodyPr wrap="square" lIns="0" tIns="0" rIns="0" bIns="0" rtlCol="0" anchor="ctr"/>
          <a:lstStyle/>
          <a:p>
            <a:pPr marL="0" indent="0">
              <a:buNone/>
            </a:pPr>
            <a:r>
              <a:rPr lang="en-US" sz="1600" b="1" dirty="0">
                <a:solidFill>
                  <a:srgbClr val="121358"/>
                </a:solidFill>
                <a:latin typeface="Quattrocento Sans" pitchFamily="34" charset="0"/>
                <a:ea typeface="Quattrocento Sans" pitchFamily="34" charset="-122"/>
                <a:cs typeface="Quattrocento Sans" pitchFamily="34" charset="-120"/>
              </a:rPr>
              <a:t>Problem Statement</a:t>
            </a:r>
            <a:endParaRPr lang="en-US" sz="1600" dirty="0"/>
          </a:p>
        </p:txBody>
      </p:sp>
      <p:sp>
        <p:nvSpPr>
          <p:cNvPr id="10" name="Shape 7"/>
          <p:cNvSpPr/>
          <p:nvPr/>
        </p:nvSpPr>
        <p:spPr>
          <a:xfrm>
            <a:off x="320040" y="1965960"/>
            <a:ext cx="4114800" cy="868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1" name="Shape 8"/>
          <p:cNvSpPr/>
          <p:nvPr/>
        </p:nvSpPr>
        <p:spPr>
          <a:xfrm>
            <a:off x="365760" y="2130552"/>
            <a:ext cx="530352" cy="530352"/>
          </a:xfrm>
          <a:prstGeom prst="ellipse">
            <a:avLst/>
          </a:prstGeom>
          <a:solidFill>
            <a:srgbClr val="36ADA3"/>
          </a:solidFill>
          <a:ln/>
        </p:spPr>
        <p:txBody>
          <a:bodyPr/>
          <a:lstStyle/>
          <a:p>
            <a:endParaRPr lang="en-US"/>
          </a:p>
        </p:txBody>
      </p:sp>
      <p:sp>
        <p:nvSpPr>
          <p:cNvPr id="12" name="Text 9"/>
          <p:cNvSpPr/>
          <p:nvPr/>
        </p:nvSpPr>
        <p:spPr>
          <a:xfrm>
            <a:off x="365760" y="2130552"/>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3" name="Text 10"/>
          <p:cNvSpPr/>
          <p:nvPr/>
        </p:nvSpPr>
        <p:spPr>
          <a:xfrm>
            <a:off x="960120" y="2011680"/>
            <a:ext cx="3383280" cy="713232"/>
          </a:xfrm>
          <a:prstGeom prst="rect">
            <a:avLst/>
          </a:prstGeom>
          <a:noFill/>
          <a:ln/>
        </p:spPr>
        <p:txBody>
          <a:bodyPr wrap="square" lIns="0" tIns="0" rIns="0" bIns="0" rtlCol="0" anchor="ctr"/>
          <a:lstStyle/>
          <a:p>
            <a:r>
              <a:rPr lang="en-US" sz="1600" b="1" dirty="0">
                <a:solidFill>
                  <a:srgbClr val="121358"/>
                </a:solidFill>
                <a:latin typeface="Quattrocento Sans" pitchFamily="34" charset="0"/>
                <a:ea typeface="Quattrocento Sans" pitchFamily="34" charset="-122"/>
                <a:cs typeface="Quattrocento Sans" pitchFamily="34" charset="-120"/>
              </a:rPr>
              <a:t>Our Solution </a:t>
            </a:r>
            <a:endParaRPr lang="en-US" sz="1600" dirty="0"/>
          </a:p>
        </p:txBody>
      </p:sp>
      <p:sp>
        <p:nvSpPr>
          <p:cNvPr id="15" name="Shape 12"/>
          <p:cNvSpPr/>
          <p:nvPr/>
        </p:nvSpPr>
        <p:spPr>
          <a:xfrm>
            <a:off x="335280" y="3974592"/>
            <a:ext cx="4114800" cy="868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6" name="Shape 13"/>
          <p:cNvSpPr/>
          <p:nvPr/>
        </p:nvSpPr>
        <p:spPr>
          <a:xfrm>
            <a:off x="381000" y="4139184"/>
            <a:ext cx="530352" cy="530352"/>
          </a:xfrm>
          <a:prstGeom prst="ellipse">
            <a:avLst/>
          </a:prstGeom>
          <a:solidFill>
            <a:srgbClr val="36ADA3"/>
          </a:solidFill>
          <a:ln/>
        </p:spPr>
        <p:txBody>
          <a:bodyPr/>
          <a:lstStyle/>
          <a:p>
            <a:endParaRPr lang="en-US"/>
          </a:p>
        </p:txBody>
      </p:sp>
      <p:sp>
        <p:nvSpPr>
          <p:cNvPr id="17" name="Text 14"/>
          <p:cNvSpPr/>
          <p:nvPr/>
        </p:nvSpPr>
        <p:spPr>
          <a:xfrm>
            <a:off x="381000" y="4139184"/>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18" name="Text 15"/>
          <p:cNvSpPr/>
          <p:nvPr/>
        </p:nvSpPr>
        <p:spPr>
          <a:xfrm>
            <a:off x="975360" y="4020312"/>
            <a:ext cx="3383280" cy="320040"/>
          </a:xfrm>
          <a:prstGeom prst="rect">
            <a:avLst/>
          </a:prstGeom>
          <a:noFill/>
          <a:ln/>
        </p:spPr>
        <p:txBody>
          <a:bodyPr wrap="square" lIns="0" tIns="0" rIns="0" bIns="0" rtlCol="0" anchor="ctr"/>
          <a:lstStyle/>
          <a:p>
            <a:pPr marL="0" indent="0">
              <a:buNone/>
            </a:pPr>
            <a:endParaRPr lang="en-US" sz="1300" dirty="0"/>
          </a:p>
        </p:txBody>
      </p:sp>
      <p:sp>
        <p:nvSpPr>
          <p:cNvPr id="20" name="Shape 17"/>
          <p:cNvSpPr/>
          <p:nvPr/>
        </p:nvSpPr>
        <p:spPr>
          <a:xfrm>
            <a:off x="4800600" y="967740"/>
            <a:ext cx="4114800" cy="868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1" name="Shape 18"/>
          <p:cNvSpPr/>
          <p:nvPr/>
        </p:nvSpPr>
        <p:spPr>
          <a:xfrm>
            <a:off x="4846320" y="1132332"/>
            <a:ext cx="530352" cy="530352"/>
          </a:xfrm>
          <a:prstGeom prst="ellipse">
            <a:avLst/>
          </a:prstGeom>
          <a:solidFill>
            <a:srgbClr val="36ADA3"/>
          </a:solidFill>
          <a:ln/>
        </p:spPr>
        <p:txBody>
          <a:bodyPr/>
          <a:lstStyle/>
          <a:p>
            <a:endParaRPr lang="en-US"/>
          </a:p>
        </p:txBody>
      </p:sp>
      <p:sp>
        <p:nvSpPr>
          <p:cNvPr id="22" name="Text 19"/>
          <p:cNvSpPr/>
          <p:nvPr/>
        </p:nvSpPr>
        <p:spPr>
          <a:xfrm>
            <a:off x="4846320" y="1132332"/>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25" name="Shape 22"/>
          <p:cNvSpPr/>
          <p:nvPr/>
        </p:nvSpPr>
        <p:spPr>
          <a:xfrm>
            <a:off x="4800600" y="1965960"/>
            <a:ext cx="4114800" cy="868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6" name="Shape 23"/>
          <p:cNvSpPr/>
          <p:nvPr/>
        </p:nvSpPr>
        <p:spPr>
          <a:xfrm>
            <a:off x="4846320" y="2130552"/>
            <a:ext cx="530352" cy="530352"/>
          </a:xfrm>
          <a:prstGeom prst="ellipse">
            <a:avLst/>
          </a:prstGeom>
          <a:solidFill>
            <a:srgbClr val="36ADA3"/>
          </a:solidFill>
          <a:ln/>
        </p:spPr>
        <p:txBody>
          <a:bodyPr/>
          <a:lstStyle/>
          <a:p>
            <a:endParaRPr lang="en-US"/>
          </a:p>
        </p:txBody>
      </p:sp>
      <p:sp>
        <p:nvSpPr>
          <p:cNvPr id="27" name="Text 24"/>
          <p:cNvSpPr/>
          <p:nvPr/>
        </p:nvSpPr>
        <p:spPr>
          <a:xfrm>
            <a:off x="4846320" y="2130552"/>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rPr>
              <a:t>06</a:t>
            </a:r>
            <a:endParaRPr lang="en-US" sz="1100" dirty="0"/>
          </a:p>
        </p:txBody>
      </p:sp>
      <p:sp>
        <p:nvSpPr>
          <p:cNvPr id="28" name="Text 25"/>
          <p:cNvSpPr/>
          <p:nvPr/>
        </p:nvSpPr>
        <p:spPr>
          <a:xfrm>
            <a:off x="5494020" y="960120"/>
            <a:ext cx="2270760" cy="876300"/>
          </a:xfrm>
          <a:prstGeom prst="rect">
            <a:avLst/>
          </a:prstGeom>
          <a:noFill/>
          <a:ln/>
        </p:spPr>
        <p:txBody>
          <a:bodyPr wrap="square" lIns="0" tIns="0" rIns="0" bIns="0" rtlCol="0" anchor="ctr"/>
          <a:lstStyle/>
          <a:p>
            <a:pPr marL="0" indent="0">
              <a:buNone/>
            </a:pPr>
            <a:r>
              <a:rPr lang="en-US" sz="1600" b="1" dirty="0">
                <a:solidFill>
                  <a:srgbClr val="121358"/>
                </a:solidFill>
                <a:latin typeface="Quattrocento Sans" pitchFamily="34" charset="0"/>
                <a:ea typeface="Quattrocento Sans" pitchFamily="34" charset="-122"/>
                <a:cs typeface="Quattrocento Sans" pitchFamily="34" charset="-120"/>
              </a:rPr>
              <a:t>Data Warehouse</a:t>
            </a:r>
            <a:endParaRPr lang="en-US" sz="1600" dirty="0"/>
          </a:p>
        </p:txBody>
      </p:sp>
      <p:sp>
        <p:nvSpPr>
          <p:cNvPr id="30" name="Shape 27"/>
          <p:cNvSpPr/>
          <p:nvPr/>
        </p:nvSpPr>
        <p:spPr>
          <a:xfrm>
            <a:off x="4800600" y="3974592"/>
            <a:ext cx="4114800" cy="868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31" name="Shape 28"/>
          <p:cNvSpPr/>
          <p:nvPr/>
        </p:nvSpPr>
        <p:spPr>
          <a:xfrm>
            <a:off x="4846320" y="4139184"/>
            <a:ext cx="530352" cy="530352"/>
          </a:xfrm>
          <a:prstGeom prst="ellipse">
            <a:avLst/>
          </a:prstGeom>
          <a:solidFill>
            <a:srgbClr val="36ADA3"/>
          </a:solidFill>
          <a:ln/>
        </p:spPr>
        <p:txBody>
          <a:bodyPr/>
          <a:lstStyle/>
          <a:p>
            <a:endParaRPr lang="en-US"/>
          </a:p>
        </p:txBody>
      </p:sp>
      <p:sp>
        <p:nvSpPr>
          <p:cNvPr id="32" name="Text 29"/>
          <p:cNvSpPr/>
          <p:nvPr/>
        </p:nvSpPr>
        <p:spPr>
          <a:xfrm>
            <a:off x="4846320" y="4139184"/>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rPr>
              <a:t>08</a:t>
            </a:r>
            <a:endParaRPr lang="en-US" sz="1100" dirty="0"/>
          </a:p>
        </p:txBody>
      </p:sp>
      <p:sp>
        <p:nvSpPr>
          <p:cNvPr id="33" name="Text 30"/>
          <p:cNvSpPr/>
          <p:nvPr/>
        </p:nvSpPr>
        <p:spPr>
          <a:xfrm>
            <a:off x="5440680" y="1965960"/>
            <a:ext cx="3383280" cy="868680"/>
          </a:xfrm>
          <a:prstGeom prst="rect">
            <a:avLst/>
          </a:prstGeom>
          <a:noFill/>
          <a:ln/>
        </p:spPr>
        <p:txBody>
          <a:bodyPr wrap="square" lIns="0" tIns="0" rIns="0" bIns="0" rtlCol="0" anchor="ctr"/>
          <a:lstStyle/>
          <a:p>
            <a:pPr marL="0" indent="0">
              <a:buNone/>
            </a:pPr>
            <a:r>
              <a:rPr lang="en-US" sz="1600" b="1" dirty="0">
                <a:solidFill>
                  <a:srgbClr val="121358"/>
                </a:solidFill>
                <a:latin typeface="Quattrocento Sans" pitchFamily="34" charset="0"/>
                <a:ea typeface="Quattrocento Sans" pitchFamily="34" charset="-122"/>
                <a:cs typeface="Quattrocento Sans" pitchFamily="34" charset="-120"/>
              </a:rPr>
              <a:t>Reporting &amp; BI</a:t>
            </a:r>
            <a:endParaRPr lang="en-US" sz="1600" dirty="0"/>
          </a:p>
        </p:txBody>
      </p:sp>
      <p:sp>
        <p:nvSpPr>
          <p:cNvPr id="35" name="Shape 32"/>
          <p:cNvSpPr/>
          <p:nvPr/>
        </p:nvSpPr>
        <p:spPr>
          <a:xfrm>
            <a:off x="4800600" y="2980944"/>
            <a:ext cx="4114800" cy="868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36" name="Shape 33"/>
          <p:cNvSpPr/>
          <p:nvPr/>
        </p:nvSpPr>
        <p:spPr>
          <a:xfrm>
            <a:off x="4846320" y="3145536"/>
            <a:ext cx="530352" cy="530352"/>
          </a:xfrm>
          <a:prstGeom prst="ellipse">
            <a:avLst/>
          </a:prstGeom>
          <a:solidFill>
            <a:srgbClr val="36ADA3"/>
          </a:solidFill>
          <a:ln/>
        </p:spPr>
        <p:txBody>
          <a:bodyPr/>
          <a:lstStyle/>
          <a:p>
            <a:endParaRPr lang="en-US" dirty="0"/>
          </a:p>
        </p:txBody>
      </p:sp>
      <p:sp>
        <p:nvSpPr>
          <p:cNvPr id="37" name="Text 34"/>
          <p:cNvSpPr/>
          <p:nvPr/>
        </p:nvSpPr>
        <p:spPr>
          <a:xfrm>
            <a:off x="4846320" y="3145536"/>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rPr>
              <a:t>07</a:t>
            </a:r>
            <a:endParaRPr lang="en-US" sz="1100" dirty="0"/>
          </a:p>
        </p:txBody>
      </p:sp>
      <p:sp>
        <p:nvSpPr>
          <p:cNvPr id="38" name="Text 35"/>
          <p:cNvSpPr/>
          <p:nvPr/>
        </p:nvSpPr>
        <p:spPr>
          <a:xfrm>
            <a:off x="5440680" y="3974592"/>
            <a:ext cx="3383280" cy="758952"/>
          </a:xfrm>
          <a:prstGeom prst="rect">
            <a:avLst/>
          </a:prstGeom>
          <a:noFill/>
          <a:ln/>
        </p:spPr>
        <p:txBody>
          <a:bodyPr wrap="square" lIns="0" tIns="0" rIns="0" bIns="0" rtlCol="0" anchor="ctr"/>
          <a:lstStyle/>
          <a:p>
            <a:pPr marL="0" indent="0">
              <a:buNone/>
            </a:pPr>
            <a:r>
              <a:rPr lang="en-US" sz="1600" b="1" dirty="0">
                <a:solidFill>
                  <a:srgbClr val="121358"/>
                </a:solidFill>
                <a:latin typeface="Quattrocento Sans" pitchFamily="34" charset="0"/>
                <a:ea typeface="Quattrocento Sans" pitchFamily="34" charset="-122"/>
                <a:cs typeface="Quattrocento Sans" pitchFamily="34" charset="-120"/>
              </a:rPr>
              <a:t>AI (RAG System)</a:t>
            </a:r>
            <a:endParaRPr lang="en-US" sz="1600" dirty="0"/>
          </a:p>
        </p:txBody>
      </p:sp>
      <p:sp>
        <p:nvSpPr>
          <p:cNvPr id="40" name="Text 20">
            <a:extLst>
              <a:ext uri="{FF2B5EF4-FFF2-40B4-BE49-F238E27FC236}">
                <a16:creationId xmlns:a16="http://schemas.microsoft.com/office/drawing/2014/main" id="{C24DCE4F-78AA-261E-0435-D81F95AEF9F8}"/>
              </a:ext>
            </a:extLst>
          </p:cNvPr>
          <p:cNvSpPr/>
          <p:nvPr/>
        </p:nvSpPr>
        <p:spPr>
          <a:xfrm>
            <a:off x="975360" y="4020312"/>
            <a:ext cx="3535680" cy="723900"/>
          </a:xfrm>
          <a:prstGeom prst="rect">
            <a:avLst/>
          </a:prstGeom>
          <a:noFill/>
          <a:ln/>
        </p:spPr>
        <p:txBody>
          <a:bodyPr wrap="square" lIns="0" tIns="0" rIns="0" bIns="0" rtlCol="0" anchor="ctr"/>
          <a:lstStyle/>
          <a:p>
            <a:pPr marL="0" indent="0">
              <a:buNone/>
            </a:pPr>
            <a:r>
              <a:rPr lang="en-US" sz="1600" b="1" dirty="0">
                <a:solidFill>
                  <a:srgbClr val="121358"/>
                </a:solidFill>
                <a:latin typeface="Quattrocento Sans" pitchFamily="34" charset="0"/>
                <a:ea typeface="Quattrocento Sans" pitchFamily="34" charset="-122"/>
                <a:cs typeface="Quattrocento Sans" pitchFamily="34" charset="-120"/>
              </a:rPr>
              <a:t>Database Modeling</a:t>
            </a:r>
            <a:endParaRPr lang="en-US" sz="1600" dirty="0"/>
          </a:p>
        </p:txBody>
      </p:sp>
      <p:sp>
        <p:nvSpPr>
          <p:cNvPr id="41" name="Text 30">
            <a:extLst>
              <a:ext uri="{FF2B5EF4-FFF2-40B4-BE49-F238E27FC236}">
                <a16:creationId xmlns:a16="http://schemas.microsoft.com/office/drawing/2014/main" id="{BB62A83B-2C02-E36F-CDB9-7E70DC20B0C7}"/>
              </a:ext>
            </a:extLst>
          </p:cNvPr>
          <p:cNvSpPr/>
          <p:nvPr/>
        </p:nvSpPr>
        <p:spPr>
          <a:xfrm>
            <a:off x="5440680" y="2980944"/>
            <a:ext cx="3535680" cy="868680"/>
          </a:xfrm>
          <a:prstGeom prst="rect">
            <a:avLst/>
          </a:prstGeom>
          <a:noFill/>
          <a:ln/>
        </p:spPr>
        <p:txBody>
          <a:bodyPr wrap="square" lIns="0" tIns="0" rIns="0" bIns="0" rtlCol="0" anchor="ctr"/>
          <a:lstStyle/>
          <a:p>
            <a:pPr marL="0" indent="0">
              <a:buNone/>
            </a:pPr>
            <a:r>
              <a:rPr lang="en-US" sz="1600" b="1" dirty="0">
                <a:solidFill>
                  <a:srgbClr val="121358"/>
                </a:solidFill>
                <a:latin typeface="Quattrocento Sans" pitchFamily="34" charset="0"/>
                <a:ea typeface="Quattrocento Sans" pitchFamily="34" charset="-122"/>
                <a:cs typeface="Quattrocento Sans" pitchFamily="34" charset="-120"/>
              </a:rPr>
              <a:t>Power apps </a:t>
            </a:r>
            <a:endParaRPr lang="en-US" sz="1600" dirty="0"/>
          </a:p>
        </p:txBody>
      </p:sp>
      <p:sp>
        <p:nvSpPr>
          <p:cNvPr id="50" name="Shape 7">
            <a:extLst>
              <a:ext uri="{FF2B5EF4-FFF2-40B4-BE49-F238E27FC236}">
                <a16:creationId xmlns:a16="http://schemas.microsoft.com/office/drawing/2014/main" id="{6425A677-8AE8-AE29-A846-87B81EFD06E1}"/>
              </a:ext>
            </a:extLst>
          </p:cNvPr>
          <p:cNvSpPr/>
          <p:nvPr/>
        </p:nvSpPr>
        <p:spPr>
          <a:xfrm>
            <a:off x="320040" y="2980944"/>
            <a:ext cx="4114800" cy="8686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51" name="Shape 8">
            <a:extLst>
              <a:ext uri="{FF2B5EF4-FFF2-40B4-BE49-F238E27FC236}">
                <a16:creationId xmlns:a16="http://schemas.microsoft.com/office/drawing/2014/main" id="{B809F543-DF48-8570-71F3-A03D37292C20}"/>
              </a:ext>
            </a:extLst>
          </p:cNvPr>
          <p:cNvSpPr/>
          <p:nvPr/>
        </p:nvSpPr>
        <p:spPr>
          <a:xfrm>
            <a:off x="365760" y="3145536"/>
            <a:ext cx="530352" cy="530352"/>
          </a:xfrm>
          <a:prstGeom prst="ellipse">
            <a:avLst/>
          </a:prstGeom>
          <a:solidFill>
            <a:srgbClr val="36ADA3"/>
          </a:solidFill>
          <a:ln/>
        </p:spPr>
        <p:txBody>
          <a:bodyPr/>
          <a:lstStyle/>
          <a:p>
            <a:endParaRPr lang="en-US"/>
          </a:p>
        </p:txBody>
      </p:sp>
      <p:sp>
        <p:nvSpPr>
          <p:cNvPr id="52" name="Text 9">
            <a:extLst>
              <a:ext uri="{FF2B5EF4-FFF2-40B4-BE49-F238E27FC236}">
                <a16:creationId xmlns:a16="http://schemas.microsoft.com/office/drawing/2014/main" id="{A9F8C482-08F4-9120-CEA4-8D0C1A76AF8B}"/>
              </a:ext>
            </a:extLst>
          </p:cNvPr>
          <p:cNvSpPr/>
          <p:nvPr/>
        </p:nvSpPr>
        <p:spPr>
          <a:xfrm>
            <a:off x="365760" y="3145536"/>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53" name="Text 10">
            <a:extLst>
              <a:ext uri="{FF2B5EF4-FFF2-40B4-BE49-F238E27FC236}">
                <a16:creationId xmlns:a16="http://schemas.microsoft.com/office/drawing/2014/main" id="{675E6353-1327-79D1-B115-8BD2FBAA0F52}"/>
              </a:ext>
            </a:extLst>
          </p:cNvPr>
          <p:cNvSpPr/>
          <p:nvPr/>
        </p:nvSpPr>
        <p:spPr>
          <a:xfrm>
            <a:off x="960120" y="3026664"/>
            <a:ext cx="3383280" cy="713232"/>
          </a:xfrm>
          <a:prstGeom prst="rect">
            <a:avLst/>
          </a:prstGeom>
          <a:noFill/>
          <a:ln/>
        </p:spPr>
        <p:txBody>
          <a:bodyPr wrap="square" lIns="0" tIns="0" rIns="0" bIns="0" rtlCol="0" anchor="ctr"/>
          <a:lstStyle/>
          <a:p>
            <a:r>
              <a:rPr lang="en-US" sz="1600" b="1" dirty="0">
                <a:solidFill>
                  <a:srgbClr val="121358"/>
                </a:solidFill>
                <a:latin typeface="Quattrocento Sans" pitchFamily="34" charset="0"/>
                <a:ea typeface="Quattrocento Sans" pitchFamily="34" charset="-122"/>
                <a:cs typeface="Quattrocento Sans" pitchFamily="34" charset="-120"/>
              </a:rPr>
              <a:t>Data Collection</a:t>
            </a:r>
            <a:r>
              <a:rPr lang="ar-EG" sz="1600" b="1" dirty="0">
                <a:solidFill>
                  <a:srgbClr val="121358"/>
                </a:solidFill>
                <a:latin typeface="Quattrocento Sans" pitchFamily="34" charset="0"/>
                <a:ea typeface="Quattrocento Sans" pitchFamily="34" charset="-122"/>
                <a:cs typeface="Quattrocento Sans" pitchFamily="34" charset="-120"/>
              </a:rPr>
              <a:t>  </a:t>
            </a:r>
            <a:r>
              <a:rPr lang="en-US" sz="1600" b="1" dirty="0">
                <a:solidFill>
                  <a:srgbClr val="121358"/>
                </a:solidFill>
                <a:latin typeface="Quattrocento Sans" pitchFamily="34" charset="0"/>
                <a:ea typeface="Quattrocento Sans" pitchFamily="34" charset="-122"/>
                <a:cs typeface="Quattrocento Sans" pitchFamily="34" charset="-120"/>
              </a:rPr>
              <a:t>&amp;  Processing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365760" y="45720"/>
            <a:ext cx="7772400" cy="731520"/>
          </a:xfrm>
          <a:prstGeom prst="rect">
            <a:avLst/>
          </a:prstGeom>
          <a:noFill/>
          <a:ln/>
        </p:spPr>
        <p:txBody>
          <a:bodyPr wrap="square" rtlCol="0" anchor="ctr"/>
          <a:lstStyle/>
          <a:p>
            <a:pPr marL="0" indent="0">
              <a:buNone/>
            </a:pPr>
            <a:r>
              <a:rPr lang="en-US" sz="2600" b="1" dirty="0">
                <a:solidFill>
                  <a:srgbClr val="FFFFFF"/>
                </a:solidFill>
                <a:latin typeface="Quattrocento Sans" pitchFamily="34" charset="0"/>
                <a:ea typeface="Quattrocento Sans" pitchFamily="34" charset="-122"/>
                <a:cs typeface="Quattrocento Sans" pitchFamily="34" charset="-120"/>
              </a:rPr>
              <a:t>The Problem</a:t>
            </a:r>
            <a:endParaRPr lang="en-US" sz="2600" dirty="0"/>
          </a:p>
        </p:txBody>
      </p:sp>
      <p:pic>
        <p:nvPicPr>
          <p:cNvPr id="4" name="Image 0" descr="preencoded.png"/>
          <p:cNvPicPr>
            <a:picLocks noChangeAspect="1"/>
          </p:cNvPicPr>
          <p:nvPr/>
        </p:nvPicPr>
        <p:blipFill>
          <a:blip r:embed="rId4"/>
          <a:stretch>
            <a:fillRect/>
          </a:stretch>
        </p:blipFill>
        <p:spPr>
          <a:xfrm>
            <a:off x="8046720" y="45720"/>
            <a:ext cx="685800" cy="676656"/>
          </a:xfrm>
          <a:prstGeom prst="rect">
            <a:avLst/>
          </a:prstGeom>
        </p:spPr>
      </p:pic>
      <p:sp>
        <p:nvSpPr>
          <p:cNvPr id="5" name="Shape 2"/>
          <p:cNvSpPr/>
          <p:nvPr/>
        </p:nvSpPr>
        <p:spPr>
          <a:xfrm>
            <a:off x="274320" y="1341120"/>
            <a:ext cx="4114800" cy="1554480"/>
          </a:xfrm>
          <a:prstGeom prst="rect">
            <a:avLst/>
          </a:prstGeom>
          <a:solidFill>
            <a:srgbClr val="1B2A4A"/>
          </a:solidFill>
          <a:ln/>
          <a:effectLst>
            <a:outerShdw blurRad="101600" dist="38100" dir="5400000" algn="bl" rotWithShape="0">
              <a:srgbClr val="000000">
                <a:alpha val="12549"/>
              </a:srgbClr>
            </a:outerShdw>
          </a:effectLst>
        </p:spPr>
        <p:txBody>
          <a:bodyPr/>
          <a:lstStyle/>
          <a:p>
            <a:endParaRPr lang="en-US"/>
          </a:p>
        </p:txBody>
      </p:sp>
      <p:sp>
        <p:nvSpPr>
          <p:cNvPr id="6" name="Shape 3"/>
          <p:cNvSpPr/>
          <p:nvPr/>
        </p:nvSpPr>
        <p:spPr>
          <a:xfrm>
            <a:off x="274320" y="1341120"/>
            <a:ext cx="91440" cy="1554480"/>
          </a:xfrm>
          <a:prstGeom prst="rect">
            <a:avLst/>
          </a:prstGeom>
          <a:solidFill>
            <a:srgbClr val="36ADA3"/>
          </a:solidFill>
          <a:ln/>
        </p:spPr>
        <p:txBody>
          <a:bodyPr/>
          <a:lstStyle/>
          <a:p>
            <a:endParaRPr lang="en-US"/>
          </a:p>
        </p:txBody>
      </p:sp>
      <p:sp>
        <p:nvSpPr>
          <p:cNvPr id="7" name="Text 4"/>
          <p:cNvSpPr/>
          <p:nvPr/>
        </p:nvSpPr>
        <p:spPr>
          <a:xfrm>
            <a:off x="651594" y="1478280"/>
            <a:ext cx="3554645" cy="411480"/>
          </a:xfrm>
          <a:prstGeom prst="rect">
            <a:avLst/>
          </a:prstGeom>
          <a:noFill/>
          <a:ln/>
        </p:spPr>
        <p:txBody>
          <a:bodyPr wrap="square" lIns="0" tIns="0" rIns="0" bIns="0" rtlCol="0" anchor="ctr"/>
          <a:lstStyle/>
          <a:p>
            <a:pPr marL="0" indent="0">
              <a:buNone/>
            </a:pPr>
            <a:r>
              <a:rPr lang="en-US" sz="1400" b="1" dirty="0">
                <a:solidFill>
                  <a:srgbClr val="36ADA3"/>
                </a:solidFill>
                <a:latin typeface="Quattrocento Sans" pitchFamily="34" charset="0"/>
                <a:ea typeface="Quattrocento Sans" pitchFamily="34" charset="-122"/>
                <a:cs typeface="Quattrocento Sans" pitchFamily="34" charset="-120"/>
              </a:rPr>
              <a:t> Inaccessible Raw Data</a:t>
            </a:r>
            <a:endParaRPr lang="en-US" sz="1400" dirty="0"/>
          </a:p>
        </p:txBody>
      </p:sp>
      <p:sp>
        <p:nvSpPr>
          <p:cNvPr id="8" name="Text 5"/>
          <p:cNvSpPr/>
          <p:nvPr/>
        </p:nvSpPr>
        <p:spPr>
          <a:xfrm>
            <a:off x="457200" y="1935480"/>
            <a:ext cx="3749040" cy="822960"/>
          </a:xfrm>
          <a:prstGeom prst="rect">
            <a:avLst/>
          </a:prstGeom>
          <a:noFill/>
          <a:ln/>
        </p:spPr>
        <p:txBody>
          <a:bodyPr wrap="square" lIns="0" tIns="0" rIns="0" bIns="0" rtlCol="0" anchor="ctr"/>
          <a:lstStyle/>
          <a:p>
            <a:pPr marL="0" indent="0">
              <a:buNone/>
            </a:pPr>
            <a:r>
              <a:rPr lang="en-US" sz="1200" dirty="0">
                <a:solidFill>
                  <a:srgbClr val="FFFFFF"/>
                </a:solidFill>
                <a:latin typeface="Quattrocento Sans" pitchFamily="34" charset="0"/>
                <a:ea typeface="Quattrocento Sans" pitchFamily="34" charset="-122"/>
                <a:cs typeface="Quattrocento Sans" pitchFamily="34" charset="-120"/>
              </a:rPr>
              <a:t>CAPMAS survey data exists in unstructured formats, hard to analyze at scale</a:t>
            </a:r>
            <a:endParaRPr lang="en-US" sz="1200" dirty="0"/>
          </a:p>
        </p:txBody>
      </p:sp>
      <p:sp>
        <p:nvSpPr>
          <p:cNvPr id="9" name="Shape 6"/>
          <p:cNvSpPr/>
          <p:nvPr/>
        </p:nvSpPr>
        <p:spPr>
          <a:xfrm>
            <a:off x="4846320" y="1341120"/>
            <a:ext cx="4114800" cy="1554480"/>
          </a:xfrm>
          <a:prstGeom prst="rect">
            <a:avLst/>
          </a:prstGeom>
          <a:solidFill>
            <a:srgbClr val="1B2A4A"/>
          </a:solidFill>
          <a:ln/>
          <a:effectLst>
            <a:outerShdw blurRad="101600" dist="38100" dir="5400000" algn="bl" rotWithShape="0">
              <a:srgbClr val="000000">
                <a:alpha val="12549"/>
              </a:srgbClr>
            </a:outerShdw>
          </a:effectLst>
        </p:spPr>
        <p:txBody>
          <a:bodyPr/>
          <a:lstStyle/>
          <a:p>
            <a:endParaRPr lang="en-US"/>
          </a:p>
        </p:txBody>
      </p:sp>
      <p:sp>
        <p:nvSpPr>
          <p:cNvPr id="10" name="Shape 7"/>
          <p:cNvSpPr/>
          <p:nvPr/>
        </p:nvSpPr>
        <p:spPr>
          <a:xfrm>
            <a:off x="4846320" y="1341120"/>
            <a:ext cx="91440" cy="1554480"/>
          </a:xfrm>
          <a:prstGeom prst="rect">
            <a:avLst/>
          </a:prstGeom>
          <a:solidFill>
            <a:srgbClr val="36ADA3"/>
          </a:solidFill>
          <a:ln/>
        </p:spPr>
        <p:txBody>
          <a:bodyPr/>
          <a:lstStyle/>
          <a:p>
            <a:endParaRPr lang="en-US"/>
          </a:p>
        </p:txBody>
      </p:sp>
      <p:sp>
        <p:nvSpPr>
          <p:cNvPr id="11" name="Text 8"/>
          <p:cNvSpPr/>
          <p:nvPr/>
        </p:nvSpPr>
        <p:spPr>
          <a:xfrm>
            <a:off x="5326550" y="1478280"/>
            <a:ext cx="3451690" cy="411480"/>
          </a:xfrm>
          <a:prstGeom prst="rect">
            <a:avLst/>
          </a:prstGeom>
          <a:noFill/>
          <a:ln/>
        </p:spPr>
        <p:txBody>
          <a:bodyPr wrap="square" lIns="0" tIns="0" rIns="0" bIns="0" rtlCol="0" anchor="ctr"/>
          <a:lstStyle/>
          <a:p>
            <a:pPr marL="0" indent="0">
              <a:buNone/>
            </a:pPr>
            <a:r>
              <a:rPr lang="en-US" sz="1400" b="1" dirty="0">
                <a:solidFill>
                  <a:srgbClr val="36ADA3"/>
                </a:solidFill>
                <a:latin typeface="Quattrocento Sans" pitchFamily="34" charset="0"/>
                <a:ea typeface="Quattrocento Sans" pitchFamily="34" charset="-122"/>
                <a:cs typeface="Quattrocento Sans" pitchFamily="34" charset="-120"/>
              </a:rPr>
              <a:t> No Unified Insights</a:t>
            </a:r>
            <a:endParaRPr lang="en-US" sz="1400" dirty="0"/>
          </a:p>
        </p:txBody>
      </p:sp>
      <p:sp>
        <p:nvSpPr>
          <p:cNvPr id="12" name="Text 9"/>
          <p:cNvSpPr/>
          <p:nvPr/>
        </p:nvSpPr>
        <p:spPr>
          <a:xfrm>
            <a:off x="5029200" y="1935480"/>
            <a:ext cx="3749040" cy="822960"/>
          </a:xfrm>
          <a:prstGeom prst="rect">
            <a:avLst/>
          </a:prstGeom>
          <a:noFill/>
          <a:ln/>
        </p:spPr>
        <p:txBody>
          <a:bodyPr wrap="square" lIns="0" tIns="0" rIns="0" bIns="0" rtlCol="0" anchor="ctr"/>
          <a:lstStyle/>
          <a:p>
            <a:pPr marL="0" indent="0">
              <a:buNone/>
            </a:pPr>
            <a:r>
              <a:rPr lang="en-US" sz="1200" dirty="0">
                <a:solidFill>
                  <a:srgbClr val="FFFFFF"/>
                </a:solidFill>
                <a:latin typeface="Quattrocento Sans" pitchFamily="34" charset="0"/>
                <a:ea typeface="Quattrocento Sans" pitchFamily="34" charset="-122"/>
                <a:cs typeface="Quattrocento Sans" pitchFamily="34" charset="-120"/>
              </a:rPr>
              <a:t>Labor market metrics scattered across reports with no interactive exploration</a:t>
            </a:r>
            <a:endParaRPr lang="en-US" sz="1200" dirty="0"/>
          </a:p>
        </p:txBody>
      </p:sp>
      <p:sp>
        <p:nvSpPr>
          <p:cNvPr id="13" name="Shape 10"/>
          <p:cNvSpPr/>
          <p:nvPr/>
        </p:nvSpPr>
        <p:spPr>
          <a:xfrm>
            <a:off x="274320" y="3169920"/>
            <a:ext cx="4114800" cy="1554480"/>
          </a:xfrm>
          <a:prstGeom prst="rect">
            <a:avLst/>
          </a:prstGeom>
          <a:solidFill>
            <a:srgbClr val="1B2A4A"/>
          </a:solidFill>
          <a:ln/>
          <a:effectLst>
            <a:outerShdw blurRad="101600" dist="38100" dir="5400000" algn="bl" rotWithShape="0">
              <a:srgbClr val="000000">
                <a:alpha val="12549"/>
              </a:srgbClr>
            </a:outerShdw>
          </a:effectLst>
        </p:spPr>
        <p:txBody>
          <a:bodyPr/>
          <a:lstStyle/>
          <a:p>
            <a:endParaRPr lang="en-US"/>
          </a:p>
        </p:txBody>
      </p:sp>
      <p:sp>
        <p:nvSpPr>
          <p:cNvPr id="14" name="Shape 11"/>
          <p:cNvSpPr/>
          <p:nvPr/>
        </p:nvSpPr>
        <p:spPr>
          <a:xfrm>
            <a:off x="274320" y="3169920"/>
            <a:ext cx="91440" cy="1554480"/>
          </a:xfrm>
          <a:prstGeom prst="rect">
            <a:avLst/>
          </a:prstGeom>
          <a:solidFill>
            <a:srgbClr val="36ADA3"/>
          </a:solidFill>
          <a:ln/>
        </p:spPr>
        <p:txBody>
          <a:bodyPr/>
          <a:lstStyle/>
          <a:p>
            <a:endParaRPr lang="en-US"/>
          </a:p>
        </p:txBody>
      </p:sp>
      <p:sp>
        <p:nvSpPr>
          <p:cNvPr id="15" name="Text 12"/>
          <p:cNvSpPr/>
          <p:nvPr/>
        </p:nvSpPr>
        <p:spPr>
          <a:xfrm>
            <a:off x="457200" y="3307080"/>
            <a:ext cx="3749040" cy="411480"/>
          </a:xfrm>
          <a:prstGeom prst="rect">
            <a:avLst/>
          </a:prstGeom>
          <a:noFill/>
          <a:ln/>
        </p:spPr>
        <p:txBody>
          <a:bodyPr wrap="square" lIns="0" tIns="0" rIns="0" bIns="0" rtlCol="0" anchor="ctr"/>
          <a:lstStyle/>
          <a:p>
            <a:pPr marL="0" indent="0">
              <a:buNone/>
            </a:pPr>
            <a:r>
              <a:rPr lang="en-US" sz="1400" b="1" dirty="0">
                <a:solidFill>
                  <a:srgbClr val="36ADA3"/>
                </a:solidFill>
                <a:latin typeface="Quattrocento Sans" pitchFamily="34" charset="0"/>
                <a:ea typeface="Quattrocento Sans" pitchFamily="34" charset="-122"/>
                <a:cs typeface="Quattrocento Sans" pitchFamily="34" charset="-120"/>
              </a:rPr>
              <a:t>⏱ Slow Decision-Making</a:t>
            </a:r>
            <a:endParaRPr lang="en-US" sz="1400" dirty="0"/>
          </a:p>
        </p:txBody>
      </p:sp>
      <p:sp>
        <p:nvSpPr>
          <p:cNvPr id="16" name="Text 13"/>
          <p:cNvSpPr/>
          <p:nvPr/>
        </p:nvSpPr>
        <p:spPr>
          <a:xfrm>
            <a:off x="457200" y="3764280"/>
            <a:ext cx="3749040" cy="822960"/>
          </a:xfrm>
          <a:prstGeom prst="rect">
            <a:avLst/>
          </a:prstGeom>
          <a:noFill/>
          <a:ln/>
        </p:spPr>
        <p:txBody>
          <a:bodyPr wrap="square" lIns="0" tIns="0" rIns="0" bIns="0" rtlCol="0" anchor="ctr"/>
          <a:lstStyle/>
          <a:p>
            <a:pPr marL="0" indent="0">
              <a:buNone/>
            </a:pPr>
            <a:r>
              <a:rPr lang="en-US" sz="1200" dirty="0">
                <a:solidFill>
                  <a:srgbClr val="FFFFFF"/>
                </a:solidFill>
                <a:latin typeface="Quattrocento Sans" pitchFamily="34" charset="0"/>
                <a:ea typeface="Quattrocento Sans" pitchFamily="34" charset="-122"/>
                <a:cs typeface="Quattrocento Sans" pitchFamily="34" charset="-120"/>
              </a:rPr>
              <a:t>Policy makers lack real-time dashboards for employment &amp; economic indicators</a:t>
            </a:r>
            <a:endParaRPr lang="en-US" sz="1200" dirty="0"/>
          </a:p>
        </p:txBody>
      </p:sp>
      <p:sp>
        <p:nvSpPr>
          <p:cNvPr id="17" name="Shape 14"/>
          <p:cNvSpPr/>
          <p:nvPr/>
        </p:nvSpPr>
        <p:spPr>
          <a:xfrm>
            <a:off x="4846320" y="3169920"/>
            <a:ext cx="4114800" cy="1554480"/>
          </a:xfrm>
          <a:prstGeom prst="rect">
            <a:avLst/>
          </a:prstGeom>
          <a:solidFill>
            <a:srgbClr val="1B2A4A"/>
          </a:solidFill>
          <a:ln/>
          <a:effectLst>
            <a:outerShdw blurRad="101600" dist="38100" dir="5400000" algn="bl" rotWithShape="0">
              <a:srgbClr val="000000">
                <a:alpha val="12549"/>
              </a:srgbClr>
            </a:outerShdw>
          </a:effectLst>
        </p:spPr>
        <p:txBody>
          <a:bodyPr/>
          <a:lstStyle/>
          <a:p>
            <a:endParaRPr lang="en-US"/>
          </a:p>
        </p:txBody>
      </p:sp>
      <p:sp>
        <p:nvSpPr>
          <p:cNvPr id="18" name="Shape 15"/>
          <p:cNvSpPr/>
          <p:nvPr/>
        </p:nvSpPr>
        <p:spPr>
          <a:xfrm>
            <a:off x="4846320" y="3169920"/>
            <a:ext cx="91440" cy="1554480"/>
          </a:xfrm>
          <a:prstGeom prst="rect">
            <a:avLst/>
          </a:prstGeom>
          <a:solidFill>
            <a:srgbClr val="36ADA3"/>
          </a:solidFill>
          <a:ln/>
        </p:spPr>
        <p:txBody>
          <a:bodyPr/>
          <a:lstStyle/>
          <a:p>
            <a:endParaRPr lang="en-US"/>
          </a:p>
        </p:txBody>
      </p:sp>
      <p:sp>
        <p:nvSpPr>
          <p:cNvPr id="19" name="Text 16"/>
          <p:cNvSpPr/>
          <p:nvPr/>
        </p:nvSpPr>
        <p:spPr>
          <a:xfrm>
            <a:off x="5292260" y="3307080"/>
            <a:ext cx="3485980" cy="411480"/>
          </a:xfrm>
          <a:prstGeom prst="rect">
            <a:avLst/>
          </a:prstGeom>
          <a:noFill/>
          <a:ln/>
        </p:spPr>
        <p:txBody>
          <a:bodyPr wrap="square" lIns="0" tIns="0" rIns="0" bIns="0" rtlCol="0" anchor="ctr"/>
          <a:lstStyle/>
          <a:p>
            <a:pPr marL="0" indent="0">
              <a:buNone/>
            </a:pPr>
            <a:r>
              <a:rPr lang="en-US" sz="1400" b="1" dirty="0">
                <a:solidFill>
                  <a:srgbClr val="36ADA3"/>
                </a:solidFill>
                <a:latin typeface="Quattrocento Sans" pitchFamily="34" charset="0"/>
                <a:ea typeface="Quattrocento Sans" pitchFamily="34" charset="-122"/>
                <a:cs typeface="Quattrocento Sans" pitchFamily="34" charset="-120"/>
              </a:rPr>
              <a:t> No Intelligent Access</a:t>
            </a:r>
            <a:endParaRPr lang="en-US" sz="1400" dirty="0"/>
          </a:p>
        </p:txBody>
      </p:sp>
      <p:sp>
        <p:nvSpPr>
          <p:cNvPr id="20" name="Text 17"/>
          <p:cNvSpPr/>
          <p:nvPr/>
        </p:nvSpPr>
        <p:spPr>
          <a:xfrm>
            <a:off x="5029200" y="3764280"/>
            <a:ext cx="3749040" cy="822960"/>
          </a:xfrm>
          <a:prstGeom prst="rect">
            <a:avLst/>
          </a:prstGeom>
          <a:noFill/>
          <a:ln/>
        </p:spPr>
        <p:txBody>
          <a:bodyPr wrap="square" lIns="0" tIns="0" rIns="0" bIns="0" rtlCol="0" anchor="ctr"/>
          <a:lstStyle/>
          <a:p>
            <a:pPr marL="0" indent="0">
              <a:buNone/>
            </a:pPr>
            <a:r>
              <a:rPr lang="en-US" sz="1200" dirty="0">
                <a:solidFill>
                  <a:srgbClr val="FFFFFF"/>
                </a:solidFill>
                <a:latin typeface="Quattrocento Sans" pitchFamily="34" charset="0"/>
                <a:ea typeface="Quattrocento Sans" pitchFamily="34" charset="-122"/>
                <a:cs typeface="Quattrocento Sans" pitchFamily="34" charset="-120"/>
              </a:rPr>
              <a:t>No way to ask natural language questions about the labor market data</a:t>
            </a:r>
            <a:endParaRPr lang="en-US" sz="1200" dirty="0"/>
          </a:p>
        </p:txBody>
      </p:sp>
      <p:pic>
        <p:nvPicPr>
          <p:cNvPr id="22" name="Picture 21">
            <a:extLst>
              <a:ext uri="{FF2B5EF4-FFF2-40B4-BE49-F238E27FC236}">
                <a16:creationId xmlns:a16="http://schemas.microsoft.com/office/drawing/2014/main" id="{6EB36B8D-E093-8932-92C8-A00F6E392B4E}"/>
              </a:ext>
            </a:extLst>
          </p:cNvPr>
          <p:cNvPicPr>
            <a:picLocks noChangeAspect="1"/>
          </p:cNvPicPr>
          <p:nvPr/>
        </p:nvPicPr>
        <p:blipFill>
          <a:blip r:embed="rId5"/>
          <a:stretch>
            <a:fillRect/>
          </a:stretch>
        </p:blipFill>
        <p:spPr>
          <a:xfrm>
            <a:off x="327660" y="1464902"/>
            <a:ext cx="392515" cy="392515"/>
          </a:xfrm>
          <a:prstGeom prst="rect">
            <a:avLst/>
          </a:prstGeom>
        </p:spPr>
      </p:pic>
      <p:pic>
        <p:nvPicPr>
          <p:cNvPr id="23" name="Picture 22">
            <a:extLst>
              <a:ext uri="{FF2B5EF4-FFF2-40B4-BE49-F238E27FC236}">
                <a16:creationId xmlns:a16="http://schemas.microsoft.com/office/drawing/2014/main" id="{8E52A5B0-D3DB-EA6E-DB69-CBDD5C74B14C}"/>
              </a:ext>
            </a:extLst>
          </p:cNvPr>
          <p:cNvPicPr>
            <a:picLocks noChangeAspect="1"/>
          </p:cNvPicPr>
          <p:nvPr/>
        </p:nvPicPr>
        <p:blipFill>
          <a:blip r:embed="rId6"/>
          <a:srcRect/>
          <a:stretch/>
        </p:blipFill>
        <p:spPr>
          <a:xfrm>
            <a:off x="5040800" y="1535430"/>
            <a:ext cx="251460" cy="251460"/>
          </a:xfrm>
          <a:prstGeom prst="rect">
            <a:avLst/>
          </a:prstGeom>
        </p:spPr>
      </p:pic>
      <p:pic>
        <p:nvPicPr>
          <p:cNvPr id="24" name="Picture 23">
            <a:extLst>
              <a:ext uri="{FF2B5EF4-FFF2-40B4-BE49-F238E27FC236}">
                <a16:creationId xmlns:a16="http://schemas.microsoft.com/office/drawing/2014/main" id="{98B6167D-25D4-F4F1-5477-1202630DDC5F}"/>
              </a:ext>
            </a:extLst>
          </p:cNvPr>
          <p:cNvPicPr>
            <a:picLocks noChangeAspect="1"/>
          </p:cNvPicPr>
          <p:nvPr/>
        </p:nvPicPr>
        <p:blipFill>
          <a:blip r:embed="rId7"/>
          <a:srcRect/>
          <a:stretch/>
        </p:blipFill>
        <p:spPr>
          <a:xfrm>
            <a:off x="5017940" y="3335655"/>
            <a:ext cx="308610" cy="30861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36ADA3">
            <a:alpha val="10000"/>
          </a:srgbClr>
        </a:solidFill>
        <a:effectLst/>
      </p:bgPr>
    </p:bg>
    <p:spTree>
      <p:nvGrpSpPr>
        <p:cNvPr id="1" name=""/>
        <p:cNvGrpSpPr/>
        <p:nvPr/>
      </p:nvGrpSpPr>
      <p:grpSpPr>
        <a:xfrm>
          <a:off x="0" y="0"/>
          <a:ext cx="0" cy="0"/>
          <a:chOff x="0" y="0"/>
          <a:chExt cx="0" cy="0"/>
        </a:xfrm>
      </p:grpSpPr>
      <p:sp>
        <p:nvSpPr>
          <p:cNvPr id="71" name="Shape 10">
            <a:extLst>
              <a:ext uri="{FF2B5EF4-FFF2-40B4-BE49-F238E27FC236}">
                <a16:creationId xmlns:a16="http://schemas.microsoft.com/office/drawing/2014/main" id="{A2DC7470-D067-2308-34F9-A6997B6FB1D5}"/>
              </a:ext>
            </a:extLst>
          </p:cNvPr>
          <p:cNvSpPr/>
          <p:nvPr/>
        </p:nvSpPr>
        <p:spPr>
          <a:xfrm>
            <a:off x="3741010" y="3318347"/>
            <a:ext cx="1487995" cy="1249603"/>
          </a:xfrm>
          <a:prstGeom prst="rect">
            <a:avLst/>
          </a:prstGeom>
          <a:solidFill>
            <a:schemeClr val="bg1"/>
          </a:solidFill>
          <a:ln/>
          <a:effectLst>
            <a:outerShdw blurRad="50800" dist="25400" dir="8100000" algn="bl" rotWithShape="0">
              <a:srgbClr val="000000">
                <a:alpha val="15000"/>
              </a:srgbClr>
            </a:outerShdw>
          </a:effectLst>
        </p:spPr>
        <p:txBody>
          <a:bodyPr/>
          <a:lstStyle/>
          <a:p>
            <a:endParaRPr lang="en-US"/>
          </a:p>
        </p:txBody>
      </p:sp>
      <p:sp>
        <p:nvSpPr>
          <p:cNvPr id="70" name="Shape 10">
            <a:extLst>
              <a:ext uri="{FF2B5EF4-FFF2-40B4-BE49-F238E27FC236}">
                <a16:creationId xmlns:a16="http://schemas.microsoft.com/office/drawing/2014/main" id="{437F6F2E-1E44-9C74-4B3C-C1B59D701B58}"/>
              </a:ext>
            </a:extLst>
          </p:cNvPr>
          <p:cNvSpPr/>
          <p:nvPr/>
        </p:nvSpPr>
        <p:spPr>
          <a:xfrm>
            <a:off x="5772278" y="3363072"/>
            <a:ext cx="1487995" cy="1249603"/>
          </a:xfrm>
          <a:prstGeom prst="rect">
            <a:avLst/>
          </a:prstGeom>
          <a:solidFill>
            <a:schemeClr val="bg1"/>
          </a:solidFill>
          <a:ln/>
          <a:effectLst>
            <a:outerShdw blurRad="50800" dist="25400" dir="8100000" algn="bl" rotWithShape="0">
              <a:srgbClr val="000000">
                <a:alpha val="15000"/>
              </a:srgbClr>
            </a:outerShdw>
          </a:effectLst>
        </p:spPr>
        <p:txBody>
          <a:bodyPr/>
          <a:lstStyle/>
          <a:p>
            <a:endParaRPr lang="en-US"/>
          </a:p>
        </p:txBody>
      </p:sp>
      <p:sp>
        <p:nvSpPr>
          <p:cNvPr id="58" name="Shape 14">
            <a:extLst>
              <a:ext uri="{FF2B5EF4-FFF2-40B4-BE49-F238E27FC236}">
                <a16:creationId xmlns:a16="http://schemas.microsoft.com/office/drawing/2014/main" id="{BA2BA0B7-D204-4861-1DA3-7B6DE6E0BDBD}"/>
              </a:ext>
            </a:extLst>
          </p:cNvPr>
          <p:cNvSpPr/>
          <p:nvPr/>
        </p:nvSpPr>
        <p:spPr>
          <a:xfrm>
            <a:off x="7820893" y="3396667"/>
            <a:ext cx="1103295" cy="1280504"/>
          </a:xfrm>
          <a:prstGeom prst="rect">
            <a:avLst/>
          </a:prstGeom>
          <a:solidFill>
            <a:schemeClr val="bg1"/>
          </a:solidFill>
          <a:ln/>
          <a:effectLst>
            <a:outerShdw blurRad="50800" dist="25400" dir="8100000" algn="bl" rotWithShape="0">
              <a:srgbClr val="000000">
                <a:alpha val="15000"/>
              </a:srgbClr>
            </a:outerShdw>
          </a:effectLst>
        </p:spPr>
        <p:txBody>
          <a:bodyPr/>
          <a:lstStyle/>
          <a:p>
            <a:endParaRPr lang="en-US"/>
          </a:p>
        </p:txBody>
      </p:sp>
      <p:sp>
        <p:nvSpPr>
          <p:cNvPr id="2" name="Shape 0"/>
          <p:cNvSpPr/>
          <p:nvPr/>
        </p:nvSpPr>
        <p:spPr>
          <a:xfrm>
            <a:off x="0" y="0"/>
            <a:ext cx="9144000" cy="777240"/>
          </a:xfrm>
          <a:prstGeom prst="rect">
            <a:avLst/>
          </a:prstGeom>
          <a:solidFill>
            <a:srgbClr val="232F72"/>
          </a:solidFill>
          <a:ln/>
        </p:spPr>
        <p:txBody>
          <a:bodyPr/>
          <a:lstStyle/>
          <a:p>
            <a:endParaRPr lang="en-US" dirty="0"/>
          </a:p>
        </p:txBody>
      </p:sp>
      <p:sp>
        <p:nvSpPr>
          <p:cNvPr id="5" name="Shape 2"/>
          <p:cNvSpPr/>
          <p:nvPr/>
        </p:nvSpPr>
        <p:spPr>
          <a:xfrm>
            <a:off x="191792" y="1053781"/>
            <a:ext cx="1228891" cy="1189140"/>
          </a:xfrm>
          <a:prstGeom prst="rect">
            <a:avLst/>
          </a:prstGeom>
          <a:solidFill>
            <a:schemeClr val="bg1"/>
          </a:solidFill>
          <a:ln/>
          <a:effectLst>
            <a:outerShdw blurRad="50800" dist="25400" dir="8100000" algn="bl" rotWithShape="0">
              <a:srgbClr val="000000">
                <a:alpha val="15000"/>
              </a:srgbClr>
            </a:outerShdw>
          </a:effectLst>
        </p:spPr>
        <p:txBody>
          <a:bodyPr/>
          <a:lstStyle/>
          <a:p>
            <a:endParaRPr lang="en-US" dirty="0">
              <a:solidFill>
                <a:schemeClr val="bg1"/>
              </a:solidFill>
            </a:endParaRPr>
          </a:p>
        </p:txBody>
      </p:sp>
      <p:pic>
        <p:nvPicPr>
          <p:cNvPr id="6" name="Image 1"/>
          <p:cNvPicPr>
            <a:picLocks noChangeAspect="1"/>
          </p:cNvPicPr>
          <p:nvPr/>
        </p:nvPicPr>
        <p:blipFill>
          <a:blip r:embed="rId3"/>
          <a:srcRect/>
          <a:stretch/>
        </p:blipFill>
        <p:spPr>
          <a:xfrm>
            <a:off x="208479" y="1061362"/>
            <a:ext cx="1188720" cy="1173861"/>
          </a:xfrm>
          <a:prstGeom prst="rect">
            <a:avLst/>
          </a:prstGeom>
        </p:spPr>
      </p:pic>
      <p:sp>
        <p:nvSpPr>
          <p:cNvPr id="7" name="Text 3"/>
          <p:cNvSpPr/>
          <p:nvPr/>
        </p:nvSpPr>
        <p:spPr>
          <a:xfrm>
            <a:off x="191792" y="2254870"/>
            <a:ext cx="1205407" cy="285454"/>
          </a:xfrm>
          <a:prstGeom prst="rect">
            <a:avLst/>
          </a:prstGeom>
          <a:noFill/>
          <a:ln/>
        </p:spPr>
        <p:txBody>
          <a:bodyPr wrap="square" lIns="0" tIns="0" rIns="0" bIns="0" rtlCol="0" anchor="ctr"/>
          <a:lstStyle/>
          <a:p>
            <a:pPr marL="0" indent="0" algn="ctr">
              <a:buNone/>
            </a:pPr>
            <a:r>
              <a:rPr lang="en-US" sz="1100" b="1" dirty="0">
                <a:solidFill>
                  <a:schemeClr val="accent1">
                    <a:lumMod val="50000"/>
                  </a:schemeClr>
                </a:solidFill>
              </a:rPr>
              <a:t>Data Source</a:t>
            </a:r>
            <a:endParaRPr lang="en-US" sz="1100" dirty="0">
              <a:solidFill>
                <a:schemeClr val="accent1">
                  <a:lumMod val="50000"/>
                </a:schemeClr>
              </a:solidFill>
            </a:endParaRPr>
          </a:p>
        </p:txBody>
      </p:sp>
      <p:sp>
        <p:nvSpPr>
          <p:cNvPr id="10" name="Shape 6"/>
          <p:cNvSpPr/>
          <p:nvPr/>
        </p:nvSpPr>
        <p:spPr>
          <a:xfrm>
            <a:off x="1802446" y="1061361"/>
            <a:ext cx="1285436" cy="1181559"/>
          </a:xfrm>
          <a:prstGeom prst="rect">
            <a:avLst/>
          </a:prstGeom>
          <a:solidFill>
            <a:schemeClr val="bg1"/>
          </a:solidFill>
          <a:ln/>
          <a:effectLst>
            <a:outerShdw blurRad="50800" dist="25400" dir="8100000" algn="bl" rotWithShape="0">
              <a:srgbClr val="000000">
                <a:alpha val="15000"/>
              </a:srgbClr>
            </a:outerShdw>
          </a:effectLst>
        </p:spPr>
        <p:txBody>
          <a:bodyPr/>
          <a:lstStyle/>
          <a:p>
            <a:endParaRPr lang="en-US"/>
          </a:p>
        </p:txBody>
      </p:sp>
      <p:pic>
        <p:nvPicPr>
          <p:cNvPr id="11" name="Image 2"/>
          <p:cNvPicPr>
            <a:picLocks noChangeAspect="1"/>
          </p:cNvPicPr>
          <p:nvPr/>
        </p:nvPicPr>
        <p:blipFill>
          <a:blip r:embed="rId4"/>
          <a:srcRect/>
          <a:stretch/>
        </p:blipFill>
        <p:spPr>
          <a:xfrm>
            <a:off x="1865434" y="1349622"/>
            <a:ext cx="510638" cy="510638"/>
          </a:xfrm>
          <a:prstGeom prst="rect">
            <a:avLst/>
          </a:prstGeom>
        </p:spPr>
      </p:pic>
      <p:pic>
        <p:nvPicPr>
          <p:cNvPr id="12" name="Image 3"/>
          <p:cNvPicPr>
            <a:picLocks noChangeAspect="1"/>
          </p:cNvPicPr>
          <p:nvPr/>
        </p:nvPicPr>
        <p:blipFill>
          <a:blip r:embed="rId5"/>
          <a:srcRect/>
          <a:stretch/>
        </p:blipFill>
        <p:spPr>
          <a:xfrm>
            <a:off x="2488193" y="1377225"/>
            <a:ext cx="520934" cy="484712"/>
          </a:xfrm>
          <a:prstGeom prst="rect">
            <a:avLst/>
          </a:prstGeom>
        </p:spPr>
      </p:pic>
      <p:sp>
        <p:nvSpPr>
          <p:cNvPr id="13" name="Text 7"/>
          <p:cNvSpPr/>
          <p:nvPr/>
        </p:nvSpPr>
        <p:spPr>
          <a:xfrm>
            <a:off x="1802447" y="2270006"/>
            <a:ext cx="1256978" cy="281209"/>
          </a:xfrm>
          <a:prstGeom prst="rect">
            <a:avLst/>
          </a:prstGeom>
          <a:noFill/>
          <a:ln/>
        </p:spPr>
        <p:txBody>
          <a:bodyPr wrap="square" lIns="0" tIns="0" rIns="0" bIns="0" rtlCol="0" anchor="ctr"/>
          <a:lstStyle/>
          <a:p>
            <a:pPr marL="0" indent="0" algn="ctr">
              <a:buNone/>
            </a:pPr>
            <a:r>
              <a:rPr lang="en-US" sz="1100" b="1" dirty="0">
                <a:solidFill>
                  <a:schemeClr val="accent1">
                    <a:lumMod val="50000"/>
                  </a:schemeClr>
                </a:solidFill>
              </a:rPr>
              <a:t>Data Cleaning</a:t>
            </a:r>
            <a:endParaRPr lang="en-US" sz="1100" dirty="0">
              <a:solidFill>
                <a:schemeClr val="accent1">
                  <a:lumMod val="50000"/>
                </a:schemeClr>
              </a:solidFill>
            </a:endParaRPr>
          </a:p>
        </p:txBody>
      </p:sp>
      <p:sp>
        <p:nvSpPr>
          <p:cNvPr id="15" name="Text 9"/>
          <p:cNvSpPr/>
          <p:nvPr/>
        </p:nvSpPr>
        <p:spPr>
          <a:xfrm>
            <a:off x="4489472" y="1656995"/>
            <a:ext cx="228600" cy="365760"/>
          </a:xfrm>
          <a:prstGeom prst="rect">
            <a:avLst/>
          </a:prstGeom>
          <a:noFill/>
          <a:ln/>
        </p:spPr>
        <p:txBody>
          <a:bodyPr wrap="square" lIns="0" tIns="0" rIns="0" bIns="0" rtlCol="0" anchor="ctr"/>
          <a:lstStyle/>
          <a:p>
            <a:pPr marL="0" indent="0">
              <a:buNone/>
            </a:pPr>
            <a:endParaRPr lang="en-US" sz="1400" dirty="0"/>
          </a:p>
        </p:txBody>
      </p:sp>
      <p:sp>
        <p:nvSpPr>
          <p:cNvPr id="16" name="Shape 10"/>
          <p:cNvSpPr/>
          <p:nvPr/>
        </p:nvSpPr>
        <p:spPr>
          <a:xfrm>
            <a:off x="3483634" y="1020403"/>
            <a:ext cx="1487995" cy="1249603"/>
          </a:xfrm>
          <a:prstGeom prst="rect">
            <a:avLst/>
          </a:prstGeom>
          <a:solidFill>
            <a:schemeClr val="bg1"/>
          </a:solidFill>
          <a:ln/>
          <a:effectLst>
            <a:outerShdw blurRad="50800" dist="25400" dir="8100000" algn="bl" rotWithShape="0">
              <a:srgbClr val="000000">
                <a:alpha val="15000"/>
              </a:srgbClr>
            </a:outerShdw>
          </a:effectLst>
        </p:spPr>
        <p:txBody>
          <a:bodyPr/>
          <a:lstStyle/>
          <a:p>
            <a:endParaRPr lang="en-US"/>
          </a:p>
        </p:txBody>
      </p:sp>
      <p:pic>
        <p:nvPicPr>
          <p:cNvPr id="17" name="Image 4"/>
          <p:cNvPicPr>
            <a:picLocks noChangeAspect="1"/>
          </p:cNvPicPr>
          <p:nvPr/>
        </p:nvPicPr>
        <p:blipFill>
          <a:blip r:embed="rId6"/>
          <a:srcRect/>
          <a:stretch/>
        </p:blipFill>
        <p:spPr>
          <a:xfrm>
            <a:off x="3548259" y="1070021"/>
            <a:ext cx="640080" cy="519485"/>
          </a:xfrm>
          <a:prstGeom prst="rect">
            <a:avLst/>
          </a:prstGeom>
        </p:spPr>
      </p:pic>
      <p:pic>
        <p:nvPicPr>
          <p:cNvPr id="18" name="Image 5"/>
          <p:cNvPicPr>
            <a:picLocks noChangeAspect="1"/>
          </p:cNvPicPr>
          <p:nvPr/>
        </p:nvPicPr>
        <p:blipFill>
          <a:blip r:embed="rId7"/>
          <a:srcRect t="10769" b="1"/>
          <a:stretch>
            <a:fillRect/>
          </a:stretch>
        </p:blipFill>
        <p:spPr>
          <a:xfrm>
            <a:off x="4274664" y="1141137"/>
            <a:ext cx="640080" cy="530352"/>
          </a:xfrm>
          <a:prstGeom prst="rect">
            <a:avLst/>
          </a:prstGeom>
        </p:spPr>
      </p:pic>
      <p:sp>
        <p:nvSpPr>
          <p:cNvPr id="19" name="Text 11"/>
          <p:cNvSpPr/>
          <p:nvPr/>
        </p:nvSpPr>
        <p:spPr>
          <a:xfrm>
            <a:off x="3500164" y="2299383"/>
            <a:ext cx="1471466" cy="344454"/>
          </a:xfrm>
          <a:prstGeom prst="rect">
            <a:avLst/>
          </a:prstGeom>
          <a:noFill/>
          <a:ln/>
        </p:spPr>
        <p:txBody>
          <a:bodyPr wrap="square" lIns="0" tIns="0" rIns="0" bIns="0" rtlCol="0" anchor="ctr"/>
          <a:lstStyle/>
          <a:p>
            <a:pPr algn="ctr"/>
            <a:r>
              <a:rPr lang="en-US" sz="1100" b="1" dirty="0">
                <a:solidFill>
                  <a:schemeClr val="accent1">
                    <a:lumMod val="50000"/>
                  </a:schemeClr>
                </a:solidFill>
              </a:rPr>
              <a:t>Data Base </a:t>
            </a:r>
          </a:p>
          <a:p>
            <a:pPr algn="ctr"/>
            <a:r>
              <a:rPr lang="en-US" sz="1100" b="1" dirty="0">
                <a:solidFill>
                  <a:schemeClr val="accent1">
                    <a:lumMod val="50000"/>
                  </a:schemeClr>
                </a:solidFill>
              </a:rPr>
              <a:t>ERD</a:t>
            </a:r>
            <a:r>
              <a:rPr lang="en-US" sz="1100" b="1" dirty="0">
                <a:solidFill>
                  <a:srgbClr val="FFFFFF"/>
                </a:solidFill>
              </a:rPr>
              <a:t> </a:t>
            </a:r>
            <a:r>
              <a:rPr lang="en-US" sz="1100" b="1" dirty="0">
                <a:solidFill>
                  <a:schemeClr val="accent1">
                    <a:lumMod val="50000"/>
                  </a:schemeClr>
                </a:solidFill>
              </a:rPr>
              <a:t>&amp; Modeling</a:t>
            </a:r>
          </a:p>
        </p:txBody>
      </p:sp>
      <p:sp>
        <p:nvSpPr>
          <p:cNvPr id="21" name="Text 13"/>
          <p:cNvSpPr/>
          <p:nvPr/>
        </p:nvSpPr>
        <p:spPr>
          <a:xfrm>
            <a:off x="6684032" y="1656995"/>
            <a:ext cx="228600" cy="365760"/>
          </a:xfrm>
          <a:prstGeom prst="rect">
            <a:avLst/>
          </a:prstGeom>
          <a:noFill/>
          <a:ln/>
        </p:spPr>
        <p:txBody>
          <a:bodyPr wrap="square" lIns="0" tIns="0" rIns="0" bIns="0" rtlCol="0" anchor="ctr"/>
          <a:lstStyle/>
          <a:p>
            <a:pPr marL="0" indent="0">
              <a:buNone/>
            </a:pPr>
            <a:endParaRPr lang="en-US" sz="1400" dirty="0"/>
          </a:p>
        </p:txBody>
      </p:sp>
      <p:sp>
        <p:nvSpPr>
          <p:cNvPr id="22" name="Shape 14"/>
          <p:cNvSpPr/>
          <p:nvPr/>
        </p:nvSpPr>
        <p:spPr>
          <a:xfrm>
            <a:off x="5387187" y="1024454"/>
            <a:ext cx="864568" cy="1280504"/>
          </a:xfrm>
          <a:prstGeom prst="rect">
            <a:avLst/>
          </a:prstGeom>
          <a:solidFill>
            <a:schemeClr val="bg1"/>
          </a:solidFill>
          <a:ln/>
          <a:effectLst>
            <a:outerShdw blurRad="50800" dist="25400" dir="8100000" algn="bl" rotWithShape="0">
              <a:srgbClr val="000000">
                <a:alpha val="15000"/>
              </a:srgbClr>
            </a:outerShdw>
          </a:effectLst>
        </p:spPr>
        <p:txBody>
          <a:bodyPr/>
          <a:lstStyle/>
          <a:p>
            <a:endParaRPr lang="en-US" dirty="0"/>
          </a:p>
        </p:txBody>
      </p:sp>
      <p:sp>
        <p:nvSpPr>
          <p:cNvPr id="24" name="Text 15"/>
          <p:cNvSpPr/>
          <p:nvPr/>
        </p:nvSpPr>
        <p:spPr>
          <a:xfrm>
            <a:off x="5387187" y="2314948"/>
            <a:ext cx="864569" cy="390337"/>
          </a:xfrm>
          <a:prstGeom prst="rect">
            <a:avLst/>
          </a:prstGeom>
          <a:noFill/>
          <a:ln/>
        </p:spPr>
        <p:txBody>
          <a:bodyPr wrap="square" lIns="0" tIns="0" rIns="0" bIns="0" rtlCol="0" anchor="ctr"/>
          <a:lstStyle/>
          <a:p>
            <a:pPr marL="0" indent="0" algn="ctr">
              <a:buNone/>
            </a:pPr>
            <a:r>
              <a:rPr lang="en-US" sz="1100" b="1" dirty="0">
                <a:solidFill>
                  <a:schemeClr val="accent1">
                    <a:lumMod val="50000"/>
                  </a:schemeClr>
                </a:solidFill>
              </a:rPr>
              <a:t>Data</a:t>
            </a:r>
            <a:r>
              <a:rPr lang="en-US" sz="1100" b="1" dirty="0">
                <a:solidFill>
                  <a:srgbClr val="FFFFFF"/>
                </a:solidFill>
              </a:rPr>
              <a:t> </a:t>
            </a:r>
            <a:r>
              <a:rPr lang="en-US" sz="1100" b="1" dirty="0">
                <a:solidFill>
                  <a:schemeClr val="accent1">
                    <a:lumMod val="50000"/>
                  </a:schemeClr>
                </a:solidFill>
              </a:rPr>
              <a:t>Warehouse</a:t>
            </a:r>
          </a:p>
        </p:txBody>
      </p:sp>
      <p:sp>
        <p:nvSpPr>
          <p:cNvPr id="26" name="Shape 17"/>
          <p:cNvSpPr/>
          <p:nvPr/>
        </p:nvSpPr>
        <p:spPr>
          <a:xfrm>
            <a:off x="6659959" y="1003792"/>
            <a:ext cx="864568" cy="1295591"/>
          </a:xfrm>
          <a:prstGeom prst="rect">
            <a:avLst/>
          </a:prstGeom>
          <a:solidFill>
            <a:schemeClr val="bg1"/>
          </a:solidFill>
          <a:ln/>
          <a:effectLst>
            <a:outerShdw blurRad="38100" dist="12700" dir="8100000" algn="bl" rotWithShape="0">
              <a:srgbClr val="000000">
                <a:alpha val="13000"/>
              </a:srgbClr>
            </a:outerShdw>
          </a:effectLst>
        </p:spPr>
        <p:txBody>
          <a:bodyPr/>
          <a:lstStyle/>
          <a:p>
            <a:endParaRPr lang="en-US" dirty="0"/>
          </a:p>
        </p:txBody>
      </p:sp>
      <p:pic>
        <p:nvPicPr>
          <p:cNvPr id="27" name="Image 7"/>
          <p:cNvPicPr>
            <a:picLocks noChangeAspect="1"/>
          </p:cNvPicPr>
          <p:nvPr/>
        </p:nvPicPr>
        <p:blipFill>
          <a:blip r:embed="rId8"/>
          <a:srcRect/>
          <a:stretch/>
        </p:blipFill>
        <p:spPr>
          <a:xfrm>
            <a:off x="6798332" y="1378851"/>
            <a:ext cx="533334" cy="466667"/>
          </a:xfrm>
          <a:prstGeom prst="rect">
            <a:avLst/>
          </a:prstGeom>
        </p:spPr>
      </p:pic>
      <p:sp>
        <p:nvSpPr>
          <p:cNvPr id="28" name="Text 18"/>
          <p:cNvSpPr/>
          <p:nvPr/>
        </p:nvSpPr>
        <p:spPr>
          <a:xfrm>
            <a:off x="6684032" y="2304959"/>
            <a:ext cx="840495" cy="278186"/>
          </a:xfrm>
          <a:prstGeom prst="rect">
            <a:avLst/>
          </a:prstGeom>
          <a:noFill/>
          <a:ln/>
        </p:spPr>
        <p:txBody>
          <a:bodyPr wrap="square" lIns="0" tIns="0" rIns="0" bIns="0" rtlCol="0" anchor="ctr"/>
          <a:lstStyle/>
          <a:p>
            <a:pPr marL="0" indent="0" algn="ctr">
              <a:buNone/>
            </a:pPr>
            <a:r>
              <a:rPr lang="en-US" sz="1100" b="1" dirty="0">
                <a:solidFill>
                  <a:schemeClr val="accent1">
                    <a:lumMod val="50000"/>
                  </a:schemeClr>
                </a:solidFill>
              </a:rPr>
              <a:t>SSRS</a:t>
            </a:r>
          </a:p>
        </p:txBody>
      </p:sp>
      <p:sp>
        <p:nvSpPr>
          <p:cNvPr id="29" name="Shape 19"/>
          <p:cNvSpPr/>
          <p:nvPr/>
        </p:nvSpPr>
        <p:spPr>
          <a:xfrm>
            <a:off x="7902614" y="1024454"/>
            <a:ext cx="1049593" cy="1249677"/>
          </a:xfrm>
          <a:prstGeom prst="rect">
            <a:avLst/>
          </a:prstGeom>
          <a:solidFill>
            <a:schemeClr val="bg1"/>
          </a:solidFill>
          <a:ln/>
          <a:effectLst>
            <a:outerShdw blurRad="38100" dist="12700" dir="8100000" algn="bl" rotWithShape="0">
              <a:srgbClr val="000000">
                <a:alpha val="13000"/>
              </a:srgbClr>
            </a:outerShdw>
          </a:effectLst>
        </p:spPr>
        <p:txBody>
          <a:bodyPr/>
          <a:lstStyle/>
          <a:p>
            <a:endParaRPr lang="en-US" dirty="0"/>
          </a:p>
        </p:txBody>
      </p:sp>
      <p:pic>
        <p:nvPicPr>
          <p:cNvPr id="30" name="Image 8"/>
          <p:cNvPicPr>
            <a:picLocks noChangeAspect="1"/>
          </p:cNvPicPr>
          <p:nvPr/>
        </p:nvPicPr>
        <p:blipFill>
          <a:blip r:embed="rId9"/>
          <a:srcRect b="16683"/>
          <a:stretch>
            <a:fillRect/>
          </a:stretch>
        </p:blipFill>
        <p:spPr>
          <a:xfrm>
            <a:off x="8090790" y="1277389"/>
            <a:ext cx="700189" cy="469818"/>
          </a:xfrm>
          <a:prstGeom prst="rect">
            <a:avLst/>
          </a:prstGeom>
        </p:spPr>
      </p:pic>
      <p:sp>
        <p:nvSpPr>
          <p:cNvPr id="31" name="Text 20"/>
          <p:cNvSpPr/>
          <p:nvPr/>
        </p:nvSpPr>
        <p:spPr>
          <a:xfrm>
            <a:off x="7902615" y="2274131"/>
            <a:ext cx="994914" cy="268122"/>
          </a:xfrm>
          <a:prstGeom prst="rect">
            <a:avLst/>
          </a:prstGeom>
          <a:noFill/>
          <a:ln/>
        </p:spPr>
        <p:txBody>
          <a:bodyPr wrap="square" lIns="0" tIns="0" rIns="0" bIns="0" rtlCol="0" anchor="ctr"/>
          <a:lstStyle/>
          <a:p>
            <a:pPr marL="0" indent="0" algn="ctr">
              <a:buNone/>
            </a:pPr>
            <a:r>
              <a:rPr lang="en-US" sz="1100" b="1" dirty="0">
                <a:solidFill>
                  <a:schemeClr val="accent1">
                    <a:lumMod val="50000"/>
                  </a:schemeClr>
                </a:solidFill>
              </a:rPr>
              <a:t>Power</a:t>
            </a:r>
            <a:r>
              <a:rPr lang="en-US" sz="900" b="1" dirty="0">
                <a:solidFill>
                  <a:srgbClr val="FFFFFF"/>
                </a:solidFill>
              </a:rPr>
              <a:t> </a:t>
            </a:r>
            <a:r>
              <a:rPr lang="en-US" sz="1100" b="1" dirty="0">
                <a:solidFill>
                  <a:schemeClr val="accent1">
                    <a:lumMod val="50000"/>
                  </a:schemeClr>
                </a:solidFill>
              </a:rPr>
              <a:t>BI</a:t>
            </a:r>
          </a:p>
        </p:txBody>
      </p:sp>
      <p:pic>
        <p:nvPicPr>
          <p:cNvPr id="33" name="Image 9"/>
          <p:cNvPicPr>
            <a:picLocks noChangeAspect="1"/>
          </p:cNvPicPr>
          <p:nvPr/>
        </p:nvPicPr>
        <p:blipFill>
          <a:blip r:embed="rId10"/>
          <a:srcRect/>
          <a:stretch/>
        </p:blipFill>
        <p:spPr>
          <a:xfrm>
            <a:off x="7836085" y="3739738"/>
            <a:ext cx="1046558" cy="588689"/>
          </a:xfrm>
          <a:prstGeom prst="rect">
            <a:avLst/>
          </a:prstGeom>
        </p:spPr>
      </p:pic>
      <p:sp>
        <p:nvSpPr>
          <p:cNvPr id="34" name="Text 22"/>
          <p:cNvSpPr/>
          <p:nvPr/>
        </p:nvSpPr>
        <p:spPr>
          <a:xfrm>
            <a:off x="7811095" y="4721645"/>
            <a:ext cx="1086434" cy="232685"/>
          </a:xfrm>
          <a:prstGeom prst="rect">
            <a:avLst/>
          </a:prstGeom>
          <a:noFill/>
          <a:ln/>
        </p:spPr>
        <p:txBody>
          <a:bodyPr wrap="square" lIns="0" tIns="0" rIns="0" bIns="0" rtlCol="0" anchor="ctr"/>
          <a:lstStyle/>
          <a:p>
            <a:pPr marL="0" indent="0" algn="ctr">
              <a:buNone/>
            </a:pPr>
            <a:r>
              <a:rPr lang="en-US" sz="1100" b="1" dirty="0">
                <a:solidFill>
                  <a:schemeClr val="accent1">
                    <a:lumMod val="50000"/>
                  </a:schemeClr>
                </a:solidFill>
              </a:rPr>
              <a:t>Tableau</a:t>
            </a:r>
          </a:p>
        </p:txBody>
      </p:sp>
      <p:pic>
        <p:nvPicPr>
          <p:cNvPr id="36" name="Image 10"/>
          <p:cNvPicPr>
            <a:picLocks noChangeAspect="1"/>
          </p:cNvPicPr>
          <p:nvPr/>
        </p:nvPicPr>
        <p:blipFill>
          <a:blip r:embed="rId11"/>
          <a:srcRect/>
          <a:stretch/>
        </p:blipFill>
        <p:spPr>
          <a:xfrm>
            <a:off x="5869119" y="3428243"/>
            <a:ext cx="568712" cy="399129"/>
          </a:xfrm>
          <a:prstGeom prst="rect">
            <a:avLst/>
          </a:prstGeom>
        </p:spPr>
      </p:pic>
      <p:sp>
        <p:nvSpPr>
          <p:cNvPr id="37" name="Text 24"/>
          <p:cNvSpPr/>
          <p:nvPr/>
        </p:nvSpPr>
        <p:spPr>
          <a:xfrm>
            <a:off x="5772278" y="4630087"/>
            <a:ext cx="1484702" cy="364281"/>
          </a:xfrm>
          <a:prstGeom prst="rect">
            <a:avLst/>
          </a:prstGeom>
          <a:noFill/>
          <a:ln/>
        </p:spPr>
        <p:txBody>
          <a:bodyPr wrap="square" lIns="0" tIns="0" rIns="0" bIns="0" rtlCol="0" anchor="ctr"/>
          <a:lstStyle/>
          <a:p>
            <a:pPr marL="0" indent="0" algn="ctr">
              <a:buNone/>
            </a:pPr>
            <a:r>
              <a:rPr lang="en-US" sz="1100" b="1" dirty="0">
                <a:solidFill>
                  <a:schemeClr val="accent1">
                    <a:lumMod val="50000"/>
                  </a:schemeClr>
                </a:solidFill>
              </a:rPr>
              <a:t>Rag</a:t>
            </a:r>
            <a:r>
              <a:rPr lang="en-US" sz="900" dirty="0"/>
              <a:t> </a:t>
            </a:r>
            <a:r>
              <a:rPr lang="en-US" sz="1100" b="1" dirty="0">
                <a:solidFill>
                  <a:schemeClr val="accent1">
                    <a:lumMod val="50000"/>
                  </a:schemeClr>
                </a:solidFill>
              </a:rPr>
              <a:t>system</a:t>
            </a:r>
            <a:r>
              <a:rPr lang="en-US" sz="900" dirty="0"/>
              <a:t> </a:t>
            </a:r>
          </a:p>
        </p:txBody>
      </p:sp>
      <p:pic>
        <p:nvPicPr>
          <p:cNvPr id="39" name="Image 11"/>
          <p:cNvPicPr>
            <a:picLocks noChangeAspect="1"/>
          </p:cNvPicPr>
          <p:nvPr/>
        </p:nvPicPr>
        <p:blipFill>
          <a:blip r:embed="rId12"/>
          <a:srcRect/>
          <a:stretch/>
        </p:blipFill>
        <p:spPr>
          <a:xfrm>
            <a:off x="3881117" y="3332375"/>
            <a:ext cx="541770" cy="559630"/>
          </a:xfrm>
          <a:prstGeom prst="rect">
            <a:avLst/>
          </a:prstGeom>
        </p:spPr>
      </p:pic>
      <p:sp>
        <p:nvSpPr>
          <p:cNvPr id="40" name="Text 26"/>
          <p:cNvSpPr/>
          <p:nvPr/>
        </p:nvSpPr>
        <p:spPr>
          <a:xfrm>
            <a:off x="3741009" y="4597616"/>
            <a:ext cx="1487995" cy="356714"/>
          </a:xfrm>
          <a:prstGeom prst="rect">
            <a:avLst/>
          </a:prstGeom>
          <a:noFill/>
          <a:ln/>
        </p:spPr>
        <p:txBody>
          <a:bodyPr wrap="square" lIns="0" tIns="0" rIns="0" bIns="0" rtlCol="0" anchor="ctr"/>
          <a:lstStyle/>
          <a:p>
            <a:pPr marL="0" indent="0" algn="ctr">
              <a:buNone/>
            </a:pPr>
            <a:r>
              <a:rPr lang="en-US" sz="1100" b="1" dirty="0">
                <a:solidFill>
                  <a:schemeClr val="accent1">
                    <a:lumMod val="50000"/>
                  </a:schemeClr>
                </a:solidFill>
              </a:rPr>
              <a:t>Power</a:t>
            </a:r>
            <a:r>
              <a:rPr lang="en-US" sz="900" b="1" dirty="0">
                <a:solidFill>
                  <a:srgbClr val="FFFFFF"/>
                </a:solidFill>
              </a:rPr>
              <a:t> </a:t>
            </a:r>
            <a:r>
              <a:rPr lang="en-US" sz="1100" b="1" dirty="0">
                <a:solidFill>
                  <a:schemeClr val="accent1">
                    <a:lumMod val="50000"/>
                  </a:schemeClr>
                </a:solidFill>
              </a:rPr>
              <a:t>Platforms</a:t>
            </a:r>
          </a:p>
        </p:txBody>
      </p:sp>
      <p:sp>
        <p:nvSpPr>
          <p:cNvPr id="41" name="Shape 27"/>
          <p:cNvSpPr/>
          <p:nvPr/>
        </p:nvSpPr>
        <p:spPr>
          <a:xfrm>
            <a:off x="1876802" y="3276398"/>
            <a:ext cx="1325880" cy="1333499"/>
          </a:xfrm>
          <a:prstGeom prst="rect">
            <a:avLst/>
          </a:prstGeom>
          <a:solidFill>
            <a:schemeClr val="bg1"/>
          </a:solidFill>
          <a:ln/>
          <a:effectLst>
            <a:outerShdw blurRad="38100" dist="12700" dir="8100000" algn="bl" rotWithShape="0">
              <a:srgbClr val="000000">
                <a:alpha val="13000"/>
              </a:srgbClr>
            </a:outerShdw>
          </a:effectLst>
        </p:spPr>
        <p:txBody>
          <a:bodyPr/>
          <a:lstStyle/>
          <a:p>
            <a:endParaRPr lang="en-US" dirty="0"/>
          </a:p>
        </p:txBody>
      </p:sp>
      <p:sp>
        <p:nvSpPr>
          <p:cNvPr id="43" name="Text 28"/>
          <p:cNvSpPr/>
          <p:nvPr/>
        </p:nvSpPr>
        <p:spPr>
          <a:xfrm>
            <a:off x="1898918" y="4609897"/>
            <a:ext cx="1303763" cy="297181"/>
          </a:xfrm>
          <a:prstGeom prst="rect">
            <a:avLst/>
          </a:prstGeom>
          <a:noFill/>
          <a:ln/>
        </p:spPr>
        <p:txBody>
          <a:bodyPr wrap="square" lIns="0" tIns="0" rIns="0" bIns="0" rtlCol="0" anchor="ctr"/>
          <a:lstStyle/>
          <a:p>
            <a:pPr marL="0" indent="0" algn="ctr">
              <a:buNone/>
            </a:pPr>
            <a:r>
              <a:rPr lang="en-US" sz="1100" b="1" dirty="0">
                <a:solidFill>
                  <a:schemeClr val="accent1">
                    <a:lumMod val="50000"/>
                  </a:schemeClr>
                </a:solidFill>
              </a:rPr>
              <a:t>Website</a:t>
            </a:r>
          </a:p>
        </p:txBody>
      </p:sp>
      <p:pic>
        <p:nvPicPr>
          <p:cNvPr id="46" name="Image 4">
            <a:extLst>
              <a:ext uri="{FF2B5EF4-FFF2-40B4-BE49-F238E27FC236}">
                <a16:creationId xmlns:a16="http://schemas.microsoft.com/office/drawing/2014/main" id="{C5C2CD12-A74D-7871-88A3-F7ECD3ABFD3E}"/>
              </a:ext>
            </a:extLst>
          </p:cNvPr>
          <p:cNvPicPr>
            <a:picLocks noChangeAspect="1"/>
          </p:cNvPicPr>
          <p:nvPr/>
        </p:nvPicPr>
        <p:blipFill>
          <a:blip r:embed="rId13"/>
          <a:srcRect/>
          <a:stretch/>
        </p:blipFill>
        <p:spPr>
          <a:xfrm>
            <a:off x="3928596" y="1660040"/>
            <a:ext cx="519485" cy="519485"/>
          </a:xfrm>
          <a:prstGeom prst="rect">
            <a:avLst/>
          </a:prstGeom>
        </p:spPr>
      </p:pic>
      <p:pic>
        <p:nvPicPr>
          <p:cNvPr id="47" name="Image 4">
            <a:extLst>
              <a:ext uri="{FF2B5EF4-FFF2-40B4-BE49-F238E27FC236}">
                <a16:creationId xmlns:a16="http://schemas.microsoft.com/office/drawing/2014/main" id="{0C342B31-BEAC-4D31-678F-43AD1D36AE2D}"/>
              </a:ext>
            </a:extLst>
          </p:cNvPr>
          <p:cNvPicPr>
            <a:picLocks noChangeAspect="1"/>
          </p:cNvPicPr>
          <p:nvPr/>
        </p:nvPicPr>
        <p:blipFill>
          <a:blip r:embed="rId6"/>
          <a:srcRect/>
          <a:stretch/>
        </p:blipFill>
        <p:spPr>
          <a:xfrm>
            <a:off x="5494364" y="1302641"/>
            <a:ext cx="640080" cy="519485"/>
          </a:xfrm>
          <a:prstGeom prst="rect">
            <a:avLst/>
          </a:prstGeom>
        </p:spPr>
      </p:pic>
      <p:pic>
        <p:nvPicPr>
          <p:cNvPr id="49" name="Image 10">
            <a:extLst>
              <a:ext uri="{FF2B5EF4-FFF2-40B4-BE49-F238E27FC236}">
                <a16:creationId xmlns:a16="http://schemas.microsoft.com/office/drawing/2014/main" id="{D4FBD796-FBA1-721F-CEB9-186689DBDBA9}"/>
              </a:ext>
            </a:extLst>
          </p:cNvPr>
          <p:cNvPicPr>
            <a:picLocks noChangeAspect="1"/>
          </p:cNvPicPr>
          <p:nvPr/>
        </p:nvPicPr>
        <p:blipFill>
          <a:blip r:embed="rId14"/>
          <a:srcRect/>
          <a:stretch/>
        </p:blipFill>
        <p:spPr>
          <a:xfrm>
            <a:off x="6535605" y="3458715"/>
            <a:ext cx="689209" cy="357902"/>
          </a:xfrm>
          <a:prstGeom prst="rect">
            <a:avLst/>
          </a:prstGeom>
        </p:spPr>
      </p:pic>
      <p:pic>
        <p:nvPicPr>
          <p:cNvPr id="50" name="Image 10">
            <a:extLst>
              <a:ext uri="{FF2B5EF4-FFF2-40B4-BE49-F238E27FC236}">
                <a16:creationId xmlns:a16="http://schemas.microsoft.com/office/drawing/2014/main" id="{15DB52A9-49C3-A985-C86E-19C60CD187AC}"/>
              </a:ext>
            </a:extLst>
          </p:cNvPr>
          <p:cNvPicPr>
            <a:picLocks noChangeAspect="1"/>
          </p:cNvPicPr>
          <p:nvPr/>
        </p:nvPicPr>
        <p:blipFill>
          <a:blip r:embed="rId15"/>
          <a:srcRect/>
          <a:stretch/>
        </p:blipFill>
        <p:spPr>
          <a:xfrm>
            <a:off x="6503350" y="4011425"/>
            <a:ext cx="721464" cy="423854"/>
          </a:xfrm>
          <a:prstGeom prst="rect">
            <a:avLst/>
          </a:prstGeom>
        </p:spPr>
      </p:pic>
      <p:pic>
        <p:nvPicPr>
          <p:cNvPr id="52" name="Picture 51">
            <a:extLst>
              <a:ext uri="{FF2B5EF4-FFF2-40B4-BE49-F238E27FC236}">
                <a16:creationId xmlns:a16="http://schemas.microsoft.com/office/drawing/2014/main" id="{16CDBD97-B704-72EB-979E-C59441AE26E4}"/>
              </a:ext>
            </a:extLst>
          </p:cNvPr>
          <p:cNvPicPr>
            <a:picLocks noChangeAspect="1"/>
          </p:cNvPicPr>
          <p:nvPr/>
        </p:nvPicPr>
        <p:blipFill>
          <a:blip r:embed="rId16"/>
          <a:srcRect/>
          <a:stretch/>
        </p:blipFill>
        <p:spPr>
          <a:xfrm>
            <a:off x="1397199" y="1487837"/>
            <a:ext cx="418708" cy="297180"/>
          </a:xfrm>
          <a:prstGeom prst="rect">
            <a:avLst/>
          </a:prstGeom>
        </p:spPr>
      </p:pic>
      <p:pic>
        <p:nvPicPr>
          <p:cNvPr id="53" name="Picture 52">
            <a:extLst>
              <a:ext uri="{FF2B5EF4-FFF2-40B4-BE49-F238E27FC236}">
                <a16:creationId xmlns:a16="http://schemas.microsoft.com/office/drawing/2014/main" id="{441587DA-B300-20F3-162B-BED9A15DBCD3}"/>
              </a:ext>
            </a:extLst>
          </p:cNvPr>
          <p:cNvPicPr>
            <a:picLocks noChangeAspect="1"/>
          </p:cNvPicPr>
          <p:nvPr/>
        </p:nvPicPr>
        <p:blipFill>
          <a:blip r:embed="rId16"/>
          <a:srcRect/>
          <a:stretch/>
        </p:blipFill>
        <p:spPr>
          <a:xfrm>
            <a:off x="3081455" y="1483300"/>
            <a:ext cx="418708" cy="297180"/>
          </a:xfrm>
          <a:prstGeom prst="rect">
            <a:avLst/>
          </a:prstGeom>
        </p:spPr>
      </p:pic>
      <p:pic>
        <p:nvPicPr>
          <p:cNvPr id="54" name="Picture 53">
            <a:extLst>
              <a:ext uri="{FF2B5EF4-FFF2-40B4-BE49-F238E27FC236}">
                <a16:creationId xmlns:a16="http://schemas.microsoft.com/office/drawing/2014/main" id="{97ED9655-90AE-6E1D-E5E7-280B7EAD105B}"/>
              </a:ext>
            </a:extLst>
          </p:cNvPr>
          <p:cNvPicPr>
            <a:picLocks noChangeAspect="1"/>
          </p:cNvPicPr>
          <p:nvPr/>
        </p:nvPicPr>
        <p:blipFill>
          <a:blip r:embed="rId16"/>
          <a:srcRect/>
          <a:stretch/>
        </p:blipFill>
        <p:spPr>
          <a:xfrm>
            <a:off x="4997883" y="1483300"/>
            <a:ext cx="418708" cy="297180"/>
          </a:xfrm>
          <a:prstGeom prst="rect">
            <a:avLst/>
          </a:prstGeom>
        </p:spPr>
      </p:pic>
      <p:pic>
        <p:nvPicPr>
          <p:cNvPr id="55" name="Picture 54">
            <a:extLst>
              <a:ext uri="{FF2B5EF4-FFF2-40B4-BE49-F238E27FC236}">
                <a16:creationId xmlns:a16="http://schemas.microsoft.com/office/drawing/2014/main" id="{416FFBD7-4C16-F86A-3F78-D2800DF724FA}"/>
              </a:ext>
            </a:extLst>
          </p:cNvPr>
          <p:cNvPicPr>
            <a:picLocks noChangeAspect="1"/>
          </p:cNvPicPr>
          <p:nvPr/>
        </p:nvPicPr>
        <p:blipFill>
          <a:blip r:embed="rId16"/>
          <a:srcRect/>
          <a:stretch/>
        </p:blipFill>
        <p:spPr>
          <a:xfrm>
            <a:off x="6251755" y="1496614"/>
            <a:ext cx="418708" cy="297180"/>
          </a:xfrm>
          <a:prstGeom prst="rect">
            <a:avLst/>
          </a:prstGeom>
        </p:spPr>
      </p:pic>
      <p:pic>
        <p:nvPicPr>
          <p:cNvPr id="56" name="Picture 55">
            <a:extLst>
              <a:ext uri="{FF2B5EF4-FFF2-40B4-BE49-F238E27FC236}">
                <a16:creationId xmlns:a16="http://schemas.microsoft.com/office/drawing/2014/main" id="{BB870C8B-35E8-7ED7-F7FA-51F9E8F0420A}"/>
              </a:ext>
            </a:extLst>
          </p:cNvPr>
          <p:cNvPicPr>
            <a:picLocks noChangeAspect="1"/>
          </p:cNvPicPr>
          <p:nvPr/>
        </p:nvPicPr>
        <p:blipFill>
          <a:blip r:embed="rId16"/>
          <a:srcRect/>
          <a:stretch/>
        </p:blipFill>
        <p:spPr>
          <a:xfrm rot="5400000">
            <a:off x="8057587" y="2764503"/>
            <a:ext cx="661648" cy="297180"/>
          </a:xfrm>
          <a:prstGeom prst="rect">
            <a:avLst/>
          </a:prstGeom>
        </p:spPr>
      </p:pic>
      <p:pic>
        <p:nvPicPr>
          <p:cNvPr id="57" name="Image 8">
            <a:extLst>
              <a:ext uri="{FF2B5EF4-FFF2-40B4-BE49-F238E27FC236}">
                <a16:creationId xmlns:a16="http://schemas.microsoft.com/office/drawing/2014/main" id="{65DCB27C-C17D-223F-B03B-45809423E872}"/>
              </a:ext>
            </a:extLst>
          </p:cNvPr>
          <p:cNvPicPr>
            <a:picLocks noChangeAspect="1"/>
          </p:cNvPicPr>
          <p:nvPr/>
        </p:nvPicPr>
        <p:blipFill>
          <a:blip r:embed="rId17"/>
          <a:srcRect l="30220" t="2" r="764" b="9520"/>
          <a:stretch>
            <a:fillRect/>
          </a:stretch>
        </p:blipFill>
        <p:spPr>
          <a:xfrm>
            <a:off x="8078369" y="1791681"/>
            <a:ext cx="725030" cy="107673"/>
          </a:xfrm>
          <a:prstGeom prst="rect">
            <a:avLst/>
          </a:prstGeom>
        </p:spPr>
      </p:pic>
      <p:pic>
        <p:nvPicPr>
          <p:cNvPr id="60" name="Picture 59">
            <a:extLst>
              <a:ext uri="{FF2B5EF4-FFF2-40B4-BE49-F238E27FC236}">
                <a16:creationId xmlns:a16="http://schemas.microsoft.com/office/drawing/2014/main" id="{556152EB-AB2F-409F-C2CC-3488F3FF47DB}"/>
              </a:ext>
            </a:extLst>
          </p:cNvPr>
          <p:cNvPicPr>
            <a:picLocks noChangeAspect="1"/>
          </p:cNvPicPr>
          <p:nvPr/>
        </p:nvPicPr>
        <p:blipFill>
          <a:blip r:embed="rId16"/>
          <a:srcRect/>
          <a:stretch/>
        </p:blipFill>
        <p:spPr>
          <a:xfrm rot="10800000">
            <a:off x="7260274" y="3892005"/>
            <a:ext cx="568215" cy="297180"/>
          </a:xfrm>
          <a:prstGeom prst="rect">
            <a:avLst/>
          </a:prstGeom>
        </p:spPr>
      </p:pic>
      <p:pic>
        <p:nvPicPr>
          <p:cNvPr id="62" name="Picture 61">
            <a:extLst>
              <a:ext uri="{FF2B5EF4-FFF2-40B4-BE49-F238E27FC236}">
                <a16:creationId xmlns:a16="http://schemas.microsoft.com/office/drawing/2014/main" id="{1D81AEC3-92D7-C413-EEBE-A9F6355BBC9B}"/>
              </a:ext>
            </a:extLst>
          </p:cNvPr>
          <p:cNvPicPr>
            <a:picLocks noChangeAspect="1"/>
          </p:cNvPicPr>
          <p:nvPr/>
        </p:nvPicPr>
        <p:blipFill>
          <a:blip r:embed="rId16"/>
          <a:srcRect/>
          <a:stretch/>
        </p:blipFill>
        <p:spPr>
          <a:xfrm rot="10800000">
            <a:off x="5206214" y="3827372"/>
            <a:ext cx="568215" cy="297180"/>
          </a:xfrm>
          <a:prstGeom prst="rect">
            <a:avLst/>
          </a:prstGeom>
        </p:spPr>
      </p:pic>
      <p:pic>
        <p:nvPicPr>
          <p:cNvPr id="63" name="Picture 62">
            <a:extLst>
              <a:ext uri="{FF2B5EF4-FFF2-40B4-BE49-F238E27FC236}">
                <a16:creationId xmlns:a16="http://schemas.microsoft.com/office/drawing/2014/main" id="{7B2E69F9-CB6D-74A4-C22F-EA1395FF0D67}"/>
              </a:ext>
            </a:extLst>
          </p:cNvPr>
          <p:cNvPicPr>
            <a:picLocks noChangeAspect="1"/>
          </p:cNvPicPr>
          <p:nvPr/>
        </p:nvPicPr>
        <p:blipFill>
          <a:blip r:embed="rId16"/>
          <a:srcRect/>
          <a:stretch/>
        </p:blipFill>
        <p:spPr>
          <a:xfrm rot="10800000">
            <a:off x="3186980" y="3829096"/>
            <a:ext cx="568215" cy="297180"/>
          </a:xfrm>
          <a:prstGeom prst="rect">
            <a:avLst/>
          </a:prstGeom>
        </p:spPr>
      </p:pic>
      <p:pic>
        <p:nvPicPr>
          <p:cNvPr id="64" name="Image 11">
            <a:extLst>
              <a:ext uri="{FF2B5EF4-FFF2-40B4-BE49-F238E27FC236}">
                <a16:creationId xmlns:a16="http://schemas.microsoft.com/office/drawing/2014/main" id="{BEBA069E-FC84-0BED-0831-3DF412FFA0DF}"/>
              </a:ext>
            </a:extLst>
          </p:cNvPr>
          <p:cNvPicPr>
            <a:picLocks noChangeAspect="1"/>
          </p:cNvPicPr>
          <p:nvPr/>
        </p:nvPicPr>
        <p:blipFill>
          <a:blip r:embed="rId18"/>
          <a:srcRect/>
          <a:stretch/>
        </p:blipFill>
        <p:spPr>
          <a:xfrm>
            <a:off x="3949597" y="4025638"/>
            <a:ext cx="404809" cy="395427"/>
          </a:xfrm>
          <a:prstGeom prst="rect">
            <a:avLst/>
          </a:prstGeom>
        </p:spPr>
      </p:pic>
      <p:pic>
        <p:nvPicPr>
          <p:cNvPr id="65" name="Image 11">
            <a:extLst>
              <a:ext uri="{FF2B5EF4-FFF2-40B4-BE49-F238E27FC236}">
                <a16:creationId xmlns:a16="http://schemas.microsoft.com/office/drawing/2014/main" id="{27DE8A65-C9AA-19A2-EA53-9A4946A77ADD}"/>
              </a:ext>
            </a:extLst>
          </p:cNvPr>
          <p:cNvPicPr>
            <a:picLocks noChangeAspect="1"/>
          </p:cNvPicPr>
          <p:nvPr/>
        </p:nvPicPr>
        <p:blipFill>
          <a:blip r:embed="rId19"/>
          <a:srcRect/>
          <a:stretch/>
        </p:blipFill>
        <p:spPr>
          <a:xfrm>
            <a:off x="4704843" y="3379724"/>
            <a:ext cx="436893" cy="436893"/>
          </a:xfrm>
          <a:prstGeom prst="rect">
            <a:avLst/>
          </a:prstGeom>
        </p:spPr>
      </p:pic>
      <p:pic>
        <p:nvPicPr>
          <p:cNvPr id="66" name="Image 11">
            <a:extLst>
              <a:ext uri="{FF2B5EF4-FFF2-40B4-BE49-F238E27FC236}">
                <a16:creationId xmlns:a16="http://schemas.microsoft.com/office/drawing/2014/main" id="{E9512F7E-9B6A-B731-9979-81E5AA023840}"/>
              </a:ext>
            </a:extLst>
          </p:cNvPr>
          <p:cNvPicPr>
            <a:picLocks noChangeAspect="1"/>
          </p:cNvPicPr>
          <p:nvPr/>
        </p:nvPicPr>
        <p:blipFill>
          <a:blip r:embed="rId20"/>
          <a:srcRect/>
          <a:stretch/>
        </p:blipFill>
        <p:spPr>
          <a:xfrm>
            <a:off x="4667433" y="4025638"/>
            <a:ext cx="395427" cy="395427"/>
          </a:xfrm>
          <a:prstGeom prst="rect">
            <a:avLst/>
          </a:prstGeom>
        </p:spPr>
      </p:pic>
      <p:pic>
        <p:nvPicPr>
          <p:cNvPr id="67" name="Image 11">
            <a:extLst>
              <a:ext uri="{FF2B5EF4-FFF2-40B4-BE49-F238E27FC236}">
                <a16:creationId xmlns:a16="http://schemas.microsoft.com/office/drawing/2014/main" id="{DFE44796-CAD1-5047-2327-6637024DFA7D}"/>
              </a:ext>
            </a:extLst>
          </p:cNvPr>
          <p:cNvPicPr>
            <a:picLocks noChangeAspect="1"/>
          </p:cNvPicPr>
          <p:nvPr/>
        </p:nvPicPr>
        <p:blipFill>
          <a:blip r:embed="rId21"/>
          <a:srcRect l="9777" t="12941" r="59157"/>
          <a:stretch>
            <a:fillRect/>
          </a:stretch>
        </p:blipFill>
        <p:spPr>
          <a:xfrm>
            <a:off x="5860150" y="3921595"/>
            <a:ext cx="580064" cy="619666"/>
          </a:xfrm>
          <a:prstGeom prst="rect">
            <a:avLst/>
          </a:prstGeom>
        </p:spPr>
      </p:pic>
      <p:pic>
        <p:nvPicPr>
          <p:cNvPr id="68" name="Picture 67">
            <a:extLst>
              <a:ext uri="{FF2B5EF4-FFF2-40B4-BE49-F238E27FC236}">
                <a16:creationId xmlns:a16="http://schemas.microsoft.com/office/drawing/2014/main" id="{9FE904BB-A5E9-9F0D-B8F4-3E9E5EAD3178}"/>
              </a:ext>
            </a:extLst>
          </p:cNvPr>
          <p:cNvPicPr>
            <a:picLocks noChangeAspect="1"/>
          </p:cNvPicPr>
          <p:nvPr/>
        </p:nvPicPr>
        <p:blipFill>
          <a:blip r:embed="rId16"/>
          <a:srcRect/>
          <a:stretch/>
        </p:blipFill>
        <p:spPr>
          <a:xfrm>
            <a:off x="7510855" y="1516619"/>
            <a:ext cx="418708" cy="297180"/>
          </a:xfrm>
          <a:prstGeom prst="rect">
            <a:avLst/>
          </a:prstGeom>
        </p:spPr>
      </p:pic>
      <p:pic>
        <p:nvPicPr>
          <p:cNvPr id="72" name="Image 10">
            <a:extLst>
              <a:ext uri="{FF2B5EF4-FFF2-40B4-BE49-F238E27FC236}">
                <a16:creationId xmlns:a16="http://schemas.microsoft.com/office/drawing/2014/main" id="{F3C06933-F7FD-A58D-8D27-C60197FFA1CF}"/>
              </a:ext>
            </a:extLst>
          </p:cNvPr>
          <p:cNvPicPr>
            <a:picLocks noChangeAspect="1"/>
          </p:cNvPicPr>
          <p:nvPr/>
        </p:nvPicPr>
        <p:blipFill>
          <a:blip r:embed="rId15"/>
          <a:srcRect l="17888" t="3342" r="16631" b="-1"/>
          <a:stretch>
            <a:fillRect/>
          </a:stretch>
        </p:blipFill>
        <p:spPr>
          <a:xfrm>
            <a:off x="2592017" y="3562356"/>
            <a:ext cx="563869" cy="659297"/>
          </a:xfrm>
          <a:prstGeom prst="rect">
            <a:avLst/>
          </a:prstGeom>
        </p:spPr>
      </p:pic>
      <p:pic>
        <p:nvPicPr>
          <p:cNvPr id="74" name="Image 10">
            <a:extLst>
              <a:ext uri="{FF2B5EF4-FFF2-40B4-BE49-F238E27FC236}">
                <a16:creationId xmlns:a16="http://schemas.microsoft.com/office/drawing/2014/main" id="{18E8F271-CC16-BFC4-5922-10B2A7039C70}"/>
              </a:ext>
            </a:extLst>
          </p:cNvPr>
          <p:cNvPicPr>
            <a:picLocks noChangeAspect="1"/>
          </p:cNvPicPr>
          <p:nvPr/>
        </p:nvPicPr>
        <p:blipFill>
          <a:blip r:embed="rId22"/>
          <a:srcRect/>
          <a:stretch/>
        </p:blipFill>
        <p:spPr>
          <a:xfrm>
            <a:off x="1993024" y="3614551"/>
            <a:ext cx="521834" cy="521834"/>
          </a:xfrm>
          <a:prstGeom prst="rect">
            <a:avLst/>
          </a:prstGeom>
        </p:spPr>
      </p:pic>
      <p:sp>
        <p:nvSpPr>
          <p:cNvPr id="8" name="Shape 0">
            <a:extLst>
              <a:ext uri="{FF2B5EF4-FFF2-40B4-BE49-F238E27FC236}">
                <a16:creationId xmlns:a16="http://schemas.microsoft.com/office/drawing/2014/main" id="{A738D18E-3165-80C9-8575-28D2A76B2C0C}"/>
              </a:ext>
            </a:extLst>
          </p:cNvPr>
          <p:cNvSpPr/>
          <p:nvPr/>
        </p:nvSpPr>
        <p:spPr>
          <a:xfrm>
            <a:off x="0" y="1224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365760" y="91440"/>
            <a:ext cx="7772400" cy="594360"/>
          </a:xfrm>
          <a:prstGeom prst="rect">
            <a:avLst/>
          </a:prstGeom>
          <a:noFill/>
          <a:ln/>
        </p:spPr>
        <p:txBody>
          <a:bodyPr wrap="square" rtlCol="0" anchor="ctr"/>
          <a:lstStyle/>
          <a:p>
            <a:pPr marL="0" indent="0">
              <a:buNone/>
            </a:pPr>
            <a:r>
              <a:rPr lang="en-US" sz="2600" b="1" dirty="0">
                <a:solidFill>
                  <a:srgbClr val="FFFFFF"/>
                </a:solidFill>
                <a:latin typeface="Quattrocento Sans" pitchFamily="34" charset="0"/>
                <a:ea typeface="Quattrocento Sans" pitchFamily="34" charset="-122"/>
                <a:cs typeface="Quattrocento Sans" pitchFamily="34" charset="-120"/>
              </a:rPr>
              <a:t>End-to-End Data Pipeline</a:t>
            </a:r>
            <a:endParaRPr lang="en-US" sz="2600" dirty="0"/>
          </a:p>
        </p:txBody>
      </p:sp>
      <p:pic>
        <p:nvPicPr>
          <p:cNvPr id="4" name="Image 0" descr="preencoded.png"/>
          <p:cNvPicPr>
            <a:picLocks noChangeAspect="1"/>
          </p:cNvPicPr>
          <p:nvPr/>
        </p:nvPicPr>
        <p:blipFill>
          <a:blip r:embed="rId23"/>
          <a:stretch>
            <a:fillRect/>
          </a:stretch>
        </p:blipFill>
        <p:spPr>
          <a:xfrm>
            <a:off x="8230792" y="50471"/>
            <a:ext cx="685800" cy="6766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204F"/>
        </a:solidFill>
        <a:effectLst/>
      </p:bgPr>
    </p:bg>
    <p:spTree>
      <p:nvGrpSpPr>
        <p:cNvPr id="1" name=""/>
        <p:cNvGrpSpPr/>
        <p:nvPr/>
      </p:nvGrpSpPr>
      <p:grpSpPr>
        <a:xfrm>
          <a:off x="0" y="0"/>
          <a:ext cx="0" cy="0"/>
          <a:chOff x="0" y="0"/>
          <a:chExt cx="0" cy="0"/>
        </a:xfrm>
      </p:grpSpPr>
      <p:sp>
        <p:nvSpPr>
          <p:cNvPr id="2" name="Shape 0"/>
          <p:cNvSpPr/>
          <p:nvPr/>
        </p:nvSpPr>
        <p:spPr>
          <a:xfrm>
            <a:off x="0" y="0"/>
            <a:ext cx="9144000" cy="85725"/>
          </a:xfrm>
          <a:prstGeom prst="rect">
            <a:avLst/>
          </a:prstGeom>
          <a:solidFill>
            <a:srgbClr val="36ADA3"/>
          </a:solidFill>
          <a:ln/>
        </p:spPr>
        <p:txBody>
          <a:bodyPr/>
          <a:lstStyle/>
          <a:p>
            <a:endParaRPr lang="en-US"/>
          </a:p>
        </p:txBody>
      </p:sp>
      <p:sp>
        <p:nvSpPr>
          <p:cNvPr id="3" name="Shape 1"/>
          <p:cNvSpPr/>
          <p:nvPr/>
        </p:nvSpPr>
        <p:spPr>
          <a:xfrm>
            <a:off x="0" y="5057775"/>
            <a:ext cx="9144000" cy="85725"/>
          </a:xfrm>
          <a:prstGeom prst="rect">
            <a:avLst/>
          </a:prstGeom>
          <a:solidFill>
            <a:srgbClr val="36ADA3"/>
          </a:solidFill>
          <a:ln/>
        </p:spPr>
        <p:txBody>
          <a:bodyPr/>
          <a:lstStyle/>
          <a:p>
            <a:endParaRPr lang="en-US"/>
          </a:p>
        </p:txBody>
      </p:sp>
      <p:sp>
        <p:nvSpPr>
          <p:cNvPr id="4" name="Text 2"/>
          <p:cNvSpPr/>
          <p:nvPr/>
        </p:nvSpPr>
        <p:spPr>
          <a:xfrm>
            <a:off x="0" y="1428750"/>
            <a:ext cx="9144000" cy="571500"/>
          </a:xfrm>
          <a:prstGeom prst="rect">
            <a:avLst/>
          </a:prstGeom>
          <a:noFill/>
          <a:ln/>
        </p:spPr>
        <p:txBody>
          <a:bodyPr wrap="none" lIns="0" tIns="0" rIns="0" bIns="0" rtlCol="0" anchor="ctr"/>
          <a:lstStyle/>
          <a:p>
            <a:pPr algn="ctr">
              <a:lnSpc>
                <a:spcPct val="100000"/>
              </a:lnSpc>
            </a:pPr>
            <a:r>
              <a:rPr lang="en-US" sz="4050" b="1" dirty="0">
                <a:solidFill>
                  <a:srgbClr val="36ADA3"/>
                </a:solidFill>
                <a:latin typeface="Liter" pitchFamily="34" charset="0"/>
                <a:ea typeface="Liter" pitchFamily="34" charset="-122"/>
                <a:cs typeface="Liter" pitchFamily="34" charset="-120"/>
              </a:rPr>
              <a:t>01</a:t>
            </a:r>
            <a:endParaRPr lang="en-US" sz="900" dirty="0">
              <a:solidFill>
                <a:srgbClr val="36ADA3"/>
              </a:solidFill>
            </a:endParaRPr>
          </a:p>
        </p:txBody>
      </p:sp>
      <p:sp>
        <p:nvSpPr>
          <p:cNvPr id="5" name="Text 3"/>
          <p:cNvSpPr/>
          <p:nvPr/>
        </p:nvSpPr>
        <p:spPr>
          <a:xfrm>
            <a:off x="0" y="2143125"/>
            <a:ext cx="9144000" cy="571500"/>
          </a:xfrm>
          <a:prstGeom prst="rect">
            <a:avLst/>
          </a:prstGeom>
          <a:noFill/>
          <a:ln/>
        </p:spPr>
        <p:txBody>
          <a:bodyPr wrap="none" lIns="0" tIns="0" rIns="0" bIns="0" rtlCol="0" anchor="ctr"/>
          <a:lstStyle/>
          <a:p>
            <a:pPr algn="ctr">
              <a:lnSpc>
                <a:spcPct val="100000"/>
              </a:lnSpc>
            </a:pPr>
            <a:r>
              <a:rPr lang="en-US" sz="2800" b="1" dirty="0">
                <a:solidFill>
                  <a:schemeClr val="bg1"/>
                </a:solidFill>
                <a:latin typeface="Quattrocento Sans" pitchFamily="34" charset="0"/>
              </a:rPr>
              <a:t>Data</a:t>
            </a:r>
            <a:r>
              <a:rPr lang="en-US" sz="2800" b="1" dirty="0">
                <a:solidFill>
                  <a:srgbClr val="FFFFFF"/>
                </a:solidFill>
                <a:ea typeface="Quattrocento Sans" pitchFamily="34" charset="-122"/>
                <a:cs typeface="Quattrocento Sans" pitchFamily="34" charset="-120"/>
              </a:rPr>
              <a:t> </a:t>
            </a:r>
            <a:r>
              <a:rPr lang="en-US" sz="2800" b="1" dirty="0">
                <a:solidFill>
                  <a:schemeClr val="bg1"/>
                </a:solidFill>
                <a:latin typeface="Quattrocento Sans" pitchFamily="34" charset="0"/>
              </a:rPr>
              <a:t>Collection</a:t>
            </a:r>
          </a:p>
        </p:txBody>
      </p:sp>
      <p:sp>
        <p:nvSpPr>
          <p:cNvPr id="6" name="Text 4"/>
          <p:cNvSpPr/>
          <p:nvPr/>
        </p:nvSpPr>
        <p:spPr>
          <a:xfrm>
            <a:off x="0" y="2857500"/>
            <a:ext cx="9144000" cy="357188"/>
          </a:xfrm>
          <a:prstGeom prst="rect">
            <a:avLst/>
          </a:prstGeom>
          <a:noFill/>
          <a:ln/>
        </p:spPr>
        <p:txBody>
          <a:bodyPr wrap="none" lIns="0" tIns="0" rIns="0" bIns="0" rtlCol="0" anchor="ctr"/>
          <a:lstStyle/>
          <a:p>
            <a:pPr algn="ctr"/>
            <a:r>
              <a:rPr lang="en-US" sz="1200" dirty="0">
                <a:solidFill>
                  <a:srgbClr val="36ADA3"/>
                </a:solidFill>
                <a:latin typeface="Calibri" pitchFamily="34" charset="0"/>
                <a:ea typeface="Calibri" pitchFamily="34" charset="-122"/>
                <a:cs typeface="Calibri" pitchFamily="34" charset="-120"/>
              </a:rPr>
              <a:t>Raw survey data acquired from CAPMAS 2024 national census</a:t>
            </a:r>
            <a:endParaRPr lang="en-US" sz="1200" dirty="0">
              <a:solidFill>
                <a:srgbClr val="36ADA3"/>
              </a:solidFil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a:extLst>
            <a:ext uri="{FF2B5EF4-FFF2-40B4-BE49-F238E27FC236}">
              <a16:creationId xmlns:a16="http://schemas.microsoft.com/office/drawing/2014/main" id="{3827AE5F-6129-DED9-B2B6-B0583B8983E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28F7A26-3F38-8982-BFDA-CFFB91BDB5CD}"/>
              </a:ext>
            </a:extLst>
          </p:cNvPr>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a:extLst>
              <a:ext uri="{FF2B5EF4-FFF2-40B4-BE49-F238E27FC236}">
                <a16:creationId xmlns:a16="http://schemas.microsoft.com/office/drawing/2014/main" id="{0152A2BC-26DA-ACA2-D5B5-CA54F459C835}"/>
              </a:ext>
            </a:extLst>
          </p:cNvPr>
          <p:cNvSpPr/>
          <p:nvPr/>
        </p:nvSpPr>
        <p:spPr>
          <a:xfrm>
            <a:off x="365760" y="91440"/>
            <a:ext cx="7772400" cy="594360"/>
          </a:xfrm>
          <a:prstGeom prst="rect">
            <a:avLst/>
          </a:prstGeom>
          <a:noFill/>
          <a:ln/>
        </p:spPr>
        <p:txBody>
          <a:bodyPr wrap="square" rtlCol="0" anchor="ctr"/>
          <a:lstStyle/>
          <a:p>
            <a:pPr marL="0" indent="0">
              <a:buNone/>
            </a:pPr>
            <a:r>
              <a:rPr lang="en-US" sz="2200" b="1" dirty="0">
                <a:solidFill>
                  <a:srgbClr val="FFFFFF"/>
                </a:solidFill>
                <a:ea typeface="Quattrocento Sans" pitchFamily="34" charset="-122"/>
                <a:cs typeface="Quattrocento Sans" pitchFamily="34" charset="-120"/>
              </a:rPr>
              <a:t>Step 1: Data Collection </a:t>
            </a:r>
            <a:endParaRPr lang="en-US" sz="2200" dirty="0"/>
          </a:p>
        </p:txBody>
      </p:sp>
      <p:pic>
        <p:nvPicPr>
          <p:cNvPr id="4" name="Image 0" descr="preencoded.png">
            <a:extLst>
              <a:ext uri="{FF2B5EF4-FFF2-40B4-BE49-F238E27FC236}">
                <a16:creationId xmlns:a16="http://schemas.microsoft.com/office/drawing/2014/main" id="{04D3A493-4F75-BEE4-024E-96783C2E0E7E}"/>
              </a:ext>
            </a:extLst>
          </p:cNvPr>
          <p:cNvPicPr>
            <a:picLocks noChangeAspect="1"/>
          </p:cNvPicPr>
          <p:nvPr/>
        </p:nvPicPr>
        <p:blipFill>
          <a:blip r:embed="rId3"/>
          <a:stretch>
            <a:fillRect/>
          </a:stretch>
        </p:blipFill>
        <p:spPr>
          <a:xfrm>
            <a:off x="8046720" y="45720"/>
            <a:ext cx="685800" cy="676656"/>
          </a:xfrm>
          <a:prstGeom prst="rect">
            <a:avLst/>
          </a:prstGeom>
        </p:spPr>
      </p:pic>
      <p:sp>
        <p:nvSpPr>
          <p:cNvPr id="5" name="Shape 2">
            <a:extLst>
              <a:ext uri="{FF2B5EF4-FFF2-40B4-BE49-F238E27FC236}">
                <a16:creationId xmlns:a16="http://schemas.microsoft.com/office/drawing/2014/main" id="{E31424C5-884F-A433-81A2-9AA8F0516D26}"/>
              </a:ext>
            </a:extLst>
          </p:cNvPr>
          <p:cNvSpPr/>
          <p:nvPr/>
        </p:nvSpPr>
        <p:spPr>
          <a:xfrm>
            <a:off x="274320" y="914400"/>
            <a:ext cx="3840480" cy="3931920"/>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dirty="0"/>
          </a:p>
        </p:txBody>
      </p:sp>
      <p:sp>
        <p:nvSpPr>
          <p:cNvPr id="6" name="Shape 3">
            <a:extLst>
              <a:ext uri="{FF2B5EF4-FFF2-40B4-BE49-F238E27FC236}">
                <a16:creationId xmlns:a16="http://schemas.microsoft.com/office/drawing/2014/main" id="{60880FB3-4E4D-7851-2244-B29E8B3393F6}"/>
              </a:ext>
            </a:extLst>
          </p:cNvPr>
          <p:cNvSpPr/>
          <p:nvPr/>
        </p:nvSpPr>
        <p:spPr>
          <a:xfrm>
            <a:off x="274320" y="914400"/>
            <a:ext cx="3840480" cy="548640"/>
          </a:xfrm>
          <a:prstGeom prst="rect">
            <a:avLst/>
          </a:prstGeom>
          <a:solidFill>
            <a:srgbClr val="121358"/>
          </a:solidFill>
          <a:ln/>
        </p:spPr>
        <p:txBody>
          <a:bodyPr/>
          <a:lstStyle/>
          <a:p>
            <a:endParaRPr lang="en-US"/>
          </a:p>
        </p:txBody>
      </p:sp>
      <p:pic>
        <p:nvPicPr>
          <p:cNvPr id="7" name="Image 1" descr="preencoded.png">
            <a:extLst>
              <a:ext uri="{FF2B5EF4-FFF2-40B4-BE49-F238E27FC236}">
                <a16:creationId xmlns:a16="http://schemas.microsoft.com/office/drawing/2014/main" id="{2383F451-508C-FF11-76F8-4C5192A5C094}"/>
              </a:ext>
            </a:extLst>
          </p:cNvPr>
          <p:cNvPicPr>
            <a:picLocks noChangeAspect="1"/>
          </p:cNvPicPr>
          <p:nvPr/>
        </p:nvPicPr>
        <p:blipFill>
          <a:blip r:embed="rId3"/>
          <a:stretch>
            <a:fillRect/>
          </a:stretch>
        </p:blipFill>
        <p:spPr>
          <a:xfrm>
            <a:off x="502920" y="960120"/>
            <a:ext cx="457200" cy="448056"/>
          </a:xfrm>
          <a:prstGeom prst="rect">
            <a:avLst/>
          </a:prstGeom>
        </p:spPr>
      </p:pic>
      <p:sp>
        <p:nvSpPr>
          <p:cNvPr id="8" name="Text 4">
            <a:extLst>
              <a:ext uri="{FF2B5EF4-FFF2-40B4-BE49-F238E27FC236}">
                <a16:creationId xmlns:a16="http://schemas.microsoft.com/office/drawing/2014/main" id="{361F9BEE-DD0E-E3D9-171E-168E9984A5F0}"/>
              </a:ext>
            </a:extLst>
          </p:cNvPr>
          <p:cNvSpPr/>
          <p:nvPr/>
        </p:nvSpPr>
        <p:spPr>
          <a:xfrm>
            <a:off x="1005840" y="914400"/>
            <a:ext cx="2926080" cy="502920"/>
          </a:xfrm>
          <a:prstGeom prst="rect">
            <a:avLst/>
          </a:prstGeom>
          <a:noFill/>
          <a:ln/>
        </p:spPr>
        <p:txBody>
          <a:bodyPr wrap="square" lIns="0" tIns="0" rIns="0" bIns="0" rtlCol="0" anchor="ctr"/>
          <a:lstStyle/>
          <a:p>
            <a:pPr marL="0" indent="0">
              <a:buNone/>
            </a:pPr>
            <a:r>
              <a:rPr lang="en-US" sz="1300" b="1" dirty="0">
                <a:solidFill>
                  <a:srgbClr val="FFFFFF"/>
                </a:solidFill>
              </a:rPr>
              <a:t>CAPMAS Survey</a:t>
            </a:r>
            <a:endParaRPr lang="en-US" sz="1300" dirty="0"/>
          </a:p>
        </p:txBody>
      </p:sp>
      <p:sp>
        <p:nvSpPr>
          <p:cNvPr id="9" name="Text 5">
            <a:extLst>
              <a:ext uri="{FF2B5EF4-FFF2-40B4-BE49-F238E27FC236}">
                <a16:creationId xmlns:a16="http://schemas.microsoft.com/office/drawing/2014/main" id="{04F15D71-5A6A-5A01-4E19-6CB0D7F32728}"/>
              </a:ext>
            </a:extLst>
          </p:cNvPr>
          <p:cNvSpPr/>
          <p:nvPr/>
        </p:nvSpPr>
        <p:spPr>
          <a:xfrm>
            <a:off x="457200" y="1600200"/>
            <a:ext cx="3566160" cy="457200"/>
          </a:xfrm>
          <a:prstGeom prst="rect">
            <a:avLst/>
          </a:prstGeom>
          <a:noFill/>
          <a:ln/>
        </p:spPr>
        <p:txBody>
          <a:bodyPr wrap="square" lIns="0" tIns="0" rIns="0" bIns="0" rtlCol="0" anchor="ctr"/>
          <a:lstStyle/>
          <a:p>
            <a:pPr marL="0" indent="0">
              <a:buNone/>
            </a:pPr>
            <a:r>
              <a:rPr lang="en-US" sz="1200" dirty="0">
                <a:solidFill>
                  <a:srgbClr val="121358"/>
                </a:solidFill>
              </a:rPr>
              <a:t>✔  National labor force survey</a:t>
            </a:r>
            <a:endParaRPr lang="en-US" sz="1200" dirty="0"/>
          </a:p>
        </p:txBody>
      </p:sp>
      <p:sp>
        <p:nvSpPr>
          <p:cNvPr id="10" name="Text 6">
            <a:extLst>
              <a:ext uri="{FF2B5EF4-FFF2-40B4-BE49-F238E27FC236}">
                <a16:creationId xmlns:a16="http://schemas.microsoft.com/office/drawing/2014/main" id="{6E6FE213-06F1-9081-BB94-18E4F869F91F}"/>
              </a:ext>
            </a:extLst>
          </p:cNvPr>
          <p:cNvSpPr/>
          <p:nvPr/>
        </p:nvSpPr>
        <p:spPr>
          <a:xfrm>
            <a:off x="457200" y="2102801"/>
            <a:ext cx="3566160" cy="457200"/>
          </a:xfrm>
          <a:prstGeom prst="rect">
            <a:avLst/>
          </a:prstGeom>
          <a:noFill/>
          <a:ln/>
        </p:spPr>
        <p:txBody>
          <a:bodyPr wrap="square" lIns="0" tIns="0" rIns="0" bIns="0" rtlCol="0" anchor="ctr"/>
          <a:lstStyle/>
          <a:p>
            <a:pPr marL="0" indent="0">
              <a:buNone/>
            </a:pPr>
            <a:r>
              <a:rPr lang="en-US" sz="1200" dirty="0">
                <a:solidFill>
                  <a:srgbClr val="121358"/>
                </a:solidFill>
              </a:rPr>
              <a:t>✔  Quarterly &amp; annual weights</a:t>
            </a:r>
            <a:endParaRPr lang="en-US" sz="1200" dirty="0"/>
          </a:p>
        </p:txBody>
      </p:sp>
      <p:sp>
        <p:nvSpPr>
          <p:cNvPr id="11" name="Text 7">
            <a:extLst>
              <a:ext uri="{FF2B5EF4-FFF2-40B4-BE49-F238E27FC236}">
                <a16:creationId xmlns:a16="http://schemas.microsoft.com/office/drawing/2014/main" id="{0E3F7CB0-0356-95BA-B301-4C2C1BD37A97}"/>
              </a:ext>
            </a:extLst>
          </p:cNvPr>
          <p:cNvSpPr/>
          <p:nvPr/>
        </p:nvSpPr>
        <p:spPr>
          <a:xfrm>
            <a:off x="457200" y="2605402"/>
            <a:ext cx="3566160" cy="457200"/>
          </a:xfrm>
          <a:prstGeom prst="rect">
            <a:avLst/>
          </a:prstGeom>
          <a:noFill/>
          <a:ln/>
        </p:spPr>
        <p:txBody>
          <a:bodyPr wrap="square" lIns="0" tIns="0" rIns="0" bIns="0" rtlCol="0" anchor="ctr"/>
          <a:lstStyle/>
          <a:p>
            <a:pPr marL="0" indent="0">
              <a:buNone/>
            </a:pPr>
            <a:r>
              <a:rPr lang="en-US" sz="1200" dirty="0">
                <a:solidFill>
                  <a:srgbClr val="121358"/>
                </a:solidFill>
              </a:rPr>
              <a:t>✔  Individual-level microdata</a:t>
            </a:r>
            <a:endParaRPr lang="en-US" sz="1200" dirty="0"/>
          </a:p>
        </p:txBody>
      </p:sp>
      <p:sp>
        <p:nvSpPr>
          <p:cNvPr id="12" name="Text 8">
            <a:extLst>
              <a:ext uri="{FF2B5EF4-FFF2-40B4-BE49-F238E27FC236}">
                <a16:creationId xmlns:a16="http://schemas.microsoft.com/office/drawing/2014/main" id="{527EA6C6-CFFC-8029-FF9E-68A29A98AB2C}"/>
              </a:ext>
            </a:extLst>
          </p:cNvPr>
          <p:cNvSpPr/>
          <p:nvPr/>
        </p:nvSpPr>
        <p:spPr>
          <a:xfrm>
            <a:off x="468449" y="3610604"/>
            <a:ext cx="3566160" cy="457200"/>
          </a:xfrm>
          <a:prstGeom prst="rect">
            <a:avLst/>
          </a:prstGeom>
          <a:noFill/>
          <a:ln/>
        </p:spPr>
        <p:txBody>
          <a:bodyPr wrap="square" lIns="0" tIns="0" rIns="0" bIns="0" rtlCol="0" anchor="ctr"/>
          <a:lstStyle/>
          <a:p>
            <a:pPr marL="0" indent="0">
              <a:buNone/>
            </a:pPr>
            <a:r>
              <a:rPr lang="en-US" sz="1200" dirty="0">
                <a:solidFill>
                  <a:srgbClr val="121358"/>
                </a:solidFill>
              </a:rPr>
              <a:t>✔  </a:t>
            </a:r>
            <a:r>
              <a:rPr lang="ar-EG" sz="1200" b="1" dirty="0">
                <a:solidFill>
                  <a:srgbClr val="121358"/>
                </a:solidFill>
              </a:rPr>
              <a:t>235</a:t>
            </a:r>
            <a:r>
              <a:rPr lang="en-US" sz="1200" dirty="0">
                <a:solidFill>
                  <a:srgbClr val="121358"/>
                </a:solidFill>
              </a:rPr>
              <a:t> </a:t>
            </a:r>
            <a:r>
              <a:rPr lang="ar-EG" sz="1200" dirty="0">
                <a:solidFill>
                  <a:srgbClr val="121358"/>
                </a:solidFill>
              </a:rPr>
              <a:t> </a:t>
            </a:r>
            <a:r>
              <a:rPr lang="en-US" sz="1200" dirty="0">
                <a:solidFill>
                  <a:srgbClr val="121358"/>
                </a:solidFill>
              </a:rPr>
              <a:t>variables per record</a:t>
            </a:r>
            <a:endParaRPr lang="en-US" sz="1200" dirty="0"/>
          </a:p>
        </p:txBody>
      </p:sp>
      <p:sp>
        <p:nvSpPr>
          <p:cNvPr id="13" name="Text 9">
            <a:extLst>
              <a:ext uri="{FF2B5EF4-FFF2-40B4-BE49-F238E27FC236}">
                <a16:creationId xmlns:a16="http://schemas.microsoft.com/office/drawing/2014/main" id="{74AD1B6E-6D10-FBD2-AEA0-2983DA753BEE}"/>
              </a:ext>
            </a:extLst>
          </p:cNvPr>
          <p:cNvSpPr/>
          <p:nvPr/>
        </p:nvSpPr>
        <p:spPr>
          <a:xfrm>
            <a:off x="457200" y="3108003"/>
            <a:ext cx="3566160" cy="457200"/>
          </a:xfrm>
          <a:prstGeom prst="rect">
            <a:avLst/>
          </a:prstGeom>
          <a:noFill/>
          <a:ln/>
        </p:spPr>
        <p:txBody>
          <a:bodyPr wrap="square" lIns="0" tIns="0" rIns="0" bIns="0" rtlCol="0" anchor="ctr"/>
          <a:lstStyle/>
          <a:p>
            <a:pPr marL="0" indent="0">
              <a:buNone/>
            </a:pPr>
            <a:r>
              <a:rPr lang="en-US" sz="1200" dirty="0">
                <a:solidFill>
                  <a:srgbClr val="121358"/>
                </a:solidFill>
              </a:rPr>
              <a:t>✔  Employment, income, education</a:t>
            </a:r>
            <a:endParaRPr lang="en-US" sz="1200" dirty="0"/>
          </a:p>
          <a:p>
            <a:pPr marL="0" indent="0">
              <a:buNone/>
            </a:pPr>
            <a:r>
              <a:rPr lang="ar-EG" sz="1200" dirty="0">
                <a:solidFill>
                  <a:srgbClr val="121358"/>
                </a:solidFill>
              </a:rPr>
              <a:t>    </a:t>
            </a:r>
            <a:r>
              <a:rPr lang="en-US" sz="1200" dirty="0">
                <a:solidFill>
                  <a:srgbClr val="121358"/>
                </a:solidFill>
              </a:rPr>
              <a:t>and social protection modules</a:t>
            </a:r>
            <a:endParaRPr lang="en-US" sz="1200" dirty="0"/>
          </a:p>
        </p:txBody>
      </p:sp>
      <p:sp>
        <p:nvSpPr>
          <p:cNvPr id="31" name="Text 8">
            <a:extLst>
              <a:ext uri="{FF2B5EF4-FFF2-40B4-BE49-F238E27FC236}">
                <a16:creationId xmlns:a16="http://schemas.microsoft.com/office/drawing/2014/main" id="{93E24D86-996F-EAC9-6A91-CDE4F1B9FC5D}"/>
              </a:ext>
            </a:extLst>
          </p:cNvPr>
          <p:cNvSpPr/>
          <p:nvPr/>
        </p:nvSpPr>
        <p:spPr>
          <a:xfrm>
            <a:off x="468449" y="4113203"/>
            <a:ext cx="3554912" cy="548640"/>
          </a:xfrm>
          <a:prstGeom prst="rect">
            <a:avLst/>
          </a:prstGeom>
          <a:noFill/>
          <a:ln/>
        </p:spPr>
        <p:txBody>
          <a:bodyPr wrap="square" lIns="0" tIns="0" rIns="0" bIns="0" rtlCol="0" anchor="ctr"/>
          <a:lstStyle/>
          <a:p>
            <a:r>
              <a:rPr lang="en-US" sz="1200" dirty="0">
                <a:solidFill>
                  <a:srgbClr val="121358"/>
                </a:solidFill>
              </a:rPr>
              <a:t>✔  </a:t>
            </a:r>
            <a:r>
              <a:rPr lang="en-US" sz="1200" b="1" dirty="0">
                <a:solidFill>
                  <a:srgbClr val="121358"/>
                </a:solidFill>
              </a:rPr>
              <a:t>297,000</a:t>
            </a:r>
            <a:r>
              <a:rPr lang="en-US" sz="1200" dirty="0">
                <a:solidFill>
                  <a:srgbClr val="121358"/>
                </a:solidFill>
              </a:rPr>
              <a:t> individual records, scaled up using Annual</a:t>
            </a:r>
            <a:r>
              <a:rPr lang="ar-EG" sz="1200" dirty="0">
                <a:solidFill>
                  <a:srgbClr val="121358"/>
                </a:solidFill>
              </a:rPr>
              <a:t>    </a:t>
            </a:r>
            <a:r>
              <a:rPr lang="en-US" sz="1200" dirty="0">
                <a:solidFill>
                  <a:srgbClr val="121358"/>
                </a:solidFill>
              </a:rPr>
              <a:t> </a:t>
            </a:r>
            <a:endParaRPr lang="ar-EG" sz="1200" dirty="0">
              <a:solidFill>
                <a:srgbClr val="121358"/>
              </a:solidFill>
            </a:endParaRPr>
          </a:p>
          <a:p>
            <a:r>
              <a:rPr lang="ar-EG" sz="1200" dirty="0">
                <a:solidFill>
                  <a:srgbClr val="121358"/>
                </a:solidFill>
              </a:rPr>
              <a:t>  </a:t>
            </a:r>
            <a:r>
              <a:rPr lang="en-US" sz="1200" dirty="0">
                <a:solidFill>
                  <a:srgbClr val="121358"/>
                </a:solidFill>
              </a:rPr>
              <a:t>Weight to represent Egypt's full population of 106</a:t>
            </a:r>
            <a:r>
              <a:rPr lang="ar-EG" sz="1200" dirty="0">
                <a:solidFill>
                  <a:srgbClr val="121358"/>
                </a:solidFill>
              </a:rPr>
              <a:t>    </a:t>
            </a:r>
          </a:p>
          <a:p>
            <a:r>
              <a:rPr lang="en-US" sz="1200" dirty="0">
                <a:solidFill>
                  <a:srgbClr val="121358"/>
                </a:solidFill>
              </a:rPr>
              <a:t>million</a:t>
            </a:r>
            <a:r>
              <a:rPr lang="en-US" sz="1200" dirty="0"/>
              <a:t>.</a:t>
            </a:r>
          </a:p>
        </p:txBody>
      </p:sp>
      <p:pic>
        <p:nvPicPr>
          <p:cNvPr id="34" name="Picture 33">
            <a:extLst>
              <a:ext uri="{FF2B5EF4-FFF2-40B4-BE49-F238E27FC236}">
                <a16:creationId xmlns:a16="http://schemas.microsoft.com/office/drawing/2014/main" id="{EBFC7D42-0BA6-80FE-BAB1-32E7EFA488C8}"/>
              </a:ext>
            </a:extLst>
          </p:cNvPr>
          <p:cNvPicPr>
            <a:picLocks noChangeAspect="1"/>
          </p:cNvPicPr>
          <p:nvPr/>
        </p:nvPicPr>
        <p:blipFill>
          <a:blip r:embed="rId4"/>
          <a:srcRect l="20244"/>
          <a:stretch>
            <a:fillRect/>
          </a:stretch>
        </p:blipFill>
        <p:spPr>
          <a:xfrm>
            <a:off x="4251960" y="1197863"/>
            <a:ext cx="4800599" cy="33238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21074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204F"/>
        </a:solidFill>
        <a:effectLst/>
      </p:bgPr>
    </p:bg>
    <p:spTree>
      <p:nvGrpSpPr>
        <p:cNvPr id="1" name="">
          <a:extLst>
            <a:ext uri="{FF2B5EF4-FFF2-40B4-BE49-F238E27FC236}">
              <a16:creationId xmlns:a16="http://schemas.microsoft.com/office/drawing/2014/main" id="{5A0E004A-C0FA-BF1E-5F5A-CE37D046477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7467EF5-B380-D0A2-B319-2B91B8672F4A}"/>
              </a:ext>
            </a:extLst>
          </p:cNvPr>
          <p:cNvSpPr/>
          <p:nvPr/>
        </p:nvSpPr>
        <p:spPr>
          <a:xfrm>
            <a:off x="0" y="0"/>
            <a:ext cx="9144000" cy="85725"/>
          </a:xfrm>
          <a:prstGeom prst="rect">
            <a:avLst/>
          </a:prstGeom>
          <a:solidFill>
            <a:srgbClr val="36ADA3"/>
          </a:solidFill>
          <a:ln/>
        </p:spPr>
        <p:txBody>
          <a:bodyPr/>
          <a:lstStyle/>
          <a:p>
            <a:endParaRPr lang="en-US"/>
          </a:p>
        </p:txBody>
      </p:sp>
      <p:sp>
        <p:nvSpPr>
          <p:cNvPr id="3" name="Shape 1">
            <a:extLst>
              <a:ext uri="{FF2B5EF4-FFF2-40B4-BE49-F238E27FC236}">
                <a16:creationId xmlns:a16="http://schemas.microsoft.com/office/drawing/2014/main" id="{54F8F5F9-540F-22D8-C1DE-479E95EC964F}"/>
              </a:ext>
            </a:extLst>
          </p:cNvPr>
          <p:cNvSpPr/>
          <p:nvPr/>
        </p:nvSpPr>
        <p:spPr>
          <a:xfrm>
            <a:off x="0" y="5057775"/>
            <a:ext cx="9144000" cy="85725"/>
          </a:xfrm>
          <a:prstGeom prst="rect">
            <a:avLst/>
          </a:prstGeom>
          <a:solidFill>
            <a:srgbClr val="36ADA3"/>
          </a:solidFill>
          <a:ln/>
        </p:spPr>
        <p:txBody>
          <a:bodyPr/>
          <a:lstStyle/>
          <a:p>
            <a:endParaRPr lang="en-US"/>
          </a:p>
        </p:txBody>
      </p:sp>
      <p:sp>
        <p:nvSpPr>
          <p:cNvPr id="4" name="Text 2">
            <a:extLst>
              <a:ext uri="{FF2B5EF4-FFF2-40B4-BE49-F238E27FC236}">
                <a16:creationId xmlns:a16="http://schemas.microsoft.com/office/drawing/2014/main" id="{000610AC-58FC-5B34-DBFE-812B428074D1}"/>
              </a:ext>
            </a:extLst>
          </p:cNvPr>
          <p:cNvSpPr/>
          <p:nvPr/>
        </p:nvSpPr>
        <p:spPr>
          <a:xfrm>
            <a:off x="0" y="1428750"/>
            <a:ext cx="9144000" cy="571500"/>
          </a:xfrm>
          <a:prstGeom prst="rect">
            <a:avLst/>
          </a:prstGeom>
          <a:noFill/>
          <a:ln/>
        </p:spPr>
        <p:txBody>
          <a:bodyPr wrap="none" lIns="0" tIns="0" rIns="0" bIns="0" rtlCol="0" anchor="ctr"/>
          <a:lstStyle/>
          <a:p>
            <a:pPr algn="ctr">
              <a:lnSpc>
                <a:spcPct val="100000"/>
              </a:lnSpc>
            </a:pPr>
            <a:r>
              <a:rPr lang="en-US" sz="4050" b="1" dirty="0">
                <a:solidFill>
                  <a:srgbClr val="36ADA3"/>
                </a:solidFill>
                <a:latin typeface="Liter" pitchFamily="34" charset="0"/>
                <a:ea typeface="Liter" pitchFamily="34" charset="-122"/>
                <a:cs typeface="Liter" pitchFamily="34" charset="-120"/>
              </a:rPr>
              <a:t>02</a:t>
            </a:r>
            <a:endParaRPr lang="en-US" sz="900" dirty="0">
              <a:solidFill>
                <a:srgbClr val="36ADA3"/>
              </a:solidFill>
            </a:endParaRPr>
          </a:p>
        </p:txBody>
      </p:sp>
      <p:sp>
        <p:nvSpPr>
          <p:cNvPr id="5" name="Text 3">
            <a:extLst>
              <a:ext uri="{FF2B5EF4-FFF2-40B4-BE49-F238E27FC236}">
                <a16:creationId xmlns:a16="http://schemas.microsoft.com/office/drawing/2014/main" id="{0F5333F9-D210-6356-3232-E6C20D53E03E}"/>
              </a:ext>
            </a:extLst>
          </p:cNvPr>
          <p:cNvSpPr/>
          <p:nvPr/>
        </p:nvSpPr>
        <p:spPr>
          <a:xfrm>
            <a:off x="0" y="2143125"/>
            <a:ext cx="9144000" cy="571500"/>
          </a:xfrm>
          <a:prstGeom prst="rect">
            <a:avLst/>
          </a:prstGeom>
          <a:noFill/>
          <a:ln/>
        </p:spPr>
        <p:txBody>
          <a:bodyPr wrap="none" lIns="0" tIns="0" rIns="0" bIns="0" rtlCol="0" anchor="ctr"/>
          <a:lstStyle/>
          <a:p>
            <a:pPr algn="ctr">
              <a:lnSpc>
                <a:spcPct val="100000"/>
              </a:lnSpc>
            </a:pPr>
            <a:r>
              <a:rPr lang="en-US" sz="2800" b="1" dirty="0">
                <a:solidFill>
                  <a:schemeClr val="bg1"/>
                </a:solidFill>
                <a:latin typeface="Quattrocento Sans" pitchFamily="34" charset="0"/>
              </a:rPr>
              <a:t>Data</a:t>
            </a:r>
            <a:r>
              <a:rPr lang="en-US" sz="2800" b="1" dirty="0">
                <a:solidFill>
                  <a:srgbClr val="FFFFFF"/>
                </a:solidFill>
                <a:ea typeface="Quattrocento Sans" pitchFamily="34" charset="-122"/>
                <a:cs typeface="Quattrocento Sans" pitchFamily="34" charset="-120"/>
              </a:rPr>
              <a:t> </a:t>
            </a:r>
            <a:r>
              <a:rPr lang="en-US" sz="2800" b="1" dirty="0">
                <a:solidFill>
                  <a:schemeClr val="bg1"/>
                </a:solidFill>
                <a:latin typeface="Quattrocento Sans" pitchFamily="34" charset="0"/>
              </a:rPr>
              <a:t>Cleaning</a:t>
            </a:r>
          </a:p>
        </p:txBody>
      </p:sp>
      <p:sp>
        <p:nvSpPr>
          <p:cNvPr id="6" name="Text 4">
            <a:extLst>
              <a:ext uri="{FF2B5EF4-FFF2-40B4-BE49-F238E27FC236}">
                <a16:creationId xmlns:a16="http://schemas.microsoft.com/office/drawing/2014/main" id="{25071F4B-9240-029B-3747-347DC90C70D3}"/>
              </a:ext>
            </a:extLst>
          </p:cNvPr>
          <p:cNvSpPr/>
          <p:nvPr/>
        </p:nvSpPr>
        <p:spPr>
          <a:xfrm>
            <a:off x="0" y="2857500"/>
            <a:ext cx="9144000" cy="357188"/>
          </a:xfrm>
          <a:prstGeom prst="rect">
            <a:avLst/>
          </a:prstGeom>
          <a:noFill/>
          <a:ln/>
        </p:spPr>
        <p:txBody>
          <a:bodyPr wrap="none" lIns="0" tIns="0" rIns="0" bIns="0" rtlCol="0" anchor="ctr"/>
          <a:lstStyle/>
          <a:p>
            <a:pPr algn="ctr"/>
            <a:r>
              <a:rPr lang="en-US" sz="1200" dirty="0">
                <a:solidFill>
                  <a:srgbClr val="36ADA3"/>
                </a:solidFill>
                <a:latin typeface="Calibri" pitchFamily="34" charset="0"/>
                <a:ea typeface="Calibri" pitchFamily="34" charset="-122"/>
                <a:cs typeface="Calibri" pitchFamily="34" charset="-120"/>
              </a:rPr>
              <a:t>Cleaning &amp; transformation using Python &amp; Excel</a:t>
            </a:r>
            <a:endParaRPr lang="en-US" sz="1200" dirty="0">
              <a:solidFill>
                <a:srgbClr val="36ADA3"/>
              </a:solidFill>
            </a:endParaRPr>
          </a:p>
        </p:txBody>
      </p:sp>
    </p:spTree>
    <p:extLst>
      <p:ext uri="{BB962C8B-B14F-4D97-AF65-F5344CB8AC3E}">
        <p14:creationId xmlns:p14="http://schemas.microsoft.com/office/powerpoint/2010/main" val="135990341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365760" y="91440"/>
            <a:ext cx="7772400" cy="594360"/>
          </a:xfrm>
          <a:prstGeom prst="rect">
            <a:avLst/>
          </a:prstGeom>
          <a:noFill/>
          <a:ln/>
        </p:spPr>
        <p:txBody>
          <a:bodyPr wrap="square" rtlCol="0" anchor="ctr"/>
          <a:lstStyle/>
          <a:p>
            <a:pPr marL="0" indent="0">
              <a:buNone/>
            </a:pPr>
            <a:r>
              <a:rPr lang="en-US" sz="2200" b="1" dirty="0">
                <a:solidFill>
                  <a:srgbClr val="FFFFFF"/>
                </a:solidFill>
                <a:ea typeface="Quattrocento Sans" pitchFamily="34" charset="-122"/>
                <a:cs typeface="Quattrocento Sans" pitchFamily="34" charset="-120"/>
              </a:rPr>
              <a:t>Step  2: Data Cleaning</a:t>
            </a:r>
            <a:endParaRPr lang="en-US" sz="2200" dirty="0"/>
          </a:p>
        </p:txBody>
      </p:sp>
      <p:pic>
        <p:nvPicPr>
          <p:cNvPr id="4" name="Image 0" descr="preencoded.png"/>
          <p:cNvPicPr>
            <a:picLocks noChangeAspect="1"/>
          </p:cNvPicPr>
          <p:nvPr/>
        </p:nvPicPr>
        <p:blipFill>
          <a:blip r:embed="rId3"/>
          <a:stretch>
            <a:fillRect/>
          </a:stretch>
        </p:blipFill>
        <p:spPr>
          <a:xfrm>
            <a:off x="8046720" y="45720"/>
            <a:ext cx="685800" cy="676656"/>
          </a:xfrm>
          <a:prstGeom prst="rect">
            <a:avLst/>
          </a:prstGeom>
        </p:spPr>
      </p:pic>
      <p:sp>
        <p:nvSpPr>
          <p:cNvPr id="14" name="Shape 10"/>
          <p:cNvSpPr/>
          <p:nvPr/>
        </p:nvSpPr>
        <p:spPr>
          <a:xfrm>
            <a:off x="145143" y="923544"/>
            <a:ext cx="4297680" cy="3945636"/>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dirty="0"/>
          </a:p>
        </p:txBody>
      </p:sp>
      <p:sp>
        <p:nvSpPr>
          <p:cNvPr id="15" name="Shape 11"/>
          <p:cNvSpPr/>
          <p:nvPr/>
        </p:nvSpPr>
        <p:spPr>
          <a:xfrm>
            <a:off x="145143" y="923544"/>
            <a:ext cx="4297680" cy="548640"/>
          </a:xfrm>
          <a:prstGeom prst="rect">
            <a:avLst/>
          </a:prstGeom>
          <a:solidFill>
            <a:srgbClr val="121358"/>
          </a:solidFill>
          <a:ln/>
        </p:spPr>
        <p:txBody>
          <a:bodyPr/>
          <a:lstStyle/>
          <a:p>
            <a:endParaRPr lang="en-US"/>
          </a:p>
        </p:txBody>
      </p:sp>
      <p:pic>
        <p:nvPicPr>
          <p:cNvPr id="16" name="Image 2"/>
          <p:cNvPicPr>
            <a:picLocks noChangeAspect="1"/>
          </p:cNvPicPr>
          <p:nvPr/>
        </p:nvPicPr>
        <p:blipFill>
          <a:blip r:embed="rId4"/>
          <a:srcRect/>
          <a:stretch/>
        </p:blipFill>
        <p:spPr>
          <a:xfrm>
            <a:off x="236583" y="978408"/>
            <a:ext cx="438912" cy="438912"/>
          </a:xfrm>
          <a:prstGeom prst="rect">
            <a:avLst/>
          </a:prstGeom>
        </p:spPr>
      </p:pic>
      <p:pic>
        <p:nvPicPr>
          <p:cNvPr id="17" name="Image 3"/>
          <p:cNvPicPr>
            <a:picLocks noChangeAspect="1"/>
          </p:cNvPicPr>
          <p:nvPr/>
        </p:nvPicPr>
        <p:blipFill>
          <a:blip r:embed="rId5"/>
          <a:srcRect/>
          <a:stretch/>
        </p:blipFill>
        <p:spPr>
          <a:xfrm>
            <a:off x="739503" y="993667"/>
            <a:ext cx="438912" cy="408393"/>
          </a:xfrm>
          <a:prstGeom prst="rect">
            <a:avLst/>
          </a:prstGeom>
        </p:spPr>
      </p:pic>
      <p:sp>
        <p:nvSpPr>
          <p:cNvPr id="18" name="Text 12"/>
          <p:cNvSpPr/>
          <p:nvPr/>
        </p:nvSpPr>
        <p:spPr>
          <a:xfrm>
            <a:off x="1364343" y="1014984"/>
            <a:ext cx="2895600" cy="411480"/>
          </a:xfrm>
          <a:prstGeom prst="rect">
            <a:avLst/>
          </a:prstGeom>
          <a:noFill/>
          <a:ln/>
        </p:spPr>
        <p:txBody>
          <a:bodyPr wrap="square" lIns="0" tIns="0" rIns="0" bIns="0" rtlCol="0" anchor="ctr"/>
          <a:lstStyle/>
          <a:p>
            <a:pPr marL="0" indent="0">
              <a:buNone/>
            </a:pPr>
            <a:r>
              <a:rPr lang="en-US" sz="1400" b="1" dirty="0">
                <a:solidFill>
                  <a:srgbClr val="FFFFFF"/>
                </a:solidFill>
              </a:rPr>
              <a:t>Python + Excel</a:t>
            </a:r>
            <a:endParaRPr lang="en-US" sz="1400" dirty="0"/>
          </a:p>
        </p:txBody>
      </p:sp>
      <p:sp>
        <p:nvSpPr>
          <p:cNvPr id="19" name="Shape 13"/>
          <p:cNvSpPr/>
          <p:nvPr/>
        </p:nvSpPr>
        <p:spPr>
          <a:xfrm>
            <a:off x="242737" y="1803634"/>
            <a:ext cx="640080" cy="320040"/>
          </a:xfrm>
          <a:prstGeom prst="rect">
            <a:avLst/>
          </a:prstGeom>
          <a:solidFill>
            <a:srgbClr val="36ADA3"/>
          </a:solidFill>
          <a:ln/>
        </p:spPr>
        <p:txBody>
          <a:bodyPr/>
          <a:lstStyle/>
          <a:p>
            <a:endParaRPr lang="en-US" dirty="0"/>
          </a:p>
        </p:txBody>
      </p:sp>
      <p:sp>
        <p:nvSpPr>
          <p:cNvPr id="20" name="Text 14"/>
          <p:cNvSpPr/>
          <p:nvPr/>
        </p:nvSpPr>
        <p:spPr>
          <a:xfrm>
            <a:off x="365760" y="1803634"/>
            <a:ext cx="419464" cy="308630"/>
          </a:xfrm>
          <a:prstGeom prst="rect">
            <a:avLst/>
          </a:prstGeom>
          <a:noFill/>
          <a:ln/>
        </p:spPr>
        <p:txBody>
          <a:bodyPr wrap="square" lIns="0" tIns="0" rIns="0" bIns="0" rtlCol="0" anchor="ctr"/>
          <a:lstStyle/>
          <a:p>
            <a:pPr marL="0" indent="0" algn="ctr">
              <a:buNone/>
            </a:pPr>
            <a:r>
              <a:rPr lang="en-US" sz="900" b="1" dirty="0">
                <a:solidFill>
                  <a:srgbClr val="FFFFFF"/>
                </a:solidFill>
              </a:rPr>
              <a:t>Python</a:t>
            </a:r>
            <a:endParaRPr lang="en-US" sz="900" dirty="0"/>
          </a:p>
        </p:txBody>
      </p:sp>
      <p:sp>
        <p:nvSpPr>
          <p:cNvPr id="21" name="Text 15"/>
          <p:cNvSpPr/>
          <p:nvPr/>
        </p:nvSpPr>
        <p:spPr>
          <a:xfrm>
            <a:off x="922383" y="1807464"/>
            <a:ext cx="3383280" cy="316210"/>
          </a:xfrm>
          <a:prstGeom prst="rect">
            <a:avLst/>
          </a:prstGeom>
          <a:noFill/>
          <a:ln/>
        </p:spPr>
        <p:txBody>
          <a:bodyPr wrap="square" lIns="0" tIns="0" rIns="0" bIns="0" rtlCol="0" anchor="ctr"/>
          <a:lstStyle/>
          <a:p>
            <a:pPr marL="0" indent="0">
              <a:buNone/>
            </a:pPr>
            <a:r>
              <a:rPr lang="en-US" sz="1050" dirty="0">
                <a:solidFill>
                  <a:srgbClr val="444444"/>
                </a:solidFill>
              </a:rPr>
              <a:t>Missing value imputation, data type fixing</a:t>
            </a:r>
            <a:endParaRPr lang="en-US" sz="1050" dirty="0"/>
          </a:p>
        </p:txBody>
      </p:sp>
      <p:sp>
        <p:nvSpPr>
          <p:cNvPr id="22" name="Shape 16"/>
          <p:cNvSpPr/>
          <p:nvPr/>
        </p:nvSpPr>
        <p:spPr>
          <a:xfrm>
            <a:off x="236583" y="2620505"/>
            <a:ext cx="640080" cy="320040"/>
          </a:xfrm>
          <a:prstGeom prst="rect">
            <a:avLst/>
          </a:prstGeom>
          <a:solidFill>
            <a:srgbClr val="36ADA3"/>
          </a:solidFill>
          <a:ln/>
        </p:spPr>
        <p:txBody>
          <a:bodyPr/>
          <a:lstStyle/>
          <a:p>
            <a:endParaRPr lang="en-US"/>
          </a:p>
        </p:txBody>
      </p:sp>
      <p:sp>
        <p:nvSpPr>
          <p:cNvPr id="23" name="Text 17"/>
          <p:cNvSpPr/>
          <p:nvPr/>
        </p:nvSpPr>
        <p:spPr>
          <a:xfrm>
            <a:off x="239660" y="2617454"/>
            <a:ext cx="640080" cy="323089"/>
          </a:xfrm>
          <a:prstGeom prst="rect">
            <a:avLst/>
          </a:prstGeom>
          <a:noFill/>
          <a:ln/>
        </p:spPr>
        <p:txBody>
          <a:bodyPr wrap="square" lIns="0" tIns="0" rIns="0" bIns="0" rtlCol="0" anchor="ctr"/>
          <a:lstStyle/>
          <a:p>
            <a:pPr marL="0" indent="0" algn="ctr">
              <a:buNone/>
            </a:pPr>
            <a:r>
              <a:rPr lang="en-US" sz="900" b="1" dirty="0">
                <a:solidFill>
                  <a:srgbClr val="FFFFFF"/>
                </a:solidFill>
              </a:rPr>
              <a:t>pandas</a:t>
            </a:r>
            <a:endParaRPr lang="en-US" sz="900" dirty="0"/>
          </a:p>
        </p:txBody>
      </p:sp>
      <p:sp>
        <p:nvSpPr>
          <p:cNvPr id="24" name="Text 18"/>
          <p:cNvSpPr/>
          <p:nvPr/>
        </p:nvSpPr>
        <p:spPr>
          <a:xfrm>
            <a:off x="922383" y="2620505"/>
            <a:ext cx="3383280" cy="320037"/>
          </a:xfrm>
          <a:prstGeom prst="rect">
            <a:avLst/>
          </a:prstGeom>
          <a:noFill/>
          <a:ln/>
        </p:spPr>
        <p:txBody>
          <a:bodyPr wrap="square" lIns="0" tIns="0" rIns="0" bIns="0" rtlCol="0" anchor="ctr"/>
          <a:lstStyle/>
          <a:p>
            <a:pPr marL="0" indent="0">
              <a:buNone/>
            </a:pPr>
            <a:r>
              <a:rPr lang="en-US" sz="1050" dirty="0">
                <a:solidFill>
                  <a:srgbClr val="444444"/>
                </a:solidFill>
              </a:rPr>
              <a:t>Dataframe operations, column mapping</a:t>
            </a:r>
            <a:endParaRPr lang="en-US" sz="1050" dirty="0"/>
          </a:p>
        </p:txBody>
      </p:sp>
      <p:sp>
        <p:nvSpPr>
          <p:cNvPr id="25" name="Shape 19"/>
          <p:cNvSpPr/>
          <p:nvPr/>
        </p:nvSpPr>
        <p:spPr>
          <a:xfrm>
            <a:off x="248891" y="3437376"/>
            <a:ext cx="640080" cy="320040"/>
          </a:xfrm>
          <a:prstGeom prst="rect">
            <a:avLst/>
          </a:prstGeom>
          <a:solidFill>
            <a:srgbClr val="36ADA3"/>
          </a:solidFill>
          <a:ln/>
        </p:spPr>
        <p:txBody>
          <a:bodyPr/>
          <a:lstStyle/>
          <a:p>
            <a:endParaRPr lang="en-US" dirty="0"/>
          </a:p>
        </p:txBody>
      </p:sp>
      <p:sp>
        <p:nvSpPr>
          <p:cNvPr id="26" name="Text 20"/>
          <p:cNvSpPr/>
          <p:nvPr/>
        </p:nvSpPr>
        <p:spPr>
          <a:xfrm>
            <a:off x="307180" y="3437374"/>
            <a:ext cx="499723" cy="320041"/>
          </a:xfrm>
          <a:prstGeom prst="rect">
            <a:avLst/>
          </a:prstGeom>
          <a:noFill/>
          <a:ln/>
        </p:spPr>
        <p:txBody>
          <a:bodyPr wrap="square" lIns="0" tIns="0" rIns="0" bIns="0" rtlCol="0" anchor="ctr"/>
          <a:lstStyle/>
          <a:p>
            <a:pPr marL="0" indent="0" algn="ctr">
              <a:buNone/>
            </a:pPr>
            <a:r>
              <a:rPr lang="en-US" sz="900" b="1" dirty="0">
                <a:solidFill>
                  <a:srgbClr val="FFFFFF"/>
                </a:solidFill>
              </a:rPr>
              <a:t>Excel</a:t>
            </a:r>
            <a:endParaRPr lang="en-US" sz="900" dirty="0"/>
          </a:p>
        </p:txBody>
      </p:sp>
      <p:sp>
        <p:nvSpPr>
          <p:cNvPr id="27" name="Text 21"/>
          <p:cNvSpPr/>
          <p:nvPr/>
        </p:nvSpPr>
        <p:spPr>
          <a:xfrm>
            <a:off x="933223" y="3441204"/>
            <a:ext cx="3383280" cy="316210"/>
          </a:xfrm>
          <a:prstGeom prst="rect">
            <a:avLst/>
          </a:prstGeom>
          <a:noFill/>
          <a:ln/>
        </p:spPr>
        <p:txBody>
          <a:bodyPr wrap="square" lIns="0" tIns="0" rIns="0" bIns="0" rtlCol="0" anchor="ctr"/>
          <a:lstStyle/>
          <a:p>
            <a:pPr marL="0" indent="0">
              <a:buNone/>
            </a:pPr>
            <a:r>
              <a:rPr lang="en-US" sz="1050" dirty="0">
                <a:solidFill>
                  <a:srgbClr val="444444"/>
                </a:solidFill>
              </a:rPr>
              <a:t>pivot validation</a:t>
            </a:r>
            <a:r>
              <a:rPr lang="ar-EG" sz="1050" dirty="0">
                <a:solidFill>
                  <a:srgbClr val="444444"/>
                </a:solidFill>
              </a:rPr>
              <a:t> </a:t>
            </a:r>
            <a:endParaRPr lang="en-US" sz="1050" dirty="0"/>
          </a:p>
        </p:txBody>
      </p:sp>
      <p:sp>
        <p:nvSpPr>
          <p:cNvPr id="28" name="Shape 22"/>
          <p:cNvSpPr/>
          <p:nvPr/>
        </p:nvSpPr>
        <p:spPr>
          <a:xfrm>
            <a:off x="255043" y="4254246"/>
            <a:ext cx="640080" cy="320040"/>
          </a:xfrm>
          <a:prstGeom prst="rect">
            <a:avLst/>
          </a:prstGeom>
          <a:solidFill>
            <a:srgbClr val="36ADA3"/>
          </a:solidFill>
          <a:ln/>
        </p:spPr>
        <p:txBody>
          <a:bodyPr/>
          <a:lstStyle/>
          <a:p>
            <a:endParaRPr lang="en-US" dirty="0"/>
          </a:p>
        </p:txBody>
      </p:sp>
      <p:sp>
        <p:nvSpPr>
          <p:cNvPr id="29" name="Text 23"/>
          <p:cNvSpPr/>
          <p:nvPr/>
        </p:nvSpPr>
        <p:spPr>
          <a:xfrm>
            <a:off x="251968" y="4254246"/>
            <a:ext cx="640080" cy="308610"/>
          </a:xfrm>
          <a:prstGeom prst="rect">
            <a:avLst/>
          </a:prstGeom>
          <a:noFill/>
          <a:ln/>
        </p:spPr>
        <p:txBody>
          <a:bodyPr wrap="square" lIns="0" tIns="0" rIns="0" bIns="0" rtlCol="0" anchor="ctr"/>
          <a:lstStyle/>
          <a:p>
            <a:pPr marL="0" indent="0" algn="ctr">
              <a:buNone/>
            </a:pPr>
            <a:r>
              <a:rPr lang="en-US" sz="900" b="1" dirty="0">
                <a:solidFill>
                  <a:srgbClr val="FFFFFF"/>
                </a:solidFill>
              </a:rPr>
              <a:t>Output</a:t>
            </a:r>
            <a:endParaRPr lang="en-US" sz="900" dirty="0"/>
          </a:p>
        </p:txBody>
      </p:sp>
      <p:sp>
        <p:nvSpPr>
          <p:cNvPr id="30" name="Text 24"/>
          <p:cNvSpPr/>
          <p:nvPr/>
        </p:nvSpPr>
        <p:spPr>
          <a:xfrm>
            <a:off x="940843" y="4254246"/>
            <a:ext cx="3383280" cy="320040"/>
          </a:xfrm>
          <a:prstGeom prst="rect">
            <a:avLst/>
          </a:prstGeom>
          <a:noFill/>
          <a:ln/>
        </p:spPr>
        <p:txBody>
          <a:bodyPr wrap="square" lIns="0" tIns="0" rIns="0" bIns="0" rtlCol="0" anchor="ctr"/>
          <a:lstStyle/>
          <a:p>
            <a:pPr marL="0" indent="0">
              <a:buNone/>
            </a:pPr>
            <a:r>
              <a:rPr lang="en-US" sz="1050" dirty="0">
                <a:solidFill>
                  <a:srgbClr val="444444"/>
                </a:solidFill>
              </a:rPr>
              <a:t>Clean CSV/XLSX files ready for SQL ingestion</a:t>
            </a:r>
            <a:endParaRPr lang="en-US" sz="1050" dirty="0"/>
          </a:p>
        </p:txBody>
      </p:sp>
      <p:pic>
        <p:nvPicPr>
          <p:cNvPr id="43" name="Picture 42">
            <a:extLst>
              <a:ext uri="{FF2B5EF4-FFF2-40B4-BE49-F238E27FC236}">
                <a16:creationId xmlns:a16="http://schemas.microsoft.com/office/drawing/2014/main" id="{810BFEB0-8BAA-EB84-B109-1F5396809295}"/>
              </a:ext>
            </a:extLst>
          </p:cNvPr>
          <p:cNvPicPr>
            <a:picLocks noChangeAspect="1"/>
          </p:cNvPicPr>
          <p:nvPr/>
        </p:nvPicPr>
        <p:blipFill>
          <a:blip r:embed="rId6"/>
          <a:srcRect t="15661"/>
          <a:stretch>
            <a:fillRect/>
          </a:stretch>
        </p:blipFill>
        <p:spPr>
          <a:xfrm>
            <a:off x="4701179" y="1197863"/>
            <a:ext cx="4299535" cy="3323844"/>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204F"/>
        </a:solidFill>
        <a:effectLst/>
      </p:bgPr>
    </p:bg>
    <p:spTree>
      <p:nvGrpSpPr>
        <p:cNvPr id="1" name="">
          <a:extLst>
            <a:ext uri="{FF2B5EF4-FFF2-40B4-BE49-F238E27FC236}">
              <a16:creationId xmlns:a16="http://schemas.microsoft.com/office/drawing/2014/main" id="{78E09C32-CD0D-1F33-6FFC-84ABA0EDD88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A7B0DEA-7CA2-BE58-2A42-06673A2AE3FF}"/>
              </a:ext>
            </a:extLst>
          </p:cNvPr>
          <p:cNvSpPr/>
          <p:nvPr/>
        </p:nvSpPr>
        <p:spPr>
          <a:xfrm>
            <a:off x="0" y="0"/>
            <a:ext cx="9144000" cy="85725"/>
          </a:xfrm>
          <a:prstGeom prst="rect">
            <a:avLst/>
          </a:prstGeom>
          <a:solidFill>
            <a:srgbClr val="36ADA3"/>
          </a:solidFill>
          <a:ln/>
        </p:spPr>
        <p:txBody>
          <a:bodyPr/>
          <a:lstStyle/>
          <a:p>
            <a:endParaRPr lang="en-US"/>
          </a:p>
        </p:txBody>
      </p:sp>
      <p:sp>
        <p:nvSpPr>
          <p:cNvPr id="3" name="Shape 1">
            <a:extLst>
              <a:ext uri="{FF2B5EF4-FFF2-40B4-BE49-F238E27FC236}">
                <a16:creationId xmlns:a16="http://schemas.microsoft.com/office/drawing/2014/main" id="{2EA01A96-1EE0-B719-D9B0-B318C58DD162}"/>
              </a:ext>
            </a:extLst>
          </p:cNvPr>
          <p:cNvSpPr/>
          <p:nvPr/>
        </p:nvSpPr>
        <p:spPr>
          <a:xfrm>
            <a:off x="0" y="5057775"/>
            <a:ext cx="9144000" cy="85725"/>
          </a:xfrm>
          <a:prstGeom prst="rect">
            <a:avLst/>
          </a:prstGeom>
          <a:solidFill>
            <a:srgbClr val="36ADA3"/>
          </a:solidFill>
          <a:ln/>
        </p:spPr>
        <p:txBody>
          <a:bodyPr/>
          <a:lstStyle/>
          <a:p>
            <a:endParaRPr lang="en-US"/>
          </a:p>
        </p:txBody>
      </p:sp>
      <p:sp>
        <p:nvSpPr>
          <p:cNvPr id="4" name="Text 2">
            <a:extLst>
              <a:ext uri="{FF2B5EF4-FFF2-40B4-BE49-F238E27FC236}">
                <a16:creationId xmlns:a16="http://schemas.microsoft.com/office/drawing/2014/main" id="{F419622B-A7F5-C480-2F1E-E499CCA36437}"/>
              </a:ext>
            </a:extLst>
          </p:cNvPr>
          <p:cNvSpPr/>
          <p:nvPr/>
        </p:nvSpPr>
        <p:spPr>
          <a:xfrm>
            <a:off x="0" y="1428750"/>
            <a:ext cx="9144000" cy="571500"/>
          </a:xfrm>
          <a:prstGeom prst="rect">
            <a:avLst/>
          </a:prstGeom>
          <a:noFill/>
          <a:ln/>
        </p:spPr>
        <p:txBody>
          <a:bodyPr wrap="none" lIns="0" tIns="0" rIns="0" bIns="0" rtlCol="0" anchor="ctr"/>
          <a:lstStyle/>
          <a:p>
            <a:pPr algn="ctr">
              <a:lnSpc>
                <a:spcPct val="100000"/>
              </a:lnSpc>
            </a:pPr>
            <a:r>
              <a:rPr lang="en-US" sz="4050" b="1" dirty="0">
                <a:solidFill>
                  <a:srgbClr val="36ADA3"/>
                </a:solidFill>
                <a:latin typeface="Liter" pitchFamily="34" charset="0"/>
                <a:ea typeface="Liter" pitchFamily="34" charset="-122"/>
                <a:cs typeface="Liter" pitchFamily="34" charset="-120"/>
              </a:rPr>
              <a:t>03</a:t>
            </a:r>
            <a:endParaRPr lang="en-US" sz="900" dirty="0">
              <a:solidFill>
                <a:srgbClr val="36ADA3"/>
              </a:solidFill>
            </a:endParaRPr>
          </a:p>
        </p:txBody>
      </p:sp>
      <p:sp>
        <p:nvSpPr>
          <p:cNvPr id="5" name="Text 3">
            <a:extLst>
              <a:ext uri="{FF2B5EF4-FFF2-40B4-BE49-F238E27FC236}">
                <a16:creationId xmlns:a16="http://schemas.microsoft.com/office/drawing/2014/main" id="{64AF8F82-4499-8382-4A36-F9DD3301289E}"/>
              </a:ext>
            </a:extLst>
          </p:cNvPr>
          <p:cNvSpPr/>
          <p:nvPr/>
        </p:nvSpPr>
        <p:spPr>
          <a:xfrm>
            <a:off x="0" y="2143125"/>
            <a:ext cx="9144000" cy="571500"/>
          </a:xfrm>
          <a:prstGeom prst="rect">
            <a:avLst/>
          </a:prstGeom>
          <a:noFill/>
          <a:ln/>
        </p:spPr>
        <p:txBody>
          <a:bodyPr wrap="none" lIns="0" tIns="0" rIns="0" bIns="0" rtlCol="0" anchor="ctr"/>
          <a:lstStyle/>
          <a:p>
            <a:pPr algn="ctr"/>
            <a:r>
              <a:rPr lang="en-US" sz="2800" b="1" dirty="0">
                <a:solidFill>
                  <a:schemeClr val="bg1"/>
                </a:solidFill>
                <a:latin typeface="Quattrocento Sans" pitchFamily="34" charset="0"/>
                <a:ea typeface="Quattrocento Sans" pitchFamily="34" charset="-122"/>
                <a:cs typeface="Quattrocento Sans" pitchFamily="34" charset="-120"/>
              </a:rPr>
              <a:t>Database Modeling</a:t>
            </a:r>
            <a:endParaRPr lang="en-US" sz="2800" dirty="0">
              <a:solidFill>
                <a:schemeClr val="bg1"/>
              </a:solidFill>
            </a:endParaRPr>
          </a:p>
        </p:txBody>
      </p:sp>
      <p:sp>
        <p:nvSpPr>
          <p:cNvPr id="6" name="Text 4">
            <a:extLst>
              <a:ext uri="{FF2B5EF4-FFF2-40B4-BE49-F238E27FC236}">
                <a16:creationId xmlns:a16="http://schemas.microsoft.com/office/drawing/2014/main" id="{1DC19764-E135-CC07-3D98-9FCB338008FD}"/>
              </a:ext>
            </a:extLst>
          </p:cNvPr>
          <p:cNvSpPr/>
          <p:nvPr/>
        </p:nvSpPr>
        <p:spPr>
          <a:xfrm>
            <a:off x="0" y="2857500"/>
            <a:ext cx="9144000" cy="357188"/>
          </a:xfrm>
          <a:prstGeom prst="rect">
            <a:avLst/>
          </a:prstGeom>
          <a:noFill/>
          <a:ln/>
        </p:spPr>
        <p:txBody>
          <a:bodyPr wrap="none" lIns="0" tIns="0" rIns="0" bIns="0" rtlCol="0" anchor="ctr"/>
          <a:lstStyle/>
          <a:p>
            <a:pPr algn="ctr"/>
            <a:r>
              <a:rPr lang="en-US" sz="1200" dirty="0">
                <a:solidFill>
                  <a:srgbClr val="36ADA3"/>
                </a:solidFill>
                <a:latin typeface="Calibri" pitchFamily="34" charset="0"/>
                <a:ea typeface="Calibri" pitchFamily="34" charset="-122"/>
                <a:cs typeface="Calibri" pitchFamily="34" charset="-120"/>
              </a:rPr>
              <a:t>ERD design + relational modeling in SQL with Red Gate tools</a:t>
            </a:r>
            <a:endParaRPr lang="en-US" sz="1200" dirty="0">
              <a:solidFill>
                <a:srgbClr val="36ADA3"/>
              </a:solidFill>
            </a:endParaRPr>
          </a:p>
        </p:txBody>
      </p:sp>
    </p:spTree>
    <p:extLst>
      <p:ext uri="{BB962C8B-B14F-4D97-AF65-F5344CB8AC3E}">
        <p14:creationId xmlns:p14="http://schemas.microsoft.com/office/powerpoint/2010/main" val="165740822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1525"/>
          </a:xfrm>
          <a:prstGeom prst="roundRect">
            <a:avLst>
              <a:gd name="adj" fmla="val 0"/>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321469" y="225029"/>
            <a:ext cx="2873573" cy="321469"/>
          </a:xfrm>
          <a:prstGeom prst="rect">
            <a:avLst/>
          </a:prstGeom>
          <a:noFill/>
          <a:ln/>
        </p:spPr>
        <p:txBody>
          <a:bodyPr wrap="square" lIns="0" tIns="0" rIns="0" bIns="0" rtlCol="0" anchor="ctr"/>
          <a:lstStyle/>
          <a:p>
            <a:pPr>
              <a:lnSpc>
                <a:spcPct val="90000"/>
              </a:lnSpc>
            </a:pPr>
            <a:r>
              <a:rPr lang="en-US" sz="2400" b="1" dirty="0">
                <a:solidFill>
                  <a:srgbClr val="FFFFFF"/>
                </a:solidFill>
                <a:ea typeface="Quattrocento Sans" pitchFamily="34" charset="-122"/>
                <a:cs typeface="Quattrocento Sans" pitchFamily="34" charset="-120"/>
              </a:rPr>
              <a:t>Step 3: </a:t>
            </a:r>
            <a:r>
              <a:rPr lang="en-US" sz="2279" b="1" dirty="0">
                <a:solidFill>
                  <a:srgbClr val="FFFFFF"/>
                </a:solidFill>
                <a:latin typeface="Quattrocento Sans" pitchFamily="34" charset="0"/>
                <a:ea typeface="Quattrocento Sans" pitchFamily="34" charset="-122"/>
                <a:cs typeface="Quattrocento Sans" pitchFamily="34" charset="-120"/>
              </a:rPr>
              <a:t>Database</a:t>
            </a:r>
            <a:endParaRPr lang="en-US" sz="1200" dirty="0"/>
          </a:p>
        </p:txBody>
      </p:sp>
      <p:sp>
        <p:nvSpPr>
          <p:cNvPr id="5" name="Shape 3"/>
          <p:cNvSpPr/>
          <p:nvPr/>
        </p:nvSpPr>
        <p:spPr>
          <a:xfrm>
            <a:off x="285750" y="899388"/>
            <a:ext cx="3714750" cy="321469"/>
          </a:xfrm>
          <a:prstGeom prst="roundRect">
            <a:avLst>
              <a:gd name="adj" fmla="val 20000"/>
            </a:avLst>
          </a:prstGeom>
          <a:solidFill>
            <a:srgbClr val="36ADA3"/>
          </a:solidFill>
          <a:ln/>
        </p:spPr>
        <p:txBody>
          <a:bodyPr/>
          <a:lstStyle/>
          <a:p>
            <a:endParaRPr lang="en-US"/>
          </a:p>
        </p:txBody>
      </p:sp>
      <p:sp>
        <p:nvSpPr>
          <p:cNvPr id="6" name="Text 4"/>
          <p:cNvSpPr/>
          <p:nvPr/>
        </p:nvSpPr>
        <p:spPr>
          <a:xfrm>
            <a:off x="414338" y="963682"/>
            <a:ext cx="3521869" cy="192881"/>
          </a:xfrm>
          <a:prstGeom prst="rect">
            <a:avLst/>
          </a:prstGeom>
          <a:noFill/>
          <a:ln/>
        </p:spPr>
        <p:txBody>
          <a:bodyPr wrap="square" lIns="0" tIns="0" rIns="0" bIns="0" rtlCol="0" anchor="ctr"/>
          <a:lstStyle/>
          <a:p>
            <a:pPr>
              <a:lnSpc>
                <a:spcPct val="130000"/>
              </a:lnSpc>
            </a:pPr>
            <a:r>
              <a:rPr lang="en-US" sz="1013" b="1" kern="0" spc="51" dirty="0">
                <a:solidFill>
                  <a:schemeClr val="bg1"/>
                </a:solidFill>
                <a:latin typeface="Quattrocento Sans" pitchFamily="34" charset="0"/>
                <a:ea typeface="Quattrocento Sans" pitchFamily="34" charset="-122"/>
                <a:cs typeface="Quattrocento Sans" pitchFamily="34" charset="-120"/>
              </a:rPr>
              <a:t>STRUCTURED DATA MANAGEMENT SYSTEM OVERVIEW</a:t>
            </a:r>
            <a:endParaRPr lang="en-US" sz="1200" dirty="0">
              <a:solidFill>
                <a:schemeClr val="bg1"/>
              </a:solidFill>
            </a:endParaRPr>
          </a:p>
        </p:txBody>
      </p:sp>
      <p:sp>
        <p:nvSpPr>
          <p:cNvPr id="7" name="Shape 5"/>
          <p:cNvSpPr/>
          <p:nvPr/>
        </p:nvSpPr>
        <p:spPr>
          <a:xfrm>
            <a:off x="285750" y="1453642"/>
            <a:ext cx="8572500" cy="2978944"/>
          </a:xfrm>
          <a:prstGeom prst="roundRect">
            <a:avLst>
              <a:gd name="adj" fmla="val 3237"/>
            </a:avLst>
          </a:prstGeom>
          <a:solidFill>
            <a:srgbClr val="FFFFFF"/>
          </a:solidFill>
          <a:ln/>
          <a:effectLst>
            <a:outerShdw blurRad="57150" dist="38100" dir="5400000" algn="bl" rotWithShape="0">
              <a:srgbClr val="000000">
                <a:alpha val="10196"/>
              </a:srgbClr>
            </a:outerShdw>
          </a:effectLst>
        </p:spPr>
        <p:txBody>
          <a:bodyPr/>
          <a:lstStyle/>
          <a:p>
            <a:endParaRPr lang="en-US"/>
          </a:p>
        </p:txBody>
      </p:sp>
      <p:sp>
        <p:nvSpPr>
          <p:cNvPr id="8" name="Shape 6"/>
          <p:cNvSpPr/>
          <p:nvPr/>
        </p:nvSpPr>
        <p:spPr>
          <a:xfrm>
            <a:off x="542925" y="1710817"/>
            <a:ext cx="342900" cy="342900"/>
          </a:xfrm>
          <a:prstGeom prst="roundRect">
            <a:avLst>
              <a:gd name="adj" fmla="val 50000"/>
            </a:avLst>
          </a:prstGeom>
          <a:solidFill>
            <a:srgbClr val="36ADA3"/>
          </a:solidFill>
          <a:ln/>
        </p:spPr>
        <p:txBody>
          <a:bodyPr/>
          <a:lstStyle/>
          <a:p>
            <a:endParaRPr lang="en-US"/>
          </a:p>
        </p:txBody>
      </p:sp>
      <p:sp>
        <p:nvSpPr>
          <p:cNvPr id="9" name="Text 7"/>
          <p:cNvSpPr/>
          <p:nvPr/>
        </p:nvSpPr>
        <p:spPr>
          <a:xfrm>
            <a:off x="510779" y="1710817"/>
            <a:ext cx="407194" cy="342900"/>
          </a:xfrm>
          <a:prstGeom prst="rect">
            <a:avLst/>
          </a:prstGeom>
          <a:noFill/>
          <a:ln/>
        </p:spPr>
        <p:txBody>
          <a:bodyPr wrap="square" lIns="0" tIns="0" rIns="0" bIns="0" rtlCol="0" anchor="ctr"/>
          <a:lstStyle/>
          <a:p>
            <a:pPr algn="ctr">
              <a:lnSpc>
                <a:spcPct val="130000"/>
              </a:lnSpc>
            </a:pPr>
            <a:r>
              <a:rPr lang="en-US" sz="1013" b="1" dirty="0">
                <a:solidFill>
                  <a:srgbClr val="FFFFFF"/>
                </a:solidFill>
                <a:latin typeface="Quattrocento Sans" pitchFamily="34" charset="0"/>
                <a:ea typeface="Quattrocento Sans" pitchFamily="34" charset="-122"/>
                <a:cs typeface="Quattrocento Sans" pitchFamily="34" charset="-120"/>
              </a:rPr>
              <a:t>01</a:t>
            </a:r>
            <a:endParaRPr lang="en-US" sz="1200" dirty="0"/>
          </a:p>
        </p:txBody>
      </p:sp>
      <p:sp>
        <p:nvSpPr>
          <p:cNvPr id="10" name="Text 8"/>
          <p:cNvSpPr/>
          <p:nvPr/>
        </p:nvSpPr>
        <p:spPr>
          <a:xfrm>
            <a:off x="1078707" y="1710817"/>
            <a:ext cx="7618810" cy="257175"/>
          </a:xfrm>
          <a:prstGeom prst="rect">
            <a:avLst/>
          </a:prstGeom>
          <a:noFill/>
          <a:ln/>
        </p:spPr>
        <p:txBody>
          <a:bodyPr wrap="square" lIns="0" tIns="0" rIns="0" bIns="0" rtlCol="0" anchor="ctr"/>
          <a:lstStyle/>
          <a:p>
            <a:pPr>
              <a:lnSpc>
                <a:spcPct val="110000"/>
              </a:lnSpc>
            </a:pPr>
            <a:r>
              <a:rPr lang="en-US" sz="1519" b="1" dirty="0">
                <a:solidFill>
                  <a:srgbClr val="121358"/>
                </a:solidFill>
                <a:latin typeface="Quattrocento Sans" pitchFamily="34" charset="0"/>
                <a:ea typeface="Quattrocento Sans" pitchFamily="34" charset="-122"/>
                <a:cs typeface="Quattrocento Sans" pitchFamily="34" charset="-120"/>
              </a:rPr>
              <a:t>System Purpose</a:t>
            </a:r>
            <a:endParaRPr lang="en-US" sz="1200" dirty="0"/>
          </a:p>
        </p:txBody>
      </p:sp>
      <p:sp>
        <p:nvSpPr>
          <p:cNvPr id="11" name="Text 9"/>
          <p:cNvSpPr/>
          <p:nvPr/>
        </p:nvSpPr>
        <p:spPr>
          <a:xfrm>
            <a:off x="1078706" y="2096468"/>
            <a:ext cx="7594700" cy="471488"/>
          </a:xfrm>
          <a:prstGeom prst="rect">
            <a:avLst/>
          </a:prstGeom>
          <a:noFill/>
          <a:ln/>
        </p:spPr>
        <p:txBody>
          <a:bodyPr wrap="square" lIns="0" tIns="0" rIns="0" bIns="0" rtlCol="0" anchor="ctr"/>
          <a:lstStyle/>
          <a:p>
            <a:pPr>
              <a:lnSpc>
                <a:spcPct val="140000"/>
              </a:lnSpc>
            </a:pPr>
            <a:r>
              <a:rPr lang="en-US" sz="1139" dirty="0">
                <a:solidFill>
                  <a:srgbClr val="364153"/>
                </a:solidFill>
                <a:latin typeface="Quattrocento Sans" pitchFamily="34" charset="0"/>
                <a:ea typeface="Quattrocento Sans" pitchFamily="34" charset="-122"/>
                <a:cs typeface="Quattrocento Sans" pitchFamily="34" charset="-120"/>
              </a:rPr>
              <a:t>The Labor Force Survey Database is designed to efficiently store, manage, and analyze national labor market data, supporting various dimensions like employment, education, income, and COVID-19 impact.</a:t>
            </a:r>
            <a:endParaRPr lang="en-US" sz="1200" dirty="0"/>
          </a:p>
        </p:txBody>
      </p:sp>
      <p:sp>
        <p:nvSpPr>
          <p:cNvPr id="12" name="Shape 10"/>
          <p:cNvSpPr/>
          <p:nvPr/>
        </p:nvSpPr>
        <p:spPr>
          <a:xfrm>
            <a:off x="557213" y="3080966"/>
            <a:ext cx="2543175" cy="1092994"/>
          </a:xfrm>
          <a:custGeom>
            <a:avLst/>
            <a:gdLst/>
            <a:ahLst/>
            <a:cxnLst/>
            <a:rect l="l" t="t" r="r" b="b"/>
            <a:pathLst>
              <a:path w="3390900" h="1457325">
                <a:moveTo>
                  <a:pt x="38100" y="0"/>
                </a:moveTo>
                <a:lnTo>
                  <a:pt x="3305175" y="0"/>
                </a:lnTo>
                <a:cubicBezTo>
                  <a:pt x="3352488" y="0"/>
                  <a:pt x="3390900" y="38412"/>
                  <a:pt x="3390900" y="85725"/>
                </a:cubicBezTo>
                <a:lnTo>
                  <a:pt x="3390900" y="1371600"/>
                </a:lnTo>
                <a:cubicBezTo>
                  <a:pt x="3390900" y="1418913"/>
                  <a:pt x="3352488" y="1457325"/>
                  <a:pt x="3305175" y="1457325"/>
                </a:cubicBezTo>
                <a:lnTo>
                  <a:pt x="38100" y="1457325"/>
                </a:lnTo>
                <a:cubicBezTo>
                  <a:pt x="17072" y="1457325"/>
                  <a:pt x="0" y="1440253"/>
                  <a:pt x="0" y="1419225"/>
                </a:cubicBezTo>
                <a:lnTo>
                  <a:pt x="0" y="38100"/>
                </a:lnTo>
                <a:cubicBezTo>
                  <a:pt x="0" y="17072"/>
                  <a:pt x="17072" y="0"/>
                  <a:pt x="38100" y="0"/>
                </a:cubicBezTo>
                <a:close/>
              </a:path>
            </a:pathLst>
          </a:custGeom>
          <a:gradFill flip="none" rotWithShape="1">
            <a:gsLst>
              <a:gs pos="0">
                <a:srgbClr val="EFF6FF"/>
              </a:gs>
              <a:gs pos="100000">
                <a:srgbClr val="F0FDFA"/>
              </a:gs>
            </a:gsLst>
            <a:lin ang="2700000" scaled="1"/>
          </a:gradFill>
          <a:ln/>
        </p:spPr>
        <p:txBody>
          <a:bodyPr/>
          <a:lstStyle/>
          <a:p>
            <a:endParaRPr lang="en-US"/>
          </a:p>
        </p:txBody>
      </p:sp>
      <p:sp>
        <p:nvSpPr>
          <p:cNvPr id="13" name="Shape 11"/>
          <p:cNvSpPr/>
          <p:nvPr/>
        </p:nvSpPr>
        <p:spPr>
          <a:xfrm>
            <a:off x="557213" y="3080966"/>
            <a:ext cx="28575" cy="1092994"/>
          </a:xfrm>
          <a:custGeom>
            <a:avLst/>
            <a:gdLst/>
            <a:ahLst/>
            <a:cxnLst/>
            <a:rect l="l" t="t" r="r" b="b"/>
            <a:pathLst>
              <a:path w="38100" h="1457325">
                <a:moveTo>
                  <a:pt x="38100" y="0"/>
                </a:moveTo>
                <a:lnTo>
                  <a:pt x="38100" y="0"/>
                </a:lnTo>
                <a:lnTo>
                  <a:pt x="38100" y="1457325"/>
                </a:lnTo>
                <a:lnTo>
                  <a:pt x="38100" y="1457325"/>
                </a:lnTo>
                <a:cubicBezTo>
                  <a:pt x="17072" y="1457325"/>
                  <a:pt x="0" y="1440253"/>
                  <a:pt x="0" y="1419225"/>
                </a:cubicBezTo>
                <a:lnTo>
                  <a:pt x="0" y="38100"/>
                </a:lnTo>
                <a:cubicBezTo>
                  <a:pt x="0" y="17072"/>
                  <a:pt x="17072" y="0"/>
                  <a:pt x="38100" y="0"/>
                </a:cubicBezTo>
                <a:close/>
              </a:path>
            </a:pathLst>
          </a:custGeom>
          <a:solidFill>
            <a:srgbClr val="00BBA7"/>
          </a:solidFill>
          <a:ln/>
        </p:spPr>
        <p:txBody>
          <a:bodyPr/>
          <a:lstStyle/>
          <a:p>
            <a:endParaRPr lang="en-US"/>
          </a:p>
        </p:txBody>
      </p:sp>
      <p:sp>
        <p:nvSpPr>
          <p:cNvPr id="14" name="Shape 12"/>
          <p:cNvSpPr/>
          <p:nvPr/>
        </p:nvSpPr>
        <p:spPr>
          <a:xfrm>
            <a:off x="789385" y="3289921"/>
            <a:ext cx="192881" cy="192881"/>
          </a:xfrm>
          <a:custGeom>
            <a:avLst/>
            <a:gdLst/>
            <a:ahLst/>
            <a:cxnLst/>
            <a:rect l="l" t="t" r="r" b="b"/>
            <a:pathLst>
              <a:path w="257175" h="257175">
                <a:moveTo>
                  <a:pt x="15420" y="36316"/>
                </a:moveTo>
                <a:cubicBezTo>
                  <a:pt x="18886" y="24311"/>
                  <a:pt x="29887" y="16073"/>
                  <a:pt x="42394" y="16073"/>
                </a:cubicBezTo>
                <a:lnTo>
                  <a:pt x="215183" y="16073"/>
                </a:lnTo>
                <a:cubicBezTo>
                  <a:pt x="227690" y="16073"/>
                  <a:pt x="238691" y="24311"/>
                  <a:pt x="242207" y="36316"/>
                </a:cubicBezTo>
                <a:lnTo>
                  <a:pt x="253960" y="76600"/>
                </a:lnTo>
                <a:cubicBezTo>
                  <a:pt x="260390" y="98550"/>
                  <a:pt x="243864" y="120551"/>
                  <a:pt x="221010" y="120551"/>
                </a:cubicBezTo>
                <a:cubicBezTo>
                  <a:pt x="207799" y="120551"/>
                  <a:pt x="196196" y="113067"/>
                  <a:pt x="190470" y="101916"/>
                </a:cubicBezTo>
                <a:cubicBezTo>
                  <a:pt x="184644" y="112916"/>
                  <a:pt x="173091" y="120551"/>
                  <a:pt x="159629" y="120551"/>
                </a:cubicBezTo>
                <a:cubicBezTo>
                  <a:pt x="146268" y="120551"/>
                  <a:pt x="134665" y="113016"/>
                  <a:pt x="128839" y="101966"/>
                </a:cubicBezTo>
                <a:cubicBezTo>
                  <a:pt x="123012" y="113016"/>
                  <a:pt x="111409" y="120551"/>
                  <a:pt x="98048" y="120551"/>
                </a:cubicBezTo>
                <a:cubicBezTo>
                  <a:pt x="84586" y="120551"/>
                  <a:pt x="73034" y="112966"/>
                  <a:pt x="67207" y="101916"/>
                </a:cubicBezTo>
                <a:cubicBezTo>
                  <a:pt x="61481" y="113016"/>
                  <a:pt x="49878" y="120551"/>
                  <a:pt x="36668" y="120551"/>
                </a:cubicBezTo>
                <a:cubicBezTo>
                  <a:pt x="13763" y="120551"/>
                  <a:pt x="-2712" y="98600"/>
                  <a:pt x="3717" y="76600"/>
                </a:cubicBezTo>
                <a:lnTo>
                  <a:pt x="15420" y="36316"/>
                </a:lnTo>
                <a:close/>
                <a:moveTo>
                  <a:pt x="48421" y="176808"/>
                </a:moveTo>
                <a:lnTo>
                  <a:pt x="209156" y="176808"/>
                </a:lnTo>
                <a:lnTo>
                  <a:pt x="209156" y="143455"/>
                </a:lnTo>
                <a:cubicBezTo>
                  <a:pt x="212973" y="144259"/>
                  <a:pt x="216941" y="144661"/>
                  <a:pt x="220960" y="144661"/>
                </a:cubicBezTo>
                <a:cubicBezTo>
                  <a:pt x="228142" y="144661"/>
                  <a:pt x="235024" y="143355"/>
                  <a:pt x="241302" y="141044"/>
                </a:cubicBezTo>
                <a:lnTo>
                  <a:pt x="241302" y="216991"/>
                </a:lnTo>
                <a:cubicBezTo>
                  <a:pt x="241302" y="230302"/>
                  <a:pt x="230503" y="241102"/>
                  <a:pt x="217192" y="241102"/>
                </a:cubicBezTo>
                <a:lnTo>
                  <a:pt x="40385" y="241102"/>
                </a:lnTo>
                <a:cubicBezTo>
                  <a:pt x="27074" y="241102"/>
                  <a:pt x="16274" y="230302"/>
                  <a:pt x="16274" y="216991"/>
                </a:cubicBezTo>
                <a:lnTo>
                  <a:pt x="16274" y="141044"/>
                </a:lnTo>
                <a:cubicBezTo>
                  <a:pt x="22553" y="143355"/>
                  <a:pt x="29384" y="144661"/>
                  <a:pt x="36617" y="144661"/>
                </a:cubicBezTo>
                <a:cubicBezTo>
                  <a:pt x="40686" y="144661"/>
                  <a:pt x="44604" y="144259"/>
                  <a:pt x="48421" y="143455"/>
                </a:cubicBezTo>
                <a:lnTo>
                  <a:pt x="48421" y="176808"/>
                </a:lnTo>
                <a:close/>
              </a:path>
            </a:pathLst>
          </a:custGeom>
          <a:solidFill>
            <a:srgbClr val="009689"/>
          </a:solidFill>
          <a:ln/>
        </p:spPr>
        <p:txBody>
          <a:bodyPr/>
          <a:lstStyle/>
          <a:p>
            <a:endParaRPr lang="en-US"/>
          </a:p>
        </p:txBody>
      </p:sp>
      <p:sp>
        <p:nvSpPr>
          <p:cNvPr id="15" name="Text 13"/>
          <p:cNvSpPr/>
          <p:nvPr/>
        </p:nvSpPr>
        <p:spPr>
          <a:xfrm>
            <a:off x="1101923" y="3273847"/>
            <a:ext cx="451842" cy="228600"/>
          </a:xfrm>
          <a:prstGeom prst="rect">
            <a:avLst/>
          </a:prstGeom>
          <a:noFill/>
          <a:ln/>
        </p:spPr>
        <p:txBody>
          <a:bodyPr wrap="square" lIns="0" tIns="0" rIns="0" bIns="0" rtlCol="0" anchor="ctr"/>
          <a:lstStyle/>
          <a:p>
            <a:pPr>
              <a:lnSpc>
                <a:spcPct val="120000"/>
              </a:lnSpc>
            </a:pPr>
            <a:r>
              <a:rPr lang="en-US" sz="1266" b="1" dirty="0">
                <a:solidFill>
                  <a:srgbClr val="121358"/>
                </a:solidFill>
                <a:latin typeface="Quattrocento Sans" pitchFamily="34" charset="0"/>
                <a:ea typeface="Quattrocento Sans" pitchFamily="34" charset="-122"/>
                <a:cs typeface="Quattrocento Sans" pitchFamily="34" charset="-120"/>
              </a:rPr>
              <a:t>Store</a:t>
            </a:r>
            <a:endParaRPr lang="en-US" sz="1200" dirty="0"/>
          </a:p>
        </p:txBody>
      </p:sp>
      <p:sp>
        <p:nvSpPr>
          <p:cNvPr id="16" name="Text 14"/>
          <p:cNvSpPr/>
          <p:nvPr/>
        </p:nvSpPr>
        <p:spPr>
          <a:xfrm>
            <a:off x="764382" y="3595316"/>
            <a:ext cx="2207419" cy="385763"/>
          </a:xfrm>
          <a:prstGeom prst="rect">
            <a:avLst/>
          </a:prstGeom>
          <a:noFill/>
          <a:ln/>
        </p:spPr>
        <p:txBody>
          <a:bodyPr wrap="square" lIns="0" tIns="0" rIns="0" bIns="0" rtlCol="0" anchor="ctr"/>
          <a:lstStyle/>
          <a:p>
            <a:pPr>
              <a:lnSpc>
                <a:spcPct val="130000"/>
              </a:lnSpc>
            </a:pPr>
            <a:r>
              <a:rPr lang="en-US" sz="1013" dirty="0">
                <a:solidFill>
                  <a:srgbClr val="4A5565"/>
                </a:solidFill>
                <a:latin typeface="Quattrocento Sans" pitchFamily="34" charset="0"/>
                <a:ea typeface="Quattrocento Sans" pitchFamily="34" charset="-122"/>
                <a:cs typeface="Quattrocento Sans" pitchFamily="34" charset="-120"/>
              </a:rPr>
              <a:t>Efficient data storage and management</a:t>
            </a:r>
            <a:endParaRPr lang="en-US" sz="1200" dirty="0"/>
          </a:p>
        </p:txBody>
      </p:sp>
      <p:sp>
        <p:nvSpPr>
          <p:cNvPr id="17" name="Shape 15"/>
          <p:cNvSpPr/>
          <p:nvPr/>
        </p:nvSpPr>
        <p:spPr>
          <a:xfrm>
            <a:off x="3307556" y="3080966"/>
            <a:ext cx="2543175" cy="1092994"/>
          </a:xfrm>
          <a:custGeom>
            <a:avLst/>
            <a:gdLst/>
            <a:ahLst/>
            <a:cxnLst/>
            <a:rect l="l" t="t" r="r" b="b"/>
            <a:pathLst>
              <a:path w="3390900" h="1457325">
                <a:moveTo>
                  <a:pt x="38100" y="0"/>
                </a:moveTo>
                <a:lnTo>
                  <a:pt x="3305175" y="0"/>
                </a:lnTo>
                <a:cubicBezTo>
                  <a:pt x="3352488" y="0"/>
                  <a:pt x="3390900" y="38412"/>
                  <a:pt x="3390900" y="85725"/>
                </a:cubicBezTo>
                <a:lnTo>
                  <a:pt x="3390900" y="1371600"/>
                </a:lnTo>
                <a:cubicBezTo>
                  <a:pt x="3390900" y="1418913"/>
                  <a:pt x="3352488" y="1457325"/>
                  <a:pt x="3305175" y="1457325"/>
                </a:cubicBezTo>
                <a:lnTo>
                  <a:pt x="38100" y="1457325"/>
                </a:lnTo>
                <a:cubicBezTo>
                  <a:pt x="17072" y="1457325"/>
                  <a:pt x="0" y="1440253"/>
                  <a:pt x="0" y="1419225"/>
                </a:cubicBezTo>
                <a:lnTo>
                  <a:pt x="0" y="38100"/>
                </a:lnTo>
                <a:cubicBezTo>
                  <a:pt x="0" y="17072"/>
                  <a:pt x="17072" y="0"/>
                  <a:pt x="38100" y="0"/>
                </a:cubicBezTo>
                <a:close/>
              </a:path>
            </a:pathLst>
          </a:custGeom>
          <a:gradFill flip="none" rotWithShape="1">
            <a:gsLst>
              <a:gs pos="0">
                <a:srgbClr val="EFF6FF"/>
              </a:gs>
              <a:gs pos="100000">
                <a:srgbClr val="F0FDFA"/>
              </a:gs>
            </a:gsLst>
            <a:lin ang="2700000" scaled="1"/>
          </a:gradFill>
          <a:ln/>
        </p:spPr>
        <p:txBody>
          <a:bodyPr/>
          <a:lstStyle/>
          <a:p>
            <a:endParaRPr lang="en-US"/>
          </a:p>
        </p:txBody>
      </p:sp>
      <p:sp>
        <p:nvSpPr>
          <p:cNvPr id="18" name="Shape 16"/>
          <p:cNvSpPr/>
          <p:nvPr/>
        </p:nvSpPr>
        <p:spPr>
          <a:xfrm>
            <a:off x="3307556" y="3080966"/>
            <a:ext cx="28575" cy="1092994"/>
          </a:xfrm>
          <a:custGeom>
            <a:avLst/>
            <a:gdLst/>
            <a:ahLst/>
            <a:cxnLst/>
            <a:rect l="l" t="t" r="r" b="b"/>
            <a:pathLst>
              <a:path w="38100" h="1457325">
                <a:moveTo>
                  <a:pt x="38100" y="0"/>
                </a:moveTo>
                <a:lnTo>
                  <a:pt x="38100" y="0"/>
                </a:lnTo>
                <a:lnTo>
                  <a:pt x="38100" y="1457325"/>
                </a:lnTo>
                <a:lnTo>
                  <a:pt x="38100" y="1457325"/>
                </a:lnTo>
                <a:cubicBezTo>
                  <a:pt x="17072" y="1457325"/>
                  <a:pt x="0" y="1440253"/>
                  <a:pt x="0" y="1419225"/>
                </a:cubicBezTo>
                <a:lnTo>
                  <a:pt x="0" y="38100"/>
                </a:lnTo>
                <a:cubicBezTo>
                  <a:pt x="0" y="17072"/>
                  <a:pt x="17072" y="0"/>
                  <a:pt x="38100" y="0"/>
                </a:cubicBezTo>
                <a:close/>
              </a:path>
            </a:pathLst>
          </a:custGeom>
          <a:solidFill>
            <a:srgbClr val="00BBA7"/>
          </a:solidFill>
          <a:ln/>
        </p:spPr>
        <p:txBody>
          <a:bodyPr/>
          <a:lstStyle/>
          <a:p>
            <a:endParaRPr lang="en-US"/>
          </a:p>
        </p:txBody>
      </p:sp>
      <p:sp>
        <p:nvSpPr>
          <p:cNvPr id="19" name="Shape 17"/>
          <p:cNvSpPr/>
          <p:nvPr/>
        </p:nvSpPr>
        <p:spPr>
          <a:xfrm>
            <a:off x="3515619" y="3289921"/>
            <a:ext cx="241102" cy="192881"/>
          </a:xfrm>
          <a:custGeom>
            <a:avLst/>
            <a:gdLst/>
            <a:ahLst/>
            <a:cxnLst/>
            <a:rect l="l" t="t" r="r" b="b"/>
            <a:pathLst>
              <a:path w="321469" h="257175">
                <a:moveTo>
                  <a:pt x="208904" y="105733"/>
                </a:moveTo>
                <a:cubicBezTo>
                  <a:pt x="215032" y="104076"/>
                  <a:pt x="221462" y="106989"/>
                  <a:pt x="224224" y="112665"/>
                </a:cubicBezTo>
                <a:lnTo>
                  <a:pt x="233567" y="131551"/>
                </a:lnTo>
                <a:cubicBezTo>
                  <a:pt x="238741" y="132254"/>
                  <a:pt x="243814" y="133661"/>
                  <a:pt x="248586" y="135620"/>
                </a:cubicBezTo>
                <a:lnTo>
                  <a:pt x="266166" y="123916"/>
                </a:lnTo>
                <a:cubicBezTo>
                  <a:pt x="271440" y="120400"/>
                  <a:pt x="278422" y="121103"/>
                  <a:pt x="282892" y="125574"/>
                </a:cubicBezTo>
                <a:lnTo>
                  <a:pt x="292537" y="135218"/>
                </a:lnTo>
                <a:cubicBezTo>
                  <a:pt x="297007" y="139688"/>
                  <a:pt x="297710" y="146720"/>
                  <a:pt x="294194" y="151944"/>
                </a:cubicBezTo>
                <a:lnTo>
                  <a:pt x="282491" y="169474"/>
                </a:lnTo>
                <a:cubicBezTo>
                  <a:pt x="283445" y="171835"/>
                  <a:pt x="284299" y="174296"/>
                  <a:pt x="285002" y="176858"/>
                </a:cubicBezTo>
                <a:cubicBezTo>
                  <a:pt x="285705" y="179420"/>
                  <a:pt x="286157" y="181931"/>
                  <a:pt x="286509" y="184493"/>
                </a:cubicBezTo>
                <a:lnTo>
                  <a:pt x="305446" y="193836"/>
                </a:lnTo>
                <a:cubicBezTo>
                  <a:pt x="311121" y="196648"/>
                  <a:pt x="314035" y="203078"/>
                  <a:pt x="312377" y="209156"/>
                </a:cubicBezTo>
                <a:lnTo>
                  <a:pt x="308861" y="222316"/>
                </a:lnTo>
                <a:cubicBezTo>
                  <a:pt x="307204" y="228394"/>
                  <a:pt x="301528" y="232512"/>
                  <a:pt x="295199" y="232110"/>
                </a:cubicBezTo>
                <a:lnTo>
                  <a:pt x="274102" y="230754"/>
                </a:lnTo>
                <a:cubicBezTo>
                  <a:pt x="270938" y="234823"/>
                  <a:pt x="267271" y="238590"/>
                  <a:pt x="263102" y="241805"/>
                </a:cubicBezTo>
                <a:lnTo>
                  <a:pt x="264458" y="262851"/>
                </a:lnTo>
                <a:cubicBezTo>
                  <a:pt x="264860" y="269180"/>
                  <a:pt x="260741" y="274906"/>
                  <a:pt x="254664" y="276513"/>
                </a:cubicBezTo>
                <a:lnTo>
                  <a:pt x="241503" y="280029"/>
                </a:lnTo>
                <a:cubicBezTo>
                  <a:pt x="235375" y="281687"/>
                  <a:pt x="228996" y="278774"/>
                  <a:pt x="226183" y="273098"/>
                </a:cubicBezTo>
                <a:lnTo>
                  <a:pt x="216841" y="254211"/>
                </a:lnTo>
                <a:cubicBezTo>
                  <a:pt x="211667" y="253508"/>
                  <a:pt x="206594" y="252102"/>
                  <a:pt x="201822" y="250143"/>
                </a:cubicBezTo>
                <a:lnTo>
                  <a:pt x="184242" y="261846"/>
                </a:lnTo>
                <a:cubicBezTo>
                  <a:pt x="178968" y="265362"/>
                  <a:pt x="171986" y="264659"/>
                  <a:pt x="167515" y="260189"/>
                </a:cubicBezTo>
                <a:lnTo>
                  <a:pt x="157871" y="250545"/>
                </a:lnTo>
                <a:cubicBezTo>
                  <a:pt x="153401" y="246074"/>
                  <a:pt x="152698" y="239092"/>
                  <a:pt x="156214" y="233818"/>
                </a:cubicBezTo>
                <a:lnTo>
                  <a:pt x="167917" y="216238"/>
                </a:lnTo>
                <a:cubicBezTo>
                  <a:pt x="166963" y="213877"/>
                  <a:pt x="166109" y="211416"/>
                  <a:pt x="165406" y="208854"/>
                </a:cubicBezTo>
                <a:cubicBezTo>
                  <a:pt x="164703" y="206293"/>
                  <a:pt x="164250" y="203731"/>
                  <a:pt x="163899" y="201219"/>
                </a:cubicBezTo>
                <a:lnTo>
                  <a:pt x="144962" y="191877"/>
                </a:lnTo>
                <a:cubicBezTo>
                  <a:pt x="139286" y="189064"/>
                  <a:pt x="136423" y="182634"/>
                  <a:pt x="138031" y="176557"/>
                </a:cubicBezTo>
                <a:lnTo>
                  <a:pt x="141547" y="163397"/>
                </a:lnTo>
                <a:cubicBezTo>
                  <a:pt x="143204" y="157319"/>
                  <a:pt x="148880" y="153200"/>
                  <a:pt x="155209" y="153602"/>
                </a:cubicBezTo>
                <a:lnTo>
                  <a:pt x="176255" y="154958"/>
                </a:lnTo>
                <a:cubicBezTo>
                  <a:pt x="179420" y="150889"/>
                  <a:pt x="183086" y="147122"/>
                  <a:pt x="187256" y="143907"/>
                </a:cubicBezTo>
                <a:lnTo>
                  <a:pt x="185899" y="122912"/>
                </a:lnTo>
                <a:cubicBezTo>
                  <a:pt x="185498" y="116583"/>
                  <a:pt x="189616" y="110856"/>
                  <a:pt x="195694" y="109249"/>
                </a:cubicBezTo>
                <a:lnTo>
                  <a:pt x="208854" y="105733"/>
                </a:lnTo>
                <a:close/>
                <a:moveTo>
                  <a:pt x="225229" y="170780"/>
                </a:moveTo>
                <a:cubicBezTo>
                  <a:pt x="213031" y="170794"/>
                  <a:pt x="203139" y="180709"/>
                  <a:pt x="203153" y="192906"/>
                </a:cubicBezTo>
                <a:cubicBezTo>
                  <a:pt x="203167" y="205104"/>
                  <a:pt x="213081" y="214996"/>
                  <a:pt x="225279" y="214982"/>
                </a:cubicBezTo>
                <a:cubicBezTo>
                  <a:pt x="237477" y="214968"/>
                  <a:pt x="247369" y="205054"/>
                  <a:pt x="247355" y="192856"/>
                </a:cubicBezTo>
                <a:cubicBezTo>
                  <a:pt x="247341" y="180658"/>
                  <a:pt x="237427" y="170766"/>
                  <a:pt x="225229" y="170780"/>
                </a:cubicBezTo>
                <a:close/>
                <a:moveTo>
                  <a:pt x="112966" y="-22854"/>
                </a:moveTo>
                <a:lnTo>
                  <a:pt x="126126" y="-19338"/>
                </a:lnTo>
                <a:cubicBezTo>
                  <a:pt x="132204" y="-17681"/>
                  <a:pt x="136323" y="-11955"/>
                  <a:pt x="135921" y="-5676"/>
                </a:cubicBezTo>
                <a:lnTo>
                  <a:pt x="134565" y="15320"/>
                </a:lnTo>
                <a:cubicBezTo>
                  <a:pt x="138734" y="18535"/>
                  <a:pt x="142401" y="22252"/>
                  <a:pt x="145565" y="26370"/>
                </a:cubicBezTo>
                <a:lnTo>
                  <a:pt x="166661" y="25014"/>
                </a:lnTo>
                <a:cubicBezTo>
                  <a:pt x="172940" y="24612"/>
                  <a:pt x="178666" y="28731"/>
                  <a:pt x="180324" y="34809"/>
                </a:cubicBezTo>
                <a:lnTo>
                  <a:pt x="183840" y="47969"/>
                </a:lnTo>
                <a:cubicBezTo>
                  <a:pt x="185447" y="54047"/>
                  <a:pt x="182584" y="60476"/>
                  <a:pt x="176908" y="63289"/>
                </a:cubicBezTo>
                <a:lnTo>
                  <a:pt x="157972" y="72632"/>
                </a:lnTo>
                <a:cubicBezTo>
                  <a:pt x="157620" y="75194"/>
                  <a:pt x="157118" y="77755"/>
                  <a:pt x="156465" y="80267"/>
                </a:cubicBezTo>
                <a:cubicBezTo>
                  <a:pt x="155812" y="82778"/>
                  <a:pt x="154908" y="85290"/>
                  <a:pt x="153953" y="87650"/>
                </a:cubicBezTo>
                <a:lnTo>
                  <a:pt x="165657" y="105231"/>
                </a:lnTo>
                <a:cubicBezTo>
                  <a:pt x="169173" y="110505"/>
                  <a:pt x="168470" y="117487"/>
                  <a:pt x="163999" y="121957"/>
                </a:cubicBezTo>
                <a:lnTo>
                  <a:pt x="154355" y="131601"/>
                </a:lnTo>
                <a:cubicBezTo>
                  <a:pt x="149885" y="136072"/>
                  <a:pt x="142903" y="136775"/>
                  <a:pt x="137629" y="133259"/>
                </a:cubicBezTo>
                <a:lnTo>
                  <a:pt x="120048" y="121555"/>
                </a:lnTo>
                <a:cubicBezTo>
                  <a:pt x="115277" y="123514"/>
                  <a:pt x="110204" y="124921"/>
                  <a:pt x="105030" y="125624"/>
                </a:cubicBezTo>
                <a:lnTo>
                  <a:pt x="95687" y="144510"/>
                </a:lnTo>
                <a:cubicBezTo>
                  <a:pt x="92874" y="150186"/>
                  <a:pt x="86445" y="153049"/>
                  <a:pt x="80367" y="151442"/>
                </a:cubicBezTo>
                <a:lnTo>
                  <a:pt x="67207" y="147926"/>
                </a:lnTo>
                <a:cubicBezTo>
                  <a:pt x="61079" y="146268"/>
                  <a:pt x="57010" y="140542"/>
                  <a:pt x="57412" y="134263"/>
                </a:cubicBezTo>
                <a:lnTo>
                  <a:pt x="58769" y="113217"/>
                </a:lnTo>
                <a:cubicBezTo>
                  <a:pt x="54599" y="110003"/>
                  <a:pt x="50933" y="106286"/>
                  <a:pt x="47768" y="102167"/>
                </a:cubicBezTo>
                <a:lnTo>
                  <a:pt x="26672" y="103523"/>
                </a:lnTo>
                <a:cubicBezTo>
                  <a:pt x="20393" y="103925"/>
                  <a:pt x="14667" y="99806"/>
                  <a:pt x="13009" y="93728"/>
                </a:cubicBezTo>
                <a:lnTo>
                  <a:pt x="9493" y="80568"/>
                </a:lnTo>
                <a:cubicBezTo>
                  <a:pt x="7886" y="74490"/>
                  <a:pt x="10749" y="68061"/>
                  <a:pt x="16425" y="65248"/>
                </a:cubicBezTo>
                <a:lnTo>
                  <a:pt x="35362" y="55905"/>
                </a:lnTo>
                <a:cubicBezTo>
                  <a:pt x="35713" y="53344"/>
                  <a:pt x="36215" y="50832"/>
                  <a:pt x="36868" y="48271"/>
                </a:cubicBezTo>
                <a:cubicBezTo>
                  <a:pt x="37572" y="45709"/>
                  <a:pt x="38375" y="43248"/>
                  <a:pt x="39380" y="40887"/>
                </a:cubicBezTo>
                <a:lnTo>
                  <a:pt x="27676" y="23357"/>
                </a:lnTo>
                <a:cubicBezTo>
                  <a:pt x="24160" y="18083"/>
                  <a:pt x="24864" y="11101"/>
                  <a:pt x="29334" y="6630"/>
                </a:cubicBezTo>
                <a:lnTo>
                  <a:pt x="38978" y="-3014"/>
                </a:lnTo>
                <a:cubicBezTo>
                  <a:pt x="43449" y="-7484"/>
                  <a:pt x="50430" y="-8187"/>
                  <a:pt x="55705" y="-4671"/>
                </a:cubicBezTo>
                <a:lnTo>
                  <a:pt x="73285" y="7032"/>
                </a:lnTo>
                <a:cubicBezTo>
                  <a:pt x="78057" y="5073"/>
                  <a:pt x="83130" y="3667"/>
                  <a:pt x="88303" y="2964"/>
                </a:cubicBezTo>
                <a:lnTo>
                  <a:pt x="97646" y="-15923"/>
                </a:lnTo>
                <a:cubicBezTo>
                  <a:pt x="100459" y="-21599"/>
                  <a:pt x="106838" y="-24462"/>
                  <a:pt x="112966" y="-22854"/>
                </a:cubicBezTo>
                <a:close/>
                <a:moveTo>
                  <a:pt x="96642" y="42193"/>
                </a:moveTo>
                <a:cubicBezTo>
                  <a:pt x="84444" y="42193"/>
                  <a:pt x="74541" y="52096"/>
                  <a:pt x="74541" y="64294"/>
                </a:cubicBezTo>
                <a:cubicBezTo>
                  <a:pt x="74541" y="76492"/>
                  <a:pt x="84444" y="86395"/>
                  <a:pt x="96642" y="86395"/>
                </a:cubicBezTo>
                <a:cubicBezTo>
                  <a:pt x="108839" y="86395"/>
                  <a:pt x="118743" y="76492"/>
                  <a:pt x="118743" y="64294"/>
                </a:cubicBezTo>
                <a:cubicBezTo>
                  <a:pt x="118743" y="52096"/>
                  <a:pt x="108839" y="42193"/>
                  <a:pt x="96642" y="42193"/>
                </a:cubicBezTo>
                <a:close/>
              </a:path>
            </a:pathLst>
          </a:custGeom>
          <a:solidFill>
            <a:srgbClr val="009689"/>
          </a:solidFill>
          <a:ln/>
        </p:spPr>
        <p:txBody>
          <a:bodyPr/>
          <a:lstStyle/>
          <a:p>
            <a:endParaRPr lang="en-US"/>
          </a:p>
        </p:txBody>
      </p:sp>
      <p:sp>
        <p:nvSpPr>
          <p:cNvPr id="20" name="Text 18"/>
          <p:cNvSpPr/>
          <p:nvPr/>
        </p:nvSpPr>
        <p:spPr>
          <a:xfrm>
            <a:off x="3852267" y="3273847"/>
            <a:ext cx="630436" cy="228600"/>
          </a:xfrm>
          <a:prstGeom prst="rect">
            <a:avLst/>
          </a:prstGeom>
          <a:noFill/>
          <a:ln/>
        </p:spPr>
        <p:txBody>
          <a:bodyPr wrap="square" lIns="0" tIns="0" rIns="0" bIns="0" rtlCol="0" anchor="ctr"/>
          <a:lstStyle/>
          <a:p>
            <a:pPr>
              <a:lnSpc>
                <a:spcPct val="120000"/>
              </a:lnSpc>
            </a:pPr>
            <a:r>
              <a:rPr lang="en-US" sz="1266" b="1" dirty="0">
                <a:solidFill>
                  <a:srgbClr val="121358"/>
                </a:solidFill>
                <a:latin typeface="Quattrocento Sans" pitchFamily="34" charset="0"/>
                <a:ea typeface="Quattrocento Sans" pitchFamily="34" charset="-122"/>
                <a:cs typeface="Quattrocento Sans" pitchFamily="34" charset="-120"/>
              </a:rPr>
              <a:t>Manage</a:t>
            </a:r>
            <a:endParaRPr lang="en-US" sz="1200" dirty="0"/>
          </a:p>
        </p:txBody>
      </p:sp>
      <p:sp>
        <p:nvSpPr>
          <p:cNvPr id="21" name="Text 19"/>
          <p:cNvSpPr/>
          <p:nvPr/>
        </p:nvSpPr>
        <p:spPr>
          <a:xfrm>
            <a:off x="3514725" y="3595316"/>
            <a:ext cx="2207419" cy="385763"/>
          </a:xfrm>
          <a:prstGeom prst="rect">
            <a:avLst/>
          </a:prstGeom>
          <a:noFill/>
          <a:ln/>
        </p:spPr>
        <p:txBody>
          <a:bodyPr wrap="square" lIns="0" tIns="0" rIns="0" bIns="0" rtlCol="0" anchor="ctr"/>
          <a:lstStyle/>
          <a:p>
            <a:pPr>
              <a:lnSpc>
                <a:spcPct val="130000"/>
              </a:lnSpc>
            </a:pPr>
            <a:r>
              <a:rPr lang="en-US" sz="1013" dirty="0">
                <a:solidFill>
                  <a:srgbClr val="4A5565"/>
                </a:solidFill>
                <a:latin typeface="Quattrocento Sans" pitchFamily="34" charset="0"/>
                <a:ea typeface="Quattrocento Sans" pitchFamily="34" charset="-122"/>
                <a:cs typeface="Quattrocento Sans" pitchFamily="34" charset="-120"/>
              </a:rPr>
              <a:t>Comprehensive data management system</a:t>
            </a:r>
            <a:endParaRPr lang="en-US" sz="1200" dirty="0"/>
          </a:p>
        </p:txBody>
      </p:sp>
      <p:sp>
        <p:nvSpPr>
          <p:cNvPr id="22" name="Shape 20"/>
          <p:cNvSpPr/>
          <p:nvPr/>
        </p:nvSpPr>
        <p:spPr>
          <a:xfrm>
            <a:off x="6057900" y="3080966"/>
            <a:ext cx="2543175" cy="1092994"/>
          </a:xfrm>
          <a:custGeom>
            <a:avLst/>
            <a:gdLst/>
            <a:ahLst/>
            <a:cxnLst/>
            <a:rect l="l" t="t" r="r" b="b"/>
            <a:pathLst>
              <a:path w="3390900" h="1457325">
                <a:moveTo>
                  <a:pt x="38100" y="0"/>
                </a:moveTo>
                <a:lnTo>
                  <a:pt x="3305175" y="0"/>
                </a:lnTo>
                <a:cubicBezTo>
                  <a:pt x="3352488" y="0"/>
                  <a:pt x="3390900" y="38412"/>
                  <a:pt x="3390900" y="85725"/>
                </a:cubicBezTo>
                <a:lnTo>
                  <a:pt x="3390900" y="1371600"/>
                </a:lnTo>
                <a:cubicBezTo>
                  <a:pt x="3390900" y="1418913"/>
                  <a:pt x="3352488" y="1457325"/>
                  <a:pt x="3305175" y="1457325"/>
                </a:cubicBezTo>
                <a:lnTo>
                  <a:pt x="38100" y="1457325"/>
                </a:lnTo>
                <a:cubicBezTo>
                  <a:pt x="17072" y="1457325"/>
                  <a:pt x="0" y="1440253"/>
                  <a:pt x="0" y="1419225"/>
                </a:cubicBezTo>
                <a:lnTo>
                  <a:pt x="0" y="38100"/>
                </a:lnTo>
                <a:cubicBezTo>
                  <a:pt x="0" y="17072"/>
                  <a:pt x="17072" y="0"/>
                  <a:pt x="38100" y="0"/>
                </a:cubicBezTo>
                <a:close/>
              </a:path>
            </a:pathLst>
          </a:custGeom>
          <a:gradFill flip="none" rotWithShape="1">
            <a:gsLst>
              <a:gs pos="0">
                <a:srgbClr val="EFF6FF"/>
              </a:gs>
              <a:gs pos="100000">
                <a:srgbClr val="F0FDFA"/>
              </a:gs>
            </a:gsLst>
            <a:lin ang="2700000" scaled="1"/>
          </a:gradFill>
          <a:ln/>
        </p:spPr>
        <p:txBody>
          <a:bodyPr/>
          <a:lstStyle/>
          <a:p>
            <a:endParaRPr lang="en-US"/>
          </a:p>
        </p:txBody>
      </p:sp>
      <p:sp>
        <p:nvSpPr>
          <p:cNvPr id="23" name="Shape 21"/>
          <p:cNvSpPr/>
          <p:nvPr/>
        </p:nvSpPr>
        <p:spPr>
          <a:xfrm>
            <a:off x="6057900" y="3080966"/>
            <a:ext cx="28575" cy="1092994"/>
          </a:xfrm>
          <a:custGeom>
            <a:avLst/>
            <a:gdLst/>
            <a:ahLst/>
            <a:cxnLst/>
            <a:rect l="l" t="t" r="r" b="b"/>
            <a:pathLst>
              <a:path w="38100" h="1457325">
                <a:moveTo>
                  <a:pt x="38100" y="0"/>
                </a:moveTo>
                <a:lnTo>
                  <a:pt x="38100" y="0"/>
                </a:lnTo>
                <a:lnTo>
                  <a:pt x="38100" y="1457325"/>
                </a:lnTo>
                <a:lnTo>
                  <a:pt x="38100" y="1457325"/>
                </a:lnTo>
                <a:cubicBezTo>
                  <a:pt x="17072" y="1457325"/>
                  <a:pt x="0" y="1440253"/>
                  <a:pt x="0" y="1419225"/>
                </a:cubicBezTo>
                <a:lnTo>
                  <a:pt x="0" y="38100"/>
                </a:lnTo>
                <a:cubicBezTo>
                  <a:pt x="0" y="17072"/>
                  <a:pt x="17072" y="0"/>
                  <a:pt x="38100" y="0"/>
                </a:cubicBezTo>
                <a:close/>
              </a:path>
            </a:pathLst>
          </a:custGeom>
          <a:solidFill>
            <a:srgbClr val="00BBA7"/>
          </a:solidFill>
          <a:ln/>
        </p:spPr>
        <p:txBody>
          <a:bodyPr/>
          <a:lstStyle/>
          <a:p>
            <a:endParaRPr lang="en-US"/>
          </a:p>
        </p:txBody>
      </p:sp>
      <p:sp>
        <p:nvSpPr>
          <p:cNvPr id="24" name="Shape 22"/>
          <p:cNvSpPr/>
          <p:nvPr/>
        </p:nvSpPr>
        <p:spPr>
          <a:xfrm>
            <a:off x="6290073" y="3289921"/>
            <a:ext cx="192881" cy="192881"/>
          </a:xfrm>
          <a:custGeom>
            <a:avLst/>
            <a:gdLst/>
            <a:ahLst/>
            <a:cxnLst/>
            <a:rect l="l" t="t" r="r" b="b"/>
            <a:pathLst>
              <a:path w="257175" h="257175">
                <a:moveTo>
                  <a:pt x="32147" y="32147"/>
                </a:moveTo>
                <a:cubicBezTo>
                  <a:pt x="32147" y="23256"/>
                  <a:pt x="24964" y="16073"/>
                  <a:pt x="16073" y="16073"/>
                </a:cubicBezTo>
                <a:cubicBezTo>
                  <a:pt x="7183" y="16073"/>
                  <a:pt x="0" y="23256"/>
                  <a:pt x="0" y="32147"/>
                </a:cubicBezTo>
                <a:lnTo>
                  <a:pt x="0" y="200918"/>
                </a:lnTo>
                <a:cubicBezTo>
                  <a:pt x="0" y="223119"/>
                  <a:pt x="17982" y="241102"/>
                  <a:pt x="40184" y="241102"/>
                </a:cubicBezTo>
                <a:lnTo>
                  <a:pt x="241102" y="241102"/>
                </a:lnTo>
                <a:cubicBezTo>
                  <a:pt x="249992" y="241102"/>
                  <a:pt x="257175" y="233919"/>
                  <a:pt x="257175" y="225028"/>
                </a:cubicBezTo>
                <a:cubicBezTo>
                  <a:pt x="257175" y="216138"/>
                  <a:pt x="249992" y="208955"/>
                  <a:pt x="241102" y="208955"/>
                </a:cubicBezTo>
                <a:lnTo>
                  <a:pt x="40184" y="208955"/>
                </a:lnTo>
                <a:cubicBezTo>
                  <a:pt x="35763" y="208955"/>
                  <a:pt x="32147" y="205338"/>
                  <a:pt x="32147" y="200918"/>
                </a:cubicBezTo>
                <a:lnTo>
                  <a:pt x="32147" y="32147"/>
                </a:lnTo>
                <a:close/>
                <a:moveTo>
                  <a:pt x="236380" y="75646"/>
                </a:moveTo>
                <a:cubicBezTo>
                  <a:pt x="242659" y="69367"/>
                  <a:pt x="242659" y="59170"/>
                  <a:pt x="236380" y="52892"/>
                </a:cubicBezTo>
                <a:cubicBezTo>
                  <a:pt x="230101" y="46613"/>
                  <a:pt x="219905" y="46613"/>
                  <a:pt x="213626" y="52892"/>
                </a:cubicBezTo>
                <a:lnTo>
                  <a:pt x="160734" y="105834"/>
                </a:lnTo>
                <a:lnTo>
                  <a:pt x="131903" y="77052"/>
                </a:lnTo>
                <a:cubicBezTo>
                  <a:pt x="125624" y="70773"/>
                  <a:pt x="115427" y="70773"/>
                  <a:pt x="109149" y="77052"/>
                </a:cubicBezTo>
                <a:lnTo>
                  <a:pt x="60928" y="125272"/>
                </a:lnTo>
                <a:cubicBezTo>
                  <a:pt x="54650" y="131551"/>
                  <a:pt x="54650" y="141748"/>
                  <a:pt x="60928" y="148026"/>
                </a:cubicBezTo>
                <a:cubicBezTo>
                  <a:pt x="67207" y="154305"/>
                  <a:pt x="77404" y="154305"/>
                  <a:pt x="83682" y="148026"/>
                </a:cubicBezTo>
                <a:lnTo>
                  <a:pt x="120551" y="111158"/>
                </a:lnTo>
                <a:lnTo>
                  <a:pt x="149383" y="139990"/>
                </a:lnTo>
                <a:cubicBezTo>
                  <a:pt x="155661" y="146268"/>
                  <a:pt x="165858" y="146268"/>
                  <a:pt x="172136" y="139990"/>
                </a:cubicBezTo>
                <a:lnTo>
                  <a:pt x="236430" y="75696"/>
                </a:lnTo>
                <a:close/>
              </a:path>
            </a:pathLst>
          </a:custGeom>
          <a:solidFill>
            <a:srgbClr val="009689"/>
          </a:solidFill>
          <a:ln/>
        </p:spPr>
        <p:txBody>
          <a:bodyPr/>
          <a:lstStyle/>
          <a:p>
            <a:endParaRPr lang="en-US"/>
          </a:p>
        </p:txBody>
      </p:sp>
      <p:sp>
        <p:nvSpPr>
          <p:cNvPr id="25" name="Text 23"/>
          <p:cNvSpPr/>
          <p:nvPr/>
        </p:nvSpPr>
        <p:spPr>
          <a:xfrm>
            <a:off x="6602611" y="3273847"/>
            <a:ext cx="623292" cy="228600"/>
          </a:xfrm>
          <a:prstGeom prst="rect">
            <a:avLst/>
          </a:prstGeom>
          <a:noFill/>
          <a:ln/>
        </p:spPr>
        <p:txBody>
          <a:bodyPr wrap="square" lIns="0" tIns="0" rIns="0" bIns="0" rtlCol="0" anchor="ctr"/>
          <a:lstStyle/>
          <a:p>
            <a:pPr>
              <a:lnSpc>
                <a:spcPct val="120000"/>
              </a:lnSpc>
            </a:pPr>
            <a:r>
              <a:rPr lang="en-US" sz="1266" b="1" dirty="0">
                <a:solidFill>
                  <a:srgbClr val="121358"/>
                </a:solidFill>
                <a:latin typeface="Quattrocento Sans" pitchFamily="34" charset="0"/>
                <a:ea typeface="Quattrocento Sans" pitchFamily="34" charset="-122"/>
                <a:cs typeface="Quattrocento Sans" pitchFamily="34" charset="-120"/>
              </a:rPr>
              <a:t>Analyze</a:t>
            </a:r>
            <a:endParaRPr lang="en-US" sz="1200" dirty="0"/>
          </a:p>
        </p:txBody>
      </p:sp>
      <p:sp>
        <p:nvSpPr>
          <p:cNvPr id="26" name="Text 24"/>
          <p:cNvSpPr/>
          <p:nvPr/>
        </p:nvSpPr>
        <p:spPr>
          <a:xfrm>
            <a:off x="6265069" y="3595316"/>
            <a:ext cx="2207419" cy="192881"/>
          </a:xfrm>
          <a:prstGeom prst="rect">
            <a:avLst/>
          </a:prstGeom>
          <a:noFill/>
          <a:ln/>
        </p:spPr>
        <p:txBody>
          <a:bodyPr wrap="square" lIns="0" tIns="0" rIns="0" bIns="0" rtlCol="0" anchor="ctr"/>
          <a:lstStyle/>
          <a:p>
            <a:pPr>
              <a:lnSpc>
                <a:spcPct val="130000"/>
              </a:lnSpc>
            </a:pPr>
            <a:r>
              <a:rPr lang="en-US" sz="1013" dirty="0">
                <a:solidFill>
                  <a:srgbClr val="4A5565"/>
                </a:solidFill>
                <a:latin typeface="Quattrocento Sans" pitchFamily="34" charset="0"/>
                <a:ea typeface="Quattrocento Sans" pitchFamily="34" charset="-122"/>
                <a:cs typeface="Quattrocento Sans" pitchFamily="34" charset="-120"/>
              </a:rPr>
              <a:t>Advanced analytical capabilities</a:t>
            </a:r>
            <a:endParaRPr lang="en-US" sz="1200" dirty="0"/>
          </a:p>
        </p:txBody>
      </p:sp>
      <p:pic>
        <p:nvPicPr>
          <p:cNvPr id="27" name="Image 0" descr="preencoded.png">
            <a:extLst>
              <a:ext uri="{FF2B5EF4-FFF2-40B4-BE49-F238E27FC236}">
                <a16:creationId xmlns:a16="http://schemas.microsoft.com/office/drawing/2014/main" id="{60E674CD-AD96-AC11-89B8-CAA80595BC91}"/>
              </a:ext>
            </a:extLst>
          </p:cNvPr>
          <p:cNvPicPr>
            <a:picLocks noChangeAspect="1"/>
          </p:cNvPicPr>
          <p:nvPr/>
        </p:nvPicPr>
        <p:blipFill>
          <a:blip r:embed="rId3"/>
          <a:stretch>
            <a:fillRect/>
          </a:stretch>
        </p:blipFill>
        <p:spPr>
          <a:xfrm>
            <a:off x="8046720" y="45720"/>
            <a:ext cx="685800" cy="676656"/>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1"/>
            <a:ext cx="9144000" cy="754219"/>
          </a:xfrm>
          <a:prstGeom prst="roundRect">
            <a:avLst>
              <a:gd name="adj" fmla="val 0"/>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270000" y="188999"/>
            <a:ext cx="2029500" cy="376125"/>
          </a:xfrm>
          <a:prstGeom prst="rect">
            <a:avLst/>
          </a:prstGeom>
          <a:noFill/>
          <a:ln/>
        </p:spPr>
        <p:txBody>
          <a:bodyPr wrap="square" lIns="0" tIns="0" rIns="0" bIns="0" rtlCol="0" anchor="ctr"/>
          <a:lstStyle/>
          <a:p>
            <a:pPr>
              <a:lnSpc>
                <a:spcPct val="90000"/>
              </a:lnSpc>
            </a:pPr>
            <a:r>
              <a:rPr lang="en-US" sz="1913" b="1" dirty="0">
                <a:solidFill>
                  <a:srgbClr val="FFFFFF"/>
                </a:solidFill>
                <a:latin typeface="Quattrocento Sans" pitchFamily="34" charset="0"/>
                <a:ea typeface="Quattrocento Sans" pitchFamily="34" charset="-122"/>
                <a:cs typeface="Quattrocento Sans" pitchFamily="34" charset="-120"/>
              </a:rPr>
              <a:t>Project Objectives</a:t>
            </a:r>
            <a:endParaRPr lang="en-US" sz="1200" dirty="0"/>
          </a:p>
        </p:txBody>
      </p:sp>
      <p:sp>
        <p:nvSpPr>
          <p:cNvPr id="5" name="Shape 3"/>
          <p:cNvSpPr/>
          <p:nvPr/>
        </p:nvSpPr>
        <p:spPr>
          <a:xfrm>
            <a:off x="240000" y="996000"/>
            <a:ext cx="2646000" cy="270000"/>
          </a:xfrm>
          <a:prstGeom prst="roundRect">
            <a:avLst>
              <a:gd name="adj" fmla="val 20000"/>
            </a:avLst>
          </a:prstGeom>
          <a:solidFill>
            <a:srgbClr val="36ADA3"/>
          </a:solidFill>
          <a:ln/>
        </p:spPr>
        <p:txBody>
          <a:bodyPr/>
          <a:lstStyle/>
          <a:p>
            <a:endParaRPr lang="en-US"/>
          </a:p>
        </p:txBody>
      </p:sp>
      <p:sp>
        <p:nvSpPr>
          <p:cNvPr id="6" name="Text 4"/>
          <p:cNvSpPr/>
          <p:nvPr/>
        </p:nvSpPr>
        <p:spPr>
          <a:xfrm>
            <a:off x="348000" y="1050000"/>
            <a:ext cx="2484000" cy="162000"/>
          </a:xfrm>
          <a:prstGeom prst="rect">
            <a:avLst/>
          </a:prstGeom>
          <a:noFill/>
          <a:ln/>
        </p:spPr>
        <p:txBody>
          <a:bodyPr wrap="square" lIns="0" tIns="0" rIns="0" bIns="0" rtlCol="0" anchor="ctr"/>
          <a:lstStyle/>
          <a:p>
            <a:pPr>
              <a:lnSpc>
                <a:spcPct val="130000"/>
              </a:lnSpc>
            </a:pPr>
            <a:r>
              <a:rPr lang="en-US" sz="851" b="1" kern="0" spc="43" dirty="0">
                <a:solidFill>
                  <a:schemeClr val="bg1"/>
                </a:solidFill>
                <a:latin typeface="Quattrocento Sans" pitchFamily="34" charset="0"/>
                <a:ea typeface="Quattrocento Sans" pitchFamily="34" charset="-122"/>
                <a:cs typeface="Quattrocento Sans" pitchFamily="34" charset="-120"/>
              </a:rPr>
              <a:t>CENTRALIZING AND OPTIMIZING LABOR DATA</a:t>
            </a:r>
            <a:endParaRPr lang="en-US" sz="1200" dirty="0">
              <a:solidFill>
                <a:schemeClr val="bg1"/>
              </a:solidFill>
            </a:endParaRPr>
          </a:p>
        </p:txBody>
      </p:sp>
      <p:sp>
        <p:nvSpPr>
          <p:cNvPr id="7" name="Shape 5"/>
          <p:cNvSpPr/>
          <p:nvPr/>
        </p:nvSpPr>
        <p:spPr>
          <a:xfrm>
            <a:off x="240000" y="1357781"/>
            <a:ext cx="8664000" cy="3606000"/>
          </a:xfrm>
          <a:prstGeom prst="roundRect">
            <a:avLst>
              <a:gd name="adj" fmla="val 2246"/>
            </a:avLst>
          </a:prstGeom>
          <a:solidFill>
            <a:srgbClr val="FFFFFF"/>
          </a:solidFill>
          <a:ln/>
          <a:effectLst>
            <a:outerShdw blurRad="48000" dist="32000" dir="5400000" algn="bl" rotWithShape="0">
              <a:srgbClr val="000000">
                <a:alpha val="10196"/>
              </a:srgbClr>
            </a:outerShdw>
          </a:effectLst>
        </p:spPr>
        <p:txBody>
          <a:bodyPr/>
          <a:lstStyle/>
          <a:p>
            <a:endParaRPr lang="en-US"/>
          </a:p>
        </p:txBody>
      </p:sp>
      <p:sp>
        <p:nvSpPr>
          <p:cNvPr id="8" name="Shape 6"/>
          <p:cNvSpPr/>
          <p:nvPr/>
        </p:nvSpPr>
        <p:spPr>
          <a:xfrm>
            <a:off x="456000" y="1621649"/>
            <a:ext cx="288000" cy="288000"/>
          </a:xfrm>
          <a:prstGeom prst="roundRect">
            <a:avLst>
              <a:gd name="adj" fmla="val 50000"/>
            </a:avLst>
          </a:prstGeom>
          <a:solidFill>
            <a:srgbClr val="36ADA3"/>
          </a:solidFill>
          <a:ln/>
        </p:spPr>
        <p:txBody>
          <a:bodyPr/>
          <a:lstStyle/>
          <a:p>
            <a:endParaRPr lang="en-US"/>
          </a:p>
        </p:txBody>
      </p:sp>
      <p:sp>
        <p:nvSpPr>
          <p:cNvPr id="9" name="Text 7"/>
          <p:cNvSpPr/>
          <p:nvPr/>
        </p:nvSpPr>
        <p:spPr>
          <a:xfrm>
            <a:off x="429000" y="1621649"/>
            <a:ext cx="342000" cy="288000"/>
          </a:xfrm>
          <a:prstGeom prst="rect">
            <a:avLst/>
          </a:prstGeom>
          <a:noFill/>
          <a:ln/>
        </p:spPr>
        <p:txBody>
          <a:bodyPr wrap="square" lIns="0" tIns="0" rIns="0" bIns="0" rtlCol="0" anchor="ctr"/>
          <a:lstStyle/>
          <a:p>
            <a:pPr algn="ctr">
              <a:lnSpc>
                <a:spcPct val="130000"/>
              </a:lnSpc>
            </a:pPr>
            <a:r>
              <a:rPr lang="en-US" sz="851" b="1" dirty="0">
                <a:solidFill>
                  <a:srgbClr val="FFFFFF"/>
                </a:solidFill>
                <a:latin typeface="Quattrocento Sans" pitchFamily="34" charset="0"/>
                <a:ea typeface="Quattrocento Sans" pitchFamily="34" charset="-122"/>
                <a:cs typeface="Quattrocento Sans" pitchFamily="34" charset="-120"/>
              </a:rPr>
              <a:t>02</a:t>
            </a:r>
            <a:endParaRPr lang="en-US" sz="1200" dirty="0"/>
          </a:p>
        </p:txBody>
      </p:sp>
      <p:sp>
        <p:nvSpPr>
          <p:cNvPr id="10" name="Text 8"/>
          <p:cNvSpPr/>
          <p:nvPr/>
        </p:nvSpPr>
        <p:spPr>
          <a:xfrm>
            <a:off x="906000" y="1621649"/>
            <a:ext cx="7863000" cy="216000"/>
          </a:xfrm>
          <a:prstGeom prst="rect">
            <a:avLst/>
          </a:prstGeom>
          <a:noFill/>
          <a:ln/>
        </p:spPr>
        <p:txBody>
          <a:bodyPr wrap="square" lIns="0" tIns="0" rIns="0" bIns="0" rtlCol="0" anchor="ctr"/>
          <a:lstStyle/>
          <a:p>
            <a:pPr>
              <a:lnSpc>
                <a:spcPct val="110000"/>
              </a:lnSpc>
            </a:pPr>
            <a:r>
              <a:rPr lang="en-US" sz="1276" b="1" dirty="0">
                <a:solidFill>
                  <a:srgbClr val="121358"/>
                </a:solidFill>
                <a:latin typeface="Quattrocento Sans" pitchFamily="34" charset="0"/>
                <a:ea typeface="Quattrocento Sans" pitchFamily="34" charset="-122"/>
                <a:cs typeface="Quattrocento Sans" pitchFamily="34" charset="-120"/>
              </a:rPr>
              <a:t>Primary Goal</a:t>
            </a:r>
            <a:endParaRPr lang="en-US" sz="1200" dirty="0"/>
          </a:p>
        </p:txBody>
      </p:sp>
      <p:sp>
        <p:nvSpPr>
          <p:cNvPr id="11" name="Text 9"/>
          <p:cNvSpPr/>
          <p:nvPr/>
        </p:nvSpPr>
        <p:spPr>
          <a:xfrm>
            <a:off x="906000" y="1945555"/>
            <a:ext cx="7842750" cy="396000"/>
          </a:xfrm>
          <a:prstGeom prst="rect">
            <a:avLst/>
          </a:prstGeom>
          <a:noFill/>
          <a:ln/>
        </p:spPr>
        <p:txBody>
          <a:bodyPr wrap="square" lIns="0" tIns="0" rIns="0" bIns="0" rtlCol="0" anchor="ctr"/>
          <a:lstStyle/>
          <a:p>
            <a:pPr>
              <a:lnSpc>
                <a:spcPct val="140000"/>
              </a:lnSpc>
            </a:pPr>
            <a:r>
              <a:rPr lang="en-US" sz="957" dirty="0">
                <a:solidFill>
                  <a:srgbClr val="364153"/>
                </a:solidFill>
                <a:latin typeface="Quattrocento Sans" pitchFamily="34" charset="0"/>
                <a:ea typeface="Quattrocento Sans" pitchFamily="34" charset="-122"/>
                <a:cs typeface="Quattrocento Sans" pitchFamily="34" charset="-120"/>
              </a:rPr>
              <a:t>The main goal is to centralize survey microdata into a normalized relational schema, enabling efficient CRUD operations and analytical queries for comprehensive labor market insights.</a:t>
            </a:r>
            <a:endParaRPr lang="en-US" sz="1200" dirty="0"/>
          </a:p>
        </p:txBody>
      </p:sp>
      <p:sp>
        <p:nvSpPr>
          <p:cNvPr id="12" name="Shape 10"/>
          <p:cNvSpPr/>
          <p:nvPr/>
        </p:nvSpPr>
        <p:spPr>
          <a:xfrm>
            <a:off x="456000" y="2772430"/>
            <a:ext cx="4032000" cy="930000"/>
          </a:xfrm>
          <a:prstGeom prst="roundRect">
            <a:avLst>
              <a:gd name="adj" fmla="val 5806"/>
            </a:avLst>
          </a:prstGeom>
          <a:gradFill flip="none" rotWithShape="1">
            <a:gsLst>
              <a:gs pos="0">
                <a:srgbClr val="EFF6FF"/>
              </a:gs>
              <a:gs pos="100000">
                <a:srgbClr val="F0FDFA"/>
              </a:gs>
            </a:gsLst>
            <a:lin ang="2700000" scaled="1"/>
          </a:gradFill>
          <a:ln/>
        </p:spPr>
        <p:txBody>
          <a:bodyPr/>
          <a:lstStyle/>
          <a:p>
            <a:endParaRPr lang="en-US"/>
          </a:p>
        </p:txBody>
      </p:sp>
      <p:sp>
        <p:nvSpPr>
          <p:cNvPr id="13" name="Shape 11"/>
          <p:cNvSpPr/>
          <p:nvPr/>
        </p:nvSpPr>
        <p:spPr>
          <a:xfrm>
            <a:off x="618000" y="2934430"/>
            <a:ext cx="324000" cy="324000"/>
          </a:xfrm>
          <a:prstGeom prst="roundRect">
            <a:avLst>
              <a:gd name="adj" fmla="val 50000"/>
            </a:avLst>
          </a:prstGeom>
          <a:solidFill>
            <a:srgbClr val="00BBA7"/>
          </a:solidFill>
          <a:ln/>
        </p:spPr>
        <p:txBody>
          <a:bodyPr/>
          <a:lstStyle/>
          <a:p>
            <a:endParaRPr lang="en-US"/>
          </a:p>
        </p:txBody>
      </p:sp>
      <p:sp>
        <p:nvSpPr>
          <p:cNvPr id="14" name="Shape 12"/>
          <p:cNvSpPr/>
          <p:nvPr/>
        </p:nvSpPr>
        <p:spPr>
          <a:xfrm>
            <a:off x="720563" y="3030430"/>
            <a:ext cx="118125" cy="135000"/>
          </a:xfrm>
          <a:custGeom>
            <a:avLst/>
            <a:gdLst/>
            <a:ahLst/>
            <a:cxnLst/>
            <a:rect l="l" t="t" r="r" b="b"/>
            <a:pathLst>
              <a:path w="157500" h="180000">
                <a:moveTo>
                  <a:pt x="157500" y="72352"/>
                </a:moveTo>
                <a:cubicBezTo>
                  <a:pt x="152297" y="75797"/>
                  <a:pt x="146320" y="78574"/>
                  <a:pt x="140098" y="80789"/>
                </a:cubicBezTo>
                <a:cubicBezTo>
                  <a:pt x="123574" y="86695"/>
                  <a:pt x="101883" y="90000"/>
                  <a:pt x="78750" y="90000"/>
                </a:cubicBezTo>
                <a:cubicBezTo>
                  <a:pt x="55617" y="90000"/>
                  <a:pt x="33891" y="86660"/>
                  <a:pt x="17402" y="80789"/>
                </a:cubicBezTo>
                <a:cubicBezTo>
                  <a:pt x="11215" y="78574"/>
                  <a:pt x="5203" y="75797"/>
                  <a:pt x="0" y="72352"/>
                </a:cubicBezTo>
                <a:lnTo>
                  <a:pt x="0" y="101250"/>
                </a:lnTo>
                <a:cubicBezTo>
                  <a:pt x="0" y="116789"/>
                  <a:pt x="35262" y="129375"/>
                  <a:pt x="78750" y="129375"/>
                </a:cubicBezTo>
                <a:cubicBezTo>
                  <a:pt x="122238" y="129375"/>
                  <a:pt x="157500" y="116789"/>
                  <a:pt x="157500" y="101250"/>
                </a:cubicBezTo>
                <a:lnTo>
                  <a:pt x="157500" y="72352"/>
                </a:lnTo>
                <a:close/>
                <a:moveTo>
                  <a:pt x="157500" y="45000"/>
                </a:moveTo>
                <a:lnTo>
                  <a:pt x="157500" y="28125"/>
                </a:lnTo>
                <a:cubicBezTo>
                  <a:pt x="157500" y="12586"/>
                  <a:pt x="122238" y="0"/>
                  <a:pt x="78750" y="0"/>
                </a:cubicBezTo>
                <a:cubicBezTo>
                  <a:pt x="35262" y="0"/>
                  <a:pt x="0" y="12586"/>
                  <a:pt x="0" y="28125"/>
                </a:cubicBezTo>
                <a:lnTo>
                  <a:pt x="0" y="45000"/>
                </a:lnTo>
                <a:cubicBezTo>
                  <a:pt x="0" y="60539"/>
                  <a:pt x="35262" y="73125"/>
                  <a:pt x="78750" y="73125"/>
                </a:cubicBezTo>
                <a:cubicBezTo>
                  <a:pt x="122238" y="73125"/>
                  <a:pt x="157500" y="60539"/>
                  <a:pt x="157500" y="45000"/>
                </a:cubicBezTo>
                <a:close/>
                <a:moveTo>
                  <a:pt x="140098" y="137039"/>
                </a:moveTo>
                <a:cubicBezTo>
                  <a:pt x="123609" y="142910"/>
                  <a:pt x="101918" y="146250"/>
                  <a:pt x="78750" y="146250"/>
                </a:cubicBezTo>
                <a:cubicBezTo>
                  <a:pt x="55582" y="146250"/>
                  <a:pt x="33891" y="142910"/>
                  <a:pt x="17402" y="137039"/>
                </a:cubicBezTo>
                <a:cubicBezTo>
                  <a:pt x="11215" y="134824"/>
                  <a:pt x="5203" y="132047"/>
                  <a:pt x="0" y="128602"/>
                </a:cubicBezTo>
                <a:lnTo>
                  <a:pt x="0" y="151875"/>
                </a:lnTo>
                <a:cubicBezTo>
                  <a:pt x="0" y="167414"/>
                  <a:pt x="35262" y="180000"/>
                  <a:pt x="78750" y="180000"/>
                </a:cubicBezTo>
                <a:cubicBezTo>
                  <a:pt x="122238" y="180000"/>
                  <a:pt x="157500" y="167414"/>
                  <a:pt x="157500" y="151875"/>
                </a:cubicBezTo>
                <a:lnTo>
                  <a:pt x="157500" y="128602"/>
                </a:lnTo>
                <a:cubicBezTo>
                  <a:pt x="152297" y="132047"/>
                  <a:pt x="146320" y="134824"/>
                  <a:pt x="140098" y="137039"/>
                </a:cubicBezTo>
                <a:close/>
              </a:path>
            </a:pathLst>
          </a:custGeom>
          <a:solidFill>
            <a:srgbClr val="FFFFFF"/>
          </a:solidFill>
          <a:ln/>
        </p:spPr>
        <p:txBody>
          <a:bodyPr/>
          <a:lstStyle/>
          <a:p>
            <a:endParaRPr lang="en-US"/>
          </a:p>
        </p:txBody>
      </p:sp>
      <p:sp>
        <p:nvSpPr>
          <p:cNvPr id="15" name="Text 13"/>
          <p:cNvSpPr/>
          <p:nvPr/>
        </p:nvSpPr>
        <p:spPr>
          <a:xfrm>
            <a:off x="1050000" y="3001930"/>
            <a:ext cx="865500" cy="192000"/>
          </a:xfrm>
          <a:prstGeom prst="rect">
            <a:avLst/>
          </a:prstGeom>
          <a:noFill/>
          <a:ln/>
        </p:spPr>
        <p:txBody>
          <a:bodyPr wrap="square" lIns="0" tIns="0" rIns="0" bIns="0" rtlCol="0" anchor="ctr"/>
          <a:lstStyle/>
          <a:p>
            <a:pPr>
              <a:lnSpc>
                <a:spcPct val="120000"/>
              </a:lnSpc>
            </a:pPr>
            <a:r>
              <a:rPr lang="en-US" sz="1063" b="1" dirty="0">
                <a:solidFill>
                  <a:srgbClr val="121358"/>
                </a:solidFill>
                <a:latin typeface="Quattrocento Sans" pitchFamily="34" charset="0"/>
                <a:ea typeface="Quattrocento Sans" pitchFamily="34" charset="-122"/>
                <a:cs typeface="Quattrocento Sans" pitchFamily="34" charset="-120"/>
              </a:rPr>
              <a:t>Centralization</a:t>
            </a:r>
            <a:endParaRPr lang="en-US" sz="1200" dirty="0"/>
          </a:p>
        </p:txBody>
      </p:sp>
      <p:sp>
        <p:nvSpPr>
          <p:cNvPr id="16" name="Text 14"/>
          <p:cNvSpPr/>
          <p:nvPr/>
        </p:nvSpPr>
        <p:spPr>
          <a:xfrm>
            <a:off x="618000" y="3366430"/>
            <a:ext cx="3762000" cy="174000"/>
          </a:xfrm>
          <a:prstGeom prst="rect">
            <a:avLst/>
          </a:prstGeom>
          <a:noFill/>
          <a:ln/>
        </p:spPr>
        <p:txBody>
          <a:bodyPr wrap="square" lIns="0" tIns="0" rIns="0" bIns="0" rtlCol="0" anchor="ctr"/>
          <a:lstStyle/>
          <a:p>
            <a:pPr>
              <a:lnSpc>
                <a:spcPct val="140000"/>
              </a:lnSpc>
            </a:pPr>
            <a:r>
              <a:rPr lang="en-US" sz="851" dirty="0">
                <a:solidFill>
                  <a:srgbClr val="4A5565"/>
                </a:solidFill>
                <a:latin typeface="Quattrocento Sans" pitchFamily="34" charset="0"/>
                <a:ea typeface="Quattrocento Sans" pitchFamily="34" charset="-122"/>
                <a:cs typeface="Quattrocento Sans" pitchFamily="34" charset="-120"/>
              </a:rPr>
              <a:t>Consolidate survey microdata into unified system</a:t>
            </a:r>
            <a:endParaRPr lang="en-US" sz="1200" dirty="0"/>
          </a:p>
        </p:txBody>
      </p:sp>
      <p:sp>
        <p:nvSpPr>
          <p:cNvPr id="17" name="Shape 15"/>
          <p:cNvSpPr/>
          <p:nvPr/>
        </p:nvSpPr>
        <p:spPr>
          <a:xfrm>
            <a:off x="4651594" y="2772430"/>
            <a:ext cx="4032000" cy="930000"/>
          </a:xfrm>
          <a:prstGeom prst="roundRect">
            <a:avLst>
              <a:gd name="adj" fmla="val 5806"/>
            </a:avLst>
          </a:prstGeom>
          <a:gradFill flip="none" rotWithShape="1">
            <a:gsLst>
              <a:gs pos="0">
                <a:srgbClr val="EFF6FF"/>
              </a:gs>
              <a:gs pos="100000">
                <a:srgbClr val="F0FDFA"/>
              </a:gs>
            </a:gsLst>
            <a:lin ang="2700000" scaled="1"/>
          </a:gradFill>
          <a:ln/>
        </p:spPr>
        <p:txBody>
          <a:bodyPr/>
          <a:lstStyle/>
          <a:p>
            <a:endParaRPr lang="en-US"/>
          </a:p>
        </p:txBody>
      </p:sp>
      <p:sp>
        <p:nvSpPr>
          <p:cNvPr id="18" name="Shape 16"/>
          <p:cNvSpPr/>
          <p:nvPr/>
        </p:nvSpPr>
        <p:spPr>
          <a:xfrm>
            <a:off x="4813594" y="2934430"/>
            <a:ext cx="324000" cy="324000"/>
          </a:xfrm>
          <a:prstGeom prst="roundRect">
            <a:avLst>
              <a:gd name="adj" fmla="val 50000"/>
            </a:avLst>
          </a:prstGeom>
          <a:solidFill>
            <a:srgbClr val="00BBA7"/>
          </a:solidFill>
          <a:ln/>
        </p:spPr>
        <p:txBody>
          <a:bodyPr/>
          <a:lstStyle/>
          <a:p>
            <a:endParaRPr lang="en-US"/>
          </a:p>
        </p:txBody>
      </p:sp>
      <p:sp>
        <p:nvSpPr>
          <p:cNvPr id="19" name="Shape 17"/>
          <p:cNvSpPr/>
          <p:nvPr/>
        </p:nvSpPr>
        <p:spPr>
          <a:xfrm>
            <a:off x="4907719" y="3030430"/>
            <a:ext cx="135000" cy="135000"/>
          </a:xfrm>
          <a:custGeom>
            <a:avLst/>
            <a:gdLst/>
            <a:ahLst/>
            <a:cxnLst/>
            <a:rect l="l" t="t" r="r" b="b"/>
            <a:pathLst>
              <a:path w="180000" h="180000">
                <a:moveTo>
                  <a:pt x="0" y="28125"/>
                </a:moveTo>
                <a:cubicBezTo>
                  <a:pt x="0" y="18809"/>
                  <a:pt x="7559" y="11250"/>
                  <a:pt x="16875" y="11250"/>
                </a:cubicBezTo>
                <a:lnTo>
                  <a:pt x="50625" y="11250"/>
                </a:lnTo>
                <a:cubicBezTo>
                  <a:pt x="59941" y="11250"/>
                  <a:pt x="67500" y="18809"/>
                  <a:pt x="67500" y="28125"/>
                </a:cubicBezTo>
                <a:lnTo>
                  <a:pt x="67500" y="33750"/>
                </a:lnTo>
                <a:lnTo>
                  <a:pt x="112500" y="33750"/>
                </a:lnTo>
                <a:lnTo>
                  <a:pt x="112500" y="28125"/>
                </a:lnTo>
                <a:cubicBezTo>
                  <a:pt x="112500" y="18809"/>
                  <a:pt x="120059" y="11250"/>
                  <a:pt x="129375" y="11250"/>
                </a:cubicBezTo>
                <a:lnTo>
                  <a:pt x="163125" y="11250"/>
                </a:lnTo>
                <a:cubicBezTo>
                  <a:pt x="172441" y="11250"/>
                  <a:pt x="180000" y="18809"/>
                  <a:pt x="180000" y="28125"/>
                </a:cubicBezTo>
                <a:lnTo>
                  <a:pt x="180000" y="61875"/>
                </a:lnTo>
                <a:cubicBezTo>
                  <a:pt x="180000" y="71191"/>
                  <a:pt x="172441" y="78750"/>
                  <a:pt x="163125" y="78750"/>
                </a:cubicBezTo>
                <a:lnTo>
                  <a:pt x="129375" y="78750"/>
                </a:lnTo>
                <a:cubicBezTo>
                  <a:pt x="120059" y="78750"/>
                  <a:pt x="112500" y="71191"/>
                  <a:pt x="112500" y="61875"/>
                </a:cubicBezTo>
                <a:lnTo>
                  <a:pt x="112500" y="56250"/>
                </a:lnTo>
                <a:lnTo>
                  <a:pt x="67500" y="56250"/>
                </a:lnTo>
                <a:lnTo>
                  <a:pt x="67500" y="61875"/>
                </a:lnTo>
                <a:cubicBezTo>
                  <a:pt x="67500" y="64441"/>
                  <a:pt x="66902" y="66902"/>
                  <a:pt x="65883" y="69082"/>
                </a:cubicBezTo>
                <a:lnTo>
                  <a:pt x="90000" y="101250"/>
                </a:lnTo>
                <a:lnTo>
                  <a:pt x="118125" y="101250"/>
                </a:lnTo>
                <a:cubicBezTo>
                  <a:pt x="127441" y="101250"/>
                  <a:pt x="135000" y="108809"/>
                  <a:pt x="135000" y="118125"/>
                </a:cubicBezTo>
                <a:lnTo>
                  <a:pt x="135000" y="151875"/>
                </a:lnTo>
                <a:cubicBezTo>
                  <a:pt x="135000" y="161191"/>
                  <a:pt x="127441" y="168750"/>
                  <a:pt x="118125" y="168750"/>
                </a:cubicBezTo>
                <a:lnTo>
                  <a:pt x="84375" y="168750"/>
                </a:lnTo>
                <a:cubicBezTo>
                  <a:pt x="75059" y="168750"/>
                  <a:pt x="67500" y="161191"/>
                  <a:pt x="67500" y="151875"/>
                </a:cubicBezTo>
                <a:lnTo>
                  <a:pt x="67500" y="118125"/>
                </a:lnTo>
                <a:cubicBezTo>
                  <a:pt x="67500" y="115559"/>
                  <a:pt x="68098" y="113098"/>
                  <a:pt x="69117" y="110918"/>
                </a:cubicBezTo>
                <a:lnTo>
                  <a:pt x="45000" y="78750"/>
                </a:lnTo>
                <a:lnTo>
                  <a:pt x="16875" y="78750"/>
                </a:lnTo>
                <a:cubicBezTo>
                  <a:pt x="7559" y="78750"/>
                  <a:pt x="0" y="71191"/>
                  <a:pt x="0" y="61875"/>
                </a:cubicBezTo>
                <a:lnTo>
                  <a:pt x="0" y="28125"/>
                </a:lnTo>
                <a:close/>
              </a:path>
            </a:pathLst>
          </a:custGeom>
          <a:solidFill>
            <a:srgbClr val="FFFFFF"/>
          </a:solidFill>
          <a:ln/>
        </p:spPr>
        <p:txBody>
          <a:bodyPr/>
          <a:lstStyle/>
          <a:p>
            <a:endParaRPr lang="en-US"/>
          </a:p>
        </p:txBody>
      </p:sp>
      <p:sp>
        <p:nvSpPr>
          <p:cNvPr id="20" name="Text 18"/>
          <p:cNvSpPr/>
          <p:nvPr/>
        </p:nvSpPr>
        <p:spPr>
          <a:xfrm>
            <a:off x="5245594" y="3001930"/>
            <a:ext cx="877500" cy="192000"/>
          </a:xfrm>
          <a:prstGeom prst="rect">
            <a:avLst/>
          </a:prstGeom>
          <a:noFill/>
          <a:ln/>
        </p:spPr>
        <p:txBody>
          <a:bodyPr wrap="square" lIns="0" tIns="0" rIns="0" bIns="0" rtlCol="0" anchor="ctr"/>
          <a:lstStyle/>
          <a:p>
            <a:pPr>
              <a:lnSpc>
                <a:spcPct val="120000"/>
              </a:lnSpc>
            </a:pPr>
            <a:r>
              <a:rPr lang="en-US" sz="1063" b="1" dirty="0">
                <a:solidFill>
                  <a:srgbClr val="121358"/>
                </a:solidFill>
                <a:latin typeface="Quattrocento Sans" pitchFamily="34" charset="0"/>
                <a:ea typeface="Quattrocento Sans" pitchFamily="34" charset="-122"/>
                <a:cs typeface="Quattrocento Sans" pitchFamily="34" charset="-120"/>
              </a:rPr>
              <a:t>Normalization</a:t>
            </a:r>
            <a:endParaRPr lang="en-US" sz="1200" dirty="0"/>
          </a:p>
        </p:txBody>
      </p:sp>
      <p:sp>
        <p:nvSpPr>
          <p:cNvPr id="21" name="Text 19"/>
          <p:cNvSpPr/>
          <p:nvPr/>
        </p:nvSpPr>
        <p:spPr>
          <a:xfrm>
            <a:off x="4813594" y="3366430"/>
            <a:ext cx="3762000" cy="174000"/>
          </a:xfrm>
          <a:prstGeom prst="rect">
            <a:avLst/>
          </a:prstGeom>
          <a:noFill/>
          <a:ln/>
        </p:spPr>
        <p:txBody>
          <a:bodyPr wrap="square" lIns="0" tIns="0" rIns="0" bIns="0" rtlCol="0" anchor="ctr"/>
          <a:lstStyle/>
          <a:p>
            <a:pPr>
              <a:lnSpc>
                <a:spcPct val="140000"/>
              </a:lnSpc>
            </a:pPr>
            <a:r>
              <a:rPr lang="en-US" sz="851" dirty="0">
                <a:solidFill>
                  <a:srgbClr val="4A5565"/>
                </a:solidFill>
                <a:latin typeface="Quattrocento Sans" pitchFamily="34" charset="0"/>
                <a:ea typeface="Quattrocento Sans" pitchFamily="34" charset="-122"/>
                <a:cs typeface="Quattrocento Sans" pitchFamily="34" charset="-120"/>
              </a:rPr>
              <a:t>Implement normalized relational schema design</a:t>
            </a:r>
            <a:endParaRPr lang="en-US" sz="1200" dirty="0"/>
          </a:p>
        </p:txBody>
      </p:sp>
      <p:sp>
        <p:nvSpPr>
          <p:cNvPr id="22" name="Shape 20"/>
          <p:cNvSpPr/>
          <p:nvPr/>
        </p:nvSpPr>
        <p:spPr>
          <a:xfrm>
            <a:off x="456000" y="3865930"/>
            <a:ext cx="4032000" cy="930000"/>
          </a:xfrm>
          <a:prstGeom prst="roundRect">
            <a:avLst>
              <a:gd name="adj" fmla="val 5806"/>
            </a:avLst>
          </a:prstGeom>
          <a:gradFill flip="none" rotWithShape="1">
            <a:gsLst>
              <a:gs pos="0">
                <a:srgbClr val="EFF6FF"/>
              </a:gs>
              <a:gs pos="100000">
                <a:srgbClr val="F0FDFA"/>
              </a:gs>
            </a:gsLst>
            <a:lin ang="2700000" scaled="1"/>
          </a:gradFill>
          <a:ln/>
        </p:spPr>
        <p:txBody>
          <a:bodyPr/>
          <a:lstStyle/>
          <a:p>
            <a:endParaRPr lang="en-US"/>
          </a:p>
        </p:txBody>
      </p:sp>
      <p:sp>
        <p:nvSpPr>
          <p:cNvPr id="23" name="Shape 21"/>
          <p:cNvSpPr/>
          <p:nvPr/>
        </p:nvSpPr>
        <p:spPr>
          <a:xfrm>
            <a:off x="618000" y="4027930"/>
            <a:ext cx="324000" cy="324000"/>
          </a:xfrm>
          <a:prstGeom prst="roundRect">
            <a:avLst>
              <a:gd name="adj" fmla="val 50000"/>
            </a:avLst>
          </a:prstGeom>
          <a:solidFill>
            <a:srgbClr val="00BBA7"/>
          </a:solidFill>
          <a:ln/>
        </p:spPr>
        <p:txBody>
          <a:bodyPr/>
          <a:lstStyle/>
          <a:p>
            <a:endParaRPr lang="en-US"/>
          </a:p>
        </p:txBody>
      </p:sp>
      <p:sp>
        <p:nvSpPr>
          <p:cNvPr id="24" name="Shape 22"/>
          <p:cNvSpPr/>
          <p:nvPr/>
        </p:nvSpPr>
        <p:spPr>
          <a:xfrm>
            <a:off x="712125" y="4123930"/>
            <a:ext cx="135000" cy="135000"/>
          </a:xfrm>
          <a:custGeom>
            <a:avLst/>
            <a:gdLst/>
            <a:ahLst/>
            <a:cxnLst/>
            <a:rect l="l" t="t" r="r" b="b"/>
            <a:pathLst>
              <a:path w="180000" h="180000">
                <a:moveTo>
                  <a:pt x="168785" y="67500"/>
                </a:moveTo>
                <a:lnTo>
                  <a:pt x="171563" y="67500"/>
                </a:lnTo>
                <a:cubicBezTo>
                  <a:pt x="176238" y="67500"/>
                  <a:pt x="180000" y="63738"/>
                  <a:pt x="180000" y="59063"/>
                </a:cubicBezTo>
                <a:lnTo>
                  <a:pt x="180000" y="8438"/>
                </a:lnTo>
                <a:cubicBezTo>
                  <a:pt x="180000" y="5027"/>
                  <a:pt x="177961" y="1934"/>
                  <a:pt x="174797" y="633"/>
                </a:cubicBezTo>
                <a:cubicBezTo>
                  <a:pt x="171633" y="-668"/>
                  <a:pt x="168012" y="70"/>
                  <a:pt x="165586" y="2461"/>
                </a:cubicBezTo>
                <a:lnTo>
                  <a:pt x="147410" y="20672"/>
                </a:lnTo>
                <a:cubicBezTo>
                  <a:pt x="131836" y="7770"/>
                  <a:pt x="111797" y="0"/>
                  <a:pt x="90000" y="0"/>
                </a:cubicBezTo>
                <a:cubicBezTo>
                  <a:pt x="44648" y="0"/>
                  <a:pt x="7137" y="33539"/>
                  <a:pt x="914" y="77168"/>
                </a:cubicBezTo>
                <a:cubicBezTo>
                  <a:pt x="35" y="83320"/>
                  <a:pt x="4289" y="89016"/>
                  <a:pt x="10441" y="89895"/>
                </a:cubicBezTo>
                <a:cubicBezTo>
                  <a:pt x="16594" y="90773"/>
                  <a:pt x="22289" y="86484"/>
                  <a:pt x="23168" y="80367"/>
                </a:cubicBezTo>
                <a:cubicBezTo>
                  <a:pt x="27844" y="47637"/>
                  <a:pt x="56004" y="22500"/>
                  <a:pt x="90000" y="22500"/>
                </a:cubicBezTo>
                <a:cubicBezTo>
                  <a:pt x="105609" y="22500"/>
                  <a:pt x="119953" y="27773"/>
                  <a:pt x="131379" y="36668"/>
                </a:cubicBezTo>
                <a:lnTo>
                  <a:pt x="114961" y="53086"/>
                </a:lnTo>
                <a:cubicBezTo>
                  <a:pt x="112535" y="55512"/>
                  <a:pt x="111832" y="59133"/>
                  <a:pt x="113133" y="62297"/>
                </a:cubicBezTo>
                <a:cubicBezTo>
                  <a:pt x="114434" y="65461"/>
                  <a:pt x="117527" y="67500"/>
                  <a:pt x="120937" y="67500"/>
                </a:cubicBezTo>
                <a:lnTo>
                  <a:pt x="168785" y="67500"/>
                </a:lnTo>
                <a:close/>
                <a:moveTo>
                  <a:pt x="179121" y="102832"/>
                </a:moveTo>
                <a:cubicBezTo>
                  <a:pt x="180000" y="96680"/>
                  <a:pt x="175711" y="90984"/>
                  <a:pt x="169594" y="90105"/>
                </a:cubicBezTo>
                <a:cubicBezTo>
                  <a:pt x="163477" y="89227"/>
                  <a:pt x="157746" y="93516"/>
                  <a:pt x="156867" y="99633"/>
                </a:cubicBezTo>
                <a:cubicBezTo>
                  <a:pt x="152191" y="132328"/>
                  <a:pt x="124031" y="157465"/>
                  <a:pt x="90035" y="157465"/>
                </a:cubicBezTo>
                <a:cubicBezTo>
                  <a:pt x="74426" y="157465"/>
                  <a:pt x="60082" y="152191"/>
                  <a:pt x="48656" y="143297"/>
                </a:cubicBezTo>
                <a:lnTo>
                  <a:pt x="65039" y="126914"/>
                </a:lnTo>
                <a:cubicBezTo>
                  <a:pt x="67465" y="124488"/>
                  <a:pt x="68168" y="120867"/>
                  <a:pt x="66867" y="117703"/>
                </a:cubicBezTo>
                <a:cubicBezTo>
                  <a:pt x="65566" y="114539"/>
                  <a:pt x="62473" y="112500"/>
                  <a:pt x="59063" y="112500"/>
                </a:cubicBezTo>
                <a:lnTo>
                  <a:pt x="8438" y="112500"/>
                </a:lnTo>
                <a:cubicBezTo>
                  <a:pt x="3762" y="112500"/>
                  <a:pt x="0" y="116262"/>
                  <a:pt x="0" y="120937"/>
                </a:cubicBezTo>
                <a:lnTo>
                  <a:pt x="0" y="171563"/>
                </a:lnTo>
                <a:cubicBezTo>
                  <a:pt x="0" y="174973"/>
                  <a:pt x="2039" y="178066"/>
                  <a:pt x="5203" y="179367"/>
                </a:cubicBezTo>
                <a:cubicBezTo>
                  <a:pt x="8367" y="180668"/>
                  <a:pt x="11988" y="179930"/>
                  <a:pt x="14414" y="177539"/>
                </a:cubicBezTo>
                <a:lnTo>
                  <a:pt x="32625" y="159328"/>
                </a:lnTo>
                <a:cubicBezTo>
                  <a:pt x="48164" y="172230"/>
                  <a:pt x="68203" y="180000"/>
                  <a:pt x="90000" y="180000"/>
                </a:cubicBezTo>
                <a:cubicBezTo>
                  <a:pt x="135352" y="180000"/>
                  <a:pt x="172863" y="146461"/>
                  <a:pt x="179086" y="102832"/>
                </a:cubicBezTo>
                <a:close/>
              </a:path>
            </a:pathLst>
          </a:custGeom>
          <a:solidFill>
            <a:srgbClr val="FFFFFF"/>
          </a:solidFill>
          <a:ln/>
        </p:spPr>
        <p:txBody>
          <a:bodyPr/>
          <a:lstStyle/>
          <a:p>
            <a:endParaRPr lang="en-US"/>
          </a:p>
        </p:txBody>
      </p:sp>
      <p:sp>
        <p:nvSpPr>
          <p:cNvPr id="25" name="Text 23"/>
          <p:cNvSpPr/>
          <p:nvPr/>
        </p:nvSpPr>
        <p:spPr>
          <a:xfrm>
            <a:off x="1050000" y="4095430"/>
            <a:ext cx="1099500" cy="192000"/>
          </a:xfrm>
          <a:prstGeom prst="rect">
            <a:avLst/>
          </a:prstGeom>
          <a:noFill/>
          <a:ln/>
        </p:spPr>
        <p:txBody>
          <a:bodyPr wrap="square" lIns="0" tIns="0" rIns="0" bIns="0" rtlCol="0" anchor="ctr"/>
          <a:lstStyle/>
          <a:p>
            <a:pPr>
              <a:lnSpc>
                <a:spcPct val="120000"/>
              </a:lnSpc>
            </a:pPr>
            <a:r>
              <a:rPr lang="en-US" sz="1063" b="1" dirty="0">
                <a:solidFill>
                  <a:srgbClr val="121358"/>
                </a:solidFill>
                <a:latin typeface="Quattrocento Sans" pitchFamily="34" charset="0"/>
                <a:ea typeface="Quattrocento Sans" pitchFamily="34" charset="-122"/>
                <a:cs typeface="Quattrocento Sans" pitchFamily="34" charset="-120"/>
              </a:rPr>
              <a:t>CRUD Operations</a:t>
            </a:r>
            <a:endParaRPr lang="en-US" sz="1200" dirty="0"/>
          </a:p>
        </p:txBody>
      </p:sp>
      <p:sp>
        <p:nvSpPr>
          <p:cNvPr id="26" name="Text 24"/>
          <p:cNvSpPr/>
          <p:nvPr/>
        </p:nvSpPr>
        <p:spPr>
          <a:xfrm>
            <a:off x="618000" y="4459930"/>
            <a:ext cx="3762000" cy="174000"/>
          </a:xfrm>
          <a:prstGeom prst="rect">
            <a:avLst/>
          </a:prstGeom>
          <a:noFill/>
          <a:ln/>
        </p:spPr>
        <p:txBody>
          <a:bodyPr wrap="square" lIns="0" tIns="0" rIns="0" bIns="0" rtlCol="0" anchor="ctr"/>
          <a:lstStyle/>
          <a:p>
            <a:pPr>
              <a:lnSpc>
                <a:spcPct val="140000"/>
              </a:lnSpc>
            </a:pPr>
            <a:r>
              <a:rPr lang="en-US" sz="851" dirty="0">
                <a:solidFill>
                  <a:srgbClr val="4A5565"/>
                </a:solidFill>
                <a:latin typeface="Quattrocento Sans" pitchFamily="34" charset="0"/>
                <a:ea typeface="Quattrocento Sans" pitchFamily="34" charset="-122"/>
                <a:cs typeface="Quattrocento Sans" pitchFamily="34" charset="-120"/>
              </a:rPr>
              <a:t>Enable efficient create, read, update, delete</a:t>
            </a:r>
            <a:endParaRPr lang="en-US" sz="1200" dirty="0"/>
          </a:p>
        </p:txBody>
      </p:sp>
      <p:sp>
        <p:nvSpPr>
          <p:cNvPr id="27" name="Shape 25"/>
          <p:cNvSpPr/>
          <p:nvPr/>
        </p:nvSpPr>
        <p:spPr>
          <a:xfrm>
            <a:off x="4651594" y="3865930"/>
            <a:ext cx="4032000" cy="930000"/>
          </a:xfrm>
          <a:prstGeom prst="roundRect">
            <a:avLst>
              <a:gd name="adj" fmla="val 5806"/>
            </a:avLst>
          </a:prstGeom>
          <a:gradFill flip="none" rotWithShape="1">
            <a:gsLst>
              <a:gs pos="0">
                <a:srgbClr val="EFF6FF"/>
              </a:gs>
              <a:gs pos="100000">
                <a:srgbClr val="F0FDFA"/>
              </a:gs>
            </a:gsLst>
            <a:lin ang="2700000" scaled="1"/>
          </a:gradFill>
          <a:ln/>
        </p:spPr>
        <p:txBody>
          <a:bodyPr/>
          <a:lstStyle/>
          <a:p>
            <a:endParaRPr lang="en-US"/>
          </a:p>
        </p:txBody>
      </p:sp>
      <p:sp>
        <p:nvSpPr>
          <p:cNvPr id="28" name="Shape 26"/>
          <p:cNvSpPr/>
          <p:nvPr/>
        </p:nvSpPr>
        <p:spPr>
          <a:xfrm>
            <a:off x="4813594" y="4027930"/>
            <a:ext cx="324000" cy="324000"/>
          </a:xfrm>
          <a:prstGeom prst="roundRect">
            <a:avLst>
              <a:gd name="adj" fmla="val 50000"/>
            </a:avLst>
          </a:prstGeom>
          <a:solidFill>
            <a:srgbClr val="00BBA7"/>
          </a:solidFill>
          <a:ln/>
        </p:spPr>
        <p:txBody>
          <a:bodyPr/>
          <a:lstStyle/>
          <a:p>
            <a:endParaRPr lang="en-US"/>
          </a:p>
        </p:txBody>
      </p:sp>
      <p:sp>
        <p:nvSpPr>
          <p:cNvPr id="29" name="Shape 27"/>
          <p:cNvSpPr/>
          <p:nvPr/>
        </p:nvSpPr>
        <p:spPr>
          <a:xfrm>
            <a:off x="4907719" y="4123930"/>
            <a:ext cx="135000" cy="135000"/>
          </a:xfrm>
          <a:custGeom>
            <a:avLst/>
            <a:gdLst/>
            <a:ahLst/>
            <a:cxnLst/>
            <a:rect l="l" t="t" r="r" b="b"/>
            <a:pathLst>
              <a:path w="180000" h="180000">
                <a:moveTo>
                  <a:pt x="11250" y="11250"/>
                </a:moveTo>
                <a:cubicBezTo>
                  <a:pt x="17473" y="11250"/>
                  <a:pt x="22500" y="16277"/>
                  <a:pt x="22500" y="22500"/>
                </a:cubicBezTo>
                <a:lnTo>
                  <a:pt x="22500" y="140625"/>
                </a:lnTo>
                <a:cubicBezTo>
                  <a:pt x="22500" y="143719"/>
                  <a:pt x="25031" y="146250"/>
                  <a:pt x="28125" y="146250"/>
                </a:cubicBezTo>
                <a:lnTo>
                  <a:pt x="168750" y="146250"/>
                </a:lnTo>
                <a:cubicBezTo>
                  <a:pt x="174973" y="146250"/>
                  <a:pt x="180000" y="151277"/>
                  <a:pt x="180000" y="157500"/>
                </a:cubicBezTo>
                <a:cubicBezTo>
                  <a:pt x="180000" y="163723"/>
                  <a:pt x="174973" y="168750"/>
                  <a:pt x="168750" y="168750"/>
                </a:cubicBezTo>
                <a:lnTo>
                  <a:pt x="28125" y="168750"/>
                </a:lnTo>
                <a:cubicBezTo>
                  <a:pt x="12586" y="168750"/>
                  <a:pt x="0" y="156164"/>
                  <a:pt x="0" y="140625"/>
                </a:cubicBezTo>
                <a:lnTo>
                  <a:pt x="0" y="22500"/>
                </a:lnTo>
                <a:cubicBezTo>
                  <a:pt x="0" y="16277"/>
                  <a:pt x="5027" y="11250"/>
                  <a:pt x="11250" y="11250"/>
                </a:cubicBezTo>
                <a:close/>
                <a:moveTo>
                  <a:pt x="45000" y="33750"/>
                </a:moveTo>
                <a:cubicBezTo>
                  <a:pt x="45000" y="27527"/>
                  <a:pt x="50027" y="22500"/>
                  <a:pt x="56250" y="22500"/>
                </a:cubicBezTo>
                <a:lnTo>
                  <a:pt x="123750" y="22500"/>
                </a:lnTo>
                <a:cubicBezTo>
                  <a:pt x="129973" y="22500"/>
                  <a:pt x="135000" y="27527"/>
                  <a:pt x="135000" y="33750"/>
                </a:cubicBezTo>
                <a:cubicBezTo>
                  <a:pt x="135000" y="39973"/>
                  <a:pt x="129973" y="45000"/>
                  <a:pt x="123750" y="45000"/>
                </a:cubicBezTo>
                <a:lnTo>
                  <a:pt x="56250" y="45000"/>
                </a:lnTo>
                <a:cubicBezTo>
                  <a:pt x="50027" y="45000"/>
                  <a:pt x="45000" y="39973"/>
                  <a:pt x="45000" y="33750"/>
                </a:cubicBezTo>
                <a:close/>
                <a:moveTo>
                  <a:pt x="56250" y="61875"/>
                </a:moveTo>
                <a:lnTo>
                  <a:pt x="101250" y="61875"/>
                </a:lnTo>
                <a:cubicBezTo>
                  <a:pt x="107473" y="61875"/>
                  <a:pt x="112500" y="66902"/>
                  <a:pt x="112500" y="73125"/>
                </a:cubicBezTo>
                <a:cubicBezTo>
                  <a:pt x="112500" y="79348"/>
                  <a:pt x="107473" y="84375"/>
                  <a:pt x="101250" y="84375"/>
                </a:cubicBezTo>
                <a:lnTo>
                  <a:pt x="56250" y="84375"/>
                </a:lnTo>
                <a:cubicBezTo>
                  <a:pt x="50027" y="84375"/>
                  <a:pt x="45000" y="79348"/>
                  <a:pt x="45000" y="73125"/>
                </a:cubicBezTo>
                <a:cubicBezTo>
                  <a:pt x="45000" y="66902"/>
                  <a:pt x="50027" y="61875"/>
                  <a:pt x="56250" y="61875"/>
                </a:cubicBezTo>
                <a:close/>
                <a:moveTo>
                  <a:pt x="56250" y="101250"/>
                </a:moveTo>
                <a:lnTo>
                  <a:pt x="146250" y="101250"/>
                </a:lnTo>
                <a:cubicBezTo>
                  <a:pt x="152473" y="101250"/>
                  <a:pt x="157500" y="106277"/>
                  <a:pt x="157500" y="112500"/>
                </a:cubicBezTo>
                <a:cubicBezTo>
                  <a:pt x="157500" y="118723"/>
                  <a:pt x="152473" y="123750"/>
                  <a:pt x="146250" y="123750"/>
                </a:cubicBezTo>
                <a:lnTo>
                  <a:pt x="56250" y="123750"/>
                </a:lnTo>
                <a:cubicBezTo>
                  <a:pt x="50027" y="123750"/>
                  <a:pt x="45000" y="118723"/>
                  <a:pt x="45000" y="112500"/>
                </a:cubicBezTo>
                <a:cubicBezTo>
                  <a:pt x="45000" y="106277"/>
                  <a:pt x="50027" y="101250"/>
                  <a:pt x="56250" y="101250"/>
                </a:cubicBezTo>
                <a:close/>
              </a:path>
            </a:pathLst>
          </a:custGeom>
          <a:solidFill>
            <a:srgbClr val="FFFFFF"/>
          </a:solidFill>
          <a:ln/>
        </p:spPr>
        <p:txBody>
          <a:bodyPr/>
          <a:lstStyle/>
          <a:p>
            <a:endParaRPr lang="en-US"/>
          </a:p>
        </p:txBody>
      </p:sp>
      <p:sp>
        <p:nvSpPr>
          <p:cNvPr id="30" name="Text 28"/>
          <p:cNvSpPr/>
          <p:nvPr/>
        </p:nvSpPr>
        <p:spPr>
          <a:xfrm>
            <a:off x="5245594" y="4095430"/>
            <a:ext cx="595500" cy="192000"/>
          </a:xfrm>
          <a:prstGeom prst="rect">
            <a:avLst/>
          </a:prstGeom>
          <a:noFill/>
          <a:ln/>
        </p:spPr>
        <p:txBody>
          <a:bodyPr wrap="square" lIns="0" tIns="0" rIns="0" bIns="0" rtlCol="0" anchor="ctr"/>
          <a:lstStyle/>
          <a:p>
            <a:pPr>
              <a:lnSpc>
                <a:spcPct val="120000"/>
              </a:lnSpc>
            </a:pPr>
            <a:r>
              <a:rPr lang="en-US" sz="1063" b="1" dirty="0">
                <a:solidFill>
                  <a:srgbClr val="121358"/>
                </a:solidFill>
                <a:latin typeface="Quattrocento Sans" pitchFamily="34" charset="0"/>
                <a:ea typeface="Quattrocento Sans" pitchFamily="34" charset="-122"/>
                <a:cs typeface="Quattrocento Sans" pitchFamily="34" charset="-120"/>
              </a:rPr>
              <a:t>Analytics</a:t>
            </a:r>
            <a:endParaRPr lang="en-US" sz="1200" dirty="0"/>
          </a:p>
        </p:txBody>
      </p:sp>
      <p:sp>
        <p:nvSpPr>
          <p:cNvPr id="31" name="Text 29"/>
          <p:cNvSpPr/>
          <p:nvPr/>
        </p:nvSpPr>
        <p:spPr>
          <a:xfrm>
            <a:off x="4813594" y="4459930"/>
            <a:ext cx="3762000" cy="174000"/>
          </a:xfrm>
          <a:prstGeom prst="rect">
            <a:avLst/>
          </a:prstGeom>
          <a:noFill/>
          <a:ln/>
        </p:spPr>
        <p:txBody>
          <a:bodyPr wrap="square" lIns="0" tIns="0" rIns="0" bIns="0" rtlCol="0" anchor="ctr"/>
          <a:lstStyle/>
          <a:p>
            <a:pPr>
              <a:lnSpc>
                <a:spcPct val="140000"/>
              </a:lnSpc>
            </a:pPr>
            <a:r>
              <a:rPr lang="en-US" sz="851" dirty="0">
                <a:solidFill>
                  <a:srgbClr val="4A5565"/>
                </a:solidFill>
                <a:latin typeface="Quattrocento Sans" pitchFamily="34" charset="0"/>
                <a:ea typeface="Quattrocento Sans" pitchFamily="34" charset="-122"/>
                <a:cs typeface="Quattrocento Sans" pitchFamily="34" charset="-120"/>
              </a:rPr>
              <a:t>Support analytical queries and reporting</a:t>
            </a:r>
            <a:endParaRPr lang="en-US" sz="1200" dirty="0"/>
          </a:p>
        </p:txBody>
      </p:sp>
      <p:pic>
        <p:nvPicPr>
          <p:cNvPr id="32" name="Image 0" descr="preencoded.png">
            <a:extLst>
              <a:ext uri="{FF2B5EF4-FFF2-40B4-BE49-F238E27FC236}">
                <a16:creationId xmlns:a16="http://schemas.microsoft.com/office/drawing/2014/main" id="{402A89EC-6726-0969-0410-FB96356E03CF}"/>
              </a:ext>
            </a:extLst>
          </p:cNvPr>
          <p:cNvPicPr>
            <a:picLocks noChangeAspect="1"/>
          </p:cNvPicPr>
          <p:nvPr/>
        </p:nvPicPr>
        <p:blipFill>
          <a:blip r:embed="rId3"/>
          <a:stretch>
            <a:fillRect/>
          </a:stretch>
        </p:blipFill>
        <p:spPr>
          <a:xfrm>
            <a:off x="8046720" y="45720"/>
            <a:ext cx="685800" cy="676656"/>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22376"/>
          </a:xfrm>
          <a:prstGeom prst="roundRect">
            <a:avLst>
              <a:gd name="adj" fmla="val 0"/>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267891" y="187523"/>
            <a:ext cx="685800" cy="405408"/>
          </a:xfrm>
          <a:prstGeom prst="rect">
            <a:avLst/>
          </a:prstGeom>
          <a:noFill/>
          <a:ln/>
        </p:spPr>
        <p:txBody>
          <a:bodyPr wrap="square" lIns="0" tIns="0" rIns="0" bIns="0" rtlCol="0" anchor="ctr"/>
          <a:lstStyle/>
          <a:p>
            <a:pPr algn="ctr">
              <a:lnSpc>
                <a:spcPct val="90000"/>
              </a:lnSpc>
            </a:pPr>
            <a:r>
              <a:rPr lang="en-US" sz="1898" b="1" dirty="0">
                <a:solidFill>
                  <a:srgbClr val="FFFFFF"/>
                </a:solidFill>
                <a:latin typeface="Quattrocento Sans" pitchFamily="34" charset="0"/>
                <a:ea typeface="Quattrocento Sans" pitchFamily="34" charset="-122"/>
                <a:cs typeface="Quattrocento Sans" pitchFamily="34" charset="-120"/>
              </a:rPr>
              <a:t>ERD</a:t>
            </a:r>
            <a:endParaRPr lang="en-US" sz="1200" dirty="0"/>
          </a:p>
        </p:txBody>
      </p:sp>
      <p:sp>
        <p:nvSpPr>
          <p:cNvPr id="5" name="Shape 3"/>
          <p:cNvSpPr/>
          <p:nvPr/>
        </p:nvSpPr>
        <p:spPr>
          <a:xfrm>
            <a:off x="238126" y="827484"/>
            <a:ext cx="1916906" cy="267891"/>
          </a:xfrm>
          <a:prstGeom prst="roundRect">
            <a:avLst>
              <a:gd name="adj" fmla="val 20000"/>
            </a:avLst>
          </a:prstGeom>
          <a:solidFill>
            <a:srgbClr val="36ADA3"/>
          </a:solidFill>
          <a:ln/>
        </p:spPr>
        <p:txBody>
          <a:bodyPr/>
          <a:lstStyle/>
          <a:p>
            <a:endParaRPr lang="en-US"/>
          </a:p>
        </p:txBody>
      </p:sp>
      <p:sp>
        <p:nvSpPr>
          <p:cNvPr id="6" name="Text 4"/>
          <p:cNvSpPr/>
          <p:nvPr/>
        </p:nvSpPr>
        <p:spPr>
          <a:xfrm>
            <a:off x="345282" y="881063"/>
            <a:ext cx="1756172" cy="160735"/>
          </a:xfrm>
          <a:prstGeom prst="rect">
            <a:avLst/>
          </a:prstGeom>
          <a:noFill/>
          <a:ln/>
        </p:spPr>
        <p:txBody>
          <a:bodyPr wrap="square" lIns="0" tIns="0" rIns="0" bIns="0" rtlCol="0" anchor="ctr"/>
          <a:lstStyle/>
          <a:p>
            <a:pPr>
              <a:lnSpc>
                <a:spcPct val="130000"/>
              </a:lnSpc>
            </a:pPr>
            <a:r>
              <a:rPr lang="en-US" sz="844" b="1" kern="0" spc="42" dirty="0">
                <a:solidFill>
                  <a:schemeClr val="bg1"/>
                </a:solidFill>
                <a:latin typeface="Quattrocento Sans" pitchFamily="34" charset="0"/>
                <a:ea typeface="Quattrocento Sans" pitchFamily="34" charset="-122"/>
                <a:cs typeface="Quattrocento Sans" pitchFamily="34" charset="-120"/>
              </a:rPr>
              <a:t>ENTITY RELATIONSHIP DIAGRAM</a:t>
            </a:r>
            <a:endParaRPr lang="en-US" sz="1200" dirty="0">
              <a:solidFill>
                <a:schemeClr val="bg1"/>
              </a:solidFill>
            </a:endParaRPr>
          </a:p>
        </p:txBody>
      </p:sp>
      <p:sp>
        <p:nvSpPr>
          <p:cNvPr id="7" name="Shape 5"/>
          <p:cNvSpPr/>
          <p:nvPr/>
        </p:nvSpPr>
        <p:spPr>
          <a:xfrm>
            <a:off x="238126" y="1185176"/>
            <a:ext cx="8641169" cy="3912603"/>
          </a:xfrm>
          <a:prstGeom prst="roundRect">
            <a:avLst>
              <a:gd name="adj" fmla="val 1658"/>
            </a:avLst>
          </a:prstGeom>
          <a:solidFill>
            <a:srgbClr val="FFFFFF"/>
          </a:solidFill>
          <a:ln/>
          <a:effectLst>
            <a:outerShdw blurRad="47625" dist="31750" dir="5400000" algn="bl" rotWithShape="0">
              <a:srgbClr val="000000">
                <a:alpha val="10196"/>
              </a:srgbClr>
            </a:outerShdw>
          </a:effectLst>
        </p:spPr>
        <p:txBody>
          <a:bodyPr/>
          <a:lstStyle/>
          <a:p>
            <a:endParaRPr lang="en-US"/>
          </a:p>
        </p:txBody>
      </p:sp>
      <p:sp>
        <p:nvSpPr>
          <p:cNvPr id="8" name="Shape 6"/>
          <p:cNvSpPr/>
          <p:nvPr/>
        </p:nvSpPr>
        <p:spPr>
          <a:xfrm>
            <a:off x="376745" y="1242607"/>
            <a:ext cx="285750" cy="313763"/>
          </a:xfrm>
          <a:prstGeom prst="roundRect">
            <a:avLst>
              <a:gd name="adj" fmla="val 50000"/>
            </a:avLst>
          </a:prstGeom>
          <a:solidFill>
            <a:srgbClr val="36ADA3"/>
          </a:solidFill>
          <a:ln/>
        </p:spPr>
        <p:txBody>
          <a:bodyPr/>
          <a:lstStyle/>
          <a:p>
            <a:endParaRPr lang="en-US"/>
          </a:p>
        </p:txBody>
      </p:sp>
      <p:sp>
        <p:nvSpPr>
          <p:cNvPr id="9" name="Text 7"/>
          <p:cNvSpPr/>
          <p:nvPr/>
        </p:nvSpPr>
        <p:spPr>
          <a:xfrm>
            <a:off x="354332" y="1242606"/>
            <a:ext cx="339329" cy="313763"/>
          </a:xfrm>
          <a:prstGeom prst="rect">
            <a:avLst/>
          </a:prstGeom>
          <a:noFill/>
          <a:ln/>
        </p:spPr>
        <p:txBody>
          <a:bodyPr wrap="square" lIns="0" tIns="0" rIns="0" bIns="0" rtlCol="0" anchor="ctr"/>
          <a:lstStyle/>
          <a:p>
            <a:pPr algn="ctr">
              <a:lnSpc>
                <a:spcPct val="130000"/>
              </a:lnSpc>
            </a:pPr>
            <a:r>
              <a:rPr lang="en-US" sz="844" b="1" dirty="0">
                <a:solidFill>
                  <a:srgbClr val="FFFFFF"/>
                </a:solidFill>
                <a:latin typeface="Quattrocento Sans" pitchFamily="34" charset="0"/>
                <a:ea typeface="Quattrocento Sans" pitchFamily="34" charset="-122"/>
                <a:cs typeface="Quattrocento Sans" pitchFamily="34" charset="-120"/>
              </a:rPr>
              <a:t>03</a:t>
            </a:r>
            <a:endParaRPr lang="en-US" sz="1200" dirty="0"/>
          </a:p>
        </p:txBody>
      </p:sp>
      <p:sp>
        <p:nvSpPr>
          <p:cNvPr id="10" name="Text 8"/>
          <p:cNvSpPr/>
          <p:nvPr/>
        </p:nvSpPr>
        <p:spPr>
          <a:xfrm>
            <a:off x="716075" y="1242607"/>
            <a:ext cx="3748980" cy="281301"/>
          </a:xfrm>
          <a:prstGeom prst="rect">
            <a:avLst/>
          </a:prstGeom>
          <a:noFill/>
          <a:ln/>
        </p:spPr>
        <p:txBody>
          <a:bodyPr wrap="square" lIns="0" tIns="0" rIns="0" bIns="0" rtlCol="0" anchor="ctr"/>
          <a:lstStyle/>
          <a:p>
            <a:pPr>
              <a:lnSpc>
                <a:spcPct val="110000"/>
              </a:lnSpc>
            </a:pPr>
            <a:r>
              <a:rPr lang="en-US" sz="1266" b="1" dirty="0">
                <a:solidFill>
                  <a:srgbClr val="121358"/>
                </a:solidFill>
                <a:latin typeface="Quattrocento Sans" pitchFamily="34" charset="0"/>
                <a:ea typeface="Quattrocento Sans" pitchFamily="34" charset="-122"/>
                <a:cs typeface="Quattrocento Sans" pitchFamily="34" charset="-120"/>
              </a:rPr>
              <a:t>Database Structure</a:t>
            </a:r>
            <a:endParaRPr lang="en-US" sz="1200" dirty="0"/>
          </a:p>
        </p:txBody>
      </p:sp>
      <p:sp>
        <p:nvSpPr>
          <p:cNvPr id="11" name="Text 9"/>
          <p:cNvSpPr/>
          <p:nvPr/>
        </p:nvSpPr>
        <p:spPr>
          <a:xfrm>
            <a:off x="716074" y="1504598"/>
            <a:ext cx="3728887" cy="109111"/>
          </a:xfrm>
          <a:prstGeom prst="rect">
            <a:avLst/>
          </a:prstGeom>
          <a:noFill/>
          <a:ln/>
        </p:spPr>
        <p:txBody>
          <a:bodyPr wrap="square" lIns="0" tIns="0" rIns="0" bIns="0" rtlCol="0" anchor="ctr"/>
          <a:lstStyle/>
          <a:p>
            <a:pPr>
              <a:lnSpc>
                <a:spcPct val="130000"/>
              </a:lnSpc>
            </a:pPr>
            <a:r>
              <a:rPr lang="en-US" sz="949" dirty="0">
                <a:solidFill>
                  <a:srgbClr val="364153"/>
                </a:solidFill>
                <a:latin typeface="Quattrocento Sans" pitchFamily="34" charset="0"/>
                <a:ea typeface="Quattrocento Sans" pitchFamily="34" charset="-122"/>
                <a:cs typeface="Quattrocento Sans" pitchFamily="34" charset="-120"/>
              </a:rPr>
              <a:t>Visual representation of the database entities and their relationships</a:t>
            </a:r>
            <a:endParaRPr lang="en-US" sz="1200" dirty="0"/>
          </a:p>
        </p:txBody>
      </p:sp>
      <p:sp>
        <p:nvSpPr>
          <p:cNvPr id="14" name="Shape 12"/>
          <p:cNvSpPr/>
          <p:nvPr/>
        </p:nvSpPr>
        <p:spPr>
          <a:xfrm>
            <a:off x="4441055" y="2338502"/>
            <a:ext cx="210964" cy="264738"/>
          </a:xfrm>
          <a:custGeom>
            <a:avLst/>
            <a:gdLst/>
            <a:ahLst/>
            <a:cxnLst/>
            <a:rect l="l" t="t" r="r" b="b"/>
            <a:pathLst>
              <a:path w="281285" h="321469">
                <a:moveTo>
                  <a:pt x="140643" y="155711"/>
                </a:moveTo>
                <a:cubicBezTo>
                  <a:pt x="182226" y="155711"/>
                  <a:pt x="215987" y="121951"/>
                  <a:pt x="215987" y="80367"/>
                </a:cubicBezTo>
                <a:cubicBezTo>
                  <a:pt x="215987" y="38784"/>
                  <a:pt x="182226" y="5023"/>
                  <a:pt x="140643" y="5023"/>
                </a:cubicBezTo>
                <a:cubicBezTo>
                  <a:pt x="99059" y="5023"/>
                  <a:pt x="65298" y="38784"/>
                  <a:pt x="65298" y="80367"/>
                </a:cubicBezTo>
                <a:cubicBezTo>
                  <a:pt x="65298" y="121951"/>
                  <a:pt x="99059" y="155711"/>
                  <a:pt x="140643" y="155711"/>
                </a:cubicBezTo>
                <a:close/>
                <a:moveTo>
                  <a:pt x="121995" y="190872"/>
                </a:moveTo>
                <a:cubicBezTo>
                  <a:pt x="60150" y="190872"/>
                  <a:pt x="10046" y="240976"/>
                  <a:pt x="10046" y="302821"/>
                </a:cubicBezTo>
                <a:cubicBezTo>
                  <a:pt x="10046" y="313118"/>
                  <a:pt x="18397" y="321469"/>
                  <a:pt x="28694" y="321469"/>
                </a:cubicBezTo>
                <a:lnTo>
                  <a:pt x="252592" y="321469"/>
                </a:lnTo>
                <a:cubicBezTo>
                  <a:pt x="262889" y="321469"/>
                  <a:pt x="271239" y="313118"/>
                  <a:pt x="271239" y="302821"/>
                </a:cubicBezTo>
                <a:cubicBezTo>
                  <a:pt x="271239" y="240976"/>
                  <a:pt x="221135" y="190872"/>
                  <a:pt x="159290" y="190872"/>
                </a:cubicBezTo>
                <a:lnTo>
                  <a:pt x="121995" y="190872"/>
                </a:lnTo>
                <a:close/>
              </a:path>
            </a:pathLst>
          </a:custGeom>
          <a:solidFill>
            <a:srgbClr val="FFFFFF"/>
          </a:solidFill>
          <a:ln/>
        </p:spPr>
        <p:txBody>
          <a:bodyPr/>
          <a:lstStyle/>
          <a:p>
            <a:endParaRPr lang="en-US"/>
          </a:p>
        </p:txBody>
      </p:sp>
      <p:pic>
        <p:nvPicPr>
          <p:cNvPr id="40" name="Picture 39" descr="A diagram of a network&#10;&#10;AI-generated content may be incorrect.">
            <a:extLst>
              <a:ext uri="{FF2B5EF4-FFF2-40B4-BE49-F238E27FC236}">
                <a16:creationId xmlns:a16="http://schemas.microsoft.com/office/drawing/2014/main" id="{BB677CF4-567F-DDF8-0C47-4CF349BBEE65}"/>
              </a:ext>
            </a:extLst>
          </p:cNvPr>
          <p:cNvPicPr>
            <a:picLocks noChangeAspect="1"/>
          </p:cNvPicPr>
          <p:nvPr/>
        </p:nvPicPr>
        <p:blipFill>
          <a:blip r:embed="rId3"/>
          <a:stretch>
            <a:fillRect/>
          </a:stretch>
        </p:blipFill>
        <p:spPr>
          <a:xfrm>
            <a:off x="398722" y="1685925"/>
            <a:ext cx="8373140" cy="3411853"/>
          </a:xfrm>
          <a:prstGeom prst="rect">
            <a:avLst/>
          </a:prstGeom>
        </p:spPr>
      </p:pic>
      <p:pic>
        <p:nvPicPr>
          <p:cNvPr id="12" name="Image 0" descr="preencoded.png">
            <a:extLst>
              <a:ext uri="{FF2B5EF4-FFF2-40B4-BE49-F238E27FC236}">
                <a16:creationId xmlns:a16="http://schemas.microsoft.com/office/drawing/2014/main" id="{6053E5EA-F8F7-A781-D57E-434F68781E20}"/>
              </a:ext>
            </a:extLst>
          </p:cNvPr>
          <p:cNvPicPr>
            <a:picLocks noChangeAspect="1"/>
          </p:cNvPicPr>
          <p:nvPr/>
        </p:nvPicPr>
        <p:blipFill>
          <a:blip r:embed="rId4"/>
          <a:stretch>
            <a:fillRect/>
          </a:stretch>
        </p:blipFill>
        <p:spPr>
          <a:xfrm>
            <a:off x="8046720" y="45720"/>
            <a:ext cx="685800" cy="676656"/>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1"/>
            <a:ext cx="9144000" cy="730634"/>
          </a:xfrm>
          <a:prstGeom prst="roundRect">
            <a:avLst>
              <a:gd name="adj" fmla="val 0"/>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283584" y="198509"/>
            <a:ext cx="2106397" cy="283584"/>
          </a:xfrm>
          <a:prstGeom prst="rect">
            <a:avLst/>
          </a:prstGeom>
          <a:noFill/>
          <a:ln/>
        </p:spPr>
        <p:txBody>
          <a:bodyPr wrap="square" lIns="0" tIns="0" rIns="0" bIns="0" rtlCol="0" anchor="ctr"/>
          <a:lstStyle/>
          <a:p>
            <a:pPr>
              <a:lnSpc>
                <a:spcPct val="90000"/>
              </a:lnSpc>
            </a:pPr>
            <a:r>
              <a:rPr lang="en-US" sz="2010" b="1" dirty="0">
                <a:solidFill>
                  <a:srgbClr val="FFFFFF"/>
                </a:solidFill>
                <a:latin typeface="Quattrocento Sans" pitchFamily="34" charset="0"/>
                <a:ea typeface="Quattrocento Sans" pitchFamily="34" charset="-122"/>
                <a:cs typeface="Quattrocento Sans" pitchFamily="34" charset="-120"/>
              </a:rPr>
              <a:t>Database Schema</a:t>
            </a:r>
            <a:endParaRPr lang="en-US" sz="1200" dirty="0"/>
          </a:p>
        </p:txBody>
      </p:sp>
      <p:grpSp>
        <p:nvGrpSpPr>
          <p:cNvPr id="44" name="Group 43">
            <a:extLst>
              <a:ext uri="{FF2B5EF4-FFF2-40B4-BE49-F238E27FC236}">
                <a16:creationId xmlns:a16="http://schemas.microsoft.com/office/drawing/2014/main" id="{974B125A-A468-C8AC-97B4-97BB6E8CF5CB}"/>
              </a:ext>
            </a:extLst>
          </p:cNvPr>
          <p:cNvGrpSpPr/>
          <p:nvPr/>
        </p:nvGrpSpPr>
        <p:grpSpPr>
          <a:xfrm>
            <a:off x="5588085" y="1273623"/>
            <a:ext cx="3273690" cy="3217315"/>
            <a:chOff x="336100" y="2151035"/>
            <a:chExt cx="11519803" cy="4705389"/>
          </a:xfrm>
        </p:grpSpPr>
        <p:sp>
          <p:nvSpPr>
            <p:cNvPr id="7" name="Shape 5"/>
            <p:cNvSpPr/>
            <p:nvPr/>
          </p:nvSpPr>
          <p:spPr>
            <a:xfrm>
              <a:off x="336100" y="2151035"/>
              <a:ext cx="11519803" cy="4705389"/>
            </a:xfrm>
            <a:prstGeom prst="roundRect">
              <a:avLst>
                <a:gd name="adj" fmla="val 2411"/>
              </a:avLst>
            </a:prstGeom>
            <a:solidFill>
              <a:srgbClr val="FFFFFF"/>
            </a:solidFill>
            <a:ln/>
            <a:effectLst>
              <a:outerShdw blurRad="50415" dist="33610" dir="5400000" algn="bl" rotWithShape="0">
                <a:srgbClr val="000000">
                  <a:alpha val="10196"/>
                </a:srgbClr>
              </a:outerShdw>
            </a:effectLst>
          </p:spPr>
          <p:txBody>
            <a:bodyPr/>
            <a:lstStyle/>
            <a:p>
              <a:endParaRPr lang="en-US"/>
            </a:p>
          </p:txBody>
        </p:sp>
        <p:sp>
          <p:nvSpPr>
            <p:cNvPr id="8" name="Shape 6"/>
            <p:cNvSpPr/>
            <p:nvPr/>
          </p:nvSpPr>
          <p:spPr>
            <a:xfrm>
              <a:off x="638589" y="2453524"/>
              <a:ext cx="1030140" cy="435883"/>
            </a:xfrm>
            <a:prstGeom prst="roundRect">
              <a:avLst>
                <a:gd name="adj" fmla="val 50000"/>
              </a:avLst>
            </a:prstGeom>
            <a:solidFill>
              <a:srgbClr val="36ADA3"/>
            </a:solidFill>
            <a:ln/>
          </p:spPr>
          <p:txBody>
            <a:bodyPr/>
            <a:lstStyle/>
            <a:p>
              <a:endParaRPr lang="en-US"/>
            </a:p>
          </p:txBody>
        </p:sp>
        <p:sp>
          <p:nvSpPr>
            <p:cNvPr id="9" name="Text 7"/>
            <p:cNvSpPr/>
            <p:nvPr/>
          </p:nvSpPr>
          <p:spPr>
            <a:xfrm>
              <a:off x="861954" y="2475234"/>
              <a:ext cx="478942" cy="403319"/>
            </a:xfrm>
            <a:prstGeom prst="rect">
              <a:avLst/>
            </a:prstGeom>
            <a:noFill/>
            <a:ln/>
          </p:spPr>
          <p:txBody>
            <a:bodyPr wrap="square" lIns="0" tIns="0" rIns="0" bIns="0" rtlCol="0" anchor="ctr"/>
            <a:lstStyle/>
            <a:p>
              <a:pPr algn="ctr">
                <a:lnSpc>
                  <a:spcPct val="130000"/>
                </a:lnSpc>
              </a:pPr>
              <a:r>
                <a:rPr lang="en-US" sz="893" b="1" dirty="0">
                  <a:solidFill>
                    <a:srgbClr val="FFFFFF"/>
                  </a:solidFill>
                  <a:latin typeface="Quattrocento Sans" pitchFamily="34" charset="0"/>
                  <a:ea typeface="Quattrocento Sans" pitchFamily="34" charset="-122"/>
                  <a:cs typeface="Quattrocento Sans" pitchFamily="34" charset="-120"/>
                </a:rPr>
                <a:t>04</a:t>
              </a:r>
              <a:endParaRPr lang="en-US" sz="1200" dirty="0"/>
            </a:p>
          </p:txBody>
        </p:sp>
        <p:sp>
          <p:nvSpPr>
            <p:cNvPr id="10" name="Text 8"/>
            <p:cNvSpPr/>
            <p:nvPr/>
          </p:nvSpPr>
          <p:spPr>
            <a:xfrm>
              <a:off x="2156774" y="2540364"/>
              <a:ext cx="6715493" cy="248215"/>
            </a:xfrm>
            <a:prstGeom prst="rect">
              <a:avLst/>
            </a:prstGeom>
            <a:noFill/>
            <a:ln/>
          </p:spPr>
          <p:txBody>
            <a:bodyPr wrap="square" lIns="0" tIns="0" rIns="0" bIns="0" rtlCol="0" anchor="ctr"/>
            <a:lstStyle/>
            <a:p>
              <a:pPr>
                <a:lnSpc>
                  <a:spcPct val="110000"/>
                </a:lnSpc>
              </a:pPr>
              <a:r>
                <a:rPr lang="en-US" sz="1340" b="1" dirty="0">
                  <a:solidFill>
                    <a:srgbClr val="121358"/>
                  </a:solidFill>
                  <a:latin typeface="Quattrocento Sans" pitchFamily="34" charset="0"/>
                  <a:ea typeface="Quattrocento Sans" pitchFamily="34" charset="-122"/>
                  <a:cs typeface="Quattrocento Sans" pitchFamily="34" charset="-120"/>
                </a:rPr>
                <a:t>Schema Overview</a:t>
              </a:r>
              <a:endParaRPr lang="en-US" sz="1200" dirty="0"/>
            </a:p>
          </p:txBody>
        </p:sp>
        <p:sp>
          <p:nvSpPr>
            <p:cNvPr id="11" name="Text 9"/>
            <p:cNvSpPr/>
            <p:nvPr/>
          </p:nvSpPr>
          <p:spPr>
            <a:xfrm>
              <a:off x="1268775" y="3927492"/>
              <a:ext cx="10369712" cy="831846"/>
            </a:xfrm>
            <a:prstGeom prst="rect">
              <a:avLst/>
            </a:prstGeom>
            <a:noFill/>
            <a:ln/>
          </p:spPr>
          <p:txBody>
            <a:bodyPr wrap="square" lIns="0" tIns="0" rIns="0" bIns="0" rtlCol="0" anchor="ctr"/>
            <a:lstStyle/>
            <a:p>
              <a:pPr>
                <a:lnSpc>
                  <a:spcPct val="140000"/>
                </a:lnSpc>
              </a:pPr>
              <a:r>
                <a:rPr lang="en-US" sz="1005" dirty="0">
                  <a:solidFill>
                    <a:srgbClr val="364153"/>
                  </a:solidFill>
                  <a:latin typeface="Quattrocento Sans" pitchFamily="34" charset="0"/>
                  <a:ea typeface="Quattrocento Sans" pitchFamily="34" charset="-122"/>
                  <a:cs typeface="Quattrocento Sans" pitchFamily="34" charset="-120"/>
                </a:rPr>
                <a:t>The database schema consists of 12 interconnected tables focused on the Individual entity, including core information about Employment, Education, and Income. Supporting tables address Disability and COVID Impact, facilitating comprehensive data analysis and ensuring streamlined reporting capabilities for labor market insights.</a:t>
              </a:r>
              <a:endParaRPr lang="en-US" sz="1200" dirty="0"/>
            </a:p>
          </p:txBody>
        </p:sp>
      </p:grpSp>
      <p:pic>
        <p:nvPicPr>
          <p:cNvPr id="45" name="Picture 44" descr="A computer screen shot of a diagram&#10;&#10;AI-generated content may be incorrect.">
            <a:extLst>
              <a:ext uri="{FF2B5EF4-FFF2-40B4-BE49-F238E27FC236}">
                <a16:creationId xmlns:a16="http://schemas.microsoft.com/office/drawing/2014/main" id="{FF544DA5-A483-F2D1-5CF9-CB5B07507DE6}"/>
              </a:ext>
            </a:extLst>
          </p:cNvPr>
          <p:cNvPicPr>
            <a:picLocks noChangeAspect="1"/>
          </p:cNvPicPr>
          <p:nvPr/>
        </p:nvPicPr>
        <p:blipFill>
          <a:blip r:embed="rId4"/>
          <a:stretch>
            <a:fillRect/>
          </a:stretch>
        </p:blipFill>
        <p:spPr>
          <a:xfrm>
            <a:off x="175456" y="950026"/>
            <a:ext cx="5341823" cy="4111831"/>
          </a:xfrm>
          <a:prstGeom prst="rect">
            <a:avLst/>
          </a:prstGeom>
        </p:spPr>
      </p:pic>
      <p:pic>
        <p:nvPicPr>
          <p:cNvPr id="5" name="Image 0" descr="preencoded.png">
            <a:extLst>
              <a:ext uri="{FF2B5EF4-FFF2-40B4-BE49-F238E27FC236}">
                <a16:creationId xmlns:a16="http://schemas.microsoft.com/office/drawing/2014/main" id="{4F987719-F698-4D07-C8B6-F108768355CD}"/>
              </a:ext>
            </a:extLst>
          </p:cNvPr>
          <p:cNvPicPr>
            <a:picLocks noChangeAspect="1"/>
          </p:cNvPicPr>
          <p:nvPr/>
        </p:nvPicPr>
        <p:blipFill>
          <a:blip r:embed="rId5"/>
          <a:stretch>
            <a:fillRect/>
          </a:stretch>
        </p:blipFill>
        <p:spPr>
          <a:xfrm>
            <a:off x="8046720" y="45720"/>
            <a:ext cx="685800" cy="676656"/>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1525"/>
          </a:xfrm>
          <a:prstGeom prst="roundRect">
            <a:avLst>
              <a:gd name="adj" fmla="val 0"/>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321469" y="225029"/>
            <a:ext cx="3423642" cy="321469"/>
          </a:xfrm>
          <a:prstGeom prst="rect">
            <a:avLst/>
          </a:prstGeom>
          <a:noFill/>
          <a:ln/>
        </p:spPr>
        <p:txBody>
          <a:bodyPr wrap="square" lIns="0" tIns="0" rIns="0" bIns="0" rtlCol="0" anchor="ctr"/>
          <a:lstStyle/>
          <a:p>
            <a:pPr>
              <a:lnSpc>
                <a:spcPct val="90000"/>
              </a:lnSpc>
            </a:pPr>
            <a:r>
              <a:rPr lang="en-US" sz="2279" b="1" dirty="0">
                <a:solidFill>
                  <a:srgbClr val="FFFFFF"/>
                </a:solidFill>
                <a:latin typeface="Quattrocento Sans" pitchFamily="34" charset="0"/>
                <a:ea typeface="Quattrocento Sans" pitchFamily="34" charset="-122"/>
                <a:cs typeface="Quattrocento Sans" pitchFamily="34" charset="-120"/>
              </a:rPr>
              <a:t>Key Entities and Attributes</a:t>
            </a:r>
            <a:endParaRPr lang="en-US" sz="1200" dirty="0"/>
          </a:p>
        </p:txBody>
      </p:sp>
      <p:sp>
        <p:nvSpPr>
          <p:cNvPr id="5" name="Shape 3"/>
          <p:cNvSpPr/>
          <p:nvPr/>
        </p:nvSpPr>
        <p:spPr>
          <a:xfrm>
            <a:off x="272244" y="951904"/>
            <a:ext cx="1907381" cy="321469"/>
          </a:xfrm>
          <a:prstGeom prst="roundRect">
            <a:avLst>
              <a:gd name="adj" fmla="val 20000"/>
            </a:avLst>
          </a:prstGeom>
          <a:solidFill>
            <a:srgbClr val="36ADA3"/>
          </a:solidFill>
          <a:ln/>
        </p:spPr>
        <p:txBody>
          <a:bodyPr/>
          <a:lstStyle/>
          <a:p>
            <a:endParaRPr lang="en-US"/>
          </a:p>
        </p:txBody>
      </p:sp>
      <p:sp>
        <p:nvSpPr>
          <p:cNvPr id="6" name="Text 4"/>
          <p:cNvSpPr/>
          <p:nvPr/>
        </p:nvSpPr>
        <p:spPr>
          <a:xfrm>
            <a:off x="400831" y="1016198"/>
            <a:ext cx="1714500" cy="192881"/>
          </a:xfrm>
          <a:prstGeom prst="rect">
            <a:avLst/>
          </a:prstGeom>
          <a:noFill/>
          <a:ln/>
        </p:spPr>
        <p:txBody>
          <a:bodyPr wrap="square" lIns="0" tIns="0" rIns="0" bIns="0" rtlCol="0" anchor="ctr"/>
          <a:lstStyle/>
          <a:p>
            <a:pPr>
              <a:lnSpc>
                <a:spcPct val="130000"/>
              </a:lnSpc>
            </a:pPr>
            <a:r>
              <a:rPr lang="en-US" sz="1013" b="1" kern="0" spc="51" dirty="0">
                <a:solidFill>
                  <a:schemeClr val="bg1"/>
                </a:solidFill>
                <a:latin typeface="Quattrocento Sans" pitchFamily="34" charset="0"/>
                <a:ea typeface="Quattrocento Sans" pitchFamily="34" charset="-122"/>
                <a:cs typeface="Quattrocento Sans" pitchFamily="34" charset="-120"/>
              </a:rPr>
              <a:t>CORE DATABASE ENTITIES</a:t>
            </a:r>
            <a:endParaRPr lang="en-US" sz="1200" dirty="0">
              <a:solidFill>
                <a:schemeClr val="bg1"/>
              </a:solidFill>
            </a:endParaRPr>
          </a:p>
        </p:txBody>
      </p:sp>
      <p:sp>
        <p:nvSpPr>
          <p:cNvPr id="7" name="Shape 5"/>
          <p:cNvSpPr/>
          <p:nvPr/>
        </p:nvSpPr>
        <p:spPr>
          <a:xfrm>
            <a:off x="272244" y="1426963"/>
            <a:ext cx="4193381" cy="1528763"/>
          </a:xfrm>
          <a:prstGeom prst="roundRect">
            <a:avLst>
              <a:gd name="adj" fmla="val 6308"/>
            </a:avLst>
          </a:prstGeom>
          <a:solidFill>
            <a:srgbClr val="FFFFFF"/>
          </a:solidFill>
          <a:ln/>
          <a:effectLst>
            <a:outerShdw blurRad="57150" dist="38100" dir="5400000" algn="bl" rotWithShape="0">
              <a:srgbClr val="000000">
                <a:alpha val="10196"/>
              </a:srgbClr>
            </a:outerShdw>
          </a:effectLst>
        </p:spPr>
        <p:txBody>
          <a:bodyPr/>
          <a:lstStyle/>
          <a:p>
            <a:endParaRPr lang="en-US"/>
          </a:p>
        </p:txBody>
      </p:sp>
      <p:sp>
        <p:nvSpPr>
          <p:cNvPr id="8" name="Shape 6"/>
          <p:cNvSpPr/>
          <p:nvPr/>
        </p:nvSpPr>
        <p:spPr>
          <a:xfrm>
            <a:off x="465124" y="1673423"/>
            <a:ext cx="342900" cy="342900"/>
          </a:xfrm>
          <a:prstGeom prst="roundRect">
            <a:avLst>
              <a:gd name="adj" fmla="val 50000"/>
            </a:avLst>
          </a:prstGeom>
          <a:solidFill>
            <a:srgbClr val="36ADA3"/>
          </a:solidFill>
          <a:ln/>
        </p:spPr>
        <p:txBody>
          <a:bodyPr/>
          <a:lstStyle/>
          <a:p>
            <a:endParaRPr lang="en-US"/>
          </a:p>
        </p:txBody>
      </p:sp>
      <p:sp>
        <p:nvSpPr>
          <p:cNvPr id="9" name="Text 7"/>
          <p:cNvSpPr/>
          <p:nvPr/>
        </p:nvSpPr>
        <p:spPr>
          <a:xfrm>
            <a:off x="432978" y="1673423"/>
            <a:ext cx="407194" cy="342900"/>
          </a:xfrm>
          <a:prstGeom prst="rect">
            <a:avLst/>
          </a:prstGeom>
          <a:noFill/>
          <a:ln/>
        </p:spPr>
        <p:txBody>
          <a:bodyPr wrap="square" lIns="0" tIns="0" rIns="0" bIns="0" rtlCol="0" anchor="ctr"/>
          <a:lstStyle/>
          <a:p>
            <a:pPr algn="ctr">
              <a:lnSpc>
                <a:spcPct val="130000"/>
              </a:lnSpc>
            </a:pPr>
            <a:r>
              <a:rPr lang="en-US" sz="1013" b="1" dirty="0">
                <a:solidFill>
                  <a:srgbClr val="FFFFFF"/>
                </a:solidFill>
                <a:latin typeface="Quattrocento Sans" pitchFamily="34" charset="0"/>
                <a:ea typeface="Quattrocento Sans" pitchFamily="34" charset="-122"/>
                <a:cs typeface="Quattrocento Sans" pitchFamily="34" charset="-120"/>
              </a:rPr>
              <a:t>01</a:t>
            </a:r>
            <a:endParaRPr lang="en-US" sz="1200" dirty="0"/>
          </a:p>
        </p:txBody>
      </p:sp>
      <p:sp>
        <p:nvSpPr>
          <p:cNvPr id="10" name="Shape 8"/>
          <p:cNvSpPr/>
          <p:nvPr/>
        </p:nvSpPr>
        <p:spPr>
          <a:xfrm>
            <a:off x="936612" y="1619845"/>
            <a:ext cx="450056" cy="450056"/>
          </a:xfrm>
          <a:prstGeom prst="roundRect">
            <a:avLst>
              <a:gd name="adj" fmla="val 50000"/>
            </a:avLst>
          </a:prstGeom>
          <a:solidFill>
            <a:srgbClr val="121358"/>
          </a:solidFill>
          <a:ln/>
        </p:spPr>
        <p:txBody>
          <a:bodyPr/>
          <a:lstStyle/>
          <a:p>
            <a:endParaRPr lang="en-US"/>
          </a:p>
        </p:txBody>
      </p:sp>
      <p:sp>
        <p:nvSpPr>
          <p:cNvPr id="11" name="Shape 9"/>
          <p:cNvSpPr/>
          <p:nvPr/>
        </p:nvSpPr>
        <p:spPr>
          <a:xfrm>
            <a:off x="1078147" y="1748432"/>
            <a:ext cx="168771" cy="192881"/>
          </a:xfrm>
          <a:custGeom>
            <a:avLst/>
            <a:gdLst/>
            <a:ahLst/>
            <a:cxnLst/>
            <a:rect l="l" t="t" r="r" b="b"/>
            <a:pathLst>
              <a:path w="225028" h="257175">
                <a:moveTo>
                  <a:pt x="112514" y="124569"/>
                </a:moveTo>
                <a:cubicBezTo>
                  <a:pt x="145781" y="124569"/>
                  <a:pt x="172789" y="97561"/>
                  <a:pt x="172789" y="64294"/>
                </a:cubicBezTo>
                <a:cubicBezTo>
                  <a:pt x="172789" y="31027"/>
                  <a:pt x="145781" y="4018"/>
                  <a:pt x="112514" y="4018"/>
                </a:cubicBezTo>
                <a:cubicBezTo>
                  <a:pt x="79247" y="4018"/>
                  <a:pt x="52239" y="31027"/>
                  <a:pt x="52239" y="64294"/>
                </a:cubicBezTo>
                <a:cubicBezTo>
                  <a:pt x="52239" y="97561"/>
                  <a:pt x="79247" y="124569"/>
                  <a:pt x="112514" y="124569"/>
                </a:cubicBezTo>
                <a:close/>
                <a:moveTo>
                  <a:pt x="97596" y="152698"/>
                </a:moveTo>
                <a:cubicBezTo>
                  <a:pt x="48120" y="152698"/>
                  <a:pt x="8037" y="192781"/>
                  <a:pt x="8037" y="242257"/>
                </a:cubicBezTo>
                <a:cubicBezTo>
                  <a:pt x="8037" y="250494"/>
                  <a:pt x="14717" y="257175"/>
                  <a:pt x="22955" y="257175"/>
                </a:cubicBezTo>
                <a:lnTo>
                  <a:pt x="202073" y="257175"/>
                </a:lnTo>
                <a:cubicBezTo>
                  <a:pt x="210311" y="257175"/>
                  <a:pt x="216991" y="250494"/>
                  <a:pt x="216991" y="242257"/>
                </a:cubicBezTo>
                <a:cubicBezTo>
                  <a:pt x="216991" y="192781"/>
                  <a:pt x="176908" y="152698"/>
                  <a:pt x="127432" y="152698"/>
                </a:cubicBezTo>
                <a:lnTo>
                  <a:pt x="97596" y="152698"/>
                </a:lnTo>
                <a:close/>
              </a:path>
            </a:pathLst>
          </a:custGeom>
          <a:solidFill>
            <a:srgbClr val="FFFFFF"/>
          </a:solidFill>
          <a:ln/>
        </p:spPr>
        <p:txBody>
          <a:bodyPr/>
          <a:lstStyle/>
          <a:p>
            <a:endParaRPr lang="en-US"/>
          </a:p>
        </p:txBody>
      </p:sp>
      <p:sp>
        <p:nvSpPr>
          <p:cNvPr id="12" name="Text 10"/>
          <p:cNvSpPr/>
          <p:nvPr/>
        </p:nvSpPr>
        <p:spPr>
          <a:xfrm>
            <a:off x="1515255" y="1716285"/>
            <a:ext cx="910829" cy="257175"/>
          </a:xfrm>
          <a:prstGeom prst="rect">
            <a:avLst/>
          </a:prstGeom>
          <a:noFill/>
          <a:ln/>
        </p:spPr>
        <p:txBody>
          <a:bodyPr wrap="square" lIns="0" tIns="0" rIns="0" bIns="0" rtlCol="0" anchor="ctr"/>
          <a:lstStyle/>
          <a:p>
            <a:pPr>
              <a:lnSpc>
                <a:spcPct val="110000"/>
              </a:lnSpc>
            </a:pPr>
            <a:r>
              <a:rPr lang="en-US" sz="1519" b="1" dirty="0">
                <a:solidFill>
                  <a:srgbClr val="121358"/>
                </a:solidFill>
                <a:latin typeface="Quattrocento Sans" pitchFamily="34" charset="0"/>
                <a:ea typeface="Quattrocento Sans" pitchFamily="34" charset="-122"/>
                <a:cs typeface="Quattrocento Sans" pitchFamily="34" charset="-120"/>
              </a:rPr>
              <a:t>Individual</a:t>
            </a:r>
            <a:endParaRPr lang="en-US" sz="1200" dirty="0"/>
          </a:p>
        </p:txBody>
      </p:sp>
      <p:sp>
        <p:nvSpPr>
          <p:cNvPr id="13" name="Text 11"/>
          <p:cNvSpPr/>
          <p:nvPr/>
        </p:nvSpPr>
        <p:spPr>
          <a:xfrm>
            <a:off x="465124" y="2198488"/>
            <a:ext cx="3871913" cy="207169"/>
          </a:xfrm>
          <a:prstGeom prst="rect">
            <a:avLst/>
          </a:prstGeom>
          <a:noFill/>
          <a:ln/>
        </p:spPr>
        <p:txBody>
          <a:bodyPr wrap="square" lIns="0" tIns="0" rIns="0" bIns="0" rtlCol="0" anchor="ctr"/>
          <a:lstStyle/>
          <a:p>
            <a:pPr>
              <a:lnSpc>
                <a:spcPct val="140000"/>
              </a:lnSpc>
            </a:pPr>
            <a:r>
              <a:rPr lang="en-US" sz="1013" dirty="0">
                <a:solidFill>
                  <a:srgbClr val="364153"/>
                </a:solidFill>
                <a:latin typeface="Quattrocento Sans" pitchFamily="34" charset="0"/>
                <a:ea typeface="Quattrocento Sans" pitchFamily="34" charset="-122"/>
                <a:cs typeface="Quattrocento Sans" pitchFamily="34" charset="-120"/>
              </a:rPr>
              <a:t>Contains demographic details like gender and age.</a:t>
            </a:r>
            <a:endParaRPr lang="en-US" sz="1200" dirty="0"/>
          </a:p>
        </p:txBody>
      </p:sp>
      <p:sp>
        <p:nvSpPr>
          <p:cNvPr id="14" name="Shape 12"/>
          <p:cNvSpPr/>
          <p:nvPr/>
        </p:nvSpPr>
        <p:spPr>
          <a:xfrm>
            <a:off x="465125" y="2536030"/>
            <a:ext cx="550069" cy="228600"/>
          </a:xfrm>
          <a:prstGeom prst="roundRect">
            <a:avLst>
              <a:gd name="adj" fmla="val 50000"/>
            </a:avLst>
          </a:prstGeom>
          <a:solidFill>
            <a:srgbClr val="DBEAFE"/>
          </a:solidFill>
          <a:ln/>
        </p:spPr>
        <p:txBody>
          <a:bodyPr/>
          <a:lstStyle/>
          <a:p>
            <a:endParaRPr lang="en-US"/>
          </a:p>
        </p:txBody>
      </p:sp>
      <p:sp>
        <p:nvSpPr>
          <p:cNvPr id="15" name="Text 13"/>
          <p:cNvSpPr/>
          <p:nvPr/>
        </p:nvSpPr>
        <p:spPr>
          <a:xfrm>
            <a:off x="465124" y="2536030"/>
            <a:ext cx="606326" cy="228600"/>
          </a:xfrm>
          <a:prstGeom prst="rect">
            <a:avLst/>
          </a:prstGeom>
          <a:noFill/>
          <a:ln/>
        </p:spPr>
        <p:txBody>
          <a:bodyPr wrap="square" lIns="96441" tIns="32147" rIns="96441" bIns="32147" rtlCol="0" anchor="ctr"/>
          <a:lstStyle/>
          <a:p>
            <a:pPr>
              <a:lnSpc>
                <a:spcPct val="120000"/>
              </a:lnSpc>
            </a:pPr>
            <a:r>
              <a:rPr lang="en-US" sz="886" b="1" dirty="0">
                <a:solidFill>
                  <a:srgbClr val="121358"/>
                </a:solidFill>
                <a:latin typeface="Quattrocento Sans" pitchFamily="34" charset="0"/>
                <a:ea typeface="Quattrocento Sans" pitchFamily="34" charset="-122"/>
                <a:cs typeface="Quattrocento Sans" pitchFamily="34" charset="-120"/>
              </a:rPr>
              <a:t>Gender</a:t>
            </a:r>
            <a:endParaRPr lang="en-US" sz="1200" dirty="0"/>
          </a:p>
        </p:txBody>
      </p:sp>
      <p:sp>
        <p:nvSpPr>
          <p:cNvPr id="16" name="Shape 14"/>
          <p:cNvSpPr/>
          <p:nvPr/>
        </p:nvSpPr>
        <p:spPr>
          <a:xfrm>
            <a:off x="1080491" y="2536030"/>
            <a:ext cx="378619" cy="228600"/>
          </a:xfrm>
          <a:prstGeom prst="roundRect">
            <a:avLst>
              <a:gd name="adj" fmla="val 50000"/>
            </a:avLst>
          </a:prstGeom>
          <a:solidFill>
            <a:srgbClr val="DBEAFE"/>
          </a:solidFill>
          <a:ln/>
        </p:spPr>
        <p:txBody>
          <a:bodyPr/>
          <a:lstStyle/>
          <a:p>
            <a:endParaRPr lang="en-US"/>
          </a:p>
        </p:txBody>
      </p:sp>
      <p:sp>
        <p:nvSpPr>
          <p:cNvPr id="17" name="Text 15"/>
          <p:cNvSpPr/>
          <p:nvPr/>
        </p:nvSpPr>
        <p:spPr>
          <a:xfrm>
            <a:off x="1080491" y="2536030"/>
            <a:ext cx="434876" cy="228600"/>
          </a:xfrm>
          <a:prstGeom prst="rect">
            <a:avLst/>
          </a:prstGeom>
          <a:noFill/>
          <a:ln/>
        </p:spPr>
        <p:txBody>
          <a:bodyPr wrap="square" lIns="96441" tIns="32147" rIns="96441" bIns="32147" rtlCol="0" anchor="ctr"/>
          <a:lstStyle/>
          <a:p>
            <a:pPr>
              <a:lnSpc>
                <a:spcPct val="120000"/>
              </a:lnSpc>
            </a:pPr>
            <a:r>
              <a:rPr lang="en-US" sz="886" b="1" dirty="0">
                <a:solidFill>
                  <a:srgbClr val="121358"/>
                </a:solidFill>
                <a:latin typeface="Quattrocento Sans" pitchFamily="34" charset="0"/>
                <a:ea typeface="Quattrocento Sans" pitchFamily="34" charset="-122"/>
                <a:cs typeface="Quattrocento Sans" pitchFamily="34" charset="-120"/>
              </a:rPr>
              <a:t>Age</a:t>
            </a:r>
            <a:endParaRPr lang="en-US" sz="1200" dirty="0"/>
          </a:p>
        </p:txBody>
      </p:sp>
      <p:sp>
        <p:nvSpPr>
          <p:cNvPr id="18" name="Shape 16"/>
          <p:cNvSpPr/>
          <p:nvPr/>
        </p:nvSpPr>
        <p:spPr>
          <a:xfrm>
            <a:off x="1525302" y="2536030"/>
            <a:ext cx="900113" cy="228600"/>
          </a:xfrm>
          <a:prstGeom prst="roundRect">
            <a:avLst>
              <a:gd name="adj" fmla="val 50000"/>
            </a:avLst>
          </a:prstGeom>
          <a:solidFill>
            <a:srgbClr val="DBEAFE"/>
          </a:solidFill>
          <a:ln/>
        </p:spPr>
        <p:txBody>
          <a:bodyPr/>
          <a:lstStyle/>
          <a:p>
            <a:endParaRPr lang="en-US"/>
          </a:p>
        </p:txBody>
      </p:sp>
      <p:sp>
        <p:nvSpPr>
          <p:cNvPr id="19" name="Text 17"/>
          <p:cNvSpPr/>
          <p:nvPr/>
        </p:nvSpPr>
        <p:spPr>
          <a:xfrm>
            <a:off x="1525302" y="2536030"/>
            <a:ext cx="956369" cy="228600"/>
          </a:xfrm>
          <a:prstGeom prst="rect">
            <a:avLst/>
          </a:prstGeom>
          <a:noFill/>
          <a:ln/>
        </p:spPr>
        <p:txBody>
          <a:bodyPr wrap="square" lIns="96441" tIns="32147" rIns="96441" bIns="32147" rtlCol="0" anchor="ctr"/>
          <a:lstStyle/>
          <a:p>
            <a:pPr>
              <a:lnSpc>
                <a:spcPct val="120000"/>
              </a:lnSpc>
            </a:pPr>
            <a:r>
              <a:rPr lang="en-US" sz="886" b="1" dirty="0">
                <a:solidFill>
                  <a:srgbClr val="121358"/>
                </a:solidFill>
                <a:latin typeface="Quattrocento Sans" pitchFamily="34" charset="0"/>
                <a:ea typeface="Quattrocento Sans" pitchFamily="34" charset="-122"/>
                <a:cs typeface="Quattrocento Sans" pitchFamily="34" charset="-120"/>
              </a:rPr>
              <a:t>Demographics</a:t>
            </a:r>
            <a:endParaRPr lang="en-US" sz="1200" dirty="0"/>
          </a:p>
        </p:txBody>
      </p:sp>
      <p:sp>
        <p:nvSpPr>
          <p:cNvPr id="20" name="Shape 18"/>
          <p:cNvSpPr/>
          <p:nvPr/>
        </p:nvSpPr>
        <p:spPr>
          <a:xfrm>
            <a:off x="4654935" y="1426963"/>
            <a:ext cx="4193381" cy="1528763"/>
          </a:xfrm>
          <a:prstGeom prst="roundRect">
            <a:avLst>
              <a:gd name="adj" fmla="val 6308"/>
            </a:avLst>
          </a:prstGeom>
          <a:solidFill>
            <a:srgbClr val="FFFFFF"/>
          </a:solidFill>
          <a:ln/>
          <a:effectLst>
            <a:outerShdw blurRad="57150" dist="38100" dir="5400000" algn="bl" rotWithShape="0">
              <a:srgbClr val="000000">
                <a:alpha val="10196"/>
              </a:srgbClr>
            </a:outerShdw>
          </a:effectLst>
        </p:spPr>
        <p:txBody>
          <a:bodyPr/>
          <a:lstStyle/>
          <a:p>
            <a:endParaRPr lang="en-US"/>
          </a:p>
        </p:txBody>
      </p:sp>
      <p:sp>
        <p:nvSpPr>
          <p:cNvPr id="21" name="Shape 19"/>
          <p:cNvSpPr/>
          <p:nvPr/>
        </p:nvSpPr>
        <p:spPr>
          <a:xfrm>
            <a:off x="4847815" y="1673423"/>
            <a:ext cx="342900" cy="342900"/>
          </a:xfrm>
          <a:prstGeom prst="roundRect">
            <a:avLst>
              <a:gd name="adj" fmla="val 50000"/>
            </a:avLst>
          </a:prstGeom>
          <a:solidFill>
            <a:srgbClr val="36ADA3"/>
          </a:solidFill>
          <a:ln/>
        </p:spPr>
        <p:txBody>
          <a:bodyPr/>
          <a:lstStyle/>
          <a:p>
            <a:endParaRPr lang="en-US"/>
          </a:p>
        </p:txBody>
      </p:sp>
      <p:sp>
        <p:nvSpPr>
          <p:cNvPr id="22" name="Text 20"/>
          <p:cNvSpPr/>
          <p:nvPr/>
        </p:nvSpPr>
        <p:spPr>
          <a:xfrm>
            <a:off x="4815668" y="1673423"/>
            <a:ext cx="407194" cy="342900"/>
          </a:xfrm>
          <a:prstGeom prst="rect">
            <a:avLst/>
          </a:prstGeom>
          <a:noFill/>
          <a:ln/>
        </p:spPr>
        <p:txBody>
          <a:bodyPr wrap="square" lIns="0" tIns="0" rIns="0" bIns="0" rtlCol="0" anchor="ctr"/>
          <a:lstStyle/>
          <a:p>
            <a:pPr algn="ctr">
              <a:lnSpc>
                <a:spcPct val="130000"/>
              </a:lnSpc>
            </a:pPr>
            <a:r>
              <a:rPr lang="en-US" sz="1013" b="1" dirty="0">
                <a:solidFill>
                  <a:srgbClr val="FFFFFF"/>
                </a:solidFill>
                <a:latin typeface="Quattrocento Sans" pitchFamily="34" charset="0"/>
                <a:ea typeface="Quattrocento Sans" pitchFamily="34" charset="-122"/>
                <a:cs typeface="Quattrocento Sans" pitchFamily="34" charset="-120"/>
              </a:rPr>
              <a:t>02</a:t>
            </a:r>
            <a:endParaRPr lang="en-US" sz="1200" dirty="0"/>
          </a:p>
        </p:txBody>
      </p:sp>
      <p:sp>
        <p:nvSpPr>
          <p:cNvPr id="23" name="Shape 21"/>
          <p:cNvSpPr/>
          <p:nvPr/>
        </p:nvSpPr>
        <p:spPr>
          <a:xfrm>
            <a:off x="5319303" y="1619845"/>
            <a:ext cx="450056" cy="450056"/>
          </a:xfrm>
          <a:prstGeom prst="roundRect">
            <a:avLst>
              <a:gd name="adj" fmla="val 50000"/>
            </a:avLst>
          </a:prstGeom>
          <a:solidFill>
            <a:srgbClr val="232F72"/>
          </a:solidFill>
          <a:ln/>
        </p:spPr>
        <p:txBody>
          <a:bodyPr/>
          <a:lstStyle/>
          <a:p>
            <a:endParaRPr lang="en-US"/>
          </a:p>
        </p:txBody>
      </p:sp>
      <p:sp>
        <p:nvSpPr>
          <p:cNvPr id="24" name="Shape 22"/>
          <p:cNvSpPr/>
          <p:nvPr/>
        </p:nvSpPr>
        <p:spPr>
          <a:xfrm>
            <a:off x="5448783" y="1748432"/>
            <a:ext cx="192881" cy="192881"/>
          </a:xfrm>
          <a:custGeom>
            <a:avLst/>
            <a:gdLst/>
            <a:ahLst/>
            <a:cxnLst/>
            <a:rect l="l" t="t" r="r" b="b"/>
            <a:pathLst>
              <a:path w="257175" h="257175">
                <a:moveTo>
                  <a:pt x="100459" y="24110"/>
                </a:moveTo>
                <a:lnTo>
                  <a:pt x="156716" y="24110"/>
                </a:lnTo>
                <a:cubicBezTo>
                  <a:pt x="158926" y="24110"/>
                  <a:pt x="160734" y="25918"/>
                  <a:pt x="160734" y="28129"/>
                </a:cubicBezTo>
                <a:lnTo>
                  <a:pt x="160734" y="48220"/>
                </a:lnTo>
                <a:lnTo>
                  <a:pt x="96441" y="48220"/>
                </a:lnTo>
                <a:lnTo>
                  <a:pt x="96441" y="28129"/>
                </a:lnTo>
                <a:cubicBezTo>
                  <a:pt x="96441" y="25918"/>
                  <a:pt x="98249" y="24110"/>
                  <a:pt x="100459" y="24110"/>
                </a:cubicBezTo>
                <a:close/>
                <a:moveTo>
                  <a:pt x="72330" y="28129"/>
                </a:moveTo>
                <a:lnTo>
                  <a:pt x="72330" y="48220"/>
                </a:lnTo>
                <a:lnTo>
                  <a:pt x="32147" y="48220"/>
                </a:lnTo>
                <a:cubicBezTo>
                  <a:pt x="14416" y="48220"/>
                  <a:pt x="0" y="62636"/>
                  <a:pt x="0" y="80367"/>
                </a:cubicBezTo>
                <a:lnTo>
                  <a:pt x="0" y="128588"/>
                </a:lnTo>
                <a:lnTo>
                  <a:pt x="257175" y="128588"/>
                </a:lnTo>
                <a:lnTo>
                  <a:pt x="257175" y="80367"/>
                </a:lnTo>
                <a:cubicBezTo>
                  <a:pt x="257175" y="62636"/>
                  <a:pt x="242759" y="48220"/>
                  <a:pt x="225028" y="48220"/>
                </a:cubicBezTo>
                <a:lnTo>
                  <a:pt x="184845" y="48220"/>
                </a:lnTo>
                <a:lnTo>
                  <a:pt x="184845" y="28129"/>
                </a:lnTo>
                <a:cubicBezTo>
                  <a:pt x="184845" y="12608"/>
                  <a:pt x="172237" y="0"/>
                  <a:pt x="156716" y="0"/>
                </a:cubicBezTo>
                <a:lnTo>
                  <a:pt x="100459" y="0"/>
                </a:lnTo>
                <a:cubicBezTo>
                  <a:pt x="84938" y="0"/>
                  <a:pt x="72330" y="12608"/>
                  <a:pt x="72330" y="28129"/>
                </a:cubicBezTo>
                <a:close/>
                <a:moveTo>
                  <a:pt x="257175" y="152698"/>
                </a:moveTo>
                <a:lnTo>
                  <a:pt x="160734" y="152698"/>
                </a:lnTo>
                <a:lnTo>
                  <a:pt x="160734" y="160734"/>
                </a:lnTo>
                <a:cubicBezTo>
                  <a:pt x="160734" y="169625"/>
                  <a:pt x="153552" y="176808"/>
                  <a:pt x="144661" y="176808"/>
                </a:cubicBezTo>
                <a:lnTo>
                  <a:pt x="112514" y="176808"/>
                </a:lnTo>
                <a:cubicBezTo>
                  <a:pt x="103623" y="176808"/>
                  <a:pt x="96441" y="169625"/>
                  <a:pt x="96441" y="160734"/>
                </a:cubicBezTo>
                <a:lnTo>
                  <a:pt x="96441" y="152698"/>
                </a:lnTo>
                <a:lnTo>
                  <a:pt x="0" y="152698"/>
                </a:lnTo>
                <a:lnTo>
                  <a:pt x="0" y="208955"/>
                </a:lnTo>
                <a:cubicBezTo>
                  <a:pt x="0" y="226686"/>
                  <a:pt x="14416" y="241102"/>
                  <a:pt x="32147" y="241102"/>
                </a:cubicBezTo>
                <a:lnTo>
                  <a:pt x="225028" y="241102"/>
                </a:lnTo>
                <a:cubicBezTo>
                  <a:pt x="242759" y="241102"/>
                  <a:pt x="257175" y="226686"/>
                  <a:pt x="257175" y="208955"/>
                </a:cubicBezTo>
                <a:lnTo>
                  <a:pt x="257175" y="152698"/>
                </a:lnTo>
                <a:close/>
              </a:path>
            </a:pathLst>
          </a:custGeom>
          <a:solidFill>
            <a:srgbClr val="FFFFFF"/>
          </a:solidFill>
          <a:ln/>
        </p:spPr>
        <p:txBody>
          <a:bodyPr/>
          <a:lstStyle/>
          <a:p>
            <a:endParaRPr lang="en-US"/>
          </a:p>
        </p:txBody>
      </p:sp>
      <p:sp>
        <p:nvSpPr>
          <p:cNvPr id="25" name="Text 23"/>
          <p:cNvSpPr/>
          <p:nvPr/>
        </p:nvSpPr>
        <p:spPr>
          <a:xfrm>
            <a:off x="5897946" y="1716285"/>
            <a:ext cx="1160860" cy="257175"/>
          </a:xfrm>
          <a:prstGeom prst="rect">
            <a:avLst/>
          </a:prstGeom>
          <a:noFill/>
          <a:ln/>
        </p:spPr>
        <p:txBody>
          <a:bodyPr wrap="square" lIns="0" tIns="0" rIns="0" bIns="0" rtlCol="0" anchor="ctr"/>
          <a:lstStyle/>
          <a:p>
            <a:pPr>
              <a:lnSpc>
                <a:spcPct val="110000"/>
              </a:lnSpc>
            </a:pPr>
            <a:r>
              <a:rPr lang="en-US" sz="1519" b="1" dirty="0">
                <a:solidFill>
                  <a:srgbClr val="121358"/>
                </a:solidFill>
                <a:latin typeface="Quattrocento Sans" pitchFamily="34" charset="0"/>
                <a:ea typeface="Quattrocento Sans" pitchFamily="34" charset="-122"/>
                <a:cs typeface="Quattrocento Sans" pitchFamily="34" charset="-120"/>
              </a:rPr>
              <a:t>Employment</a:t>
            </a:r>
            <a:endParaRPr lang="en-US" sz="1200" dirty="0"/>
          </a:p>
        </p:txBody>
      </p:sp>
      <p:sp>
        <p:nvSpPr>
          <p:cNvPr id="26" name="Text 24"/>
          <p:cNvSpPr/>
          <p:nvPr/>
        </p:nvSpPr>
        <p:spPr>
          <a:xfrm>
            <a:off x="4847815" y="2198488"/>
            <a:ext cx="3871913" cy="207169"/>
          </a:xfrm>
          <a:prstGeom prst="rect">
            <a:avLst/>
          </a:prstGeom>
          <a:noFill/>
          <a:ln/>
        </p:spPr>
        <p:txBody>
          <a:bodyPr wrap="square" lIns="0" tIns="0" rIns="0" bIns="0" rtlCol="0" anchor="ctr"/>
          <a:lstStyle/>
          <a:p>
            <a:pPr>
              <a:lnSpc>
                <a:spcPct val="140000"/>
              </a:lnSpc>
            </a:pPr>
            <a:r>
              <a:rPr lang="en-US" sz="1013" dirty="0">
                <a:solidFill>
                  <a:srgbClr val="364153"/>
                </a:solidFill>
                <a:latin typeface="Quattrocento Sans" pitchFamily="34" charset="0"/>
                <a:ea typeface="Quattrocento Sans" pitchFamily="34" charset="-122"/>
                <a:cs typeface="Quattrocento Sans" pitchFamily="34" charset="-120"/>
              </a:rPr>
              <a:t>Tracks job nature and labor force participation status.</a:t>
            </a:r>
            <a:endParaRPr lang="en-US" sz="1200" dirty="0"/>
          </a:p>
        </p:txBody>
      </p:sp>
      <p:sp>
        <p:nvSpPr>
          <p:cNvPr id="27" name="Shape 25"/>
          <p:cNvSpPr/>
          <p:nvPr/>
        </p:nvSpPr>
        <p:spPr>
          <a:xfrm>
            <a:off x="4847816" y="2536030"/>
            <a:ext cx="707231" cy="228600"/>
          </a:xfrm>
          <a:prstGeom prst="roundRect">
            <a:avLst>
              <a:gd name="adj" fmla="val 50000"/>
            </a:avLst>
          </a:prstGeom>
          <a:solidFill>
            <a:srgbClr val="CBFBF1"/>
          </a:solidFill>
          <a:ln/>
        </p:spPr>
        <p:txBody>
          <a:bodyPr/>
          <a:lstStyle/>
          <a:p>
            <a:endParaRPr lang="en-US"/>
          </a:p>
        </p:txBody>
      </p:sp>
      <p:sp>
        <p:nvSpPr>
          <p:cNvPr id="28" name="Text 26"/>
          <p:cNvSpPr/>
          <p:nvPr/>
        </p:nvSpPr>
        <p:spPr>
          <a:xfrm>
            <a:off x="4847815" y="2536030"/>
            <a:ext cx="763488" cy="228600"/>
          </a:xfrm>
          <a:prstGeom prst="rect">
            <a:avLst/>
          </a:prstGeom>
          <a:noFill/>
          <a:ln/>
        </p:spPr>
        <p:txBody>
          <a:bodyPr wrap="square" lIns="96441" tIns="32147" rIns="96441" bIns="32147" rtlCol="0" anchor="ctr"/>
          <a:lstStyle/>
          <a:p>
            <a:pPr>
              <a:lnSpc>
                <a:spcPct val="120000"/>
              </a:lnSpc>
            </a:pPr>
            <a:r>
              <a:rPr lang="en-US" sz="886" b="1" dirty="0">
                <a:solidFill>
                  <a:srgbClr val="005F5A"/>
                </a:solidFill>
                <a:latin typeface="Quattrocento Sans" pitchFamily="34" charset="0"/>
                <a:ea typeface="Quattrocento Sans" pitchFamily="34" charset="-122"/>
                <a:cs typeface="Quattrocento Sans" pitchFamily="34" charset="-120"/>
              </a:rPr>
              <a:t>Job Nature</a:t>
            </a:r>
            <a:endParaRPr lang="en-US" sz="1200" dirty="0"/>
          </a:p>
        </p:txBody>
      </p:sp>
      <p:sp>
        <p:nvSpPr>
          <p:cNvPr id="29" name="Shape 27"/>
          <p:cNvSpPr/>
          <p:nvPr/>
        </p:nvSpPr>
        <p:spPr>
          <a:xfrm>
            <a:off x="5621014" y="2536030"/>
            <a:ext cx="771525" cy="228600"/>
          </a:xfrm>
          <a:prstGeom prst="roundRect">
            <a:avLst>
              <a:gd name="adj" fmla="val 50000"/>
            </a:avLst>
          </a:prstGeom>
          <a:solidFill>
            <a:srgbClr val="CBFBF1"/>
          </a:solidFill>
          <a:ln/>
        </p:spPr>
        <p:txBody>
          <a:bodyPr/>
          <a:lstStyle/>
          <a:p>
            <a:endParaRPr lang="en-US"/>
          </a:p>
        </p:txBody>
      </p:sp>
      <p:sp>
        <p:nvSpPr>
          <p:cNvPr id="30" name="Text 28"/>
          <p:cNvSpPr/>
          <p:nvPr/>
        </p:nvSpPr>
        <p:spPr>
          <a:xfrm>
            <a:off x="5621015" y="2536030"/>
            <a:ext cx="827782" cy="228600"/>
          </a:xfrm>
          <a:prstGeom prst="rect">
            <a:avLst/>
          </a:prstGeom>
          <a:noFill/>
          <a:ln/>
        </p:spPr>
        <p:txBody>
          <a:bodyPr wrap="square" lIns="96441" tIns="32147" rIns="96441" bIns="32147" rtlCol="0" anchor="ctr"/>
          <a:lstStyle/>
          <a:p>
            <a:pPr>
              <a:lnSpc>
                <a:spcPct val="120000"/>
              </a:lnSpc>
            </a:pPr>
            <a:r>
              <a:rPr lang="en-US" sz="886" b="1" dirty="0">
                <a:solidFill>
                  <a:srgbClr val="005F5A"/>
                </a:solidFill>
                <a:latin typeface="Quattrocento Sans" pitchFamily="34" charset="0"/>
                <a:ea typeface="Quattrocento Sans" pitchFamily="34" charset="-122"/>
                <a:cs typeface="Quattrocento Sans" pitchFamily="34" charset="-120"/>
              </a:rPr>
              <a:t>Labor Force</a:t>
            </a:r>
            <a:endParaRPr lang="en-US" sz="1200" dirty="0"/>
          </a:p>
        </p:txBody>
      </p:sp>
      <p:sp>
        <p:nvSpPr>
          <p:cNvPr id="31" name="Shape 29"/>
          <p:cNvSpPr/>
          <p:nvPr/>
        </p:nvSpPr>
        <p:spPr>
          <a:xfrm>
            <a:off x="6456275" y="2536030"/>
            <a:ext cx="492919" cy="228600"/>
          </a:xfrm>
          <a:prstGeom prst="roundRect">
            <a:avLst>
              <a:gd name="adj" fmla="val 50000"/>
            </a:avLst>
          </a:prstGeom>
          <a:solidFill>
            <a:srgbClr val="CBFBF1"/>
          </a:solidFill>
          <a:ln/>
        </p:spPr>
        <p:txBody>
          <a:bodyPr/>
          <a:lstStyle/>
          <a:p>
            <a:endParaRPr lang="en-US"/>
          </a:p>
        </p:txBody>
      </p:sp>
      <p:sp>
        <p:nvSpPr>
          <p:cNvPr id="32" name="Text 30"/>
          <p:cNvSpPr/>
          <p:nvPr/>
        </p:nvSpPr>
        <p:spPr>
          <a:xfrm>
            <a:off x="6456275" y="2536030"/>
            <a:ext cx="549176" cy="228600"/>
          </a:xfrm>
          <a:prstGeom prst="rect">
            <a:avLst/>
          </a:prstGeom>
          <a:noFill/>
          <a:ln/>
        </p:spPr>
        <p:txBody>
          <a:bodyPr wrap="square" lIns="96441" tIns="32147" rIns="96441" bIns="32147" rtlCol="0" anchor="ctr"/>
          <a:lstStyle/>
          <a:p>
            <a:pPr>
              <a:lnSpc>
                <a:spcPct val="120000"/>
              </a:lnSpc>
            </a:pPr>
            <a:r>
              <a:rPr lang="en-US" sz="886" b="1" dirty="0">
                <a:solidFill>
                  <a:srgbClr val="005F5A"/>
                </a:solidFill>
                <a:latin typeface="Quattrocento Sans" pitchFamily="34" charset="0"/>
                <a:ea typeface="Quattrocento Sans" pitchFamily="34" charset="-122"/>
                <a:cs typeface="Quattrocento Sans" pitchFamily="34" charset="-120"/>
              </a:rPr>
              <a:t>Status</a:t>
            </a:r>
            <a:endParaRPr lang="en-US" sz="1200" dirty="0"/>
          </a:p>
        </p:txBody>
      </p:sp>
      <p:sp>
        <p:nvSpPr>
          <p:cNvPr id="33" name="Shape 31"/>
          <p:cNvSpPr/>
          <p:nvPr/>
        </p:nvSpPr>
        <p:spPr>
          <a:xfrm>
            <a:off x="272244" y="3146821"/>
            <a:ext cx="4193381" cy="1528763"/>
          </a:xfrm>
          <a:prstGeom prst="roundRect">
            <a:avLst>
              <a:gd name="adj" fmla="val 6308"/>
            </a:avLst>
          </a:prstGeom>
          <a:solidFill>
            <a:srgbClr val="FFFFFF"/>
          </a:solidFill>
          <a:ln/>
          <a:effectLst>
            <a:outerShdw blurRad="57150" dist="38100" dir="5400000" algn="bl" rotWithShape="0">
              <a:srgbClr val="000000">
                <a:alpha val="10196"/>
              </a:srgbClr>
            </a:outerShdw>
          </a:effectLst>
        </p:spPr>
        <p:txBody>
          <a:bodyPr/>
          <a:lstStyle/>
          <a:p>
            <a:endParaRPr lang="en-US"/>
          </a:p>
        </p:txBody>
      </p:sp>
      <p:sp>
        <p:nvSpPr>
          <p:cNvPr id="34" name="Shape 32"/>
          <p:cNvSpPr/>
          <p:nvPr/>
        </p:nvSpPr>
        <p:spPr>
          <a:xfrm>
            <a:off x="465124" y="3393280"/>
            <a:ext cx="342900" cy="342900"/>
          </a:xfrm>
          <a:prstGeom prst="roundRect">
            <a:avLst>
              <a:gd name="adj" fmla="val 50000"/>
            </a:avLst>
          </a:prstGeom>
          <a:solidFill>
            <a:srgbClr val="36ADA3"/>
          </a:solidFill>
          <a:ln/>
        </p:spPr>
        <p:txBody>
          <a:bodyPr/>
          <a:lstStyle/>
          <a:p>
            <a:endParaRPr lang="en-US"/>
          </a:p>
        </p:txBody>
      </p:sp>
      <p:sp>
        <p:nvSpPr>
          <p:cNvPr id="35" name="Text 33"/>
          <p:cNvSpPr/>
          <p:nvPr/>
        </p:nvSpPr>
        <p:spPr>
          <a:xfrm>
            <a:off x="432978" y="3393280"/>
            <a:ext cx="407194" cy="342900"/>
          </a:xfrm>
          <a:prstGeom prst="rect">
            <a:avLst/>
          </a:prstGeom>
          <a:noFill/>
          <a:ln/>
        </p:spPr>
        <p:txBody>
          <a:bodyPr wrap="square" lIns="0" tIns="0" rIns="0" bIns="0" rtlCol="0" anchor="ctr"/>
          <a:lstStyle/>
          <a:p>
            <a:pPr algn="ctr">
              <a:lnSpc>
                <a:spcPct val="130000"/>
              </a:lnSpc>
            </a:pPr>
            <a:r>
              <a:rPr lang="en-US" sz="1013" b="1" dirty="0">
                <a:solidFill>
                  <a:srgbClr val="FFFFFF"/>
                </a:solidFill>
                <a:latin typeface="Quattrocento Sans" pitchFamily="34" charset="0"/>
                <a:ea typeface="Quattrocento Sans" pitchFamily="34" charset="-122"/>
                <a:cs typeface="Quattrocento Sans" pitchFamily="34" charset="-120"/>
              </a:rPr>
              <a:t>03</a:t>
            </a:r>
            <a:endParaRPr lang="en-US" sz="1200" dirty="0"/>
          </a:p>
        </p:txBody>
      </p:sp>
      <p:sp>
        <p:nvSpPr>
          <p:cNvPr id="36" name="Shape 34"/>
          <p:cNvSpPr/>
          <p:nvPr/>
        </p:nvSpPr>
        <p:spPr>
          <a:xfrm>
            <a:off x="936612" y="3339703"/>
            <a:ext cx="450056" cy="450056"/>
          </a:xfrm>
          <a:prstGeom prst="roundRect">
            <a:avLst>
              <a:gd name="adj" fmla="val 50000"/>
            </a:avLst>
          </a:prstGeom>
          <a:solidFill>
            <a:srgbClr val="36ADA3">
              <a:alpha val="86000"/>
            </a:srgbClr>
          </a:solidFill>
          <a:ln/>
        </p:spPr>
        <p:txBody>
          <a:bodyPr/>
          <a:lstStyle/>
          <a:p>
            <a:endParaRPr lang="en-US"/>
          </a:p>
        </p:txBody>
      </p:sp>
      <p:sp>
        <p:nvSpPr>
          <p:cNvPr id="37" name="Shape 35"/>
          <p:cNvSpPr/>
          <p:nvPr/>
        </p:nvSpPr>
        <p:spPr>
          <a:xfrm>
            <a:off x="1054037" y="3468290"/>
            <a:ext cx="216992" cy="192881"/>
          </a:xfrm>
          <a:custGeom>
            <a:avLst/>
            <a:gdLst/>
            <a:ahLst/>
            <a:cxnLst/>
            <a:rect l="l" t="t" r="r" b="b"/>
            <a:pathLst>
              <a:path w="289322" h="257175">
                <a:moveTo>
                  <a:pt x="24110" y="98349"/>
                </a:moveTo>
                <a:lnTo>
                  <a:pt x="129190" y="141597"/>
                </a:lnTo>
                <a:cubicBezTo>
                  <a:pt x="134113" y="143606"/>
                  <a:pt x="139337" y="144661"/>
                  <a:pt x="144661" y="144661"/>
                </a:cubicBezTo>
                <a:cubicBezTo>
                  <a:pt x="149985" y="144661"/>
                  <a:pt x="155209" y="143606"/>
                  <a:pt x="160132" y="141597"/>
                </a:cubicBezTo>
                <a:lnTo>
                  <a:pt x="281888" y="91468"/>
                </a:lnTo>
                <a:cubicBezTo>
                  <a:pt x="286409" y="89609"/>
                  <a:pt x="289322" y="85239"/>
                  <a:pt x="289322" y="80367"/>
                </a:cubicBezTo>
                <a:cubicBezTo>
                  <a:pt x="289322" y="75495"/>
                  <a:pt x="286409" y="71125"/>
                  <a:pt x="281888" y="69266"/>
                </a:cubicBezTo>
                <a:lnTo>
                  <a:pt x="160132" y="19137"/>
                </a:lnTo>
                <a:cubicBezTo>
                  <a:pt x="155209" y="17128"/>
                  <a:pt x="149985" y="16073"/>
                  <a:pt x="144661" y="16073"/>
                </a:cubicBezTo>
                <a:cubicBezTo>
                  <a:pt x="139337" y="16073"/>
                  <a:pt x="134113" y="17128"/>
                  <a:pt x="129190" y="19137"/>
                </a:cubicBezTo>
                <a:lnTo>
                  <a:pt x="7434" y="69266"/>
                </a:lnTo>
                <a:cubicBezTo>
                  <a:pt x="2913" y="71125"/>
                  <a:pt x="0" y="75495"/>
                  <a:pt x="0" y="80367"/>
                </a:cubicBezTo>
                <a:lnTo>
                  <a:pt x="0" y="229046"/>
                </a:lnTo>
                <a:cubicBezTo>
                  <a:pt x="0" y="235727"/>
                  <a:pt x="5375" y="241102"/>
                  <a:pt x="12055" y="241102"/>
                </a:cubicBezTo>
                <a:cubicBezTo>
                  <a:pt x="18736" y="241102"/>
                  <a:pt x="24110" y="235727"/>
                  <a:pt x="24110" y="229046"/>
                </a:cubicBezTo>
                <a:lnTo>
                  <a:pt x="24110" y="98349"/>
                </a:lnTo>
                <a:close/>
                <a:moveTo>
                  <a:pt x="48220" y="134364"/>
                </a:moveTo>
                <a:lnTo>
                  <a:pt x="48220" y="192881"/>
                </a:lnTo>
                <a:cubicBezTo>
                  <a:pt x="48220" y="219503"/>
                  <a:pt x="91418" y="241102"/>
                  <a:pt x="144661" y="241102"/>
                </a:cubicBezTo>
                <a:cubicBezTo>
                  <a:pt x="197904" y="241102"/>
                  <a:pt x="241102" y="219503"/>
                  <a:pt x="241102" y="192881"/>
                </a:cubicBezTo>
                <a:lnTo>
                  <a:pt x="241102" y="134314"/>
                </a:lnTo>
                <a:lnTo>
                  <a:pt x="169324" y="163899"/>
                </a:lnTo>
                <a:cubicBezTo>
                  <a:pt x="161488" y="167114"/>
                  <a:pt x="153150" y="168771"/>
                  <a:pt x="144661" y="168771"/>
                </a:cubicBezTo>
                <a:cubicBezTo>
                  <a:pt x="136172" y="168771"/>
                  <a:pt x="127834" y="167114"/>
                  <a:pt x="119998" y="163899"/>
                </a:cubicBezTo>
                <a:lnTo>
                  <a:pt x="48220" y="134314"/>
                </a:lnTo>
                <a:close/>
              </a:path>
            </a:pathLst>
          </a:custGeom>
          <a:solidFill>
            <a:srgbClr val="FFFFFF"/>
          </a:solidFill>
          <a:ln/>
        </p:spPr>
        <p:txBody>
          <a:bodyPr/>
          <a:lstStyle/>
          <a:p>
            <a:endParaRPr lang="en-US"/>
          </a:p>
        </p:txBody>
      </p:sp>
      <p:sp>
        <p:nvSpPr>
          <p:cNvPr id="38" name="Text 36"/>
          <p:cNvSpPr/>
          <p:nvPr/>
        </p:nvSpPr>
        <p:spPr>
          <a:xfrm>
            <a:off x="1515256" y="3436143"/>
            <a:ext cx="925116" cy="257175"/>
          </a:xfrm>
          <a:prstGeom prst="rect">
            <a:avLst/>
          </a:prstGeom>
          <a:noFill/>
          <a:ln/>
        </p:spPr>
        <p:txBody>
          <a:bodyPr wrap="square" lIns="0" tIns="0" rIns="0" bIns="0" rtlCol="0" anchor="ctr"/>
          <a:lstStyle/>
          <a:p>
            <a:pPr>
              <a:lnSpc>
                <a:spcPct val="110000"/>
              </a:lnSpc>
            </a:pPr>
            <a:r>
              <a:rPr lang="en-US" sz="1519" b="1" dirty="0">
                <a:solidFill>
                  <a:srgbClr val="121358"/>
                </a:solidFill>
                <a:latin typeface="Quattrocento Sans" pitchFamily="34" charset="0"/>
                <a:ea typeface="Quattrocento Sans" pitchFamily="34" charset="-122"/>
                <a:cs typeface="Quattrocento Sans" pitchFamily="34" charset="-120"/>
              </a:rPr>
              <a:t>Education</a:t>
            </a:r>
            <a:endParaRPr lang="en-US" sz="1200" dirty="0"/>
          </a:p>
        </p:txBody>
      </p:sp>
      <p:sp>
        <p:nvSpPr>
          <p:cNvPr id="39" name="Text 37"/>
          <p:cNvSpPr/>
          <p:nvPr/>
        </p:nvSpPr>
        <p:spPr>
          <a:xfrm>
            <a:off x="465124" y="3918346"/>
            <a:ext cx="3871913" cy="207169"/>
          </a:xfrm>
          <a:prstGeom prst="rect">
            <a:avLst/>
          </a:prstGeom>
          <a:noFill/>
          <a:ln/>
        </p:spPr>
        <p:txBody>
          <a:bodyPr wrap="square" lIns="0" tIns="0" rIns="0" bIns="0" rtlCol="0" anchor="ctr"/>
          <a:lstStyle/>
          <a:p>
            <a:pPr>
              <a:lnSpc>
                <a:spcPct val="140000"/>
              </a:lnSpc>
            </a:pPr>
            <a:r>
              <a:rPr lang="en-US" sz="1013" dirty="0">
                <a:solidFill>
                  <a:srgbClr val="364153"/>
                </a:solidFill>
                <a:latin typeface="Quattrocento Sans" pitchFamily="34" charset="0"/>
                <a:ea typeface="Quattrocento Sans" pitchFamily="34" charset="-122"/>
                <a:cs typeface="Quattrocento Sans" pitchFamily="34" charset="-120"/>
              </a:rPr>
              <a:t>Captures educational level and dropout reasons effectively.</a:t>
            </a:r>
            <a:endParaRPr lang="en-US" sz="1200" dirty="0"/>
          </a:p>
        </p:txBody>
      </p:sp>
      <p:sp>
        <p:nvSpPr>
          <p:cNvPr id="40" name="Shape 38"/>
          <p:cNvSpPr/>
          <p:nvPr/>
        </p:nvSpPr>
        <p:spPr>
          <a:xfrm>
            <a:off x="465124" y="4255888"/>
            <a:ext cx="957263" cy="228600"/>
          </a:xfrm>
          <a:prstGeom prst="roundRect">
            <a:avLst>
              <a:gd name="adj" fmla="val 50000"/>
            </a:avLst>
          </a:prstGeom>
          <a:solidFill>
            <a:srgbClr val="DBEAFE"/>
          </a:solidFill>
          <a:ln/>
        </p:spPr>
        <p:txBody>
          <a:bodyPr/>
          <a:lstStyle/>
          <a:p>
            <a:endParaRPr lang="en-US"/>
          </a:p>
        </p:txBody>
      </p:sp>
      <p:sp>
        <p:nvSpPr>
          <p:cNvPr id="41" name="Text 39"/>
          <p:cNvSpPr/>
          <p:nvPr/>
        </p:nvSpPr>
        <p:spPr>
          <a:xfrm>
            <a:off x="465125" y="4255888"/>
            <a:ext cx="1013519" cy="228600"/>
          </a:xfrm>
          <a:prstGeom prst="rect">
            <a:avLst/>
          </a:prstGeom>
          <a:noFill/>
          <a:ln/>
        </p:spPr>
        <p:txBody>
          <a:bodyPr wrap="square" lIns="96441" tIns="32147" rIns="96441" bIns="32147" rtlCol="0" anchor="ctr"/>
          <a:lstStyle/>
          <a:p>
            <a:pPr>
              <a:lnSpc>
                <a:spcPct val="120000"/>
              </a:lnSpc>
            </a:pPr>
            <a:r>
              <a:rPr lang="en-US" sz="886" b="1" dirty="0">
                <a:solidFill>
                  <a:srgbClr val="193CB8"/>
                </a:solidFill>
                <a:latin typeface="Quattrocento Sans" pitchFamily="34" charset="0"/>
                <a:ea typeface="Quattrocento Sans" pitchFamily="34" charset="-122"/>
                <a:cs typeface="Quattrocento Sans" pitchFamily="34" charset="-120"/>
              </a:rPr>
              <a:t>Education Level</a:t>
            </a:r>
            <a:endParaRPr lang="en-US" sz="1200" dirty="0"/>
          </a:p>
        </p:txBody>
      </p:sp>
      <p:sp>
        <p:nvSpPr>
          <p:cNvPr id="42" name="Shape 40"/>
          <p:cNvSpPr/>
          <p:nvPr/>
        </p:nvSpPr>
        <p:spPr>
          <a:xfrm>
            <a:off x="1488355" y="4255888"/>
            <a:ext cx="600075" cy="228600"/>
          </a:xfrm>
          <a:prstGeom prst="roundRect">
            <a:avLst>
              <a:gd name="adj" fmla="val 50000"/>
            </a:avLst>
          </a:prstGeom>
          <a:solidFill>
            <a:srgbClr val="DBEAFE"/>
          </a:solidFill>
          <a:ln/>
        </p:spPr>
        <p:txBody>
          <a:bodyPr/>
          <a:lstStyle/>
          <a:p>
            <a:endParaRPr lang="en-US"/>
          </a:p>
        </p:txBody>
      </p:sp>
      <p:sp>
        <p:nvSpPr>
          <p:cNvPr id="43" name="Text 41"/>
          <p:cNvSpPr/>
          <p:nvPr/>
        </p:nvSpPr>
        <p:spPr>
          <a:xfrm>
            <a:off x="1488355" y="4255888"/>
            <a:ext cx="656332" cy="228600"/>
          </a:xfrm>
          <a:prstGeom prst="rect">
            <a:avLst/>
          </a:prstGeom>
          <a:noFill/>
          <a:ln/>
        </p:spPr>
        <p:txBody>
          <a:bodyPr wrap="square" lIns="96441" tIns="32147" rIns="96441" bIns="32147" rtlCol="0" anchor="ctr"/>
          <a:lstStyle/>
          <a:p>
            <a:pPr>
              <a:lnSpc>
                <a:spcPct val="120000"/>
              </a:lnSpc>
            </a:pPr>
            <a:r>
              <a:rPr lang="en-US" sz="886" b="1" dirty="0">
                <a:solidFill>
                  <a:srgbClr val="193CB8"/>
                </a:solidFill>
                <a:latin typeface="Quattrocento Sans" pitchFamily="34" charset="0"/>
                <a:ea typeface="Quattrocento Sans" pitchFamily="34" charset="-122"/>
                <a:cs typeface="Quattrocento Sans" pitchFamily="34" charset="-120"/>
              </a:rPr>
              <a:t>Dropout</a:t>
            </a:r>
            <a:endParaRPr lang="en-US" sz="1200" dirty="0"/>
          </a:p>
        </p:txBody>
      </p:sp>
      <p:sp>
        <p:nvSpPr>
          <p:cNvPr id="44" name="Shape 42"/>
          <p:cNvSpPr/>
          <p:nvPr/>
        </p:nvSpPr>
        <p:spPr>
          <a:xfrm>
            <a:off x="2152277" y="4255888"/>
            <a:ext cx="600075" cy="228600"/>
          </a:xfrm>
          <a:prstGeom prst="roundRect">
            <a:avLst>
              <a:gd name="adj" fmla="val 50000"/>
            </a:avLst>
          </a:prstGeom>
          <a:solidFill>
            <a:srgbClr val="DBEAFE"/>
          </a:solidFill>
          <a:ln/>
        </p:spPr>
        <p:txBody>
          <a:bodyPr/>
          <a:lstStyle/>
          <a:p>
            <a:endParaRPr lang="en-US"/>
          </a:p>
        </p:txBody>
      </p:sp>
      <p:sp>
        <p:nvSpPr>
          <p:cNvPr id="45" name="Text 43"/>
          <p:cNvSpPr/>
          <p:nvPr/>
        </p:nvSpPr>
        <p:spPr>
          <a:xfrm>
            <a:off x="2152277" y="4255888"/>
            <a:ext cx="656332" cy="228600"/>
          </a:xfrm>
          <a:prstGeom prst="rect">
            <a:avLst/>
          </a:prstGeom>
          <a:noFill/>
          <a:ln/>
        </p:spPr>
        <p:txBody>
          <a:bodyPr wrap="square" lIns="96441" tIns="32147" rIns="96441" bIns="32147" rtlCol="0" anchor="ctr"/>
          <a:lstStyle/>
          <a:p>
            <a:pPr>
              <a:lnSpc>
                <a:spcPct val="120000"/>
              </a:lnSpc>
            </a:pPr>
            <a:r>
              <a:rPr lang="en-US" sz="886" b="1" dirty="0">
                <a:solidFill>
                  <a:srgbClr val="193CB8"/>
                </a:solidFill>
                <a:latin typeface="Quattrocento Sans" pitchFamily="34" charset="0"/>
                <a:ea typeface="Quattrocento Sans" pitchFamily="34" charset="-122"/>
                <a:cs typeface="Quattrocento Sans" pitchFamily="34" charset="-120"/>
              </a:rPr>
              <a:t>Reasons</a:t>
            </a:r>
            <a:endParaRPr lang="en-US" sz="1200" dirty="0"/>
          </a:p>
        </p:txBody>
      </p:sp>
      <p:sp>
        <p:nvSpPr>
          <p:cNvPr id="46" name="Shape 44"/>
          <p:cNvSpPr/>
          <p:nvPr/>
        </p:nvSpPr>
        <p:spPr>
          <a:xfrm>
            <a:off x="4654935" y="3146821"/>
            <a:ext cx="4193381" cy="1528763"/>
          </a:xfrm>
          <a:prstGeom prst="roundRect">
            <a:avLst>
              <a:gd name="adj" fmla="val 6308"/>
            </a:avLst>
          </a:prstGeom>
          <a:solidFill>
            <a:srgbClr val="FFFFFF"/>
          </a:solidFill>
          <a:ln/>
          <a:effectLst>
            <a:outerShdw blurRad="57150" dist="38100" dir="5400000" algn="bl" rotWithShape="0">
              <a:srgbClr val="000000">
                <a:alpha val="10196"/>
              </a:srgbClr>
            </a:outerShdw>
          </a:effectLst>
        </p:spPr>
        <p:txBody>
          <a:bodyPr/>
          <a:lstStyle/>
          <a:p>
            <a:endParaRPr lang="en-US"/>
          </a:p>
        </p:txBody>
      </p:sp>
      <p:sp>
        <p:nvSpPr>
          <p:cNvPr id="47" name="Shape 45"/>
          <p:cNvSpPr/>
          <p:nvPr/>
        </p:nvSpPr>
        <p:spPr>
          <a:xfrm>
            <a:off x="4847815" y="3393280"/>
            <a:ext cx="342900" cy="342900"/>
          </a:xfrm>
          <a:prstGeom prst="roundRect">
            <a:avLst>
              <a:gd name="adj" fmla="val 50000"/>
            </a:avLst>
          </a:prstGeom>
          <a:solidFill>
            <a:srgbClr val="36ADA3"/>
          </a:solidFill>
          <a:ln/>
        </p:spPr>
        <p:txBody>
          <a:bodyPr/>
          <a:lstStyle/>
          <a:p>
            <a:endParaRPr lang="en-US"/>
          </a:p>
        </p:txBody>
      </p:sp>
      <p:sp>
        <p:nvSpPr>
          <p:cNvPr id="48" name="Text 46"/>
          <p:cNvSpPr/>
          <p:nvPr/>
        </p:nvSpPr>
        <p:spPr>
          <a:xfrm>
            <a:off x="4815668" y="3393280"/>
            <a:ext cx="407194" cy="342900"/>
          </a:xfrm>
          <a:prstGeom prst="rect">
            <a:avLst/>
          </a:prstGeom>
          <a:noFill/>
          <a:ln/>
        </p:spPr>
        <p:txBody>
          <a:bodyPr wrap="square" lIns="0" tIns="0" rIns="0" bIns="0" rtlCol="0" anchor="ctr"/>
          <a:lstStyle/>
          <a:p>
            <a:pPr algn="ctr">
              <a:lnSpc>
                <a:spcPct val="130000"/>
              </a:lnSpc>
            </a:pPr>
            <a:r>
              <a:rPr lang="en-US" sz="1013" b="1" dirty="0">
                <a:solidFill>
                  <a:srgbClr val="FFFFFF"/>
                </a:solidFill>
                <a:latin typeface="Quattrocento Sans" pitchFamily="34" charset="0"/>
                <a:ea typeface="Quattrocento Sans" pitchFamily="34" charset="-122"/>
                <a:cs typeface="Quattrocento Sans" pitchFamily="34" charset="-120"/>
              </a:rPr>
              <a:t>04</a:t>
            </a:r>
            <a:endParaRPr lang="en-US" sz="1200" dirty="0"/>
          </a:p>
        </p:txBody>
      </p:sp>
      <p:sp>
        <p:nvSpPr>
          <p:cNvPr id="49" name="Shape 47"/>
          <p:cNvSpPr/>
          <p:nvPr/>
        </p:nvSpPr>
        <p:spPr>
          <a:xfrm>
            <a:off x="5319303" y="3339703"/>
            <a:ext cx="450056" cy="450056"/>
          </a:xfrm>
          <a:prstGeom prst="roundRect">
            <a:avLst>
              <a:gd name="adj" fmla="val 50000"/>
            </a:avLst>
          </a:prstGeom>
          <a:solidFill>
            <a:srgbClr val="36ADA3"/>
          </a:solidFill>
          <a:ln/>
        </p:spPr>
        <p:txBody>
          <a:bodyPr/>
          <a:lstStyle/>
          <a:p>
            <a:endParaRPr lang="en-US"/>
          </a:p>
        </p:txBody>
      </p:sp>
      <p:sp>
        <p:nvSpPr>
          <p:cNvPr id="50" name="Shape 48"/>
          <p:cNvSpPr/>
          <p:nvPr/>
        </p:nvSpPr>
        <p:spPr>
          <a:xfrm>
            <a:off x="5484948" y="3468290"/>
            <a:ext cx="120551" cy="192881"/>
          </a:xfrm>
          <a:custGeom>
            <a:avLst/>
            <a:gdLst/>
            <a:ahLst/>
            <a:cxnLst/>
            <a:rect l="l" t="t" r="r" b="b"/>
            <a:pathLst>
              <a:path w="160734" h="257175">
                <a:moveTo>
                  <a:pt x="68312" y="12055"/>
                </a:moveTo>
                <a:cubicBezTo>
                  <a:pt x="68312" y="5375"/>
                  <a:pt x="73687" y="0"/>
                  <a:pt x="80367" y="0"/>
                </a:cubicBezTo>
                <a:cubicBezTo>
                  <a:pt x="87048" y="0"/>
                  <a:pt x="92422" y="5375"/>
                  <a:pt x="92422" y="12055"/>
                </a:cubicBezTo>
                <a:lnTo>
                  <a:pt x="92422" y="32147"/>
                </a:lnTo>
                <a:lnTo>
                  <a:pt x="120551" y="32147"/>
                </a:lnTo>
                <a:cubicBezTo>
                  <a:pt x="129441" y="32147"/>
                  <a:pt x="136624" y="39330"/>
                  <a:pt x="136624" y="48220"/>
                </a:cubicBezTo>
                <a:cubicBezTo>
                  <a:pt x="136624" y="57111"/>
                  <a:pt x="129441" y="64294"/>
                  <a:pt x="120551" y="64294"/>
                </a:cubicBezTo>
                <a:lnTo>
                  <a:pt x="62837" y="64294"/>
                </a:lnTo>
                <a:cubicBezTo>
                  <a:pt x="50330" y="64294"/>
                  <a:pt x="40184" y="74440"/>
                  <a:pt x="40184" y="86947"/>
                </a:cubicBezTo>
                <a:cubicBezTo>
                  <a:pt x="40184" y="98249"/>
                  <a:pt x="48471" y="107792"/>
                  <a:pt x="59622" y="109400"/>
                </a:cubicBezTo>
                <a:lnTo>
                  <a:pt x="105633" y="115980"/>
                </a:lnTo>
                <a:cubicBezTo>
                  <a:pt x="132656" y="119848"/>
                  <a:pt x="152698" y="142953"/>
                  <a:pt x="152698" y="170228"/>
                </a:cubicBezTo>
                <a:cubicBezTo>
                  <a:pt x="152698" y="200516"/>
                  <a:pt x="128135" y="225028"/>
                  <a:pt x="97897" y="225028"/>
                </a:cubicBezTo>
                <a:lnTo>
                  <a:pt x="92422" y="225028"/>
                </a:lnTo>
                <a:lnTo>
                  <a:pt x="92422" y="245120"/>
                </a:lnTo>
                <a:cubicBezTo>
                  <a:pt x="92422" y="251800"/>
                  <a:pt x="87048" y="257175"/>
                  <a:pt x="80367" y="257175"/>
                </a:cubicBezTo>
                <a:cubicBezTo>
                  <a:pt x="73687" y="257175"/>
                  <a:pt x="68312" y="251800"/>
                  <a:pt x="68312" y="245120"/>
                </a:cubicBezTo>
                <a:lnTo>
                  <a:pt x="68312" y="225028"/>
                </a:lnTo>
                <a:lnTo>
                  <a:pt x="32147" y="225028"/>
                </a:lnTo>
                <a:cubicBezTo>
                  <a:pt x="23256" y="225028"/>
                  <a:pt x="16073" y="217845"/>
                  <a:pt x="16073" y="208955"/>
                </a:cubicBezTo>
                <a:cubicBezTo>
                  <a:pt x="16073" y="200064"/>
                  <a:pt x="23256" y="192881"/>
                  <a:pt x="32147" y="192881"/>
                </a:cubicBezTo>
                <a:lnTo>
                  <a:pt x="97897" y="192881"/>
                </a:lnTo>
                <a:cubicBezTo>
                  <a:pt x="110404" y="192881"/>
                  <a:pt x="120551" y="182735"/>
                  <a:pt x="120551" y="170228"/>
                </a:cubicBezTo>
                <a:cubicBezTo>
                  <a:pt x="120551" y="158926"/>
                  <a:pt x="112263" y="149383"/>
                  <a:pt x="101112" y="147775"/>
                </a:cubicBezTo>
                <a:lnTo>
                  <a:pt x="55102" y="141195"/>
                </a:lnTo>
                <a:cubicBezTo>
                  <a:pt x="28078" y="137378"/>
                  <a:pt x="8037" y="114222"/>
                  <a:pt x="8037" y="86947"/>
                </a:cubicBezTo>
                <a:cubicBezTo>
                  <a:pt x="8037" y="56709"/>
                  <a:pt x="32599" y="32147"/>
                  <a:pt x="62837" y="32147"/>
                </a:cubicBezTo>
                <a:lnTo>
                  <a:pt x="68312" y="32147"/>
                </a:lnTo>
                <a:lnTo>
                  <a:pt x="68312" y="12055"/>
                </a:lnTo>
                <a:close/>
              </a:path>
            </a:pathLst>
          </a:custGeom>
          <a:solidFill>
            <a:srgbClr val="FFFFFF"/>
          </a:solidFill>
          <a:ln/>
        </p:spPr>
        <p:txBody>
          <a:bodyPr/>
          <a:lstStyle/>
          <a:p>
            <a:endParaRPr lang="en-US"/>
          </a:p>
        </p:txBody>
      </p:sp>
      <p:sp>
        <p:nvSpPr>
          <p:cNvPr id="51" name="Text 49"/>
          <p:cNvSpPr/>
          <p:nvPr/>
        </p:nvSpPr>
        <p:spPr>
          <a:xfrm>
            <a:off x="5897946" y="3436143"/>
            <a:ext cx="725091" cy="257175"/>
          </a:xfrm>
          <a:prstGeom prst="rect">
            <a:avLst/>
          </a:prstGeom>
          <a:noFill/>
          <a:ln/>
        </p:spPr>
        <p:txBody>
          <a:bodyPr wrap="square" lIns="0" tIns="0" rIns="0" bIns="0" rtlCol="0" anchor="ctr"/>
          <a:lstStyle/>
          <a:p>
            <a:pPr>
              <a:lnSpc>
                <a:spcPct val="110000"/>
              </a:lnSpc>
            </a:pPr>
            <a:r>
              <a:rPr lang="en-US" sz="1519" b="1" dirty="0">
                <a:solidFill>
                  <a:srgbClr val="121358"/>
                </a:solidFill>
                <a:latin typeface="Quattrocento Sans" pitchFamily="34" charset="0"/>
                <a:ea typeface="Quattrocento Sans" pitchFamily="34" charset="-122"/>
                <a:cs typeface="Quattrocento Sans" pitchFamily="34" charset="-120"/>
              </a:rPr>
              <a:t>Income</a:t>
            </a:r>
            <a:endParaRPr lang="en-US" sz="1200" dirty="0"/>
          </a:p>
        </p:txBody>
      </p:sp>
      <p:sp>
        <p:nvSpPr>
          <p:cNvPr id="52" name="Text 50"/>
          <p:cNvSpPr/>
          <p:nvPr/>
        </p:nvSpPr>
        <p:spPr>
          <a:xfrm>
            <a:off x="4847815" y="3918346"/>
            <a:ext cx="3871913" cy="207169"/>
          </a:xfrm>
          <a:prstGeom prst="rect">
            <a:avLst/>
          </a:prstGeom>
          <a:noFill/>
          <a:ln/>
        </p:spPr>
        <p:txBody>
          <a:bodyPr wrap="square" lIns="0" tIns="0" rIns="0" bIns="0" rtlCol="0" anchor="ctr"/>
          <a:lstStyle/>
          <a:p>
            <a:pPr>
              <a:lnSpc>
                <a:spcPct val="140000"/>
              </a:lnSpc>
            </a:pPr>
            <a:r>
              <a:rPr lang="en-US" sz="1013" dirty="0">
                <a:solidFill>
                  <a:srgbClr val="364153"/>
                </a:solidFill>
                <a:latin typeface="Quattrocento Sans" pitchFamily="34" charset="0"/>
                <a:ea typeface="Quattrocento Sans" pitchFamily="34" charset="-122"/>
                <a:cs typeface="Quattrocento Sans" pitchFamily="34" charset="-120"/>
              </a:rPr>
              <a:t>Records basic salary and total monthly earnings.</a:t>
            </a:r>
            <a:endParaRPr lang="en-US" sz="1200" dirty="0"/>
          </a:p>
        </p:txBody>
      </p:sp>
      <p:sp>
        <p:nvSpPr>
          <p:cNvPr id="53" name="Shape 51"/>
          <p:cNvSpPr/>
          <p:nvPr/>
        </p:nvSpPr>
        <p:spPr>
          <a:xfrm>
            <a:off x="4847815" y="4255888"/>
            <a:ext cx="771525" cy="228600"/>
          </a:xfrm>
          <a:prstGeom prst="roundRect">
            <a:avLst>
              <a:gd name="adj" fmla="val 50000"/>
            </a:avLst>
          </a:prstGeom>
          <a:solidFill>
            <a:srgbClr val="F3E8FF"/>
          </a:solidFill>
          <a:ln/>
        </p:spPr>
        <p:txBody>
          <a:bodyPr/>
          <a:lstStyle/>
          <a:p>
            <a:endParaRPr lang="en-US"/>
          </a:p>
        </p:txBody>
      </p:sp>
      <p:sp>
        <p:nvSpPr>
          <p:cNvPr id="54" name="Text 52"/>
          <p:cNvSpPr/>
          <p:nvPr/>
        </p:nvSpPr>
        <p:spPr>
          <a:xfrm>
            <a:off x="4847816" y="4255888"/>
            <a:ext cx="827782" cy="228600"/>
          </a:xfrm>
          <a:prstGeom prst="rect">
            <a:avLst/>
          </a:prstGeom>
          <a:noFill/>
          <a:ln/>
        </p:spPr>
        <p:txBody>
          <a:bodyPr wrap="square" lIns="96441" tIns="32147" rIns="96441" bIns="32147" rtlCol="0" anchor="ctr"/>
          <a:lstStyle/>
          <a:p>
            <a:pPr>
              <a:lnSpc>
                <a:spcPct val="120000"/>
              </a:lnSpc>
            </a:pPr>
            <a:r>
              <a:rPr lang="en-US" sz="886" b="1" dirty="0">
                <a:solidFill>
                  <a:srgbClr val="6E11B0"/>
                </a:solidFill>
                <a:latin typeface="Quattrocento Sans" pitchFamily="34" charset="0"/>
                <a:ea typeface="Quattrocento Sans" pitchFamily="34" charset="-122"/>
                <a:cs typeface="Quattrocento Sans" pitchFamily="34" charset="-120"/>
              </a:rPr>
              <a:t>Basic Salary</a:t>
            </a:r>
            <a:endParaRPr lang="en-US" sz="1200" dirty="0"/>
          </a:p>
        </p:txBody>
      </p:sp>
      <p:sp>
        <p:nvSpPr>
          <p:cNvPr id="55" name="Shape 53"/>
          <p:cNvSpPr/>
          <p:nvPr/>
        </p:nvSpPr>
        <p:spPr>
          <a:xfrm>
            <a:off x="5682295" y="4255888"/>
            <a:ext cx="592931" cy="228600"/>
          </a:xfrm>
          <a:prstGeom prst="roundRect">
            <a:avLst>
              <a:gd name="adj" fmla="val 50000"/>
            </a:avLst>
          </a:prstGeom>
          <a:solidFill>
            <a:srgbClr val="F3E8FF"/>
          </a:solidFill>
          <a:ln/>
        </p:spPr>
        <p:txBody>
          <a:bodyPr/>
          <a:lstStyle/>
          <a:p>
            <a:endParaRPr lang="en-US"/>
          </a:p>
        </p:txBody>
      </p:sp>
      <p:sp>
        <p:nvSpPr>
          <p:cNvPr id="56" name="Text 54"/>
          <p:cNvSpPr/>
          <p:nvPr/>
        </p:nvSpPr>
        <p:spPr>
          <a:xfrm>
            <a:off x="5682295" y="4255888"/>
            <a:ext cx="649188" cy="228600"/>
          </a:xfrm>
          <a:prstGeom prst="rect">
            <a:avLst/>
          </a:prstGeom>
          <a:noFill/>
          <a:ln/>
        </p:spPr>
        <p:txBody>
          <a:bodyPr wrap="square" lIns="96441" tIns="32147" rIns="96441" bIns="32147" rtlCol="0" anchor="ctr"/>
          <a:lstStyle/>
          <a:p>
            <a:pPr>
              <a:lnSpc>
                <a:spcPct val="120000"/>
              </a:lnSpc>
            </a:pPr>
            <a:r>
              <a:rPr lang="en-US" sz="886" b="1" dirty="0">
                <a:solidFill>
                  <a:srgbClr val="6E11B0"/>
                </a:solidFill>
                <a:latin typeface="Quattrocento Sans" pitchFamily="34" charset="0"/>
                <a:ea typeface="Quattrocento Sans" pitchFamily="34" charset="-122"/>
                <a:cs typeface="Quattrocento Sans" pitchFamily="34" charset="-120"/>
              </a:rPr>
              <a:t>Monthly</a:t>
            </a:r>
            <a:endParaRPr lang="en-US" sz="1200" dirty="0"/>
          </a:p>
        </p:txBody>
      </p:sp>
      <p:sp>
        <p:nvSpPr>
          <p:cNvPr id="57" name="Shape 55"/>
          <p:cNvSpPr/>
          <p:nvPr/>
        </p:nvSpPr>
        <p:spPr>
          <a:xfrm>
            <a:off x="6340524" y="4255888"/>
            <a:ext cx="600075" cy="228600"/>
          </a:xfrm>
          <a:prstGeom prst="roundRect">
            <a:avLst>
              <a:gd name="adj" fmla="val 50000"/>
            </a:avLst>
          </a:prstGeom>
          <a:solidFill>
            <a:srgbClr val="F3E8FF"/>
          </a:solidFill>
          <a:ln/>
        </p:spPr>
        <p:txBody>
          <a:bodyPr/>
          <a:lstStyle/>
          <a:p>
            <a:endParaRPr lang="en-US"/>
          </a:p>
        </p:txBody>
      </p:sp>
      <p:sp>
        <p:nvSpPr>
          <p:cNvPr id="58" name="Text 56"/>
          <p:cNvSpPr/>
          <p:nvPr/>
        </p:nvSpPr>
        <p:spPr>
          <a:xfrm>
            <a:off x="6340524" y="4255888"/>
            <a:ext cx="656332" cy="228600"/>
          </a:xfrm>
          <a:prstGeom prst="rect">
            <a:avLst/>
          </a:prstGeom>
          <a:noFill/>
          <a:ln/>
        </p:spPr>
        <p:txBody>
          <a:bodyPr wrap="square" lIns="96441" tIns="32147" rIns="96441" bIns="32147" rtlCol="0" anchor="ctr"/>
          <a:lstStyle/>
          <a:p>
            <a:pPr>
              <a:lnSpc>
                <a:spcPct val="120000"/>
              </a:lnSpc>
            </a:pPr>
            <a:r>
              <a:rPr lang="en-US" sz="886" b="1" dirty="0">
                <a:solidFill>
                  <a:srgbClr val="6E11B0"/>
                </a:solidFill>
                <a:latin typeface="Quattrocento Sans" pitchFamily="34" charset="0"/>
                <a:ea typeface="Quattrocento Sans" pitchFamily="34" charset="-122"/>
                <a:cs typeface="Quattrocento Sans" pitchFamily="34" charset="-120"/>
              </a:rPr>
              <a:t>Earnings</a:t>
            </a:r>
            <a:endParaRPr lang="en-US" sz="1200" dirty="0"/>
          </a:p>
        </p:txBody>
      </p:sp>
      <p:pic>
        <p:nvPicPr>
          <p:cNvPr id="59" name="Image 0" descr="preencoded.png">
            <a:extLst>
              <a:ext uri="{FF2B5EF4-FFF2-40B4-BE49-F238E27FC236}">
                <a16:creationId xmlns:a16="http://schemas.microsoft.com/office/drawing/2014/main" id="{38E6B2B7-5021-A903-A884-D90163C0763A}"/>
              </a:ext>
            </a:extLst>
          </p:cNvPr>
          <p:cNvPicPr>
            <a:picLocks noChangeAspect="1"/>
          </p:cNvPicPr>
          <p:nvPr/>
        </p:nvPicPr>
        <p:blipFill>
          <a:blip r:embed="rId3"/>
          <a:stretch>
            <a:fillRect/>
          </a:stretch>
        </p:blipFill>
        <p:spPr>
          <a:xfrm>
            <a:off x="8046720" y="45720"/>
            <a:ext cx="685800" cy="676656"/>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1"/>
            <a:ext cx="9144000" cy="722377"/>
          </a:xfrm>
          <a:prstGeom prst="roundRect">
            <a:avLst>
              <a:gd name="adj" fmla="val 0"/>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241310" y="220750"/>
            <a:ext cx="3484343" cy="201439"/>
          </a:xfrm>
          <a:prstGeom prst="rect">
            <a:avLst/>
          </a:prstGeom>
          <a:noFill/>
          <a:ln/>
        </p:spPr>
        <p:txBody>
          <a:bodyPr wrap="square" lIns="0" tIns="0" rIns="0" bIns="0" rtlCol="0" anchor="ctr"/>
          <a:lstStyle/>
          <a:p>
            <a:pPr>
              <a:lnSpc>
                <a:spcPct val="90000"/>
              </a:lnSpc>
            </a:pPr>
            <a:r>
              <a:rPr lang="en-US" sz="1875" dirty="0">
                <a:solidFill>
                  <a:schemeClr val="bg1"/>
                </a:solidFill>
                <a:latin typeface="Quattrocento Sans"/>
                <a:ea typeface="+mn-lt"/>
                <a:cs typeface="+mn-lt"/>
              </a:rPr>
              <a:t>Stored Procedures Overview</a:t>
            </a:r>
            <a:endParaRPr lang="en-US" sz="1875" dirty="0">
              <a:solidFill>
                <a:schemeClr val="bg1"/>
              </a:solidFill>
              <a:latin typeface="Quattrocento Sans"/>
              <a:ea typeface="Calibri"/>
              <a:cs typeface="Calibri"/>
            </a:endParaRPr>
          </a:p>
        </p:txBody>
      </p:sp>
      <p:sp>
        <p:nvSpPr>
          <p:cNvPr id="5" name="Shape 3"/>
          <p:cNvSpPr/>
          <p:nvPr/>
        </p:nvSpPr>
        <p:spPr>
          <a:xfrm>
            <a:off x="238125" y="816786"/>
            <a:ext cx="1482329" cy="267891"/>
          </a:xfrm>
          <a:prstGeom prst="roundRect">
            <a:avLst>
              <a:gd name="adj" fmla="val 20000"/>
            </a:avLst>
          </a:prstGeom>
          <a:solidFill>
            <a:srgbClr val="36ADA3"/>
          </a:solidFill>
          <a:ln/>
        </p:spPr>
        <p:txBody>
          <a:bodyPr/>
          <a:lstStyle/>
          <a:p>
            <a:endParaRPr lang="en-US"/>
          </a:p>
        </p:txBody>
      </p:sp>
      <p:sp>
        <p:nvSpPr>
          <p:cNvPr id="6" name="Text 4"/>
          <p:cNvSpPr/>
          <p:nvPr/>
        </p:nvSpPr>
        <p:spPr>
          <a:xfrm>
            <a:off x="345282" y="870365"/>
            <a:ext cx="1321594" cy="160735"/>
          </a:xfrm>
          <a:prstGeom prst="rect">
            <a:avLst/>
          </a:prstGeom>
          <a:noFill/>
          <a:ln/>
        </p:spPr>
        <p:txBody>
          <a:bodyPr wrap="square" lIns="0" tIns="0" rIns="0" bIns="0" rtlCol="0" anchor="ctr"/>
          <a:lstStyle/>
          <a:p>
            <a:pPr>
              <a:lnSpc>
                <a:spcPct val="130000"/>
              </a:lnSpc>
            </a:pPr>
            <a:r>
              <a:rPr lang="en-US" sz="844" b="1" kern="0" spc="42" dirty="0">
                <a:solidFill>
                  <a:schemeClr val="bg1"/>
                </a:solidFill>
                <a:latin typeface="Quattrocento Sans" pitchFamily="34" charset="0"/>
                <a:ea typeface="Quattrocento Sans" pitchFamily="34" charset="-122"/>
                <a:cs typeface="Quattrocento Sans" pitchFamily="34" charset="-120"/>
              </a:rPr>
              <a:t>DATABASE OPERATIONS</a:t>
            </a:r>
            <a:endParaRPr lang="en-US" sz="1200" dirty="0">
              <a:solidFill>
                <a:schemeClr val="bg1"/>
              </a:solidFill>
            </a:endParaRPr>
          </a:p>
        </p:txBody>
      </p:sp>
      <p:sp>
        <p:nvSpPr>
          <p:cNvPr id="7" name="Shape 5"/>
          <p:cNvSpPr/>
          <p:nvPr/>
        </p:nvSpPr>
        <p:spPr>
          <a:xfrm>
            <a:off x="238125" y="1311455"/>
            <a:ext cx="8667750" cy="3738563"/>
          </a:xfrm>
          <a:prstGeom prst="roundRect">
            <a:avLst>
              <a:gd name="adj" fmla="val 2150"/>
            </a:avLst>
          </a:prstGeom>
          <a:solidFill>
            <a:srgbClr val="FFFFFF"/>
          </a:solidFill>
          <a:ln/>
          <a:effectLst>
            <a:outerShdw blurRad="47625" dist="31750" dir="5400000" algn="bl" rotWithShape="0">
              <a:srgbClr val="000000">
                <a:alpha val="10196"/>
              </a:srgbClr>
            </a:outerShdw>
          </a:effectLst>
        </p:spPr>
        <p:txBody>
          <a:bodyPr/>
          <a:lstStyle/>
          <a:p>
            <a:endParaRPr lang="en-US"/>
          </a:p>
        </p:txBody>
      </p:sp>
      <p:sp>
        <p:nvSpPr>
          <p:cNvPr id="8" name="Shape 6"/>
          <p:cNvSpPr/>
          <p:nvPr/>
        </p:nvSpPr>
        <p:spPr>
          <a:xfrm>
            <a:off x="452438" y="1525768"/>
            <a:ext cx="285750" cy="285750"/>
          </a:xfrm>
          <a:prstGeom prst="roundRect">
            <a:avLst>
              <a:gd name="adj" fmla="val 50000"/>
            </a:avLst>
          </a:prstGeom>
          <a:solidFill>
            <a:srgbClr val="36ADA3"/>
          </a:solidFill>
          <a:ln/>
        </p:spPr>
        <p:txBody>
          <a:bodyPr/>
          <a:lstStyle/>
          <a:p>
            <a:endParaRPr lang="en-US"/>
          </a:p>
        </p:txBody>
      </p:sp>
      <p:sp>
        <p:nvSpPr>
          <p:cNvPr id="9" name="Text 7"/>
          <p:cNvSpPr/>
          <p:nvPr/>
        </p:nvSpPr>
        <p:spPr>
          <a:xfrm>
            <a:off x="425648" y="1525768"/>
            <a:ext cx="339329" cy="285750"/>
          </a:xfrm>
          <a:prstGeom prst="rect">
            <a:avLst/>
          </a:prstGeom>
          <a:noFill/>
          <a:ln/>
        </p:spPr>
        <p:txBody>
          <a:bodyPr wrap="square" lIns="0" tIns="0" rIns="0" bIns="0" rtlCol="0" anchor="ctr"/>
          <a:lstStyle/>
          <a:p>
            <a:pPr algn="ctr">
              <a:lnSpc>
                <a:spcPct val="130000"/>
              </a:lnSpc>
            </a:pPr>
            <a:r>
              <a:rPr lang="en-US" sz="844" b="1" dirty="0">
                <a:solidFill>
                  <a:srgbClr val="FFFFFF"/>
                </a:solidFill>
                <a:latin typeface="Quattrocento Sans" pitchFamily="34" charset="0"/>
                <a:ea typeface="Quattrocento Sans" pitchFamily="34" charset="-122"/>
                <a:cs typeface="Quattrocento Sans" pitchFamily="34" charset="-120"/>
              </a:rPr>
              <a:t>05</a:t>
            </a:r>
            <a:endParaRPr lang="en-US" sz="1200" dirty="0"/>
          </a:p>
        </p:txBody>
      </p:sp>
      <p:sp>
        <p:nvSpPr>
          <p:cNvPr id="10" name="Text 8"/>
          <p:cNvSpPr/>
          <p:nvPr/>
        </p:nvSpPr>
        <p:spPr>
          <a:xfrm>
            <a:off x="898922" y="1525767"/>
            <a:ext cx="7873008" cy="214313"/>
          </a:xfrm>
          <a:prstGeom prst="rect">
            <a:avLst/>
          </a:prstGeom>
          <a:noFill/>
          <a:ln/>
        </p:spPr>
        <p:txBody>
          <a:bodyPr wrap="square" lIns="0" tIns="0" rIns="0" bIns="0" rtlCol="0" anchor="ctr"/>
          <a:lstStyle/>
          <a:p>
            <a:pPr>
              <a:lnSpc>
                <a:spcPct val="110000"/>
              </a:lnSpc>
            </a:pPr>
            <a:r>
              <a:rPr lang="en-US" sz="1266" b="1" dirty="0">
                <a:solidFill>
                  <a:srgbClr val="121358"/>
                </a:solidFill>
                <a:latin typeface="Quattrocento Sans" pitchFamily="34" charset="0"/>
                <a:ea typeface="Quattrocento Sans" pitchFamily="34" charset="-122"/>
                <a:cs typeface="Quattrocento Sans" pitchFamily="34" charset="-120"/>
              </a:rPr>
              <a:t>Complete CRUD Implementation</a:t>
            </a:r>
            <a:endParaRPr lang="en-US" sz="1200" dirty="0"/>
          </a:p>
        </p:txBody>
      </p:sp>
      <p:sp>
        <p:nvSpPr>
          <p:cNvPr id="11" name="Text 9"/>
          <p:cNvSpPr/>
          <p:nvPr/>
        </p:nvSpPr>
        <p:spPr>
          <a:xfrm>
            <a:off x="898923" y="1847144"/>
            <a:ext cx="7852916" cy="392906"/>
          </a:xfrm>
          <a:prstGeom prst="rect">
            <a:avLst/>
          </a:prstGeom>
          <a:noFill/>
          <a:ln/>
        </p:spPr>
        <p:txBody>
          <a:bodyPr wrap="square" lIns="0" tIns="0" rIns="0" bIns="0" rtlCol="0" anchor="ctr"/>
          <a:lstStyle/>
          <a:p>
            <a:pPr>
              <a:lnSpc>
                <a:spcPct val="140000"/>
              </a:lnSpc>
            </a:pPr>
            <a:r>
              <a:rPr lang="en-US" sz="949" dirty="0">
                <a:solidFill>
                  <a:srgbClr val="364153"/>
                </a:solidFill>
                <a:latin typeface="Quattrocento Sans" pitchFamily="34" charset="0"/>
                <a:ea typeface="Quattrocento Sans" pitchFamily="34" charset="-122"/>
                <a:cs typeface="Quattrocento Sans" pitchFamily="34" charset="-120"/>
              </a:rPr>
              <a:t>Each table has complete CRUD operations implemented. Select procedures support single and full table record retrieval. Cascading deletes on Individual remove linked child records.</a:t>
            </a:r>
            <a:endParaRPr lang="en-US" sz="1200" dirty="0"/>
          </a:p>
        </p:txBody>
      </p:sp>
      <p:sp>
        <p:nvSpPr>
          <p:cNvPr id="12" name="Shape 10"/>
          <p:cNvSpPr/>
          <p:nvPr/>
        </p:nvSpPr>
        <p:spPr>
          <a:xfrm>
            <a:off x="452438" y="2679465"/>
            <a:ext cx="1940719" cy="1273969"/>
          </a:xfrm>
          <a:custGeom>
            <a:avLst/>
            <a:gdLst/>
            <a:ahLst/>
            <a:cxnLst/>
            <a:rect l="l" t="t" r="r" b="b"/>
            <a:pathLst>
              <a:path w="2587625" h="1698625">
                <a:moveTo>
                  <a:pt x="31750" y="0"/>
                </a:moveTo>
                <a:lnTo>
                  <a:pt x="2555875" y="0"/>
                </a:lnTo>
                <a:cubicBezTo>
                  <a:pt x="2573398" y="0"/>
                  <a:pt x="2587625" y="14227"/>
                  <a:pt x="2587625" y="31750"/>
                </a:cubicBezTo>
                <a:lnTo>
                  <a:pt x="2587625" y="1627124"/>
                </a:lnTo>
                <a:cubicBezTo>
                  <a:pt x="2587625" y="1666613"/>
                  <a:pt x="2555613" y="1698625"/>
                  <a:pt x="2516124" y="1698625"/>
                </a:cubicBezTo>
                <a:lnTo>
                  <a:pt x="71501" y="1698625"/>
                </a:lnTo>
                <a:cubicBezTo>
                  <a:pt x="32012" y="1698625"/>
                  <a:pt x="0" y="1666613"/>
                  <a:pt x="0" y="1627124"/>
                </a:cubicBezTo>
                <a:lnTo>
                  <a:pt x="0" y="31750"/>
                </a:lnTo>
                <a:cubicBezTo>
                  <a:pt x="0" y="14227"/>
                  <a:pt x="14227" y="0"/>
                  <a:pt x="31750" y="0"/>
                </a:cubicBezTo>
                <a:close/>
              </a:path>
            </a:pathLst>
          </a:custGeom>
          <a:gradFill flip="none" rotWithShape="1">
            <a:gsLst>
              <a:gs pos="0">
                <a:srgbClr val="F0FDF4"/>
              </a:gs>
              <a:gs pos="100000">
                <a:srgbClr val="DCFCE7"/>
              </a:gs>
            </a:gsLst>
            <a:lin ang="2700000" scaled="1"/>
          </a:gradFill>
          <a:ln/>
        </p:spPr>
        <p:txBody>
          <a:bodyPr/>
          <a:lstStyle/>
          <a:p>
            <a:endParaRPr lang="en-US"/>
          </a:p>
        </p:txBody>
      </p:sp>
      <p:sp>
        <p:nvSpPr>
          <p:cNvPr id="13" name="Shape 11"/>
          <p:cNvSpPr/>
          <p:nvPr/>
        </p:nvSpPr>
        <p:spPr>
          <a:xfrm>
            <a:off x="452438" y="2679465"/>
            <a:ext cx="1940719" cy="23813"/>
          </a:xfrm>
          <a:custGeom>
            <a:avLst/>
            <a:gdLst/>
            <a:ahLst/>
            <a:cxnLst/>
            <a:rect l="l" t="t" r="r" b="b"/>
            <a:pathLst>
              <a:path w="2587625" h="31750">
                <a:moveTo>
                  <a:pt x="31750" y="0"/>
                </a:moveTo>
                <a:lnTo>
                  <a:pt x="2555875" y="0"/>
                </a:lnTo>
                <a:cubicBezTo>
                  <a:pt x="2573398" y="0"/>
                  <a:pt x="2587625" y="14227"/>
                  <a:pt x="2587625" y="31750"/>
                </a:cubicBezTo>
                <a:lnTo>
                  <a:pt x="2587625" y="31750"/>
                </a:lnTo>
                <a:lnTo>
                  <a:pt x="0" y="31750"/>
                </a:lnTo>
                <a:lnTo>
                  <a:pt x="0" y="31750"/>
                </a:lnTo>
                <a:cubicBezTo>
                  <a:pt x="0" y="14227"/>
                  <a:pt x="14227" y="0"/>
                  <a:pt x="31750" y="0"/>
                </a:cubicBezTo>
                <a:close/>
              </a:path>
            </a:pathLst>
          </a:custGeom>
          <a:solidFill>
            <a:srgbClr val="00C950"/>
          </a:solidFill>
          <a:ln/>
        </p:spPr>
        <p:txBody>
          <a:bodyPr/>
          <a:lstStyle/>
          <a:p>
            <a:endParaRPr lang="en-US"/>
          </a:p>
        </p:txBody>
      </p:sp>
      <p:sp>
        <p:nvSpPr>
          <p:cNvPr id="14" name="Shape 12"/>
          <p:cNvSpPr/>
          <p:nvPr/>
        </p:nvSpPr>
        <p:spPr>
          <a:xfrm>
            <a:off x="1207740" y="2852105"/>
            <a:ext cx="428625" cy="428625"/>
          </a:xfrm>
          <a:prstGeom prst="roundRect">
            <a:avLst>
              <a:gd name="adj" fmla="val 50000"/>
            </a:avLst>
          </a:prstGeom>
          <a:solidFill>
            <a:srgbClr val="00C950"/>
          </a:solidFill>
          <a:ln/>
        </p:spPr>
        <p:txBody>
          <a:bodyPr/>
          <a:lstStyle/>
          <a:p>
            <a:endParaRPr lang="en-US"/>
          </a:p>
        </p:txBody>
      </p:sp>
      <p:sp>
        <p:nvSpPr>
          <p:cNvPr id="15" name="Shape 13"/>
          <p:cNvSpPr/>
          <p:nvPr/>
        </p:nvSpPr>
        <p:spPr>
          <a:xfrm>
            <a:off x="1352476" y="2986051"/>
            <a:ext cx="140642" cy="160735"/>
          </a:xfrm>
          <a:custGeom>
            <a:avLst/>
            <a:gdLst/>
            <a:ahLst/>
            <a:cxnLst/>
            <a:rect l="l" t="t" r="r" b="b"/>
            <a:pathLst>
              <a:path w="187523" h="214313">
                <a:moveTo>
                  <a:pt x="107156" y="26789"/>
                </a:moveTo>
                <a:cubicBezTo>
                  <a:pt x="107156" y="19380"/>
                  <a:pt x="101171" y="13395"/>
                  <a:pt x="93762" y="13395"/>
                </a:cubicBezTo>
                <a:cubicBezTo>
                  <a:pt x="86353" y="13395"/>
                  <a:pt x="80367" y="19380"/>
                  <a:pt x="80367" y="26789"/>
                </a:cubicBezTo>
                <a:lnTo>
                  <a:pt x="80367" y="93762"/>
                </a:lnTo>
                <a:lnTo>
                  <a:pt x="13395" y="93762"/>
                </a:lnTo>
                <a:cubicBezTo>
                  <a:pt x="5986" y="93762"/>
                  <a:pt x="0" y="99747"/>
                  <a:pt x="0" y="107156"/>
                </a:cubicBezTo>
                <a:cubicBezTo>
                  <a:pt x="0" y="114565"/>
                  <a:pt x="5986" y="120551"/>
                  <a:pt x="13395" y="120551"/>
                </a:cubicBezTo>
                <a:lnTo>
                  <a:pt x="80367" y="120551"/>
                </a:lnTo>
                <a:lnTo>
                  <a:pt x="80367" y="187523"/>
                </a:lnTo>
                <a:cubicBezTo>
                  <a:pt x="80367" y="194932"/>
                  <a:pt x="86353" y="200918"/>
                  <a:pt x="93762" y="200918"/>
                </a:cubicBezTo>
                <a:cubicBezTo>
                  <a:pt x="101171" y="200918"/>
                  <a:pt x="107156" y="194932"/>
                  <a:pt x="107156" y="187523"/>
                </a:cubicBezTo>
                <a:lnTo>
                  <a:pt x="107156" y="120551"/>
                </a:lnTo>
                <a:lnTo>
                  <a:pt x="174129" y="120551"/>
                </a:lnTo>
                <a:cubicBezTo>
                  <a:pt x="181538" y="120551"/>
                  <a:pt x="187523" y="114565"/>
                  <a:pt x="187523" y="107156"/>
                </a:cubicBezTo>
                <a:cubicBezTo>
                  <a:pt x="187523" y="99747"/>
                  <a:pt x="181538" y="93762"/>
                  <a:pt x="174129" y="93762"/>
                </a:cubicBezTo>
                <a:lnTo>
                  <a:pt x="107156" y="93762"/>
                </a:lnTo>
                <a:lnTo>
                  <a:pt x="107156" y="26789"/>
                </a:lnTo>
                <a:close/>
              </a:path>
            </a:pathLst>
          </a:custGeom>
          <a:solidFill>
            <a:srgbClr val="FFFFFF"/>
          </a:solidFill>
          <a:ln/>
        </p:spPr>
        <p:txBody>
          <a:bodyPr/>
          <a:lstStyle/>
          <a:p>
            <a:endParaRPr lang="en-US"/>
          </a:p>
        </p:txBody>
      </p:sp>
      <p:sp>
        <p:nvSpPr>
          <p:cNvPr id="16" name="Text 14"/>
          <p:cNvSpPr/>
          <p:nvPr/>
        </p:nvSpPr>
        <p:spPr>
          <a:xfrm>
            <a:off x="579686" y="3387886"/>
            <a:ext cx="1686223" cy="190500"/>
          </a:xfrm>
          <a:prstGeom prst="rect">
            <a:avLst/>
          </a:prstGeom>
          <a:noFill/>
          <a:ln/>
        </p:spPr>
        <p:txBody>
          <a:bodyPr wrap="square" lIns="0" tIns="0" rIns="0" bIns="0" rtlCol="0" anchor="ctr"/>
          <a:lstStyle/>
          <a:p>
            <a:pPr algn="ctr">
              <a:lnSpc>
                <a:spcPct val="120000"/>
              </a:lnSpc>
            </a:pPr>
            <a:r>
              <a:rPr lang="en-US" sz="1055" b="1" dirty="0">
                <a:solidFill>
                  <a:srgbClr val="121358"/>
                </a:solidFill>
                <a:latin typeface="Quattrocento Sans" pitchFamily="34" charset="0"/>
                <a:ea typeface="Quattrocento Sans" pitchFamily="34" charset="-122"/>
                <a:cs typeface="Quattrocento Sans" pitchFamily="34" charset="-120"/>
              </a:rPr>
              <a:t>Create</a:t>
            </a:r>
            <a:endParaRPr lang="en-US" sz="1200" dirty="0"/>
          </a:p>
        </p:txBody>
      </p:sp>
      <p:sp>
        <p:nvSpPr>
          <p:cNvPr id="17" name="Text 15"/>
          <p:cNvSpPr/>
          <p:nvPr/>
        </p:nvSpPr>
        <p:spPr>
          <a:xfrm>
            <a:off x="586383" y="3628988"/>
            <a:ext cx="1672829" cy="160735"/>
          </a:xfrm>
          <a:prstGeom prst="rect">
            <a:avLst/>
          </a:prstGeom>
          <a:noFill/>
          <a:ln/>
        </p:spPr>
        <p:txBody>
          <a:bodyPr wrap="square" lIns="0" tIns="0" rIns="0" bIns="0" rtlCol="0" anchor="ctr"/>
          <a:lstStyle/>
          <a:p>
            <a:pPr algn="ctr">
              <a:lnSpc>
                <a:spcPct val="130000"/>
              </a:lnSpc>
            </a:pPr>
            <a:r>
              <a:rPr lang="en-US" sz="844" dirty="0">
                <a:solidFill>
                  <a:srgbClr val="4A5565"/>
                </a:solidFill>
                <a:latin typeface="Quattrocento Sans" pitchFamily="34" charset="0"/>
                <a:ea typeface="Quattrocento Sans" pitchFamily="34" charset="-122"/>
                <a:cs typeface="Quattrocento Sans" pitchFamily="34" charset="-120"/>
              </a:rPr>
              <a:t>Insert new records</a:t>
            </a:r>
            <a:endParaRPr lang="en-US" sz="1200" dirty="0"/>
          </a:p>
        </p:txBody>
      </p:sp>
      <p:sp>
        <p:nvSpPr>
          <p:cNvPr id="18" name="Shape 16"/>
          <p:cNvSpPr/>
          <p:nvPr/>
        </p:nvSpPr>
        <p:spPr>
          <a:xfrm>
            <a:off x="2552403" y="2679465"/>
            <a:ext cx="1940719" cy="1273969"/>
          </a:xfrm>
          <a:custGeom>
            <a:avLst/>
            <a:gdLst/>
            <a:ahLst/>
            <a:cxnLst/>
            <a:rect l="l" t="t" r="r" b="b"/>
            <a:pathLst>
              <a:path w="2587625" h="1698625">
                <a:moveTo>
                  <a:pt x="31750" y="0"/>
                </a:moveTo>
                <a:lnTo>
                  <a:pt x="2555875" y="0"/>
                </a:lnTo>
                <a:cubicBezTo>
                  <a:pt x="2573398" y="0"/>
                  <a:pt x="2587625" y="14227"/>
                  <a:pt x="2587625" y="31750"/>
                </a:cubicBezTo>
                <a:lnTo>
                  <a:pt x="2587625" y="1627124"/>
                </a:lnTo>
                <a:cubicBezTo>
                  <a:pt x="2587625" y="1666613"/>
                  <a:pt x="2555613" y="1698625"/>
                  <a:pt x="2516124" y="1698625"/>
                </a:cubicBezTo>
                <a:lnTo>
                  <a:pt x="71501" y="1698625"/>
                </a:lnTo>
                <a:cubicBezTo>
                  <a:pt x="32012" y="1698625"/>
                  <a:pt x="0" y="1666613"/>
                  <a:pt x="0" y="1627124"/>
                </a:cubicBezTo>
                <a:lnTo>
                  <a:pt x="0" y="31750"/>
                </a:lnTo>
                <a:cubicBezTo>
                  <a:pt x="0" y="14227"/>
                  <a:pt x="14227" y="0"/>
                  <a:pt x="31750" y="0"/>
                </a:cubicBezTo>
                <a:close/>
              </a:path>
            </a:pathLst>
          </a:custGeom>
          <a:gradFill flip="none" rotWithShape="1">
            <a:gsLst>
              <a:gs pos="0">
                <a:srgbClr val="EFF6FF"/>
              </a:gs>
              <a:gs pos="100000">
                <a:srgbClr val="DBEAFE"/>
              </a:gs>
            </a:gsLst>
            <a:lin ang="2700000" scaled="1"/>
          </a:gradFill>
          <a:ln/>
        </p:spPr>
        <p:txBody>
          <a:bodyPr/>
          <a:lstStyle/>
          <a:p>
            <a:endParaRPr lang="en-US"/>
          </a:p>
        </p:txBody>
      </p:sp>
      <p:sp>
        <p:nvSpPr>
          <p:cNvPr id="19" name="Shape 17"/>
          <p:cNvSpPr/>
          <p:nvPr/>
        </p:nvSpPr>
        <p:spPr>
          <a:xfrm>
            <a:off x="2552403" y="2679465"/>
            <a:ext cx="1940719" cy="23813"/>
          </a:xfrm>
          <a:custGeom>
            <a:avLst/>
            <a:gdLst/>
            <a:ahLst/>
            <a:cxnLst/>
            <a:rect l="l" t="t" r="r" b="b"/>
            <a:pathLst>
              <a:path w="2587625" h="31750">
                <a:moveTo>
                  <a:pt x="31750" y="0"/>
                </a:moveTo>
                <a:lnTo>
                  <a:pt x="2555875" y="0"/>
                </a:lnTo>
                <a:cubicBezTo>
                  <a:pt x="2573398" y="0"/>
                  <a:pt x="2587625" y="14227"/>
                  <a:pt x="2587625" y="31750"/>
                </a:cubicBezTo>
                <a:lnTo>
                  <a:pt x="2587625" y="31750"/>
                </a:lnTo>
                <a:lnTo>
                  <a:pt x="0" y="31750"/>
                </a:lnTo>
                <a:lnTo>
                  <a:pt x="0" y="31750"/>
                </a:lnTo>
                <a:cubicBezTo>
                  <a:pt x="0" y="14227"/>
                  <a:pt x="14227" y="0"/>
                  <a:pt x="31750" y="0"/>
                </a:cubicBezTo>
                <a:close/>
              </a:path>
            </a:pathLst>
          </a:custGeom>
          <a:solidFill>
            <a:srgbClr val="2B7FFF"/>
          </a:solidFill>
          <a:ln/>
        </p:spPr>
        <p:txBody>
          <a:bodyPr/>
          <a:lstStyle/>
          <a:p>
            <a:endParaRPr lang="en-US"/>
          </a:p>
        </p:txBody>
      </p:sp>
      <p:sp>
        <p:nvSpPr>
          <p:cNvPr id="20" name="Shape 18"/>
          <p:cNvSpPr/>
          <p:nvPr/>
        </p:nvSpPr>
        <p:spPr>
          <a:xfrm>
            <a:off x="3307705" y="2852105"/>
            <a:ext cx="428625" cy="428625"/>
          </a:xfrm>
          <a:prstGeom prst="roundRect">
            <a:avLst>
              <a:gd name="adj" fmla="val 50000"/>
            </a:avLst>
          </a:prstGeom>
          <a:solidFill>
            <a:srgbClr val="2B7FFF"/>
          </a:solidFill>
          <a:ln/>
        </p:spPr>
        <p:txBody>
          <a:bodyPr/>
          <a:lstStyle/>
          <a:p>
            <a:endParaRPr lang="en-US"/>
          </a:p>
        </p:txBody>
      </p:sp>
      <p:sp>
        <p:nvSpPr>
          <p:cNvPr id="21" name="Shape 19"/>
          <p:cNvSpPr/>
          <p:nvPr/>
        </p:nvSpPr>
        <p:spPr>
          <a:xfrm>
            <a:off x="3442395" y="2986051"/>
            <a:ext cx="160735" cy="160735"/>
          </a:xfrm>
          <a:custGeom>
            <a:avLst/>
            <a:gdLst/>
            <a:ahLst/>
            <a:cxnLst/>
            <a:rect l="l" t="t" r="r" b="b"/>
            <a:pathLst>
              <a:path w="214313" h="214313">
                <a:moveTo>
                  <a:pt x="174129" y="87064"/>
                </a:moveTo>
                <a:cubicBezTo>
                  <a:pt x="174129" y="106277"/>
                  <a:pt x="167892" y="124025"/>
                  <a:pt x="157386" y="138424"/>
                </a:cubicBezTo>
                <a:lnTo>
                  <a:pt x="210378" y="191458"/>
                </a:lnTo>
                <a:cubicBezTo>
                  <a:pt x="215610" y="196690"/>
                  <a:pt x="215610" y="205187"/>
                  <a:pt x="210378" y="210420"/>
                </a:cubicBezTo>
                <a:cubicBezTo>
                  <a:pt x="205146" y="215652"/>
                  <a:pt x="196648" y="215652"/>
                  <a:pt x="191416" y="210420"/>
                </a:cubicBezTo>
                <a:lnTo>
                  <a:pt x="138424" y="157386"/>
                </a:lnTo>
                <a:cubicBezTo>
                  <a:pt x="124025" y="167892"/>
                  <a:pt x="106277" y="174129"/>
                  <a:pt x="87064" y="174129"/>
                </a:cubicBezTo>
                <a:cubicBezTo>
                  <a:pt x="38970" y="174129"/>
                  <a:pt x="0" y="135159"/>
                  <a:pt x="0" y="87064"/>
                </a:cubicBezTo>
                <a:cubicBezTo>
                  <a:pt x="0" y="38970"/>
                  <a:pt x="38970" y="0"/>
                  <a:pt x="87064" y="0"/>
                </a:cubicBezTo>
                <a:cubicBezTo>
                  <a:pt x="135159" y="0"/>
                  <a:pt x="174129" y="38970"/>
                  <a:pt x="174129" y="87064"/>
                </a:cubicBezTo>
                <a:close/>
                <a:moveTo>
                  <a:pt x="87064" y="147340"/>
                </a:moveTo>
                <a:cubicBezTo>
                  <a:pt x="120331" y="147340"/>
                  <a:pt x="147340" y="120331"/>
                  <a:pt x="147340" y="87064"/>
                </a:cubicBezTo>
                <a:cubicBezTo>
                  <a:pt x="147340" y="53798"/>
                  <a:pt x="120331" y="26789"/>
                  <a:pt x="87064" y="26789"/>
                </a:cubicBezTo>
                <a:cubicBezTo>
                  <a:pt x="53798" y="26789"/>
                  <a:pt x="26789" y="53798"/>
                  <a:pt x="26789" y="87064"/>
                </a:cubicBezTo>
                <a:cubicBezTo>
                  <a:pt x="26789" y="120331"/>
                  <a:pt x="53798" y="147340"/>
                  <a:pt x="87064" y="147340"/>
                </a:cubicBezTo>
                <a:close/>
              </a:path>
            </a:pathLst>
          </a:custGeom>
          <a:solidFill>
            <a:srgbClr val="FFFFFF"/>
          </a:solidFill>
          <a:ln/>
        </p:spPr>
        <p:txBody>
          <a:bodyPr/>
          <a:lstStyle/>
          <a:p>
            <a:endParaRPr lang="en-US"/>
          </a:p>
        </p:txBody>
      </p:sp>
      <p:sp>
        <p:nvSpPr>
          <p:cNvPr id="22" name="Text 20"/>
          <p:cNvSpPr/>
          <p:nvPr/>
        </p:nvSpPr>
        <p:spPr>
          <a:xfrm>
            <a:off x="2679651" y="3387886"/>
            <a:ext cx="1686223" cy="190500"/>
          </a:xfrm>
          <a:prstGeom prst="rect">
            <a:avLst/>
          </a:prstGeom>
          <a:noFill/>
          <a:ln/>
        </p:spPr>
        <p:txBody>
          <a:bodyPr wrap="square" lIns="0" tIns="0" rIns="0" bIns="0" rtlCol="0" anchor="ctr"/>
          <a:lstStyle/>
          <a:p>
            <a:pPr algn="ctr">
              <a:lnSpc>
                <a:spcPct val="120000"/>
              </a:lnSpc>
            </a:pPr>
            <a:r>
              <a:rPr lang="en-US" sz="1055" b="1" dirty="0">
                <a:solidFill>
                  <a:srgbClr val="121358"/>
                </a:solidFill>
                <a:latin typeface="Quattrocento Sans" pitchFamily="34" charset="0"/>
                <a:ea typeface="Quattrocento Sans" pitchFamily="34" charset="-122"/>
                <a:cs typeface="Quattrocento Sans" pitchFamily="34" charset="-120"/>
              </a:rPr>
              <a:t>Read</a:t>
            </a:r>
            <a:endParaRPr lang="en-US" sz="1200" dirty="0"/>
          </a:p>
        </p:txBody>
      </p:sp>
      <p:sp>
        <p:nvSpPr>
          <p:cNvPr id="23" name="Text 21"/>
          <p:cNvSpPr/>
          <p:nvPr/>
        </p:nvSpPr>
        <p:spPr>
          <a:xfrm>
            <a:off x="2686348" y="3628988"/>
            <a:ext cx="1672829" cy="160735"/>
          </a:xfrm>
          <a:prstGeom prst="rect">
            <a:avLst/>
          </a:prstGeom>
          <a:noFill/>
          <a:ln/>
        </p:spPr>
        <p:txBody>
          <a:bodyPr wrap="square" lIns="0" tIns="0" rIns="0" bIns="0" rtlCol="0" anchor="ctr"/>
          <a:lstStyle/>
          <a:p>
            <a:pPr algn="ctr">
              <a:lnSpc>
                <a:spcPct val="130000"/>
              </a:lnSpc>
            </a:pPr>
            <a:r>
              <a:rPr lang="en-US" sz="844" dirty="0">
                <a:solidFill>
                  <a:srgbClr val="4A5565"/>
                </a:solidFill>
                <a:latin typeface="Quattrocento Sans" pitchFamily="34" charset="0"/>
                <a:ea typeface="Quattrocento Sans" pitchFamily="34" charset="-122"/>
                <a:cs typeface="Quattrocento Sans" pitchFamily="34" charset="-120"/>
              </a:rPr>
              <a:t>Retrieve records</a:t>
            </a:r>
            <a:endParaRPr lang="en-US" sz="1200" dirty="0"/>
          </a:p>
        </p:txBody>
      </p:sp>
      <p:sp>
        <p:nvSpPr>
          <p:cNvPr id="24" name="Shape 22"/>
          <p:cNvSpPr/>
          <p:nvPr/>
        </p:nvSpPr>
        <p:spPr>
          <a:xfrm>
            <a:off x="4652367" y="2679465"/>
            <a:ext cx="1940719" cy="1273969"/>
          </a:xfrm>
          <a:custGeom>
            <a:avLst/>
            <a:gdLst/>
            <a:ahLst/>
            <a:cxnLst/>
            <a:rect l="l" t="t" r="r" b="b"/>
            <a:pathLst>
              <a:path w="2587625" h="1698625">
                <a:moveTo>
                  <a:pt x="31750" y="0"/>
                </a:moveTo>
                <a:lnTo>
                  <a:pt x="2555875" y="0"/>
                </a:lnTo>
                <a:cubicBezTo>
                  <a:pt x="2573398" y="0"/>
                  <a:pt x="2587625" y="14227"/>
                  <a:pt x="2587625" y="31750"/>
                </a:cubicBezTo>
                <a:lnTo>
                  <a:pt x="2587625" y="1627124"/>
                </a:lnTo>
                <a:cubicBezTo>
                  <a:pt x="2587625" y="1666613"/>
                  <a:pt x="2555613" y="1698625"/>
                  <a:pt x="2516124" y="1698625"/>
                </a:cubicBezTo>
                <a:lnTo>
                  <a:pt x="71501" y="1698625"/>
                </a:lnTo>
                <a:cubicBezTo>
                  <a:pt x="32012" y="1698625"/>
                  <a:pt x="0" y="1666613"/>
                  <a:pt x="0" y="1627124"/>
                </a:cubicBezTo>
                <a:lnTo>
                  <a:pt x="0" y="31750"/>
                </a:lnTo>
                <a:cubicBezTo>
                  <a:pt x="0" y="14227"/>
                  <a:pt x="14227" y="0"/>
                  <a:pt x="31750" y="0"/>
                </a:cubicBezTo>
                <a:close/>
              </a:path>
            </a:pathLst>
          </a:custGeom>
          <a:gradFill flip="none" rotWithShape="1">
            <a:gsLst>
              <a:gs pos="0">
                <a:srgbClr val="FEFCE8"/>
              </a:gs>
              <a:gs pos="100000">
                <a:srgbClr val="FEF9C2"/>
              </a:gs>
            </a:gsLst>
            <a:lin ang="2700000" scaled="1"/>
          </a:gradFill>
          <a:ln/>
        </p:spPr>
        <p:txBody>
          <a:bodyPr/>
          <a:lstStyle/>
          <a:p>
            <a:endParaRPr lang="en-US"/>
          </a:p>
        </p:txBody>
      </p:sp>
      <p:sp>
        <p:nvSpPr>
          <p:cNvPr id="25" name="Shape 23"/>
          <p:cNvSpPr/>
          <p:nvPr/>
        </p:nvSpPr>
        <p:spPr>
          <a:xfrm>
            <a:off x="4652367" y="2679465"/>
            <a:ext cx="1940719" cy="23813"/>
          </a:xfrm>
          <a:custGeom>
            <a:avLst/>
            <a:gdLst/>
            <a:ahLst/>
            <a:cxnLst/>
            <a:rect l="l" t="t" r="r" b="b"/>
            <a:pathLst>
              <a:path w="2587625" h="31750">
                <a:moveTo>
                  <a:pt x="31750" y="0"/>
                </a:moveTo>
                <a:lnTo>
                  <a:pt x="2555875" y="0"/>
                </a:lnTo>
                <a:cubicBezTo>
                  <a:pt x="2573398" y="0"/>
                  <a:pt x="2587625" y="14227"/>
                  <a:pt x="2587625" y="31750"/>
                </a:cubicBezTo>
                <a:lnTo>
                  <a:pt x="2587625" y="31750"/>
                </a:lnTo>
                <a:lnTo>
                  <a:pt x="0" y="31750"/>
                </a:lnTo>
                <a:lnTo>
                  <a:pt x="0" y="31750"/>
                </a:lnTo>
                <a:cubicBezTo>
                  <a:pt x="0" y="14227"/>
                  <a:pt x="14227" y="0"/>
                  <a:pt x="31750" y="0"/>
                </a:cubicBezTo>
                <a:close/>
              </a:path>
            </a:pathLst>
          </a:custGeom>
          <a:solidFill>
            <a:srgbClr val="F0B100"/>
          </a:solidFill>
          <a:ln/>
        </p:spPr>
        <p:txBody>
          <a:bodyPr/>
          <a:lstStyle/>
          <a:p>
            <a:endParaRPr lang="en-US"/>
          </a:p>
        </p:txBody>
      </p:sp>
      <p:sp>
        <p:nvSpPr>
          <p:cNvPr id="26" name="Shape 24"/>
          <p:cNvSpPr/>
          <p:nvPr/>
        </p:nvSpPr>
        <p:spPr>
          <a:xfrm>
            <a:off x="5407670" y="2852105"/>
            <a:ext cx="428625" cy="428625"/>
          </a:xfrm>
          <a:prstGeom prst="roundRect">
            <a:avLst>
              <a:gd name="adj" fmla="val 50000"/>
            </a:avLst>
          </a:prstGeom>
          <a:solidFill>
            <a:srgbClr val="F0B100"/>
          </a:solidFill>
          <a:ln/>
        </p:spPr>
        <p:txBody>
          <a:bodyPr/>
          <a:lstStyle/>
          <a:p>
            <a:endParaRPr lang="en-US"/>
          </a:p>
        </p:txBody>
      </p:sp>
      <p:sp>
        <p:nvSpPr>
          <p:cNvPr id="27" name="Shape 25"/>
          <p:cNvSpPr/>
          <p:nvPr/>
        </p:nvSpPr>
        <p:spPr>
          <a:xfrm>
            <a:off x="5542359" y="2986051"/>
            <a:ext cx="160735" cy="160735"/>
          </a:xfrm>
          <a:custGeom>
            <a:avLst/>
            <a:gdLst/>
            <a:ahLst/>
            <a:cxnLst/>
            <a:rect l="l" t="t" r="r" b="b"/>
            <a:pathLst>
              <a:path w="214313" h="214313">
                <a:moveTo>
                  <a:pt x="197402" y="9083"/>
                </a:moveTo>
                <a:cubicBezTo>
                  <a:pt x="188235" y="-84"/>
                  <a:pt x="173417" y="-84"/>
                  <a:pt x="164250" y="9083"/>
                </a:cubicBezTo>
                <a:lnTo>
                  <a:pt x="154037" y="19296"/>
                </a:lnTo>
                <a:lnTo>
                  <a:pt x="195016" y="60275"/>
                </a:lnTo>
                <a:lnTo>
                  <a:pt x="205229" y="50062"/>
                </a:lnTo>
                <a:cubicBezTo>
                  <a:pt x="214396" y="40895"/>
                  <a:pt x="214396" y="26077"/>
                  <a:pt x="205229" y="16911"/>
                </a:cubicBezTo>
                <a:lnTo>
                  <a:pt x="197402" y="9083"/>
                </a:lnTo>
                <a:close/>
                <a:moveTo>
                  <a:pt x="72163" y="101171"/>
                </a:moveTo>
                <a:cubicBezTo>
                  <a:pt x="69610" y="103724"/>
                  <a:pt x="67642" y="106863"/>
                  <a:pt x="66512" y="110337"/>
                </a:cubicBezTo>
                <a:lnTo>
                  <a:pt x="54122" y="147507"/>
                </a:lnTo>
                <a:cubicBezTo>
                  <a:pt x="52908" y="151107"/>
                  <a:pt x="53871" y="155084"/>
                  <a:pt x="56550" y="157804"/>
                </a:cubicBezTo>
                <a:cubicBezTo>
                  <a:pt x="59229" y="160525"/>
                  <a:pt x="63205" y="161446"/>
                  <a:pt x="66847" y="160232"/>
                </a:cubicBezTo>
                <a:lnTo>
                  <a:pt x="104017" y="147842"/>
                </a:lnTo>
                <a:cubicBezTo>
                  <a:pt x="107449" y="146712"/>
                  <a:pt x="110589" y="144745"/>
                  <a:pt x="113184" y="142191"/>
                </a:cubicBezTo>
                <a:lnTo>
                  <a:pt x="180826" y="74465"/>
                </a:lnTo>
                <a:lnTo>
                  <a:pt x="139847" y="33486"/>
                </a:lnTo>
                <a:lnTo>
                  <a:pt x="72163" y="101171"/>
                </a:lnTo>
                <a:close/>
                <a:moveTo>
                  <a:pt x="40184" y="26789"/>
                </a:moveTo>
                <a:cubicBezTo>
                  <a:pt x="17999" y="26789"/>
                  <a:pt x="0" y="44788"/>
                  <a:pt x="0" y="66973"/>
                </a:cubicBezTo>
                <a:lnTo>
                  <a:pt x="0" y="174129"/>
                </a:lnTo>
                <a:cubicBezTo>
                  <a:pt x="0" y="196314"/>
                  <a:pt x="17999" y="214313"/>
                  <a:pt x="40184" y="214313"/>
                </a:cubicBezTo>
                <a:lnTo>
                  <a:pt x="147340" y="214313"/>
                </a:lnTo>
                <a:cubicBezTo>
                  <a:pt x="169525" y="214313"/>
                  <a:pt x="187523" y="196314"/>
                  <a:pt x="187523" y="174129"/>
                </a:cubicBezTo>
                <a:lnTo>
                  <a:pt x="187523" y="133945"/>
                </a:lnTo>
                <a:cubicBezTo>
                  <a:pt x="187523" y="126536"/>
                  <a:pt x="181538" y="120551"/>
                  <a:pt x="174129" y="120551"/>
                </a:cubicBezTo>
                <a:cubicBezTo>
                  <a:pt x="166720" y="120551"/>
                  <a:pt x="160734" y="126536"/>
                  <a:pt x="160734" y="133945"/>
                </a:cubicBezTo>
                <a:lnTo>
                  <a:pt x="160734" y="174129"/>
                </a:lnTo>
                <a:cubicBezTo>
                  <a:pt x="160734" y="181538"/>
                  <a:pt x="154749" y="187523"/>
                  <a:pt x="147340" y="187523"/>
                </a:cubicBezTo>
                <a:lnTo>
                  <a:pt x="40184" y="187523"/>
                </a:lnTo>
                <a:cubicBezTo>
                  <a:pt x="32775" y="187523"/>
                  <a:pt x="26789" y="181538"/>
                  <a:pt x="26789" y="174129"/>
                </a:cubicBezTo>
                <a:lnTo>
                  <a:pt x="26789" y="66973"/>
                </a:lnTo>
                <a:cubicBezTo>
                  <a:pt x="26789" y="59564"/>
                  <a:pt x="32775" y="53578"/>
                  <a:pt x="40184" y="53578"/>
                </a:cubicBezTo>
                <a:lnTo>
                  <a:pt x="80367" y="53578"/>
                </a:lnTo>
                <a:cubicBezTo>
                  <a:pt x="87776" y="53578"/>
                  <a:pt x="93762" y="47592"/>
                  <a:pt x="93762" y="40184"/>
                </a:cubicBezTo>
                <a:cubicBezTo>
                  <a:pt x="93762" y="32775"/>
                  <a:pt x="87776" y="26789"/>
                  <a:pt x="80367" y="26789"/>
                </a:cubicBezTo>
                <a:lnTo>
                  <a:pt x="40184" y="26789"/>
                </a:lnTo>
                <a:close/>
              </a:path>
            </a:pathLst>
          </a:custGeom>
          <a:solidFill>
            <a:srgbClr val="FFFFFF"/>
          </a:solidFill>
          <a:ln/>
        </p:spPr>
        <p:txBody>
          <a:bodyPr/>
          <a:lstStyle/>
          <a:p>
            <a:endParaRPr lang="en-US"/>
          </a:p>
        </p:txBody>
      </p:sp>
      <p:sp>
        <p:nvSpPr>
          <p:cNvPr id="28" name="Text 26"/>
          <p:cNvSpPr/>
          <p:nvPr/>
        </p:nvSpPr>
        <p:spPr>
          <a:xfrm>
            <a:off x="4779615" y="3387886"/>
            <a:ext cx="1686223" cy="190500"/>
          </a:xfrm>
          <a:prstGeom prst="rect">
            <a:avLst/>
          </a:prstGeom>
          <a:noFill/>
          <a:ln/>
        </p:spPr>
        <p:txBody>
          <a:bodyPr wrap="square" lIns="0" tIns="0" rIns="0" bIns="0" rtlCol="0" anchor="ctr"/>
          <a:lstStyle/>
          <a:p>
            <a:pPr algn="ctr">
              <a:lnSpc>
                <a:spcPct val="120000"/>
              </a:lnSpc>
            </a:pPr>
            <a:r>
              <a:rPr lang="en-US" sz="1055" b="1" dirty="0">
                <a:solidFill>
                  <a:srgbClr val="121358"/>
                </a:solidFill>
                <a:latin typeface="Quattrocento Sans" pitchFamily="34" charset="0"/>
                <a:ea typeface="Quattrocento Sans" pitchFamily="34" charset="-122"/>
                <a:cs typeface="Quattrocento Sans" pitchFamily="34" charset="-120"/>
              </a:rPr>
              <a:t>Update</a:t>
            </a:r>
            <a:endParaRPr lang="en-US" sz="1200" dirty="0"/>
          </a:p>
        </p:txBody>
      </p:sp>
      <p:sp>
        <p:nvSpPr>
          <p:cNvPr id="29" name="Text 27"/>
          <p:cNvSpPr/>
          <p:nvPr/>
        </p:nvSpPr>
        <p:spPr>
          <a:xfrm>
            <a:off x="4786312" y="3628988"/>
            <a:ext cx="1672829" cy="160735"/>
          </a:xfrm>
          <a:prstGeom prst="rect">
            <a:avLst/>
          </a:prstGeom>
          <a:noFill/>
          <a:ln/>
        </p:spPr>
        <p:txBody>
          <a:bodyPr wrap="square" lIns="0" tIns="0" rIns="0" bIns="0" rtlCol="0" anchor="ctr"/>
          <a:lstStyle/>
          <a:p>
            <a:pPr algn="ctr">
              <a:lnSpc>
                <a:spcPct val="130000"/>
              </a:lnSpc>
            </a:pPr>
            <a:r>
              <a:rPr lang="en-US" sz="844" dirty="0">
                <a:solidFill>
                  <a:srgbClr val="4A5565"/>
                </a:solidFill>
                <a:latin typeface="Quattrocento Sans" pitchFamily="34" charset="0"/>
                <a:ea typeface="Quattrocento Sans" pitchFamily="34" charset="-122"/>
                <a:cs typeface="Quattrocento Sans" pitchFamily="34" charset="-120"/>
              </a:rPr>
              <a:t>Modify records</a:t>
            </a:r>
            <a:endParaRPr lang="en-US" sz="1200" dirty="0"/>
          </a:p>
        </p:txBody>
      </p:sp>
      <p:sp>
        <p:nvSpPr>
          <p:cNvPr id="30" name="Shape 28"/>
          <p:cNvSpPr/>
          <p:nvPr/>
        </p:nvSpPr>
        <p:spPr>
          <a:xfrm>
            <a:off x="6752332" y="2679465"/>
            <a:ext cx="1940719" cy="1273969"/>
          </a:xfrm>
          <a:custGeom>
            <a:avLst/>
            <a:gdLst/>
            <a:ahLst/>
            <a:cxnLst/>
            <a:rect l="l" t="t" r="r" b="b"/>
            <a:pathLst>
              <a:path w="2587625" h="1698625">
                <a:moveTo>
                  <a:pt x="31750" y="0"/>
                </a:moveTo>
                <a:lnTo>
                  <a:pt x="2555875" y="0"/>
                </a:lnTo>
                <a:cubicBezTo>
                  <a:pt x="2573398" y="0"/>
                  <a:pt x="2587625" y="14227"/>
                  <a:pt x="2587625" y="31750"/>
                </a:cubicBezTo>
                <a:lnTo>
                  <a:pt x="2587625" y="1627124"/>
                </a:lnTo>
                <a:cubicBezTo>
                  <a:pt x="2587625" y="1666613"/>
                  <a:pt x="2555613" y="1698625"/>
                  <a:pt x="2516124" y="1698625"/>
                </a:cubicBezTo>
                <a:lnTo>
                  <a:pt x="71501" y="1698625"/>
                </a:lnTo>
                <a:cubicBezTo>
                  <a:pt x="32012" y="1698625"/>
                  <a:pt x="0" y="1666613"/>
                  <a:pt x="0" y="1627124"/>
                </a:cubicBezTo>
                <a:lnTo>
                  <a:pt x="0" y="31750"/>
                </a:lnTo>
                <a:cubicBezTo>
                  <a:pt x="0" y="14227"/>
                  <a:pt x="14227" y="0"/>
                  <a:pt x="31750" y="0"/>
                </a:cubicBezTo>
                <a:close/>
              </a:path>
            </a:pathLst>
          </a:custGeom>
          <a:gradFill flip="none" rotWithShape="1">
            <a:gsLst>
              <a:gs pos="0">
                <a:srgbClr val="FEF2F2"/>
              </a:gs>
              <a:gs pos="100000">
                <a:srgbClr val="FFE2E2"/>
              </a:gs>
            </a:gsLst>
            <a:lin ang="2700000" scaled="1"/>
          </a:gradFill>
          <a:ln/>
        </p:spPr>
        <p:txBody>
          <a:bodyPr/>
          <a:lstStyle/>
          <a:p>
            <a:endParaRPr lang="en-US"/>
          </a:p>
        </p:txBody>
      </p:sp>
      <p:sp>
        <p:nvSpPr>
          <p:cNvPr id="31" name="Shape 29"/>
          <p:cNvSpPr/>
          <p:nvPr/>
        </p:nvSpPr>
        <p:spPr>
          <a:xfrm>
            <a:off x="6752332" y="2679465"/>
            <a:ext cx="1940719" cy="23813"/>
          </a:xfrm>
          <a:custGeom>
            <a:avLst/>
            <a:gdLst/>
            <a:ahLst/>
            <a:cxnLst/>
            <a:rect l="l" t="t" r="r" b="b"/>
            <a:pathLst>
              <a:path w="2587625" h="31750">
                <a:moveTo>
                  <a:pt x="31750" y="0"/>
                </a:moveTo>
                <a:lnTo>
                  <a:pt x="2555875" y="0"/>
                </a:lnTo>
                <a:cubicBezTo>
                  <a:pt x="2573398" y="0"/>
                  <a:pt x="2587625" y="14227"/>
                  <a:pt x="2587625" y="31750"/>
                </a:cubicBezTo>
                <a:lnTo>
                  <a:pt x="2587625" y="31750"/>
                </a:lnTo>
                <a:lnTo>
                  <a:pt x="0" y="31750"/>
                </a:lnTo>
                <a:lnTo>
                  <a:pt x="0" y="31750"/>
                </a:lnTo>
                <a:cubicBezTo>
                  <a:pt x="0" y="14227"/>
                  <a:pt x="14227" y="0"/>
                  <a:pt x="31750" y="0"/>
                </a:cubicBezTo>
                <a:close/>
              </a:path>
            </a:pathLst>
          </a:custGeom>
          <a:solidFill>
            <a:srgbClr val="FB2C36"/>
          </a:solidFill>
          <a:ln/>
        </p:spPr>
        <p:txBody>
          <a:bodyPr/>
          <a:lstStyle/>
          <a:p>
            <a:endParaRPr lang="en-US"/>
          </a:p>
        </p:txBody>
      </p:sp>
      <p:sp>
        <p:nvSpPr>
          <p:cNvPr id="32" name="Shape 30"/>
          <p:cNvSpPr/>
          <p:nvPr/>
        </p:nvSpPr>
        <p:spPr>
          <a:xfrm>
            <a:off x="7507635" y="2852105"/>
            <a:ext cx="428625" cy="428625"/>
          </a:xfrm>
          <a:prstGeom prst="roundRect">
            <a:avLst>
              <a:gd name="adj" fmla="val 50000"/>
            </a:avLst>
          </a:prstGeom>
          <a:solidFill>
            <a:srgbClr val="FB2C36"/>
          </a:solidFill>
          <a:ln/>
        </p:spPr>
        <p:txBody>
          <a:bodyPr/>
          <a:lstStyle/>
          <a:p>
            <a:endParaRPr lang="en-US"/>
          </a:p>
        </p:txBody>
      </p:sp>
      <p:sp>
        <p:nvSpPr>
          <p:cNvPr id="33" name="Shape 31"/>
          <p:cNvSpPr/>
          <p:nvPr/>
        </p:nvSpPr>
        <p:spPr>
          <a:xfrm>
            <a:off x="7652371" y="2986051"/>
            <a:ext cx="140642" cy="160735"/>
          </a:xfrm>
          <a:custGeom>
            <a:avLst/>
            <a:gdLst/>
            <a:ahLst/>
            <a:cxnLst/>
            <a:rect l="l" t="t" r="r" b="b"/>
            <a:pathLst>
              <a:path w="187523" h="214313">
                <a:moveTo>
                  <a:pt x="57220" y="2470"/>
                </a:moveTo>
                <a:lnTo>
                  <a:pt x="53578" y="13395"/>
                </a:lnTo>
                <a:lnTo>
                  <a:pt x="13395" y="13395"/>
                </a:lnTo>
                <a:cubicBezTo>
                  <a:pt x="5986" y="13395"/>
                  <a:pt x="0" y="19380"/>
                  <a:pt x="0" y="26789"/>
                </a:cubicBezTo>
                <a:cubicBezTo>
                  <a:pt x="0" y="34198"/>
                  <a:pt x="5986" y="40184"/>
                  <a:pt x="13395" y="40184"/>
                </a:cubicBezTo>
                <a:lnTo>
                  <a:pt x="174129" y="40184"/>
                </a:lnTo>
                <a:cubicBezTo>
                  <a:pt x="181538" y="40184"/>
                  <a:pt x="187523" y="34198"/>
                  <a:pt x="187523" y="26789"/>
                </a:cubicBezTo>
                <a:cubicBezTo>
                  <a:pt x="187523" y="19380"/>
                  <a:pt x="181538" y="13395"/>
                  <a:pt x="174129" y="13395"/>
                </a:cubicBezTo>
                <a:lnTo>
                  <a:pt x="133945" y="13395"/>
                </a:lnTo>
                <a:lnTo>
                  <a:pt x="130304" y="2470"/>
                </a:lnTo>
                <a:cubicBezTo>
                  <a:pt x="128462" y="-3014"/>
                  <a:pt x="123355" y="-6697"/>
                  <a:pt x="117579" y="-6697"/>
                </a:cubicBezTo>
                <a:lnTo>
                  <a:pt x="69945" y="-6697"/>
                </a:lnTo>
                <a:cubicBezTo>
                  <a:pt x="64168" y="-6697"/>
                  <a:pt x="59062" y="-3014"/>
                  <a:pt x="57220" y="2470"/>
                </a:cubicBezTo>
                <a:close/>
                <a:moveTo>
                  <a:pt x="174129" y="60275"/>
                </a:moveTo>
                <a:lnTo>
                  <a:pt x="13395" y="60275"/>
                </a:lnTo>
                <a:lnTo>
                  <a:pt x="22227" y="195518"/>
                </a:lnTo>
                <a:cubicBezTo>
                  <a:pt x="22896" y="206108"/>
                  <a:pt x="31686" y="214313"/>
                  <a:pt x="42276" y="214313"/>
                </a:cubicBezTo>
                <a:lnTo>
                  <a:pt x="145247" y="214313"/>
                </a:lnTo>
                <a:cubicBezTo>
                  <a:pt x="155837" y="214313"/>
                  <a:pt x="164627" y="206108"/>
                  <a:pt x="165297" y="195518"/>
                </a:cubicBezTo>
                <a:lnTo>
                  <a:pt x="174129" y="60275"/>
                </a:lnTo>
                <a:close/>
              </a:path>
            </a:pathLst>
          </a:custGeom>
          <a:solidFill>
            <a:srgbClr val="FFFFFF"/>
          </a:solidFill>
          <a:ln/>
        </p:spPr>
        <p:txBody>
          <a:bodyPr/>
          <a:lstStyle/>
          <a:p>
            <a:endParaRPr lang="en-US"/>
          </a:p>
        </p:txBody>
      </p:sp>
      <p:sp>
        <p:nvSpPr>
          <p:cNvPr id="34" name="Text 32"/>
          <p:cNvSpPr/>
          <p:nvPr/>
        </p:nvSpPr>
        <p:spPr>
          <a:xfrm>
            <a:off x="6879580" y="3387886"/>
            <a:ext cx="1686223" cy="190500"/>
          </a:xfrm>
          <a:prstGeom prst="rect">
            <a:avLst/>
          </a:prstGeom>
          <a:noFill/>
          <a:ln/>
        </p:spPr>
        <p:txBody>
          <a:bodyPr wrap="square" lIns="0" tIns="0" rIns="0" bIns="0" rtlCol="0" anchor="ctr"/>
          <a:lstStyle/>
          <a:p>
            <a:pPr algn="ctr">
              <a:lnSpc>
                <a:spcPct val="120000"/>
              </a:lnSpc>
            </a:pPr>
            <a:r>
              <a:rPr lang="en-US" sz="1055" b="1" dirty="0">
                <a:solidFill>
                  <a:srgbClr val="121358"/>
                </a:solidFill>
                <a:latin typeface="Quattrocento Sans" pitchFamily="34" charset="0"/>
                <a:ea typeface="Quattrocento Sans" pitchFamily="34" charset="-122"/>
                <a:cs typeface="Quattrocento Sans" pitchFamily="34" charset="-120"/>
              </a:rPr>
              <a:t>Delete</a:t>
            </a:r>
            <a:endParaRPr lang="en-US" sz="1200" dirty="0"/>
          </a:p>
        </p:txBody>
      </p:sp>
      <p:sp>
        <p:nvSpPr>
          <p:cNvPr id="35" name="Text 33"/>
          <p:cNvSpPr/>
          <p:nvPr/>
        </p:nvSpPr>
        <p:spPr>
          <a:xfrm>
            <a:off x="6886277" y="3628988"/>
            <a:ext cx="1672829" cy="160735"/>
          </a:xfrm>
          <a:prstGeom prst="rect">
            <a:avLst/>
          </a:prstGeom>
          <a:noFill/>
          <a:ln/>
        </p:spPr>
        <p:txBody>
          <a:bodyPr wrap="square" lIns="0" tIns="0" rIns="0" bIns="0" rtlCol="0" anchor="ctr"/>
          <a:lstStyle/>
          <a:p>
            <a:pPr algn="ctr">
              <a:lnSpc>
                <a:spcPct val="130000"/>
              </a:lnSpc>
            </a:pPr>
            <a:r>
              <a:rPr lang="en-US" sz="844" dirty="0">
                <a:solidFill>
                  <a:srgbClr val="4A5565"/>
                </a:solidFill>
                <a:latin typeface="Quattrocento Sans" pitchFamily="34" charset="0"/>
                <a:ea typeface="Quattrocento Sans" pitchFamily="34" charset="-122"/>
                <a:cs typeface="Quattrocento Sans" pitchFamily="34" charset="-120"/>
              </a:rPr>
              <a:t>Remove records</a:t>
            </a:r>
            <a:endParaRPr lang="en-US" sz="1200" dirty="0"/>
          </a:p>
        </p:txBody>
      </p:sp>
      <p:sp>
        <p:nvSpPr>
          <p:cNvPr id="36" name="Shape 34"/>
          <p:cNvSpPr/>
          <p:nvPr/>
        </p:nvSpPr>
        <p:spPr>
          <a:xfrm>
            <a:off x="452438" y="4164769"/>
            <a:ext cx="4042172" cy="672704"/>
          </a:xfrm>
          <a:prstGeom prst="roundRect">
            <a:avLst>
              <a:gd name="adj" fmla="val 7965"/>
            </a:avLst>
          </a:prstGeom>
          <a:gradFill flip="none" rotWithShape="1">
            <a:gsLst>
              <a:gs pos="0">
                <a:srgbClr val="F0FDFA"/>
              </a:gs>
              <a:gs pos="100000">
                <a:srgbClr val="EFF6FF"/>
              </a:gs>
            </a:gsLst>
            <a:lin ang="0" scaled="1"/>
          </a:gradFill>
          <a:ln/>
        </p:spPr>
        <p:txBody>
          <a:bodyPr/>
          <a:lstStyle/>
          <a:p>
            <a:endParaRPr lang="en-US"/>
          </a:p>
        </p:txBody>
      </p:sp>
      <p:sp>
        <p:nvSpPr>
          <p:cNvPr id="37" name="Shape 35"/>
          <p:cNvSpPr/>
          <p:nvPr/>
        </p:nvSpPr>
        <p:spPr>
          <a:xfrm>
            <a:off x="637729" y="4399918"/>
            <a:ext cx="200918" cy="200918"/>
          </a:xfrm>
          <a:custGeom>
            <a:avLst/>
            <a:gdLst/>
            <a:ahLst/>
            <a:cxnLst/>
            <a:rect l="l" t="t" r="r" b="b"/>
            <a:pathLst>
              <a:path w="267891" h="267891">
                <a:moveTo>
                  <a:pt x="16743" y="33486"/>
                </a:moveTo>
                <a:cubicBezTo>
                  <a:pt x="9994" y="33486"/>
                  <a:pt x="3872" y="37567"/>
                  <a:pt x="1256" y="43846"/>
                </a:cubicBezTo>
                <a:cubicBezTo>
                  <a:pt x="-1360" y="50125"/>
                  <a:pt x="105" y="57293"/>
                  <a:pt x="4918" y="62054"/>
                </a:cubicBezTo>
                <a:lnTo>
                  <a:pt x="100459" y="157647"/>
                </a:lnTo>
                <a:lnTo>
                  <a:pt x="100459" y="217661"/>
                </a:lnTo>
                <a:cubicBezTo>
                  <a:pt x="100459" y="222109"/>
                  <a:pt x="102238" y="226347"/>
                  <a:pt x="105377" y="229486"/>
                </a:cubicBezTo>
                <a:lnTo>
                  <a:pt x="138864" y="262972"/>
                </a:lnTo>
                <a:cubicBezTo>
                  <a:pt x="143677" y="267786"/>
                  <a:pt x="150845" y="269199"/>
                  <a:pt x="157124" y="266583"/>
                </a:cubicBezTo>
                <a:cubicBezTo>
                  <a:pt x="163403" y="263966"/>
                  <a:pt x="167432" y="257897"/>
                  <a:pt x="167432" y="251147"/>
                </a:cubicBezTo>
                <a:lnTo>
                  <a:pt x="167432" y="157647"/>
                </a:lnTo>
                <a:lnTo>
                  <a:pt x="262972" y="62107"/>
                </a:lnTo>
                <a:cubicBezTo>
                  <a:pt x="267786" y="57293"/>
                  <a:pt x="269199" y="50125"/>
                  <a:pt x="266583" y="43846"/>
                </a:cubicBezTo>
                <a:cubicBezTo>
                  <a:pt x="263966" y="37567"/>
                  <a:pt x="257897" y="33486"/>
                  <a:pt x="251147" y="33486"/>
                </a:cubicBezTo>
                <a:lnTo>
                  <a:pt x="16743" y="33486"/>
                </a:lnTo>
                <a:close/>
              </a:path>
            </a:pathLst>
          </a:custGeom>
          <a:solidFill>
            <a:srgbClr val="009689"/>
          </a:solidFill>
          <a:ln/>
        </p:spPr>
        <p:txBody>
          <a:bodyPr/>
          <a:lstStyle/>
          <a:p>
            <a:endParaRPr lang="en-US"/>
          </a:p>
        </p:txBody>
      </p:sp>
      <p:sp>
        <p:nvSpPr>
          <p:cNvPr id="38" name="Text 36"/>
          <p:cNvSpPr/>
          <p:nvPr/>
        </p:nvSpPr>
        <p:spPr>
          <a:xfrm>
            <a:off x="971476" y="4325503"/>
            <a:ext cx="2084338" cy="190500"/>
          </a:xfrm>
          <a:prstGeom prst="rect">
            <a:avLst/>
          </a:prstGeom>
          <a:noFill/>
          <a:ln/>
        </p:spPr>
        <p:txBody>
          <a:bodyPr wrap="square" lIns="0" tIns="0" rIns="0" bIns="0" rtlCol="0" anchor="ctr"/>
          <a:lstStyle/>
          <a:p>
            <a:pPr>
              <a:lnSpc>
                <a:spcPct val="130000"/>
              </a:lnSpc>
            </a:pPr>
            <a:r>
              <a:rPr lang="en-US" sz="949" b="1" dirty="0">
                <a:solidFill>
                  <a:srgbClr val="121358"/>
                </a:solidFill>
                <a:latin typeface="Quattrocento Sans" pitchFamily="34" charset="0"/>
                <a:ea typeface="Quattrocento Sans" pitchFamily="34" charset="-122"/>
                <a:cs typeface="Quattrocento Sans" pitchFamily="34" charset="-120"/>
              </a:rPr>
              <a:t>Select Procedures</a:t>
            </a:r>
            <a:endParaRPr lang="en-US" sz="1200" dirty="0"/>
          </a:p>
        </p:txBody>
      </p:sp>
      <p:sp>
        <p:nvSpPr>
          <p:cNvPr id="39" name="Text 37"/>
          <p:cNvSpPr/>
          <p:nvPr/>
        </p:nvSpPr>
        <p:spPr>
          <a:xfrm>
            <a:off x="971476" y="4513028"/>
            <a:ext cx="2077641" cy="160735"/>
          </a:xfrm>
          <a:prstGeom prst="rect">
            <a:avLst/>
          </a:prstGeom>
          <a:noFill/>
          <a:ln/>
        </p:spPr>
        <p:txBody>
          <a:bodyPr wrap="square" lIns="0" tIns="0" rIns="0" bIns="0" rtlCol="0" anchor="ctr"/>
          <a:lstStyle/>
          <a:p>
            <a:pPr>
              <a:lnSpc>
                <a:spcPct val="130000"/>
              </a:lnSpc>
            </a:pPr>
            <a:r>
              <a:rPr lang="en-US" sz="844" dirty="0">
                <a:solidFill>
                  <a:srgbClr val="4A5565"/>
                </a:solidFill>
                <a:latin typeface="Quattrocento Sans" pitchFamily="34" charset="0"/>
                <a:ea typeface="Quattrocento Sans" pitchFamily="34" charset="-122"/>
                <a:cs typeface="Quattrocento Sans" pitchFamily="34" charset="-120"/>
              </a:rPr>
              <a:t>Support single and full table record retrieval</a:t>
            </a:r>
            <a:endParaRPr lang="en-US" sz="1200" dirty="0"/>
          </a:p>
        </p:txBody>
      </p:sp>
      <p:sp>
        <p:nvSpPr>
          <p:cNvPr id="40" name="Shape 38"/>
          <p:cNvSpPr/>
          <p:nvPr/>
        </p:nvSpPr>
        <p:spPr>
          <a:xfrm>
            <a:off x="4652368" y="4164769"/>
            <a:ext cx="4042172" cy="672704"/>
          </a:xfrm>
          <a:prstGeom prst="roundRect">
            <a:avLst>
              <a:gd name="adj" fmla="val 7965"/>
            </a:avLst>
          </a:prstGeom>
          <a:gradFill flip="none" rotWithShape="1">
            <a:gsLst>
              <a:gs pos="0">
                <a:srgbClr val="F0FDFA"/>
              </a:gs>
              <a:gs pos="100000">
                <a:srgbClr val="EFF6FF"/>
              </a:gs>
            </a:gsLst>
            <a:lin ang="0" scaled="1"/>
          </a:gradFill>
          <a:ln/>
        </p:spPr>
        <p:txBody>
          <a:bodyPr/>
          <a:lstStyle/>
          <a:p>
            <a:endParaRPr lang="en-US"/>
          </a:p>
        </p:txBody>
      </p:sp>
      <p:sp>
        <p:nvSpPr>
          <p:cNvPr id="41" name="Shape 39"/>
          <p:cNvSpPr/>
          <p:nvPr/>
        </p:nvSpPr>
        <p:spPr>
          <a:xfrm>
            <a:off x="4825101" y="4399918"/>
            <a:ext cx="226033" cy="200918"/>
          </a:xfrm>
          <a:custGeom>
            <a:avLst/>
            <a:gdLst/>
            <a:ahLst/>
            <a:cxnLst/>
            <a:rect l="l" t="t" r="r" b="b"/>
            <a:pathLst>
              <a:path w="301377" h="267891">
                <a:moveTo>
                  <a:pt x="219492" y="50229"/>
                </a:moveTo>
                <a:cubicBezTo>
                  <a:pt x="210807" y="50229"/>
                  <a:pt x="202383" y="52584"/>
                  <a:pt x="195006" y="56874"/>
                </a:cubicBezTo>
                <a:cubicBezTo>
                  <a:pt x="186739" y="48503"/>
                  <a:pt x="177111" y="41492"/>
                  <a:pt x="166490" y="36207"/>
                </a:cubicBezTo>
                <a:cubicBezTo>
                  <a:pt x="181245" y="23650"/>
                  <a:pt x="200028" y="16743"/>
                  <a:pt x="219492" y="16743"/>
                </a:cubicBezTo>
                <a:cubicBezTo>
                  <a:pt x="264699" y="16743"/>
                  <a:pt x="301377" y="53369"/>
                  <a:pt x="301377" y="98628"/>
                </a:cubicBezTo>
                <a:cubicBezTo>
                  <a:pt x="301377" y="120341"/>
                  <a:pt x="292744" y="141166"/>
                  <a:pt x="277413" y="156496"/>
                </a:cubicBezTo>
                <a:lnTo>
                  <a:pt x="240212" y="193697"/>
                </a:lnTo>
                <a:cubicBezTo>
                  <a:pt x="224882" y="209028"/>
                  <a:pt x="204057" y="217661"/>
                  <a:pt x="182344" y="217661"/>
                </a:cubicBezTo>
                <a:cubicBezTo>
                  <a:pt x="137137" y="217661"/>
                  <a:pt x="100459" y="181035"/>
                  <a:pt x="100459" y="135777"/>
                </a:cubicBezTo>
                <a:cubicBezTo>
                  <a:pt x="100459" y="134992"/>
                  <a:pt x="100459" y="134207"/>
                  <a:pt x="100511" y="133422"/>
                </a:cubicBezTo>
                <a:cubicBezTo>
                  <a:pt x="100773" y="124161"/>
                  <a:pt x="108464" y="116888"/>
                  <a:pt x="117725" y="117150"/>
                </a:cubicBezTo>
                <a:cubicBezTo>
                  <a:pt x="126986" y="117411"/>
                  <a:pt x="134259" y="125103"/>
                  <a:pt x="133998" y="134364"/>
                </a:cubicBezTo>
                <a:cubicBezTo>
                  <a:pt x="133998" y="134835"/>
                  <a:pt x="133998" y="135306"/>
                  <a:pt x="133998" y="135724"/>
                </a:cubicBezTo>
                <a:cubicBezTo>
                  <a:pt x="133998" y="162461"/>
                  <a:pt x="155659" y="184122"/>
                  <a:pt x="182396" y="184122"/>
                </a:cubicBezTo>
                <a:cubicBezTo>
                  <a:pt x="195215" y="184122"/>
                  <a:pt x="207511" y="179047"/>
                  <a:pt x="216615" y="169943"/>
                </a:cubicBezTo>
                <a:lnTo>
                  <a:pt x="253816" y="132742"/>
                </a:lnTo>
                <a:cubicBezTo>
                  <a:pt x="262868" y="123690"/>
                  <a:pt x="267995" y="111342"/>
                  <a:pt x="267995" y="98523"/>
                </a:cubicBezTo>
                <a:cubicBezTo>
                  <a:pt x="267995" y="71786"/>
                  <a:pt x="246334" y="50125"/>
                  <a:pt x="219597" y="50125"/>
                </a:cubicBezTo>
                <a:close/>
                <a:moveTo>
                  <a:pt x="143991" y="90675"/>
                </a:moveTo>
                <a:cubicBezTo>
                  <a:pt x="142997" y="90256"/>
                  <a:pt x="142003" y="89681"/>
                  <a:pt x="141113" y="89053"/>
                </a:cubicBezTo>
                <a:cubicBezTo>
                  <a:pt x="134521" y="85652"/>
                  <a:pt x="126986" y="83716"/>
                  <a:pt x="119086" y="83716"/>
                </a:cubicBezTo>
                <a:cubicBezTo>
                  <a:pt x="106267" y="83716"/>
                  <a:pt x="93971" y="88791"/>
                  <a:pt x="84867" y="97895"/>
                </a:cubicBezTo>
                <a:lnTo>
                  <a:pt x="47666" y="135096"/>
                </a:lnTo>
                <a:cubicBezTo>
                  <a:pt x="38614" y="144148"/>
                  <a:pt x="33486" y="156496"/>
                  <a:pt x="33486" y="169315"/>
                </a:cubicBezTo>
                <a:cubicBezTo>
                  <a:pt x="33486" y="196052"/>
                  <a:pt x="55148" y="217713"/>
                  <a:pt x="81885" y="217713"/>
                </a:cubicBezTo>
                <a:cubicBezTo>
                  <a:pt x="90518" y="217713"/>
                  <a:pt x="98942" y="215411"/>
                  <a:pt x="106319" y="211121"/>
                </a:cubicBezTo>
                <a:cubicBezTo>
                  <a:pt x="114586" y="219492"/>
                  <a:pt x="124213" y="226504"/>
                  <a:pt x="134887" y="231788"/>
                </a:cubicBezTo>
                <a:cubicBezTo>
                  <a:pt x="120132" y="244293"/>
                  <a:pt x="101401" y="251252"/>
                  <a:pt x="81885" y="251252"/>
                </a:cubicBezTo>
                <a:cubicBezTo>
                  <a:pt x="36678" y="251252"/>
                  <a:pt x="0" y="214626"/>
                  <a:pt x="0" y="169368"/>
                </a:cubicBezTo>
                <a:cubicBezTo>
                  <a:pt x="0" y="147654"/>
                  <a:pt x="8633" y="126829"/>
                  <a:pt x="23964" y="111499"/>
                </a:cubicBezTo>
                <a:lnTo>
                  <a:pt x="61165" y="74298"/>
                </a:lnTo>
                <a:cubicBezTo>
                  <a:pt x="76495" y="58967"/>
                  <a:pt x="97320" y="50334"/>
                  <a:pt x="119033" y="50334"/>
                </a:cubicBezTo>
                <a:cubicBezTo>
                  <a:pt x="164345" y="50334"/>
                  <a:pt x="200918" y="87274"/>
                  <a:pt x="200918" y="132428"/>
                </a:cubicBezTo>
                <a:cubicBezTo>
                  <a:pt x="200918" y="133108"/>
                  <a:pt x="200918" y="133788"/>
                  <a:pt x="200918" y="134469"/>
                </a:cubicBezTo>
                <a:cubicBezTo>
                  <a:pt x="200709" y="143730"/>
                  <a:pt x="193017" y="151002"/>
                  <a:pt x="183756" y="150793"/>
                </a:cubicBezTo>
                <a:cubicBezTo>
                  <a:pt x="174495" y="150584"/>
                  <a:pt x="167222" y="142892"/>
                  <a:pt x="167432" y="133631"/>
                </a:cubicBezTo>
                <a:cubicBezTo>
                  <a:pt x="167432" y="133213"/>
                  <a:pt x="167432" y="132847"/>
                  <a:pt x="167432" y="132428"/>
                </a:cubicBezTo>
                <a:cubicBezTo>
                  <a:pt x="167432" y="114795"/>
                  <a:pt x="158014" y="99308"/>
                  <a:pt x="143991" y="90779"/>
                </a:cubicBezTo>
                <a:close/>
              </a:path>
            </a:pathLst>
          </a:custGeom>
          <a:solidFill>
            <a:srgbClr val="009689"/>
          </a:solidFill>
          <a:ln/>
        </p:spPr>
        <p:txBody>
          <a:bodyPr/>
          <a:lstStyle/>
          <a:p>
            <a:endParaRPr lang="en-US"/>
          </a:p>
        </p:txBody>
      </p:sp>
      <p:sp>
        <p:nvSpPr>
          <p:cNvPr id="42" name="Text 40"/>
          <p:cNvSpPr/>
          <p:nvPr/>
        </p:nvSpPr>
        <p:spPr>
          <a:xfrm>
            <a:off x="5171406" y="4325503"/>
            <a:ext cx="2346275" cy="190500"/>
          </a:xfrm>
          <a:prstGeom prst="rect">
            <a:avLst/>
          </a:prstGeom>
          <a:noFill/>
          <a:ln/>
        </p:spPr>
        <p:txBody>
          <a:bodyPr wrap="square" lIns="0" tIns="0" rIns="0" bIns="0" rtlCol="0" anchor="ctr"/>
          <a:lstStyle/>
          <a:p>
            <a:pPr>
              <a:lnSpc>
                <a:spcPct val="130000"/>
              </a:lnSpc>
            </a:pPr>
            <a:r>
              <a:rPr lang="en-US" sz="949" b="1" dirty="0">
                <a:solidFill>
                  <a:srgbClr val="121358"/>
                </a:solidFill>
                <a:latin typeface="Quattrocento Sans" pitchFamily="34" charset="0"/>
                <a:ea typeface="Quattrocento Sans" pitchFamily="34" charset="-122"/>
                <a:cs typeface="Quattrocento Sans" pitchFamily="34" charset="-120"/>
              </a:rPr>
              <a:t>Cascading Deletes</a:t>
            </a:r>
            <a:endParaRPr lang="en-US" sz="1200" dirty="0"/>
          </a:p>
        </p:txBody>
      </p:sp>
      <p:sp>
        <p:nvSpPr>
          <p:cNvPr id="43" name="Text 41"/>
          <p:cNvSpPr/>
          <p:nvPr/>
        </p:nvSpPr>
        <p:spPr>
          <a:xfrm>
            <a:off x="5171405" y="4513028"/>
            <a:ext cx="2339579" cy="160735"/>
          </a:xfrm>
          <a:prstGeom prst="rect">
            <a:avLst/>
          </a:prstGeom>
          <a:noFill/>
          <a:ln/>
        </p:spPr>
        <p:txBody>
          <a:bodyPr wrap="square" lIns="0" tIns="0" rIns="0" bIns="0" rtlCol="0" anchor="ctr"/>
          <a:lstStyle/>
          <a:p>
            <a:pPr>
              <a:lnSpc>
                <a:spcPct val="130000"/>
              </a:lnSpc>
            </a:pPr>
            <a:r>
              <a:rPr lang="en-US" sz="844" dirty="0">
                <a:solidFill>
                  <a:srgbClr val="4A5565"/>
                </a:solidFill>
                <a:latin typeface="Quattrocento Sans" pitchFamily="34" charset="0"/>
                <a:ea typeface="Quattrocento Sans" pitchFamily="34" charset="-122"/>
                <a:cs typeface="Quattrocento Sans" pitchFamily="34" charset="-120"/>
              </a:rPr>
              <a:t>Deletes on Individual remove linked child records</a:t>
            </a:r>
            <a:endParaRPr lang="en-US" sz="1200" dirty="0"/>
          </a:p>
        </p:txBody>
      </p:sp>
      <p:pic>
        <p:nvPicPr>
          <p:cNvPr id="44" name="Image 0" descr="preencoded.png">
            <a:extLst>
              <a:ext uri="{FF2B5EF4-FFF2-40B4-BE49-F238E27FC236}">
                <a16:creationId xmlns:a16="http://schemas.microsoft.com/office/drawing/2014/main" id="{69F52B7B-76D7-5B6C-6B76-15CEEDA816FC}"/>
              </a:ext>
            </a:extLst>
          </p:cNvPr>
          <p:cNvPicPr>
            <a:picLocks noChangeAspect="1"/>
          </p:cNvPicPr>
          <p:nvPr/>
        </p:nvPicPr>
        <p:blipFill>
          <a:blip r:embed="rId4"/>
          <a:stretch>
            <a:fillRect/>
          </a:stretch>
        </p:blipFill>
        <p:spPr>
          <a:xfrm>
            <a:off x="8046720" y="45720"/>
            <a:ext cx="685800" cy="676656"/>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41" name="Shape 0">
            <a:extLst>
              <a:ext uri="{FF2B5EF4-FFF2-40B4-BE49-F238E27FC236}">
                <a16:creationId xmlns:a16="http://schemas.microsoft.com/office/drawing/2014/main" id="{770CA563-B769-8C6A-CF6D-5AAD52487AED}"/>
              </a:ext>
            </a:extLst>
          </p:cNvPr>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dirty="0"/>
          </a:p>
        </p:txBody>
      </p:sp>
      <p:pic>
        <p:nvPicPr>
          <p:cNvPr id="42" name="Image 0" descr="preencoded.png">
            <a:extLst>
              <a:ext uri="{FF2B5EF4-FFF2-40B4-BE49-F238E27FC236}">
                <a16:creationId xmlns:a16="http://schemas.microsoft.com/office/drawing/2014/main" id="{240D5039-081C-EAFB-0EE2-09929E11AAF4}"/>
              </a:ext>
            </a:extLst>
          </p:cNvPr>
          <p:cNvPicPr>
            <a:picLocks noChangeAspect="1"/>
          </p:cNvPicPr>
          <p:nvPr/>
        </p:nvPicPr>
        <p:blipFill>
          <a:blip r:embed="rId3"/>
          <a:stretch>
            <a:fillRect/>
          </a:stretch>
        </p:blipFill>
        <p:spPr>
          <a:xfrm>
            <a:off x="8046720" y="45720"/>
            <a:ext cx="685800" cy="676656"/>
          </a:xfrm>
          <a:prstGeom prst="rect">
            <a:avLst/>
          </a:prstGeom>
        </p:spPr>
      </p:pic>
      <p:sp>
        <p:nvSpPr>
          <p:cNvPr id="18" name="Shape 15"/>
          <p:cNvSpPr/>
          <p:nvPr/>
        </p:nvSpPr>
        <p:spPr>
          <a:xfrm>
            <a:off x="329184" y="1124712"/>
            <a:ext cx="8503920" cy="64008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19" name="Shape 16"/>
          <p:cNvSpPr/>
          <p:nvPr/>
        </p:nvSpPr>
        <p:spPr>
          <a:xfrm>
            <a:off x="329184" y="1124712"/>
            <a:ext cx="64008" cy="640080"/>
          </a:xfrm>
          <a:prstGeom prst="rect">
            <a:avLst/>
          </a:prstGeom>
          <a:solidFill>
            <a:srgbClr val="36ADA3"/>
          </a:solidFill>
          <a:ln/>
        </p:spPr>
        <p:txBody>
          <a:bodyPr/>
          <a:lstStyle/>
          <a:p>
            <a:endParaRPr lang="en-US"/>
          </a:p>
        </p:txBody>
      </p:sp>
      <p:sp>
        <p:nvSpPr>
          <p:cNvPr id="20" name="Text 17"/>
          <p:cNvSpPr/>
          <p:nvPr/>
        </p:nvSpPr>
        <p:spPr>
          <a:xfrm>
            <a:off x="512064" y="1124712"/>
            <a:ext cx="8229600" cy="640080"/>
          </a:xfrm>
          <a:prstGeom prst="rect">
            <a:avLst/>
          </a:prstGeom>
          <a:noFill/>
          <a:ln/>
        </p:spPr>
        <p:txBody>
          <a:bodyPr wrap="square" lIns="0" tIns="0" rIns="0" bIns="0" rtlCol="0" anchor="ctr"/>
          <a:lstStyle/>
          <a:p>
            <a:pPr marL="0" indent="0">
              <a:buNone/>
            </a:pPr>
            <a:r>
              <a:rPr lang="en-US" sz="1400" b="1" dirty="0">
                <a:solidFill>
                  <a:srgbClr val="36ADA3"/>
                </a:solidFill>
                <a:latin typeface="Calibri" pitchFamily="34" charset="0"/>
                <a:ea typeface="Calibri" pitchFamily="34" charset="-122"/>
                <a:cs typeface="Calibri" pitchFamily="34" charset="-120"/>
              </a:rPr>
              <a:t>51 stored procedures </a:t>
            </a:r>
            <a:r>
              <a:rPr lang="en-US" sz="1300" dirty="0">
                <a:solidFill>
                  <a:srgbClr val="C8D4E8"/>
                </a:solidFill>
                <a:latin typeface="Calibri" pitchFamily="34" charset="0"/>
                <a:ea typeface="Calibri" pitchFamily="34" charset="-122"/>
                <a:cs typeface="Calibri" pitchFamily="34" charset="-120"/>
              </a:rPr>
              <a:t>developed to support database operations across the Labor Force Survey system.</a:t>
            </a:r>
            <a:endParaRPr lang="en-US" sz="1400" dirty="0"/>
          </a:p>
        </p:txBody>
      </p:sp>
      <p:sp>
        <p:nvSpPr>
          <p:cNvPr id="21" name="Shape 18"/>
          <p:cNvSpPr/>
          <p:nvPr/>
        </p:nvSpPr>
        <p:spPr>
          <a:xfrm>
            <a:off x="329184" y="1892808"/>
            <a:ext cx="2715768" cy="11887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22" name="Shape 19"/>
          <p:cNvSpPr/>
          <p:nvPr/>
        </p:nvSpPr>
        <p:spPr>
          <a:xfrm>
            <a:off x="329184" y="1892808"/>
            <a:ext cx="64008" cy="1188720"/>
          </a:xfrm>
          <a:prstGeom prst="rect">
            <a:avLst/>
          </a:prstGeom>
          <a:solidFill>
            <a:srgbClr val="36ADA3"/>
          </a:solidFill>
          <a:ln/>
        </p:spPr>
        <p:txBody>
          <a:bodyPr/>
          <a:lstStyle/>
          <a:p>
            <a:endParaRPr lang="en-US"/>
          </a:p>
        </p:txBody>
      </p:sp>
      <p:sp>
        <p:nvSpPr>
          <p:cNvPr id="23" name="Text 20"/>
          <p:cNvSpPr/>
          <p:nvPr/>
        </p:nvSpPr>
        <p:spPr>
          <a:xfrm>
            <a:off x="493776" y="2002536"/>
            <a:ext cx="2487168" cy="320040"/>
          </a:xfrm>
          <a:prstGeom prst="rect">
            <a:avLst/>
          </a:prstGeom>
          <a:noFill/>
          <a:ln/>
        </p:spPr>
        <p:txBody>
          <a:bodyPr wrap="square" lIns="0" tIns="0" rIns="0" bIns="0" rtlCol="0" anchor="ctr"/>
          <a:lstStyle/>
          <a:p>
            <a:pPr marL="0" indent="0">
              <a:buNone/>
            </a:pPr>
            <a:r>
              <a:rPr lang="en-US" sz="1200" b="1" dirty="0">
                <a:solidFill>
                  <a:srgbClr val="36ADA3"/>
                </a:solidFill>
                <a:latin typeface="Calibri" pitchFamily="34" charset="0"/>
                <a:ea typeface="Calibri" pitchFamily="34" charset="-122"/>
                <a:cs typeface="Calibri" pitchFamily="34" charset="-120"/>
              </a:rPr>
              <a:t>CRUD Procedures</a:t>
            </a:r>
            <a:endParaRPr lang="en-US" sz="1200" dirty="0">
              <a:solidFill>
                <a:srgbClr val="36ADA3"/>
              </a:solidFill>
            </a:endParaRPr>
          </a:p>
        </p:txBody>
      </p:sp>
      <p:sp>
        <p:nvSpPr>
          <p:cNvPr id="24" name="Text 21"/>
          <p:cNvSpPr/>
          <p:nvPr/>
        </p:nvSpPr>
        <p:spPr>
          <a:xfrm>
            <a:off x="493776" y="2368296"/>
            <a:ext cx="2487168" cy="594360"/>
          </a:xfrm>
          <a:prstGeom prst="rect">
            <a:avLst/>
          </a:prstGeom>
          <a:noFill/>
          <a:ln/>
        </p:spPr>
        <p:txBody>
          <a:bodyPr wrap="square" lIns="0" tIns="0" rIns="0" bIns="0" rtlCol="0" anchor="ctr"/>
          <a:lstStyle/>
          <a:p>
            <a:pPr marL="0" indent="0">
              <a:buNone/>
            </a:pPr>
            <a:r>
              <a:rPr lang="en-US" sz="1100" dirty="0">
                <a:solidFill>
                  <a:srgbClr val="C8D4E8"/>
                </a:solidFill>
                <a:latin typeface="Calibri" pitchFamily="34" charset="0"/>
                <a:ea typeface="Calibri" pitchFamily="34" charset="-122"/>
                <a:cs typeface="Calibri" pitchFamily="34" charset="-120"/>
              </a:rPr>
              <a:t>Implemented for all core entities and dimensions</a:t>
            </a:r>
            <a:endParaRPr lang="en-US" sz="1100" dirty="0"/>
          </a:p>
        </p:txBody>
      </p:sp>
      <p:sp>
        <p:nvSpPr>
          <p:cNvPr id="25" name="Shape 22"/>
          <p:cNvSpPr/>
          <p:nvPr/>
        </p:nvSpPr>
        <p:spPr>
          <a:xfrm>
            <a:off x="3227832" y="1892808"/>
            <a:ext cx="2715768" cy="11887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26" name="Shape 23"/>
          <p:cNvSpPr/>
          <p:nvPr/>
        </p:nvSpPr>
        <p:spPr>
          <a:xfrm>
            <a:off x="3227832" y="1892808"/>
            <a:ext cx="64008" cy="1188720"/>
          </a:xfrm>
          <a:prstGeom prst="rect">
            <a:avLst/>
          </a:prstGeom>
          <a:solidFill>
            <a:srgbClr val="36ADA3"/>
          </a:solidFill>
          <a:ln/>
        </p:spPr>
        <p:txBody>
          <a:bodyPr/>
          <a:lstStyle/>
          <a:p>
            <a:endParaRPr lang="en-US"/>
          </a:p>
        </p:txBody>
      </p:sp>
      <p:sp>
        <p:nvSpPr>
          <p:cNvPr id="27" name="Text 24"/>
          <p:cNvSpPr/>
          <p:nvPr/>
        </p:nvSpPr>
        <p:spPr>
          <a:xfrm>
            <a:off x="3392424" y="2002536"/>
            <a:ext cx="2487168" cy="320040"/>
          </a:xfrm>
          <a:prstGeom prst="rect">
            <a:avLst/>
          </a:prstGeom>
          <a:noFill/>
          <a:ln/>
        </p:spPr>
        <p:txBody>
          <a:bodyPr wrap="square" lIns="0" tIns="0" rIns="0" bIns="0" rtlCol="0" anchor="ctr"/>
          <a:lstStyle/>
          <a:p>
            <a:pPr marL="0" indent="0">
              <a:buNone/>
            </a:pPr>
            <a:r>
              <a:rPr lang="en-US" sz="1200" b="1" dirty="0">
                <a:solidFill>
                  <a:srgbClr val="36ADA3"/>
                </a:solidFill>
                <a:latin typeface="Calibri" pitchFamily="34" charset="0"/>
                <a:ea typeface="Calibri" pitchFamily="34" charset="-122"/>
                <a:cs typeface="Calibri" pitchFamily="34" charset="-120"/>
              </a:rPr>
              <a:t>Analytical Procedures</a:t>
            </a:r>
            <a:endParaRPr lang="en-US" sz="1200" dirty="0">
              <a:solidFill>
                <a:srgbClr val="36ADA3"/>
              </a:solidFill>
            </a:endParaRPr>
          </a:p>
        </p:txBody>
      </p:sp>
      <p:sp>
        <p:nvSpPr>
          <p:cNvPr id="28" name="Text 25"/>
          <p:cNvSpPr/>
          <p:nvPr/>
        </p:nvSpPr>
        <p:spPr>
          <a:xfrm>
            <a:off x="3392424" y="2368296"/>
            <a:ext cx="2487168" cy="594360"/>
          </a:xfrm>
          <a:prstGeom prst="rect">
            <a:avLst/>
          </a:prstGeom>
          <a:noFill/>
          <a:ln/>
        </p:spPr>
        <p:txBody>
          <a:bodyPr wrap="square" lIns="0" tIns="0" rIns="0" bIns="0" rtlCol="0" anchor="ctr"/>
          <a:lstStyle/>
          <a:p>
            <a:pPr marL="0" indent="0">
              <a:buNone/>
            </a:pPr>
            <a:r>
              <a:rPr lang="en-US" sz="1100" dirty="0">
                <a:solidFill>
                  <a:srgbClr val="C8D4E8"/>
                </a:solidFill>
                <a:latin typeface="Calibri" pitchFamily="34" charset="0"/>
                <a:ea typeface="Calibri" pitchFamily="34" charset="-122"/>
                <a:cs typeface="Calibri" pitchFamily="34" charset="-120"/>
              </a:rPr>
              <a:t>Labor market, employment, education &amp; salary analysis</a:t>
            </a:r>
            <a:endParaRPr lang="en-US" sz="1100" dirty="0"/>
          </a:p>
        </p:txBody>
      </p:sp>
      <p:sp>
        <p:nvSpPr>
          <p:cNvPr id="29" name="Shape 26"/>
          <p:cNvSpPr/>
          <p:nvPr/>
        </p:nvSpPr>
        <p:spPr>
          <a:xfrm>
            <a:off x="6126480" y="1892808"/>
            <a:ext cx="2715768" cy="11887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30" name="Shape 27"/>
          <p:cNvSpPr/>
          <p:nvPr/>
        </p:nvSpPr>
        <p:spPr>
          <a:xfrm>
            <a:off x="6126480" y="1892808"/>
            <a:ext cx="64008" cy="1188720"/>
          </a:xfrm>
          <a:prstGeom prst="rect">
            <a:avLst/>
          </a:prstGeom>
          <a:solidFill>
            <a:srgbClr val="36ADA3"/>
          </a:solidFill>
          <a:ln/>
        </p:spPr>
        <p:txBody>
          <a:bodyPr/>
          <a:lstStyle/>
          <a:p>
            <a:endParaRPr lang="en-US"/>
          </a:p>
        </p:txBody>
      </p:sp>
      <p:sp>
        <p:nvSpPr>
          <p:cNvPr id="31" name="Text 28"/>
          <p:cNvSpPr/>
          <p:nvPr/>
        </p:nvSpPr>
        <p:spPr>
          <a:xfrm>
            <a:off x="6291072" y="2002536"/>
            <a:ext cx="2487168" cy="320040"/>
          </a:xfrm>
          <a:prstGeom prst="rect">
            <a:avLst/>
          </a:prstGeom>
          <a:noFill/>
          <a:ln/>
        </p:spPr>
        <p:txBody>
          <a:bodyPr wrap="square" lIns="0" tIns="0" rIns="0" bIns="0" rtlCol="0" anchor="ctr"/>
          <a:lstStyle/>
          <a:p>
            <a:pPr marL="0" indent="0">
              <a:buNone/>
            </a:pPr>
            <a:r>
              <a:rPr lang="en-US" sz="1200" b="1" dirty="0">
                <a:solidFill>
                  <a:srgbClr val="36ADA3"/>
                </a:solidFill>
                <a:latin typeface="Calibri" pitchFamily="34" charset="0"/>
                <a:ea typeface="Calibri" pitchFamily="34" charset="-122"/>
                <a:cs typeface="Calibri" pitchFamily="34" charset="-120"/>
              </a:rPr>
              <a:t>Employment Reporting</a:t>
            </a:r>
            <a:endParaRPr lang="en-US" sz="1200" dirty="0">
              <a:solidFill>
                <a:srgbClr val="36ADA3"/>
              </a:solidFill>
            </a:endParaRPr>
          </a:p>
        </p:txBody>
      </p:sp>
      <p:sp>
        <p:nvSpPr>
          <p:cNvPr id="32" name="Text 29"/>
          <p:cNvSpPr/>
          <p:nvPr/>
        </p:nvSpPr>
        <p:spPr>
          <a:xfrm>
            <a:off x="6291072" y="2368296"/>
            <a:ext cx="2487168" cy="594360"/>
          </a:xfrm>
          <a:prstGeom prst="rect">
            <a:avLst/>
          </a:prstGeom>
          <a:noFill/>
          <a:ln/>
        </p:spPr>
        <p:txBody>
          <a:bodyPr wrap="square" lIns="0" tIns="0" rIns="0" bIns="0" rtlCol="0" anchor="ctr"/>
          <a:lstStyle/>
          <a:p>
            <a:pPr marL="0" indent="0">
              <a:buNone/>
            </a:pPr>
            <a:r>
              <a:rPr lang="en-US" sz="1100" dirty="0">
                <a:solidFill>
                  <a:srgbClr val="C8D4E8"/>
                </a:solidFill>
                <a:latin typeface="Calibri" pitchFamily="34" charset="0"/>
                <a:ea typeface="Calibri" pitchFamily="34" charset="-122"/>
                <a:cs typeface="Calibri" pitchFamily="34" charset="-120"/>
              </a:rPr>
              <a:t>Employment status, workforce distribution &amp; demographic insights</a:t>
            </a:r>
            <a:endParaRPr lang="en-US" sz="1100" dirty="0"/>
          </a:p>
        </p:txBody>
      </p:sp>
      <p:sp>
        <p:nvSpPr>
          <p:cNvPr id="33" name="Shape 30"/>
          <p:cNvSpPr/>
          <p:nvPr/>
        </p:nvSpPr>
        <p:spPr>
          <a:xfrm>
            <a:off x="1773936" y="3264408"/>
            <a:ext cx="2715768" cy="11887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34" name="Shape 31"/>
          <p:cNvSpPr/>
          <p:nvPr/>
        </p:nvSpPr>
        <p:spPr>
          <a:xfrm>
            <a:off x="1773936" y="3264408"/>
            <a:ext cx="64008" cy="1188720"/>
          </a:xfrm>
          <a:prstGeom prst="rect">
            <a:avLst/>
          </a:prstGeom>
          <a:solidFill>
            <a:srgbClr val="36ADA3"/>
          </a:solidFill>
          <a:ln/>
        </p:spPr>
        <p:txBody>
          <a:bodyPr/>
          <a:lstStyle/>
          <a:p>
            <a:endParaRPr lang="en-US"/>
          </a:p>
        </p:txBody>
      </p:sp>
      <p:sp>
        <p:nvSpPr>
          <p:cNvPr id="35" name="Text 32"/>
          <p:cNvSpPr/>
          <p:nvPr/>
        </p:nvSpPr>
        <p:spPr>
          <a:xfrm>
            <a:off x="1938528" y="3374136"/>
            <a:ext cx="2487168" cy="320040"/>
          </a:xfrm>
          <a:prstGeom prst="rect">
            <a:avLst/>
          </a:prstGeom>
          <a:noFill/>
          <a:ln/>
        </p:spPr>
        <p:txBody>
          <a:bodyPr wrap="square" lIns="0" tIns="0" rIns="0" bIns="0" rtlCol="0" anchor="ctr"/>
          <a:lstStyle/>
          <a:p>
            <a:pPr marL="0" indent="0">
              <a:buNone/>
            </a:pPr>
            <a:r>
              <a:rPr lang="en-US" sz="1200" b="1" dirty="0">
                <a:solidFill>
                  <a:srgbClr val="36ADA3"/>
                </a:solidFill>
                <a:latin typeface="Calibri" pitchFamily="34" charset="0"/>
                <a:ea typeface="Calibri" pitchFamily="34" charset="-122"/>
                <a:cs typeface="Calibri" pitchFamily="34" charset="-120"/>
              </a:rPr>
              <a:t>Power BI Support</a:t>
            </a:r>
            <a:endParaRPr lang="en-US" sz="1200" dirty="0">
              <a:solidFill>
                <a:srgbClr val="36ADA3"/>
              </a:solidFill>
            </a:endParaRPr>
          </a:p>
        </p:txBody>
      </p:sp>
      <p:sp>
        <p:nvSpPr>
          <p:cNvPr id="36" name="Text 33"/>
          <p:cNvSpPr/>
          <p:nvPr/>
        </p:nvSpPr>
        <p:spPr>
          <a:xfrm>
            <a:off x="1938528" y="3739896"/>
            <a:ext cx="2487168" cy="594360"/>
          </a:xfrm>
          <a:prstGeom prst="rect">
            <a:avLst/>
          </a:prstGeom>
          <a:noFill/>
          <a:ln/>
        </p:spPr>
        <p:txBody>
          <a:bodyPr wrap="square" lIns="0" tIns="0" rIns="0" bIns="0" rtlCol="0" anchor="ctr"/>
          <a:lstStyle/>
          <a:p>
            <a:pPr marL="0" indent="0">
              <a:buNone/>
            </a:pPr>
            <a:r>
              <a:rPr lang="en-US" sz="1100" dirty="0">
                <a:solidFill>
                  <a:srgbClr val="C8D4E8"/>
                </a:solidFill>
                <a:latin typeface="Calibri" pitchFamily="34" charset="0"/>
                <a:ea typeface="Calibri" pitchFamily="34" charset="-122"/>
                <a:cs typeface="Calibri" pitchFamily="34" charset="-120"/>
              </a:rPr>
              <a:t>Parameterized procedures for dynamic BI dashboards</a:t>
            </a:r>
            <a:endParaRPr lang="en-US" sz="1100" dirty="0"/>
          </a:p>
        </p:txBody>
      </p:sp>
      <p:sp>
        <p:nvSpPr>
          <p:cNvPr id="37" name="Shape 34"/>
          <p:cNvSpPr/>
          <p:nvPr/>
        </p:nvSpPr>
        <p:spPr>
          <a:xfrm>
            <a:off x="4672584" y="3264408"/>
            <a:ext cx="2715768" cy="11887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38" name="Shape 35"/>
          <p:cNvSpPr/>
          <p:nvPr/>
        </p:nvSpPr>
        <p:spPr>
          <a:xfrm>
            <a:off x="4672584" y="3264408"/>
            <a:ext cx="64008" cy="1188720"/>
          </a:xfrm>
          <a:prstGeom prst="rect">
            <a:avLst/>
          </a:prstGeom>
          <a:solidFill>
            <a:srgbClr val="36ADA3"/>
          </a:solidFill>
          <a:ln/>
        </p:spPr>
        <p:txBody>
          <a:bodyPr/>
          <a:lstStyle/>
          <a:p>
            <a:endParaRPr lang="en-US"/>
          </a:p>
        </p:txBody>
      </p:sp>
      <p:sp>
        <p:nvSpPr>
          <p:cNvPr id="39" name="Text 36"/>
          <p:cNvSpPr/>
          <p:nvPr/>
        </p:nvSpPr>
        <p:spPr>
          <a:xfrm>
            <a:off x="4837176" y="3374136"/>
            <a:ext cx="2487168" cy="320040"/>
          </a:xfrm>
          <a:prstGeom prst="rect">
            <a:avLst/>
          </a:prstGeom>
          <a:noFill/>
          <a:ln/>
        </p:spPr>
        <p:txBody>
          <a:bodyPr wrap="square" lIns="0" tIns="0" rIns="0" bIns="0" rtlCol="0" anchor="ctr"/>
          <a:lstStyle/>
          <a:p>
            <a:pPr marL="0" indent="0">
              <a:buNone/>
            </a:pPr>
            <a:r>
              <a:rPr lang="en-US" sz="1200" b="1" dirty="0">
                <a:solidFill>
                  <a:srgbClr val="36ADA3"/>
                </a:solidFill>
                <a:latin typeface="Calibri" pitchFamily="34" charset="0"/>
                <a:ea typeface="Calibri" pitchFamily="34" charset="-122"/>
                <a:cs typeface="Calibri" pitchFamily="34" charset="-120"/>
              </a:rPr>
              <a:t>Performance Optimization</a:t>
            </a:r>
            <a:endParaRPr lang="en-US" sz="1200" dirty="0">
              <a:solidFill>
                <a:srgbClr val="36ADA3"/>
              </a:solidFill>
            </a:endParaRPr>
          </a:p>
        </p:txBody>
      </p:sp>
      <p:sp>
        <p:nvSpPr>
          <p:cNvPr id="40" name="Text 37"/>
          <p:cNvSpPr/>
          <p:nvPr/>
        </p:nvSpPr>
        <p:spPr>
          <a:xfrm>
            <a:off x="4837176" y="3739896"/>
            <a:ext cx="2487168" cy="594360"/>
          </a:xfrm>
          <a:prstGeom prst="rect">
            <a:avLst/>
          </a:prstGeom>
          <a:noFill/>
          <a:ln/>
        </p:spPr>
        <p:txBody>
          <a:bodyPr wrap="square" lIns="0" tIns="0" rIns="0" bIns="0" rtlCol="0" anchor="ctr"/>
          <a:lstStyle/>
          <a:p>
            <a:pPr marL="0" indent="0">
              <a:buNone/>
            </a:pPr>
            <a:r>
              <a:rPr lang="en-US" sz="1100" dirty="0">
                <a:solidFill>
                  <a:srgbClr val="C8D4E8"/>
                </a:solidFill>
                <a:latin typeface="Calibri" pitchFamily="34" charset="0"/>
                <a:ea typeface="Calibri" pitchFamily="34" charset="-122"/>
                <a:cs typeface="Calibri" pitchFamily="34" charset="-120"/>
              </a:rPr>
              <a:t>Optimized retrieval &amp; aggregation for faster reporting</a:t>
            </a:r>
            <a:endParaRPr lang="en-US" sz="1100" dirty="0"/>
          </a:p>
        </p:txBody>
      </p:sp>
      <p:sp>
        <p:nvSpPr>
          <p:cNvPr id="43" name="Text 14">
            <a:extLst>
              <a:ext uri="{FF2B5EF4-FFF2-40B4-BE49-F238E27FC236}">
                <a16:creationId xmlns:a16="http://schemas.microsoft.com/office/drawing/2014/main" id="{17C57F2F-774D-19F8-A436-D88007C4FF8B}"/>
              </a:ext>
            </a:extLst>
          </p:cNvPr>
          <p:cNvSpPr/>
          <p:nvPr/>
        </p:nvSpPr>
        <p:spPr>
          <a:xfrm>
            <a:off x="320040" y="91440"/>
            <a:ext cx="71323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Stored Procedures — Key Examples</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a:extLst>
            <a:ext uri="{FF2B5EF4-FFF2-40B4-BE49-F238E27FC236}">
              <a16:creationId xmlns:a16="http://schemas.microsoft.com/office/drawing/2014/main" id="{B2C28141-7BFC-3169-ECDF-9896807C094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A10AAAD-BDF1-0E08-5E03-7DA47531E347}"/>
              </a:ext>
            </a:extLst>
          </p:cNvPr>
          <p:cNvSpPr/>
          <p:nvPr/>
        </p:nvSpPr>
        <p:spPr>
          <a:xfrm>
            <a:off x="0" y="0"/>
            <a:ext cx="9144000" cy="642938"/>
          </a:xfrm>
          <a:prstGeom prst="roundRect">
            <a:avLst>
              <a:gd name="adj" fmla="val 0"/>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45" name="Text 1">
            <a:extLst>
              <a:ext uri="{FF2B5EF4-FFF2-40B4-BE49-F238E27FC236}">
                <a16:creationId xmlns:a16="http://schemas.microsoft.com/office/drawing/2014/main" id="{F67192E0-060A-E22C-9284-004B422E4A9C}"/>
              </a:ext>
            </a:extLst>
          </p:cNvPr>
          <p:cNvSpPr/>
          <p:nvPr/>
        </p:nvSpPr>
        <p:spPr>
          <a:xfrm>
            <a:off x="241310" y="220750"/>
            <a:ext cx="3484343" cy="201439"/>
          </a:xfrm>
          <a:prstGeom prst="rect">
            <a:avLst/>
          </a:prstGeom>
          <a:noFill/>
          <a:ln/>
        </p:spPr>
        <p:txBody>
          <a:bodyPr wrap="square" lIns="0" tIns="0" rIns="0" bIns="0" rtlCol="0" anchor="ctr"/>
          <a:lstStyle/>
          <a:p>
            <a:pPr>
              <a:lnSpc>
                <a:spcPct val="90000"/>
              </a:lnSpc>
            </a:pPr>
            <a:r>
              <a:rPr lang="en-US" sz="1875">
                <a:solidFill>
                  <a:srgbClr val="A3B9D4"/>
                </a:solidFill>
                <a:latin typeface="Quattrocento Sans"/>
                <a:ea typeface="+mn-lt"/>
                <a:cs typeface="+mn-lt"/>
              </a:rPr>
              <a:t>Stored Procedures Overview</a:t>
            </a:r>
            <a:endParaRPr lang="en-US" sz="1875">
              <a:latin typeface="Quattrocento Sans"/>
              <a:ea typeface="Calibri"/>
              <a:cs typeface="Calibri"/>
            </a:endParaRPr>
          </a:p>
        </p:txBody>
      </p:sp>
      <p:pic>
        <p:nvPicPr>
          <p:cNvPr id="46" name="Picture 45" descr="A screenshot of a computer&#10;&#10;AI-generated content may be incorrect.">
            <a:extLst>
              <a:ext uri="{FF2B5EF4-FFF2-40B4-BE49-F238E27FC236}">
                <a16:creationId xmlns:a16="http://schemas.microsoft.com/office/drawing/2014/main" id="{A793F2BB-2BA2-1189-D9D9-5C36D42F4B9B}"/>
              </a:ext>
            </a:extLst>
          </p:cNvPr>
          <p:cNvPicPr>
            <a:picLocks noChangeAspect="1"/>
          </p:cNvPicPr>
          <p:nvPr/>
        </p:nvPicPr>
        <p:blipFill>
          <a:blip r:embed="rId3"/>
          <a:stretch>
            <a:fillRect/>
          </a:stretch>
        </p:blipFill>
        <p:spPr>
          <a:xfrm>
            <a:off x="241309" y="702495"/>
            <a:ext cx="8752671" cy="4221709"/>
          </a:xfrm>
          <a:prstGeom prst="rect">
            <a:avLst/>
          </a:prstGeom>
        </p:spPr>
      </p:pic>
      <p:pic>
        <p:nvPicPr>
          <p:cNvPr id="3" name="Image 0" descr="preencoded.png">
            <a:extLst>
              <a:ext uri="{FF2B5EF4-FFF2-40B4-BE49-F238E27FC236}">
                <a16:creationId xmlns:a16="http://schemas.microsoft.com/office/drawing/2014/main" id="{C480E545-53EE-D936-E7D8-5962A0696C8D}"/>
              </a:ext>
            </a:extLst>
          </p:cNvPr>
          <p:cNvPicPr>
            <a:picLocks noChangeAspect="1"/>
          </p:cNvPicPr>
          <p:nvPr/>
        </p:nvPicPr>
        <p:blipFill>
          <a:blip r:embed="rId4"/>
          <a:stretch>
            <a:fillRect/>
          </a:stretch>
        </p:blipFill>
        <p:spPr>
          <a:xfrm>
            <a:off x="8046720" y="45720"/>
            <a:ext cx="685800" cy="540068"/>
          </a:xfrm>
          <a:prstGeom prst="rect">
            <a:avLst/>
          </a:prstGeom>
        </p:spPr>
      </p:pic>
    </p:spTree>
    <p:extLst>
      <p:ext uri="{BB962C8B-B14F-4D97-AF65-F5344CB8AC3E}">
        <p14:creationId xmlns:p14="http://schemas.microsoft.com/office/powerpoint/2010/main" val="349279529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8204F"/>
        </a:solidFill>
        <a:effectLst/>
      </p:bgPr>
    </p:bg>
    <p:spTree>
      <p:nvGrpSpPr>
        <p:cNvPr id="1" name="">
          <a:extLst>
            <a:ext uri="{FF2B5EF4-FFF2-40B4-BE49-F238E27FC236}">
              <a16:creationId xmlns:a16="http://schemas.microsoft.com/office/drawing/2014/main" id="{7D69D472-4DBD-4A73-D68A-09515243ED2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BC11C81-38E6-0FCB-5CCF-C2C0D416DCED}"/>
              </a:ext>
            </a:extLst>
          </p:cNvPr>
          <p:cNvSpPr/>
          <p:nvPr/>
        </p:nvSpPr>
        <p:spPr>
          <a:xfrm>
            <a:off x="0" y="0"/>
            <a:ext cx="9144000" cy="85725"/>
          </a:xfrm>
          <a:prstGeom prst="rect">
            <a:avLst/>
          </a:prstGeom>
          <a:solidFill>
            <a:srgbClr val="36ADA3"/>
          </a:solidFill>
          <a:ln/>
        </p:spPr>
        <p:txBody>
          <a:bodyPr/>
          <a:lstStyle/>
          <a:p>
            <a:endParaRPr lang="en-US"/>
          </a:p>
        </p:txBody>
      </p:sp>
      <p:sp>
        <p:nvSpPr>
          <p:cNvPr id="3" name="Shape 1">
            <a:extLst>
              <a:ext uri="{FF2B5EF4-FFF2-40B4-BE49-F238E27FC236}">
                <a16:creationId xmlns:a16="http://schemas.microsoft.com/office/drawing/2014/main" id="{6924EDF7-1F61-483F-10E5-CE02F48BE654}"/>
              </a:ext>
            </a:extLst>
          </p:cNvPr>
          <p:cNvSpPr/>
          <p:nvPr/>
        </p:nvSpPr>
        <p:spPr>
          <a:xfrm>
            <a:off x="0" y="5057775"/>
            <a:ext cx="9144000" cy="85725"/>
          </a:xfrm>
          <a:prstGeom prst="rect">
            <a:avLst/>
          </a:prstGeom>
          <a:solidFill>
            <a:srgbClr val="36ADA3"/>
          </a:solidFill>
          <a:ln/>
        </p:spPr>
        <p:txBody>
          <a:bodyPr/>
          <a:lstStyle/>
          <a:p>
            <a:endParaRPr lang="en-US"/>
          </a:p>
        </p:txBody>
      </p:sp>
      <p:sp>
        <p:nvSpPr>
          <p:cNvPr id="4" name="Text 2">
            <a:extLst>
              <a:ext uri="{FF2B5EF4-FFF2-40B4-BE49-F238E27FC236}">
                <a16:creationId xmlns:a16="http://schemas.microsoft.com/office/drawing/2014/main" id="{F8921B9A-CD7A-9572-C761-2DA1AA65AED8}"/>
              </a:ext>
            </a:extLst>
          </p:cNvPr>
          <p:cNvSpPr/>
          <p:nvPr/>
        </p:nvSpPr>
        <p:spPr>
          <a:xfrm>
            <a:off x="0" y="1428750"/>
            <a:ext cx="9144000" cy="571500"/>
          </a:xfrm>
          <a:prstGeom prst="rect">
            <a:avLst/>
          </a:prstGeom>
          <a:noFill/>
          <a:ln/>
        </p:spPr>
        <p:txBody>
          <a:bodyPr wrap="none" lIns="0" tIns="0" rIns="0" bIns="0" rtlCol="0" anchor="ctr"/>
          <a:lstStyle/>
          <a:p>
            <a:pPr algn="ctr">
              <a:lnSpc>
                <a:spcPct val="100000"/>
              </a:lnSpc>
            </a:pPr>
            <a:r>
              <a:rPr lang="en-US" sz="4050" b="1" dirty="0">
                <a:solidFill>
                  <a:srgbClr val="36ADA3"/>
                </a:solidFill>
                <a:latin typeface="Liter" pitchFamily="34" charset="0"/>
                <a:ea typeface="Liter" pitchFamily="34" charset="-122"/>
                <a:cs typeface="Liter" pitchFamily="34" charset="-120"/>
              </a:rPr>
              <a:t>04</a:t>
            </a:r>
            <a:endParaRPr lang="en-US" sz="900" dirty="0">
              <a:solidFill>
                <a:srgbClr val="36ADA3"/>
              </a:solidFill>
            </a:endParaRPr>
          </a:p>
        </p:txBody>
      </p:sp>
      <p:sp>
        <p:nvSpPr>
          <p:cNvPr id="5" name="Text 3">
            <a:extLst>
              <a:ext uri="{FF2B5EF4-FFF2-40B4-BE49-F238E27FC236}">
                <a16:creationId xmlns:a16="http://schemas.microsoft.com/office/drawing/2014/main" id="{8F3CC868-3EDB-BAB7-E3FF-8E18FEFE5569}"/>
              </a:ext>
            </a:extLst>
          </p:cNvPr>
          <p:cNvSpPr/>
          <p:nvPr/>
        </p:nvSpPr>
        <p:spPr>
          <a:xfrm>
            <a:off x="0" y="2143125"/>
            <a:ext cx="9144000" cy="571500"/>
          </a:xfrm>
          <a:prstGeom prst="rect">
            <a:avLst/>
          </a:prstGeom>
          <a:noFill/>
          <a:ln/>
        </p:spPr>
        <p:txBody>
          <a:bodyPr wrap="none" lIns="0" tIns="0" rIns="0" bIns="0" rtlCol="0" anchor="ctr"/>
          <a:lstStyle/>
          <a:p>
            <a:pPr algn="ctr"/>
            <a:r>
              <a:rPr lang="en-US" sz="2800" b="1" dirty="0">
                <a:solidFill>
                  <a:schemeClr val="bg1"/>
                </a:solidFill>
                <a:latin typeface="Quattrocento Sans" pitchFamily="34" charset="0"/>
                <a:ea typeface="Quattrocento Sans" pitchFamily="34" charset="-122"/>
                <a:cs typeface="Quattrocento Sans" pitchFamily="34" charset="-120"/>
              </a:rPr>
              <a:t>Database Warehouse</a:t>
            </a:r>
            <a:endParaRPr lang="en-US" sz="2800" dirty="0">
              <a:solidFill>
                <a:schemeClr val="bg1"/>
              </a:solidFill>
            </a:endParaRPr>
          </a:p>
        </p:txBody>
      </p:sp>
      <p:sp>
        <p:nvSpPr>
          <p:cNvPr id="6" name="Text 4">
            <a:extLst>
              <a:ext uri="{FF2B5EF4-FFF2-40B4-BE49-F238E27FC236}">
                <a16:creationId xmlns:a16="http://schemas.microsoft.com/office/drawing/2014/main" id="{E8E2226F-A8E2-A0BE-0207-153681B6F314}"/>
              </a:ext>
            </a:extLst>
          </p:cNvPr>
          <p:cNvSpPr/>
          <p:nvPr/>
        </p:nvSpPr>
        <p:spPr>
          <a:xfrm>
            <a:off x="0" y="2857500"/>
            <a:ext cx="9144000" cy="357188"/>
          </a:xfrm>
          <a:prstGeom prst="rect">
            <a:avLst/>
          </a:prstGeom>
          <a:noFill/>
          <a:ln/>
        </p:spPr>
        <p:txBody>
          <a:bodyPr wrap="none" lIns="0" tIns="0" rIns="0" bIns="0" rtlCol="0" anchor="ctr"/>
          <a:lstStyle/>
          <a:p>
            <a:pPr algn="ctr"/>
            <a:r>
              <a:rPr lang="en-US" sz="1200" dirty="0">
                <a:solidFill>
                  <a:srgbClr val="36ADA3"/>
                </a:solidFill>
                <a:latin typeface="Calibri" pitchFamily="34" charset="0"/>
                <a:ea typeface="Calibri" pitchFamily="34" charset="-122"/>
                <a:cs typeface="Calibri" pitchFamily="34" charset="-120"/>
              </a:rPr>
              <a:t>Centralized DW with Stored Procedures for reporting layers</a:t>
            </a:r>
            <a:endParaRPr lang="en-US" sz="1200" dirty="0">
              <a:solidFill>
                <a:srgbClr val="36ADA3"/>
              </a:solidFill>
            </a:endParaRPr>
          </a:p>
        </p:txBody>
      </p:sp>
    </p:spTree>
    <p:extLst>
      <p:ext uri="{BB962C8B-B14F-4D97-AF65-F5344CB8AC3E}">
        <p14:creationId xmlns:p14="http://schemas.microsoft.com/office/powerpoint/2010/main" val="257718710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a:extLst>
            <a:ext uri="{FF2B5EF4-FFF2-40B4-BE49-F238E27FC236}">
              <a16:creationId xmlns:a16="http://schemas.microsoft.com/office/drawing/2014/main" id="{63F8F2DC-9BBC-3ECD-2ED7-D33E9C2D91F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3381E08-A4F5-EB6F-E2F7-8289121D47C0}"/>
              </a:ext>
            </a:extLst>
          </p:cNvPr>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dirty="0"/>
          </a:p>
        </p:txBody>
      </p:sp>
      <p:pic>
        <p:nvPicPr>
          <p:cNvPr id="4" name="Image 0" descr="preencoded.png">
            <a:extLst>
              <a:ext uri="{FF2B5EF4-FFF2-40B4-BE49-F238E27FC236}">
                <a16:creationId xmlns:a16="http://schemas.microsoft.com/office/drawing/2014/main" id="{0E3DE0A2-81A1-699C-C5F9-0B1E99B881CA}"/>
              </a:ext>
            </a:extLst>
          </p:cNvPr>
          <p:cNvPicPr>
            <a:picLocks noChangeAspect="1"/>
          </p:cNvPicPr>
          <p:nvPr/>
        </p:nvPicPr>
        <p:blipFill>
          <a:blip r:embed="rId3"/>
          <a:stretch>
            <a:fillRect/>
          </a:stretch>
        </p:blipFill>
        <p:spPr>
          <a:xfrm>
            <a:off x="8046720" y="45720"/>
            <a:ext cx="685800" cy="676656"/>
          </a:xfrm>
          <a:prstGeom prst="rect">
            <a:avLst/>
          </a:prstGeom>
        </p:spPr>
      </p:pic>
      <p:sp>
        <p:nvSpPr>
          <p:cNvPr id="89" name="Text 14">
            <a:extLst>
              <a:ext uri="{FF2B5EF4-FFF2-40B4-BE49-F238E27FC236}">
                <a16:creationId xmlns:a16="http://schemas.microsoft.com/office/drawing/2014/main" id="{0A3E4296-0C24-1D53-08C5-7D8AFAAFC92A}"/>
              </a:ext>
            </a:extLst>
          </p:cNvPr>
          <p:cNvSpPr/>
          <p:nvPr/>
        </p:nvSpPr>
        <p:spPr>
          <a:xfrm>
            <a:off x="320040" y="91439"/>
            <a:ext cx="7132320" cy="572929"/>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Star Schema </a:t>
            </a:r>
            <a:endParaRPr lang="en-US" sz="2200" dirty="0"/>
          </a:p>
        </p:txBody>
      </p:sp>
      <p:pic>
        <p:nvPicPr>
          <p:cNvPr id="5" name="Picture 4">
            <a:extLst>
              <a:ext uri="{FF2B5EF4-FFF2-40B4-BE49-F238E27FC236}">
                <a16:creationId xmlns:a16="http://schemas.microsoft.com/office/drawing/2014/main" id="{1F58B078-A4FD-17DE-C197-24DD1040F418}"/>
              </a:ext>
            </a:extLst>
          </p:cNvPr>
          <p:cNvPicPr>
            <a:picLocks noChangeAspect="1"/>
          </p:cNvPicPr>
          <p:nvPr/>
        </p:nvPicPr>
        <p:blipFill>
          <a:blip r:embed="rId4"/>
          <a:srcRect t="1513"/>
          <a:stretch>
            <a:fillRect/>
          </a:stretch>
        </p:blipFill>
        <p:spPr>
          <a:xfrm>
            <a:off x="536944" y="930031"/>
            <a:ext cx="8070112" cy="3993662"/>
          </a:xfrm>
          <a:prstGeom prst="rect">
            <a:avLst/>
          </a:prstGeom>
        </p:spPr>
      </p:pic>
    </p:spTree>
    <p:extLst>
      <p:ext uri="{BB962C8B-B14F-4D97-AF65-F5344CB8AC3E}">
        <p14:creationId xmlns:p14="http://schemas.microsoft.com/office/powerpoint/2010/main" val="3869278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46" name="Shape 0">
            <a:extLst>
              <a:ext uri="{FF2B5EF4-FFF2-40B4-BE49-F238E27FC236}">
                <a16:creationId xmlns:a16="http://schemas.microsoft.com/office/drawing/2014/main" id="{BC9435A2-D8CE-45AB-CB39-55B57D77FBC5}"/>
              </a:ext>
            </a:extLst>
          </p:cNvPr>
          <p:cNvSpPr/>
          <p:nvPr/>
        </p:nvSpPr>
        <p:spPr>
          <a:xfrm>
            <a:off x="0" y="0"/>
            <a:ext cx="9144000" cy="642938"/>
          </a:xfrm>
          <a:prstGeom prst="roundRect">
            <a:avLst>
              <a:gd name="adj" fmla="val 0"/>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pic>
        <p:nvPicPr>
          <p:cNvPr id="47" name="Image 0" descr="preencoded.png">
            <a:extLst>
              <a:ext uri="{FF2B5EF4-FFF2-40B4-BE49-F238E27FC236}">
                <a16:creationId xmlns:a16="http://schemas.microsoft.com/office/drawing/2014/main" id="{7AD55A01-FA53-5332-D4BF-22C31A32BA79}"/>
              </a:ext>
            </a:extLst>
          </p:cNvPr>
          <p:cNvPicPr>
            <a:picLocks noChangeAspect="1"/>
          </p:cNvPicPr>
          <p:nvPr/>
        </p:nvPicPr>
        <p:blipFill>
          <a:blip r:embed="rId3"/>
          <a:stretch>
            <a:fillRect/>
          </a:stretch>
        </p:blipFill>
        <p:spPr>
          <a:xfrm>
            <a:off x="8046720" y="45720"/>
            <a:ext cx="685800" cy="540068"/>
          </a:xfrm>
          <a:prstGeom prst="rect">
            <a:avLst/>
          </a:prstGeom>
        </p:spPr>
      </p:pic>
      <p:sp>
        <p:nvSpPr>
          <p:cNvPr id="3" name="Shape 1"/>
          <p:cNvSpPr/>
          <p:nvPr/>
        </p:nvSpPr>
        <p:spPr>
          <a:xfrm>
            <a:off x="341063" y="93269"/>
            <a:ext cx="475488" cy="475488"/>
          </a:xfrm>
          <a:prstGeom prst="ellipse">
            <a:avLst/>
          </a:prstGeom>
          <a:solidFill>
            <a:srgbClr val="02C39A"/>
          </a:solidFill>
          <a:ln w="12700">
            <a:solidFill>
              <a:srgbClr val="02C39A"/>
            </a:solidFill>
            <a:prstDash val="solid"/>
          </a:ln>
        </p:spPr>
        <p:txBody>
          <a:bodyPr/>
          <a:lstStyle/>
          <a:p>
            <a:endParaRPr lang="en-US"/>
          </a:p>
        </p:txBody>
      </p:sp>
      <p:sp>
        <p:nvSpPr>
          <p:cNvPr id="4" name="Text 2"/>
          <p:cNvSpPr/>
          <p:nvPr/>
        </p:nvSpPr>
        <p:spPr>
          <a:xfrm>
            <a:off x="320040" y="93269"/>
            <a:ext cx="475488" cy="492519"/>
          </a:xfrm>
          <a:prstGeom prst="rect">
            <a:avLst/>
          </a:prstGeom>
          <a:noFill/>
          <a:ln/>
        </p:spPr>
        <p:txBody>
          <a:bodyPr wrap="square" lIns="0" tIns="0" rIns="0" bIns="0" rtlCol="0" anchor="ctr"/>
          <a:lstStyle/>
          <a:p>
            <a:pPr marL="0" indent="0" algn="ctr">
              <a:buNone/>
            </a:pPr>
            <a:r>
              <a:rPr lang="ar-EG" sz="1400" b="1" dirty="0">
                <a:solidFill>
                  <a:srgbClr val="0A2342"/>
                </a:solidFill>
              </a:rPr>
              <a:t>1</a:t>
            </a:r>
            <a:endParaRPr lang="en-US" sz="1400" dirty="0"/>
          </a:p>
        </p:txBody>
      </p:sp>
      <p:sp>
        <p:nvSpPr>
          <p:cNvPr id="5" name="Text 3"/>
          <p:cNvSpPr/>
          <p:nvPr/>
        </p:nvSpPr>
        <p:spPr>
          <a:xfrm>
            <a:off x="960120" y="36004"/>
            <a:ext cx="5010912" cy="540068"/>
          </a:xfrm>
          <a:prstGeom prst="rect">
            <a:avLst/>
          </a:prstGeom>
          <a:noFill/>
          <a:ln/>
        </p:spPr>
        <p:txBody>
          <a:bodyPr wrap="square" lIns="0" tIns="0" rIns="0" bIns="0" rtlCol="0" anchor="ctr"/>
          <a:lstStyle/>
          <a:p>
            <a:pPr marL="0" indent="0" algn="l">
              <a:buNone/>
            </a:pPr>
            <a:r>
              <a:rPr lang="en-US" sz="2600" b="1" dirty="0">
                <a:solidFill>
                  <a:schemeClr val="bg1"/>
                </a:solidFill>
                <a:latin typeface="Calibri" pitchFamily="34" charset="0"/>
                <a:ea typeface="Calibri" pitchFamily="34" charset="-122"/>
                <a:cs typeface="Calibri" pitchFamily="34" charset="-120"/>
              </a:rPr>
              <a:t>Staging Area + Full Load</a:t>
            </a:r>
            <a:endParaRPr lang="en-US" sz="2600" dirty="0">
              <a:solidFill>
                <a:schemeClr val="bg1"/>
              </a:solidFill>
            </a:endParaRPr>
          </a:p>
        </p:txBody>
      </p:sp>
      <p:sp>
        <p:nvSpPr>
          <p:cNvPr id="6" name="Text 4"/>
          <p:cNvSpPr/>
          <p:nvPr/>
        </p:nvSpPr>
        <p:spPr>
          <a:xfrm>
            <a:off x="711200" y="642938"/>
            <a:ext cx="8021320" cy="271462"/>
          </a:xfrm>
          <a:prstGeom prst="rect">
            <a:avLst/>
          </a:prstGeom>
          <a:noFill/>
          <a:ln/>
        </p:spPr>
        <p:txBody>
          <a:bodyPr wrap="square" lIns="0" tIns="0" rIns="0" bIns="0" rtlCol="0" anchor="ctr"/>
          <a:lstStyle/>
          <a:p>
            <a:pPr marL="0" indent="0" algn="l">
              <a:buNone/>
            </a:pPr>
            <a:r>
              <a:rPr lang="en-US" sz="1200" dirty="0">
                <a:solidFill>
                  <a:srgbClr val="08204F"/>
                </a:solidFill>
                <a:latin typeface="Calibri" pitchFamily="34" charset="0"/>
                <a:ea typeface="Calibri" pitchFamily="34" charset="-122"/>
                <a:cs typeface="Calibri" pitchFamily="34" charset="-120"/>
              </a:rPr>
              <a:t>Safe data transfer → Clean &amp; Transform → Load for the first time</a:t>
            </a:r>
            <a:endParaRPr lang="en-US" sz="1200" dirty="0">
              <a:solidFill>
                <a:srgbClr val="08204F"/>
              </a:solidFill>
            </a:endParaRPr>
          </a:p>
        </p:txBody>
      </p:sp>
      <p:sp>
        <p:nvSpPr>
          <p:cNvPr id="8" name="Shape 6"/>
          <p:cNvSpPr/>
          <p:nvPr/>
        </p:nvSpPr>
        <p:spPr>
          <a:xfrm>
            <a:off x="731520" y="1042416"/>
            <a:ext cx="1645920" cy="658368"/>
          </a:xfrm>
          <a:prstGeom prst="rect">
            <a:avLst/>
          </a:prstGeom>
          <a:solidFill>
            <a:srgbClr val="1C7293"/>
          </a:solidFill>
          <a:ln w="12700">
            <a:solidFill>
              <a:srgbClr val="1C7293"/>
            </a:solidFill>
            <a:prstDash val="solid"/>
          </a:ln>
        </p:spPr>
        <p:txBody>
          <a:bodyPr/>
          <a:lstStyle/>
          <a:p>
            <a:endParaRPr lang="en-US"/>
          </a:p>
        </p:txBody>
      </p:sp>
      <p:sp>
        <p:nvSpPr>
          <p:cNvPr id="9" name="Text 7"/>
          <p:cNvSpPr/>
          <p:nvPr/>
        </p:nvSpPr>
        <p:spPr>
          <a:xfrm>
            <a:off x="731520" y="1042416"/>
            <a:ext cx="1645920" cy="658368"/>
          </a:xfrm>
          <a:prstGeom prst="rect">
            <a:avLst/>
          </a:prstGeom>
          <a:noFill/>
          <a:ln/>
        </p:spPr>
        <p:txBody>
          <a:bodyPr wrap="square" lIns="0" tIns="0" rIns="0" bIns="0" rtlCol="0" anchor="ctr"/>
          <a:lstStyle/>
          <a:p>
            <a:pPr marL="0" indent="0" algn="ctr">
              <a:buNone/>
            </a:pPr>
            <a:r>
              <a:rPr lang="en-US" sz="1050" b="1" dirty="0">
                <a:solidFill>
                  <a:srgbClr val="FFFFFF"/>
                </a:solidFill>
              </a:rPr>
              <a:t>OLTP</a:t>
            </a:r>
            <a:endParaRPr lang="en-US" sz="1050" dirty="0"/>
          </a:p>
          <a:p>
            <a:pPr marL="0" indent="0" algn="ctr">
              <a:buNone/>
            </a:pPr>
            <a:r>
              <a:rPr lang="en-US" sz="1050" b="1" dirty="0">
                <a:solidFill>
                  <a:srgbClr val="FFFFFF"/>
                </a:solidFill>
              </a:rPr>
              <a:t>Source</a:t>
            </a:r>
            <a:endParaRPr lang="en-US" sz="1050" dirty="0"/>
          </a:p>
        </p:txBody>
      </p:sp>
      <p:sp>
        <p:nvSpPr>
          <p:cNvPr id="10" name="Text 8"/>
          <p:cNvSpPr/>
          <p:nvPr/>
        </p:nvSpPr>
        <p:spPr>
          <a:xfrm>
            <a:off x="2377440" y="1042416"/>
            <a:ext cx="365760" cy="658368"/>
          </a:xfrm>
          <a:prstGeom prst="rect">
            <a:avLst/>
          </a:prstGeom>
          <a:noFill/>
          <a:ln/>
        </p:spPr>
        <p:txBody>
          <a:bodyPr wrap="square" lIns="0" tIns="0" rIns="0" bIns="0" rtlCol="0" anchor="ctr"/>
          <a:lstStyle/>
          <a:p>
            <a:pPr marL="0" indent="0" algn="ctr">
              <a:buNone/>
            </a:pPr>
            <a:r>
              <a:rPr lang="en-US" sz="1400" dirty="0">
                <a:solidFill>
                  <a:srgbClr val="02C39A"/>
                </a:solidFill>
              </a:rPr>
              <a:t>▶</a:t>
            </a:r>
            <a:endParaRPr lang="en-US" sz="1400" dirty="0"/>
          </a:p>
        </p:txBody>
      </p:sp>
      <p:sp>
        <p:nvSpPr>
          <p:cNvPr id="11" name="Shape 9"/>
          <p:cNvSpPr/>
          <p:nvPr/>
        </p:nvSpPr>
        <p:spPr>
          <a:xfrm>
            <a:off x="2743200" y="1042416"/>
            <a:ext cx="1645920" cy="658368"/>
          </a:xfrm>
          <a:prstGeom prst="rect">
            <a:avLst/>
          </a:prstGeom>
          <a:solidFill>
            <a:srgbClr val="028090"/>
          </a:solidFill>
          <a:ln w="12700">
            <a:solidFill>
              <a:srgbClr val="028090"/>
            </a:solidFill>
            <a:prstDash val="solid"/>
          </a:ln>
        </p:spPr>
        <p:txBody>
          <a:bodyPr/>
          <a:lstStyle/>
          <a:p>
            <a:endParaRPr lang="en-US"/>
          </a:p>
        </p:txBody>
      </p:sp>
      <p:sp>
        <p:nvSpPr>
          <p:cNvPr id="12" name="Text 10"/>
          <p:cNvSpPr/>
          <p:nvPr/>
        </p:nvSpPr>
        <p:spPr>
          <a:xfrm>
            <a:off x="2743200" y="1042416"/>
            <a:ext cx="1645920" cy="658368"/>
          </a:xfrm>
          <a:prstGeom prst="rect">
            <a:avLst/>
          </a:prstGeom>
          <a:noFill/>
          <a:ln/>
        </p:spPr>
        <p:txBody>
          <a:bodyPr wrap="square" lIns="0" tIns="0" rIns="0" bIns="0" rtlCol="0" anchor="ctr"/>
          <a:lstStyle/>
          <a:p>
            <a:pPr marL="0" indent="0" algn="ctr">
              <a:buNone/>
            </a:pPr>
            <a:r>
              <a:rPr lang="en-US" sz="1050" b="1" dirty="0">
                <a:solidFill>
                  <a:srgbClr val="FFFFFF"/>
                </a:solidFill>
              </a:rPr>
              <a:t>Staging</a:t>
            </a:r>
            <a:endParaRPr lang="en-US" sz="1050" dirty="0"/>
          </a:p>
          <a:p>
            <a:pPr marL="0" indent="0" algn="ctr">
              <a:buNone/>
            </a:pPr>
            <a:r>
              <a:rPr lang="en-US" sz="1050" b="1" dirty="0">
                <a:solidFill>
                  <a:srgbClr val="FFFFFF"/>
                </a:solidFill>
              </a:rPr>
              <a:t>Area</a:t>
            </a:r>
            <a:endParaRPr lang="en-US" sz="1050" dirty="0"/>
          </a:p>
        </p:txBody>
      </p:sp>
      <p:sp>
        <p:nvSpPr>
          <p:cNvPr id="13" name="Text 11"/>
          <p:cNvSpPr/>
          <p:nvPr/>
        </p:nvSpPr>
        <p:spPr>
          <a:xfrm>
            <a:off x="4389120" y="1042416"/>
            <a:ext cx="365760" cy="658368"/>
          </a:xfrm>
          <a:prstGeom prst="rect">
            <a:avLst/>
          </a:prstGeom>
          <a:noFill/>
          <a:ln/>
        </p:spPr>
        <p:txBody>
          <a:bodyPr wrap="square" lIns="0" tIns="0" rIns="0" bIns="0" rtlCol="0" anchor="ctr"/>
          <a:lstStyle/>
          <a:p>
            <a:pPr marL="0" indent="0" algn="ctr">
              <a:buNone/>
            </a:pPr>
            <a:r>
              <a:rPr lang="en-US" sz="1400" dirty="0">
                <a:solidFill>
                  <a:srgbClr val="02C39A"/>
                </a:solidFill>
              </a:rPr>
              <a:t>▶</a:t>
            </a:r>
            <a:endParaRPr lang="en-US" sz="1400" dirty="0"/>
          </a:p>
        </p:txBody>
      </p:sp>
      <p:sp>
        <p:nvSpPr>
          <p:cNvPr id="14" name="Shape 12"/>
          <p:cNvSpPr/>
          <p:nvPr/>
        </p:nvSpPr>
        <p:spPr>
          <a:xfrm>
            <a:off x="4754880" y="1042416"/>
            <a:ext cx="1645920" cy="658368"/>
          </a:xfrm>
          <a:prstGeom prst="rect">
            <a:avLst/>
          </a:prstGeom>
          <a:solidFill>
            <a:srgbClr val="02C39A"/>
          </a:solidFill>
          <a:ln w="12700">
            <a:solidFill>
              <a:srgbClr val="02C39A"/>
            </a:solidFill>
            <a:prstDash val="solid"/>
          </a:ln>
        </p:spPr>
        <p:txBody>
          <a:bodyPr/>
          <a:lstStyle/>
          <a:p>
            <a:endParaRPr lang="en-US"/>
          </a:p>
        </p:txBody>
      </p:sp>
      <p:sp>
        <p:nvSpPr>
          <p:cNvPr id="15" name="Text 13"/>
          <p:cNvSpPr/>
          <p:nvPr/>
        </p:nvSpPr>
        <p:spPr>
          <a:xfrm>
            <a:off x="4754880" y="1042416"/>
            <a:ext cx="1645920" cy="658368"/>
          </a:xfrm>
          <a:prstGeom prst="rect">
            <a:avLst/>
          </a:prstGeom>
          <a:noFill/>
          <a:ln/>
        </p:spPr>
        <p:txBody>
          <a:bodyPr wrap="square" lIns="0" tIns="0" rIns="0" bIns="0" rtlCol="0" anchor="ctr"/>
          <a:lstStyle/>
          <a:p>
            <a:pPr marL="0" indent="0" algn="ctr">
              <a:buNone/>
            </a:pPr>
            <a:r>
              <a:rPr lang="en-US" sz="1050" b="1" dirty="0">
                <a:solidFill>
                  <a:srgbClr val="FFFFFF"/>
                </a:solidFill>
              </a:rPr>
              <a:t>Transform</a:t>
            </a:r>
            <a:endParaRPr lang="en-US" sz="1050" dirty="0"/>
          </a:p>
          <a:p>
            <a:pPr marL="0" indent="0" algn="ctr">
              <a:buNone/>
            </a:pPr>
            <a:r>
              <a:rPr lang="en-US" sz="1050" b="1" dirty="0">
                <a:solidFill>
                  <a:srgbClr val="FFFFFF"/>
                </a:solidFill>
              </a:rPr>
              <a:t>&amp; Clean</a:t>
            </a:r>
            <a:endParaRPr lang="en-US" sz="1050" dirty="0"/>
          </a:p>
        </p:txBody>
      </p:sp>
      <p:sp>
        <p:nvSpPr>
          <p:cNvPr id="16" name="Text 14"/>
          <p:cNvSpPr/>
          <p:nvPr/>
        </p:nvSpPr>
        <p:spPr>
          <a:xfrm>
            <a:off x="6400800" y="1042416"/>
            <a:ext cx="365760" cy="658368"/>
          </a:xfrm>
          <a:prstGeom prst="rect">
            <a:avLst/>
          </a:prstGeom>
          <a:noFill/>
          <a:ln/>
        </p:spPr>
        <p:txBody>
          <a:bodyPr wrap="square" lIns="0" tIns="0" rIns="0" bIns="0" rtlCol="0" anchor="ctr"/>
          <a:lstStyle/>
          <a:p>
            <a:pPr marL="0" indent="0" algn="ctr">
              <a:buNone/>
            </a:pPr>
            <a:r>
              <a:rPr lang="en-US" sz="1400" dirty="0">
                <a:solidFill>
                  <a:srgbClr val="02C39A"/>
                </a:solidFill>
              </a:rPr>
              <a:t>▶</a:t>
            </a:r>
            <a:endParaRPr lang="en-US" sz="1400" dirty="0"/>
          </a:p>
        </p:txBody>
      </p:sp>
      <p:sp>
        <p:nvSpPr>
          <p:cNvPr id="17" name="Shape 15"/>
          <p:cNvSpPr/>
          <p:nvPr/>
        </p:nvSpPr>
        <p:spPr>
          <a:xfrm>
            <a:off x="6766560" y="1042416"/>
            <a:ext cx="1645920" cy="658368"/>
          </a:xfrm>
          <a:prstGeom prst="rect">
            <a:avLst/>
          </a:prstGeom>
          <a:solidFill>
            <a:srgbClr val="028B70"/>
          </a:solidFill>
          <a:ln w="12700">
            <a:solidFill>
              <a:srgbClr val="028B70"/>
            </a:solidFill>
            <a:prstDash val="solid"/>
          </a:ln>
        </p:spPr>
        <p:txBody>
          <a:bodyPr/>
          <a:lstStyle/>
          <a:p>
            <a:endParaRPr lang="en-US"/>
          </a:p>
        </p:txBody>
      </p:sp>
      <p:sp>
        <p:nvSpPr>
          <p:cNvPr id="18" name="Text 16"/>
          <p:cNvSpPr/>
          <p:nvPr/>
        </p:nvSpPr>
        <p:spPr>
          <a:xfrm>
            <a:off x="6766560" y="1042416"/>
            <a:ext cx="1645920" cy="658368"/>
          </a:xfrm>
          <a:prstGeom prst="rect">
            <a:avLst/>
          </a:prstGeom>
          <a:noFill/>
          <a:ln/>
        </p:spPr>
        <p:txBody>
          <a:bodyPr wrap="square" lIns="0" tIns="0" rIns="0" bIns="0" rtlCol="0" anchor="ctr"/>
          <a:lstStyle/>
          <a:p>
            <a:pPr marL="0" indent="0" algn="ctr">
              <a:buNone/>
            </a:pPr>
            <a:r>
              <a:rPr lang="en-US" sz="1050" b="1" dirty="0">
                <a:solidFill>
                  <a:srgbClr val="FFFFFF"/>
                </a:solidFill>
              </a:rPr>
              <a:t>DWH</a:t>
            </a:r>
            <a:endParaRPr lang="en-US" sz="1050" dirty="0"/>
          </a:p>
          <a:p>
            <a:pPr marL="0" indent="0" algn="ctr">
              <a:buNone/>
            </a:pPr>
            <a:r>
              <a:rPr lang="en-US" sz="1050" b="1" dirty="0">
                <a:solidFill>
                  <a:srgbClr val="FFFFFF"/>
                </a:solidFill>
              </a:rPr>
              <a:t>Target</a:t>
            </a:r>
            <a:endParaRPr lang="en-US" sz="1050" dirty="0"/>
          </a:p>
        </p:txBody>
      </p:sp>
      <p:sp>
        <p:nvSpPr>
          <p:cNvPr id="19" name="Shape 17"/>
          <p:cNvSpPr/>
          <p:nvPr/>
        </p:nvSpPr>
        <p:spPr>
          <a:xfrm>
            <a:off x="274320" y="1874520"/>
            <a:ext cx="2743200" cy="132588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20" name="Shape 18"/>
          <p:cNvSpPr/>
          <p:nvPr/>
        </p:nvSpPr>
        <p:spPr>
          <a:xfrm>
            <a:off x="274320" y="1874520"/>
            <a:ext cx="64008" cy="1325880"/>
          </a:xfrm>
          <a:prstGeom prst="rect">
            <a:avLst/>
          </a:prstGeom>
          <a:solidFill>
            <a:srgbClr val="02C39A"/>
          </a:solidFill>
          <a:ln w="12700">
            <a:solidFill>
              <a:srgbClr val="02C39A"/>
            </a:solidFill>
            <a:prstDash val="solid"/>
          </a:ln>
        </p:spPr>
        <p:txBody>
          <a:bodyPr/>
          <a:lstStyle/>
          <a:p>
            <a:endParaRPr lang="en-US"/>
          </a:p>
        </p:txBody>
      </p:sp>
      <p:sp>
        <p:nvSpPr>
          <p:cNvPr id="21" name="Text 19"/>
          <p:cNvSpPr/>
          <p:nvPr/>
        </p:nvSpPr>
        <p:spPr>
          <a:xfrm>
            <a:off x="457200" y="1920240"/>
            <a:ext cx="2468880" cy="347472"/>
          </a:xfrm>
          <a:prstGeom prst="rect">
            <a:avLst/>
          </a:prstGeom>
          <a:noFill/>
          <a:ln/>
        </p:spPr>
        <p:txBody>
          <a:bodyPr wrap="square" lIns="0" tIns="0" rIns="0" bIns="0" rtlCol="0" anchor="ctr"/>
          <a:lstStyle/>
          <a:p>
            <a:pPr marL="0" indent="0" algn="l">
              <a:buNone/>
            </a:pPr>
            <a:r>
              <a:rPr lang="en-US" sz="1200" b="1" dirty="0">
                <a:solidFill>
                  <a:srgbClr val="02C39A"/>
                </a:solidFill>
              </a:rPr>
              <a:t>🔒  Data Isolation</a:t>
            </a:r>
            <a:endParaRPr lang="en-US" sz="1200" dirty="0"/>
          </a:p>
        </p:txBody>
      </p:sp>
      <p:sp>
        <p:nvSpPr>
          <p:cNvPr id="22" name="Text 20"/>
          <p:cNvSpPr/>
          <p:nvPr/>
        </p:nvSpPr>
        <p:spPr>
          <a:xfrm>
            <a:off x="457200" y="2286000"/>
            <a:ext cx="2514600" cy="868680"/>
          </a:xfrm>
          <a:prstGeom prst="rect">
            <a:avLst/>
          </a:prstGeom>
          <a:noFill/>
          <a:ln/>
        </p:spPr>
        <p:txBody>
          <a:bodyPr wrap="square" lIns="0" tIns="0" rIns="0" bIns="0" rtlCol="0" anchor="t"/>
          <a:lstStyle/>
          <a:p>
            <a:pPr marL="0" indent="0" algn="l">
              <a:buNone/>
            </a:pPr>
            <a:r>
              <a:rPr lang="en-US" sz="1000" dirty="0">
                <a:solidFill>
                  <a:srgbClr val="F0F7FA"/>
                </a:solidFill>
              </a:rPr>
              <a:t>DWH never reads directly from OLTP</a:t>
            </a:r>
            <a:endParaRPr lang="en-US" sz="1000" dirty="0"/>
          </a:p>
          <a:p>
            <a:pPr marL="0" indent="0" algn="l">
              <a:buNone/>
            </a:pPr>
            <a:r>
              <a:rPr lang="en-US" sz="1000" dirty="0">
                <a:solidFill>
                  <a:srgbClr val="F0F7FA"/>
                </a:solidFill>
              </a:rPr>
              <a:t>Protects Production from any extra load</a:t>
            </a:r>
            <a:endParaRPr lang="en-US" sz="1000" dirty="0"/>
          </a:p>
        </p:txBody>
      </p:sp>
      <p:sp>
        <p:nvSpPr>
          <p:cNvPr id="23" name="Shape 21"/>
          <p:cNvSpPr/>
          <p:nvPr/>
        </p:nvSpPr>
        <p:spPr>
          <a:xfrm>
            <a:off x="3227832" y="1874520"/>
            <a:ext cx="2743200" cy="132588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24" name="Shape 22"/>
          <p:cNvSpPr/>
          <p:nvPr/>
        </p:nvSpPr>
        <p:spPr>
          <a:xfrm>
            <a:off x="3227832" y="1874520"/>
            <a:ext cx="64008" cy="1325880"/>
          </a:xfrm>
          <a:prstGeom prst="rect">
            <a:avLst/>
          </a:prstGeom>
          <a:solidFill>
            <a:srgbClr val="02C39A"/>
          </a:solidFill>
          <a:ln w="12700">
            <a:solidFill>
              <a:srgbClr val="02C39A"/>
            </a:solidFill>
            <a:prstDash val="solid"/>
          </a:ln>
        </p:spPr>
        <p:txBody>
          <a:bodyPr/>
          <a:lstStyle/>
          <a:p>
            <a:endParaRPr lang="en-US"/>
          </a:p>
        </p:txBody>
      </p:sp>
      <p:sp>
        <p:nvSpPr>
          <p:cNvPr id="25" name="Text 23"/>
          <p:cNvSpPr/>
          <p:nvPr/>
        </p:nvSpPr>
        <p:spPr>
          <a:xfrm>
            <a:off x="3410712" y="1920240"/>
            <a:ext cx="2468880" cy="347472"/>
          </a:xfrm>
          <a:prstGeom prst="rect">
            <a:avLst/>
          </a:prstGeom>
          <a:noFill/>
          <a:ln/>
        </p:spPr>
        <p:txBody>
          <a:bodyPr wrap="square" lIns="0" tIns="0" rIns="0" bIns="0" rtlCol="0" anchor="ctr"/>
          <a:lstStyle/>
          <a:p>
            <a:pPr marL="0" indent="0" algn="l">
              <a:buNone/>
            </a:pPr>
            <a:r>
              <a:rPr lang="en-US" sz="1200" b="1" dirty="0">
                <a:solidFill>
                  <a:srgbClr val="02C39A"/>
                </a:solidFill>
              </a:rPr>
              <a:t>🔄  Transformation</a:t>
            </a:r>
            <a:endParaRPr lang="en-US" sz="1200" dirty="0"/>
          </a:p>
        </p:txBody>
      </p:sp>
      <p:sp>
        <p:nvSpPr>
          <p:cNvPr id="26" name="Text 24"/>
          <p:cNvSpPr/>
          <p:nvPr/>
        </p:nvSpPr>
        <p:spPr>
          <a:xfrm>
            <a:off x="3410712" y="2286000"/>
            <a:ext cx="2514600" cy="868680"/>
          </a:xfrm>
          <a:prstGeom prst="rect">
            <a:avLst/>
          </a:prstGeom>
          <a:noFill/>
          <a:ln/>
        </p:spPr>
        <p:txBody>
          <a:bodyPr wrap="square" lIns="0" tIns="0" rIns="0" bIns="0" rtlCol="0" anchor="t"/>
          <a:lstStyle/>
          <a:p>
            <a:pPr marL="0" indent="0" algn="l">
              <a:buNone/>
            </a:pPr>
            <a:r>
              <a:rPr lang="en-US" sz="1000" dirty="0">
                <a:solidFill>
                  <a:srgbClr val="F0F7FA"/>
                </a:solidFill>
              </a:rPr>
              <a:t>Convert data types &amp; apply Business Rules</a:t>
            </a:r>
            <a:endParaRPr lang="en-US" sz="1000" dirty="0"/>
          </a:p>
          <a:p>
            <a:pPr marL="0" indent="0" algn="l">
              <a:buNone/>
            </a:pPr>
            <a:r>
              <a:rPr lang="en-US" sz="1000" dirty="0">
                <a:solidFill>
                  <a:srgbClr val="F0F7FA"/>
                </a:solidFill>
              </a:rPr>
              <a:t>before entering the DWH</a:t>
            </a:r>
            <a:endParaRPr lang="en-US" sz="1000" dirty="0"/>
          </a:p>
        </p:txBody>
      </p:sp>
      <p:sp>
        <p:nvSpPr>
          <p:cNvPr id="27" name="Shape 25"/>
          <p:cNvSpPr/>
          <p:nvPr/>
        </p:nvSpPr>
        <p:spPr>
          <a:xfrm>
            <a:off x="6181344" y="1874520"/>
            <a:ext cx="2743200" cy="132588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28" name="Shape 26"/>
          <p:cNvSpPr/>
          <p:nvPr/>
        </p:nvSpPr>
        <p:spPr>
          <a:xfrm>
            <a:off x="6181344" y="1874520"/>
            <a:ext cx="64008" cy="1325880"/>
          </a:xfrm>
          <a:prstGeom prst="rect">
            <a:avLst/>
          </a:prstGeom>
          <a:solidFill>
            <a:srgbClr val="02C39A"/>
          </a:solidFill>
          <a:ln w="12700">
            <a:solidFill>
              <a:srgbClr val="02C39A"/>
            </a:solidFill>
            <a:prstDash val="solid"/>
          </a:ln>
        </p:spPr>
        <p:txBody>
          <a:bodyPr/>
          <a:lstStyle/>
          <a:p>
            <a:endParaRPr lang="en-US"/>
          </a:p>
        </p:txBody>
      </p:sp>
      <p:sp>
        <p:nvSpPr>
          <p:cNvPr id="29" name="Text 27"/>
          <p:cNvSpPr/>
          <p:nvPr/>
        </p:nvSpPr>
        <p:spPr>
          <a:xfrm>
            <a:off x="6364224" y="1920240"/>
            <a:ext cx="2468880" cy="347472"/>
          </a:xfrm>
          <a:prstGeom prst="rect">
            <a:avLst/>
          </a:prstGeom>
          <a:noFill/>
          <a:ln/>
        </p:spPr>
        <p:txBody>
          <a:bodyPr wrap="square" lIns="0" tIns="0" rIns="0" bIns="0" rtlCol="0" anchor="ctr"/>
          <a:lstStyle/>
          <a:p>
            <a:pPr marL="0" indent="0" algn="l">
              <a:buNone/>
            </a:pPr>
            <a:r>
              <a:rPr lang="en-US" sz="1200" b="1" dirty="0">
                <a:solidFill>
                  <a:srgbClr val="02C39A"/>
                </a:solidFill>
              </a:rPr>
              <a:t>🚫  Error Handling</a:t>
            </a:r>
            <a:endParaRPr lang="en-US" sz="1200" dirty="0"/>
          </a:p>
        </p:txBody>
      </p:sp>
      <p:sp>
        <p:nvSpPr>
          <p:cNvPr id="30" name="Text 28"/>
          <p:cNvSpPr/>
          <p:nvPr/>
        </p:nvSpPr>
        <p:spPr>
          <a:xfrm>
            <a:off x="6364224" y="2286000"/>
            <a:ext cx="2514600" cy="868680"/>
          </a:xfrm>
          <a:prstGeom prst="rect">
            <a:avLst/>
          </a:prstGeom>
          <a:noFill/>
          <a:ln/>
        </p:spPr>
        <p:txBody>
          <a:bodyPr wrap="square" lIns="0" tIns="0" rIns="0" bIns="0" rtlCol="0" anchor="t"/>
          <a:lstStyle/>
          <a:p>
            <a:pPr marL="0" indent="0" algn="l">
              <a:buNone/>
            </a:pPr>
            <a:r>
              <a:rPr lang="en-US" sz="1000" dirty="0">
                <a:solidFill>
                  <a:srgbClr val="F0F7FA"/>
                </a:solidFill>
              </a:rPr>
              <a:t>Invalid records are caught in Staging</a:t>
            </a:r>
            <a:endParaRPr lang="en-US" sz="1000" dirty="0"/>
          </a:p>
          <a:p>
            <a:pPr marL="0" indent="0" algn="l">
              <a:buNone/>
            </a:pPr>
            <a:r>
              <a:rPr lang="en-US" sz="1000" dirty="0">
                <a:solidFill>
                  <a:srgbClr val="F0F7FA"/>
                </a:solidFill>
              </a:rPr>
              <a:t>and never reach the Warehouse</a:t>
            </a:r>
            <a:endParaRPr lang="en-US" sz="1000" dirty="0"/>
          </a:p>
        </p:txBody>
      </p:sp>
      <p:sp>
        <p:nvSpPr>
          <p:cNvPr id="31" name="Shape 29"/>
          <p:cNvSpPr/>
          <p:nvPr/>
        </p:nvSpPr>
        <p:spPr>
          <a:xfrm>
            <a:off x="274320" y="3337560"/>
            <a:ext cx="8595360" cy="14173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32" name="Shape 30"/>
          <p:cNvSpPr/>
          <p:nvPr/>
        </p:nvSpPr>
        <p:spPr>
          <a:xfrm>
            <a:off x="274320" y="3337560"/>
            <a:ext cx="64008" cy="1417320"/>
          </a:xfrm>
          <a:prstGeom prst="rect">
            <a:avLst/>
          </a:prstGeom>
          <a:solidFill>
            <a:srgbClr val="1C7293"/>
          </a:solidFill>
          <a:ln w="12700">
            <a:solidFill>
              <a:srgbClr val="1C7293"/>
            </a:solidFill>
            <a:prstDash val="solid"/>
          </a:ln>
        </p:spPr>
        <p:txBody>
          <a:bodyPr/>
          <a:lstStyle/>
          <a:p>
            <a:endParaRPr lang="en-US"/>
          </a:p>
        </p:txBody>
      </p:sp>
      <p:sp>
        <p:nvSpPr>
          <p:cNvPr id="33" name="Text 31"/>
          <p:cNvSpPr/>
          <p:nvPr/>
        </p:nvSpPr>
        <p:spPr>
          <a:xfrm>
            <a:off x="457200" y="3383280"/>
            <a:ext cx="8229600" cy="365760"/>
          </a:xfrm>
          <a:prstGeom prst="rect">
            <a:avLst/>
          </a:prstGeom>
          <a:noFill/>
          <a:ln/>
        </p:spPr>
        <p:txBody>
          <a:bodyPr wrap="square" lIns="0" tIns="0" rIns="0" bIns="0" rtlCol="0" anchor="ctr"/>
          <a:lstStyle/>
          <a:p>
            <a:pPr marL="0" indent="0" algn="l">
              <a:buNone/>
            </a:pPr>
            <a:r>
              <a:rPr lang="en-US" sz="1300" b="1" dirty="0">
                <a:solidFill>
                  <a:schemeClr val="accent1">
                    <a:lumMod val="60000"/>
                    <a:lumOff val="40000"/>
                  </a:schemeClr>
                </a:solidFill>
              </a:rPr>
              <a:t>⚡  Full Load — Phase 1 (One-time initial load)</a:t>
            </a:r>
            <a:endParaRPr lang="en-US" sz="1300" dirty="0">
              <a:solidFill>
                <a:schemeClr val="accent1">
                  <a:lumMod val="60000"/>
                  <a:lumOff val="40000"/>
                </a:schemeClr>
              </a:solidFill>
            </a:endParaRPr>
          </a:p>
        </p:txBody>
      </p:sp>
      <p:sp>
        <p:nvSpPr>
          <p:cNvPr id="34" name="Shape 32"/>
          <p:cNvSpPr/>
          <p:nvPr/>
        </p:nvSpPr>
        <p:spPr>
          <a:xfrm>
            <a:off x="457200" y="3776472"/>
            <a:ext cx="2011680" cy="822960"/>
          </a:xfrm>
          <a:prstGeom prst="rect">
            <a:avLst/>
          </a:prstGeom>
          <a:solidFill>
            <a:srgbClr val="1C7293"/>
          </a:solidFill>
          <a:ln w="12700">
            <a:solidFill>
              <a:srgbClr val="1C7293"/>
            </a:solidFill>
            <a:prstDash val="solid"/>
          </a:ln>
        </p:spPr>
        <p:txBody>
          <a:bodyPr/>
          <a:lstStyle/>
          <a:p>
            <a:endParaRPr lang="en-US"/>
          </a:p>
        </p:txBody>
      </p:sp>
      <p:sp>
        <p:nvSpPr>
          <p:cNvPr id="35" name="Text 33"/>
          <p:cNvSpPr/>
          <p:nvPr/>
        </p:nvSpPr>
        <p:spPr>
          <a:xfrm>
            <a:off x="457200" y="3849624"/>
            <a:ext cx="2011680" cy="452628"/>
          </a:xfrm>
          <a:prstGeom prst="rect">
            <a:avLst/>
          </a:prstGeom>
          <a:noFill/>
          <a:ln/>
        </p:spPr>
        <p:txBody>
          <a:bodyPr wrap="square" lIns="0" tIns="0" rIns="0" bIns="0" rtlCol="0" anchor="ctr"/>
          <a:lstStyle/>
          <a:p>
            <a:pPr marL="0" indent="0" algn="ctr">
              <a:buNone/>
            </a:pPr>
            <a:r>
              <a:rPr lang="en-US" sz="2200" b="1" dirty="0">
                <a:solidFill>
                  <a:srgbClr val="FFFFFF"/>
                </a:solidFill>
              </a:rPr>
              <a:t>296K</a:t>
            </a:r>
            <a:endParaRPr lang="en-US" sz="2200" dirty="0"/>
          </a:p>
        </p:txBody>
      </p:sp>
      <p:sp>
        <p:nvSpPr>
          <p:cNvPr id="36" name="Text 34"/>
          <p:cNvSpPr/>
          <p:nvPr/>
        </p:nvSpPr>
        <p:spPr>
          <a:xfrm>
            <a:off x="457200" y="4229100"/>
            <a:ext cx="2011680" cy="345643"/>
          </a:xfrm>
          <a:prstGeom prst="rect">
            <a:avLst/>
          </a:prstGeom>
          <a:noFill/>
          <a:ln/>
        </p:spPr>
        <p:txBody>
          <a:bodyPr wrap="square" lIns="0" tIns="0" rIns="0" bIns="0" rtlCol="0" anchor="ctr"/>
          <a:lstStyle/>
          <a:p>
            <a:pPr marL="0" indent="0" algn="ctr">
              <a:buNone/>
            </a:pPr>
            <a:r>
              <a:rPr lang="en-US" sz="1000" dirty="0">
                <a:solidFill>
                  <a:srgbClr val="F0F7FA"/>
                </a:solidFill>
              </a:rPr>
              <a:t>Records Loaded</a:t>
            </a:r>
            <a:endParaRPr lang="en-US" sz="1000" dirty="0"/>
          </a:p>
        </p:txBody>
      </p:sp>
      <p:sp>
        <p:nvSpPr>
          <p:cNvPr id="37" name="Shape 35"/>
          <p:cNvSpPr/>
          <p:nvPr/>
        </p:nvSpPr>
        <p:spPr>
          <a:xfrm>
            <a:off x="2743200" y="3776472"/>
            <a:ext cx="2011680" cy="822960"/>
          </a:xfrm>
          <a:prstGeom prst="rect">
            <a:avLst/>
          </a:prstGeom>
          <a:solidFill>
            <a:srgbClr val="1C7293"/>
          </a:solidFill>
          <a:ln w="12700">
            <a:solidFill>
              <a:srgbClr val="1C7293"/>
            </a:solidFill>
            <a:prstDash val="solid"/>
          </a:ln>
        </p:spPr>
        <p:txBody>
          <a:bodyPr/>
          <a:lstStyle/>
          <a:p>
            <a:endParaRPr lang="en-US"/>
          </a:p>
        </p:txBody>
      </p:sp>
      <p:sp>
        <p:nvSpPr>
          <p:cNvPr id="38" name="Text 36"/>
          <p:cNvSpPr/>
          <p:nvPr/>
        </p:nvSpPr>
        <p:spPr>
          <a:xfrm>
            <a:off x="2743200" y="3849624"/>
            <a:ext cx="2011680" cy="452628"/>
          </a:xfrm>
          <a:prstGeom prst="rect">
            <a:avLst/>
          </a:prstGeom>
          <a:noFill/>
          <a:ln/>
        </p:spPr>
        <p:txBody>
          <a:bodyPr wrap="square" lIns="0" tIns="0" rIns="0" bIns="0" rtlCol="0" anchor="ctr"/>
          <a:lstStyle/>
          <a:p>
            <a:pPr marL="0" indent="0" algn="ctr">
              <a:buNone/>
            </a:pPr>
            <a:r>
              <a:rPr lang="en-US" sz="2200" b="1" dirty="0">
                <a:solidFill>
                  <a:srgbClr val="FFFFFF"/>
                </a:solidFill>
              </a:rPr>
              <a:t>12</a:t>
            </a:r>
            <a:endParaRPr lang="en-US" sz="2200" dirty="0"/>
          </a:p>
        </p:txBody>
      </p:sp>
      <p:sp>
        <p:nvSpPr>
          <p:cNvPr id="39" name="Text 37"/>
          <p:cNvSpPr/>
          <p:nvPr/>
        </p:nvSpPr>
        <p:spPr>
          <a:xfrm>
            <a:off x="2743200" y="4229100"/>
            <a:ext cx="2011680" cy="345643"/>
          </a:xfrm>
          <a:prstGeom prst="rect">
            <a:avLst/>
          </a:prstGeom>
          <a:noFill/>
          <a:ln/>
        </p:spPr>
        <p:txBody>
          <a:bodyPr wrap="square" lIns="0" tIns="0" rIns="0" bIns="0" rtlCol="0" anchor="ctr"/>
          <a:lstStyle/>
          <a:p>
            <a:pPr marL="0" indent="0" algn="ctr">
              <a:buNone/>
            </a:pPr>
            <a:r>
              <a:rPr lang="en-US" sz="1000" dirty="0">
                <a:solidFill>
                  <a:srgbClr val="F0F7FA"/>
                </a:solidFill>
              </a:rPr>
              <a:t>Source Tables</a:t>
            </a:r>
            <a:endParaRPr lang="en-US" sz="1000" dirty="0"/>
          </a:p>
        </p:txBody>
      </p:sp>
      <p:sp>
        <p:nvSpPr>
          <p:cNvPr id="40" name="Shape 38"/>
          <p:cNvSpPr/>
          <p:nvPr/>
        </p:nvSpPr>
        <p:spPr>
          <a:xfrm>
            <a:off x="5029200" y="3776472"/>
            <a:ext cx="2011680" cy="822960"/>
          </a:xfrm>
          <a:prstGeom prst="rect">
            <a:avLst/>
          </a:prstGeom>
          <a:solidFill>
            <a:srgbClr val="028090"/>
          </a:solidFill>
          <a:ln w="12700">
            <a:solidFill>
              <a:srgbClr val="028090"/>
            </a:solidFill>
            <a:prstDash val="solid"/>
          </a:ln>
        </p:spPr>
        <p:txBody>
          <a:bodyPr/>
          <a:lstStyle/>
          <a:p>
            <a:endParaRPr lang="en-US"/>
          </a:p>
        </p:txBody>
      </p:sp>
      <p:sp>
        <p:nvSpPr>
          <p:cNvPr id="41" name="Text 39"/>
          <p:cNvSpPr/>
          <p:nvPr/>
        </p:nvSpPr>
        <p:spPr>
          <a:xfrm>
            <a:off x="5029200" y="3849624"/>
            <a:ext cx="2011680" cy="452628"/>
          </a:xfrm>
          <a:prstGeom prst="rect">
            <a:avLst/>
          </a:prstGeom>
          <a:noFill/>
          <a:ln/>
        </p:spPr>
        <p:txBody>
          <a:bodyPr wrap="square" lIns="0" tIns="0" rIns="0" bIns="0" rtlCol="0" anchor="ctr"/>
          <a:lstStyle/>
          <a:p>
            <a:pPr marL="0" indent="0" algn="ctr">
              <a:buNone/>
            </a:pPr>
            <a:r>
              <a:rPr lang="en-US" sz="2200" b="1" dirty="0">
                <a:solidFill>
                  <a:srgbClr val="FFFFFF"/>
                </a:solidFill>
              </a:rPr>
              <a:t>Once</a:t>
            </a:r>
            <a:endParaRPr lang="en-US" sz="2200" dirty="0"/>
          </a:p>
        </p:txBody>
      </p:sp>
      <p:sp>
        <p:nvSpPr>
          <p:cNvPr id="42" name="Text 40"/>
          <p:cNvSpPr/>
          <p:nvPr/>
        </p:nvSpPr>
        <p:spPr>
          <a:xfrm>
            <a:off x="5029200" y="4229100"/>
            <a:ext cx="2011680" cy="345643"/>
          </a:xfrm>
          <a:prstGeom prst="rect">
            <a:avLst/>
          </a:prstGeom>
          <a:noFill/>
          <a:ln/>
        </p:spPr>
        <p:txBody>
          <a:bodyPr wrap="square" lIns="0" tIns="0" rIns="0" bIns="0" rtlCol="0" anchor="ctr"/>
          <a:lstStyle/>
          <a:p>
            <a:pPr marL="0" indent="0" algn="ctr">
              <a:buNone/>
            </a:pPr>
            <a:r>
              <a:rPr lang="en-US" sz="1000" dirty="0">
                <a:solidFill>
                  <a:srgbClr val="F0F7FA"/>
                </a:solidFill>
              </a:rPr>
              <a:t>Init only</a:t>
            </a:r>
            <a:endParaRPr lang="en-US" sz="1000" dirty="0"/>
          </a:p>
        </p:txBody>
      </p:sp>
      <p:sp>
        <p:nvSpPr>
          <p:cNvPr id="43" name="Text 41"/>
          <p:cNvSpPr/>
          <p:nvPr/>
        </p:nvSpPr>
        <p:spPr>
          <a:xfrm>
            <a:off x="7174522" y="3776472"/>
            <a:ext cx="1603717" cy="822960"/>
          </a:xfrm>
          <a:prstGeom prst="rect">
            <a:avLst/>
          </a:prstGeom>
          <a:noFill/>
          <a:ln/>
        </p:spPr>
        <p:txBody>
          <a:bodyPr wrap="square" lIns="635" tIns="635" rIns="635" bIns="635" rtlCol="0" anchor="ctr"/>
          <a:lstStyle/>
          <a:p>
            <a:pPr marL="0" indent="0" algn="l">
              <a:buNone/>
            </a:pPr>
            <a:r>
              <a:rPr lang="en-US" sz="950" i="1" dirty="0">
                <a:solidFill>
                  <a:srgbClr val="64748B"/>
                </a:solidFill>
              </a:rPr>
              <a:t>After Full Load → Staging becomes a safe buffer between OLTP and DWH</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51" name="Shape 0">
            <a:extLst>
              <a:ext uri="{FF2B5EF4-FFF2-40B4-BE49-F238E27FC236}">
                <a16:creationId xmlns:a16="http://schemas.microsoft.com/office/drawing/2014/main" id="{41AB55FE-C605-0F1C-DB1A-975AE8014BFF}"/>
              </a:ext>
            </a:extLst>
          </p:cNvPr>
          <p:cNvSpPr/>
          <p:nvPr/>
        </p:nvSpPr>
        <p:spPr>
          <a:xfrm>
            <a:off x="0" y="0"/>
            <a:ext cx="9144000" cy="642938"/>
          </a:xfrm>
          <a:prstGeom prst="roundRect">
            <a:avLst>
              <a:gd name="adj" fmla="val 0"/>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pic>
        <p:nvPicPr>
          <p:cNvPr id="52" name="Image 0" descr="preencoded.png">
            <a:extLst>
              <a:ext uri="{FF2B5EF4-FFF2-40B4-BE49-F238E27FC236}">
                <a16:creationId xmlns:a16="http://schemas.microsoft.com/office/drawing/2014/main" id="{353E0E6D-B27A-2FEC-7FCE-3143F8438522}"/>
              </a:ext>
            </a:extLst>
          </p:cNvPr>
          <p:cNvPicPr>
            <a:picLocks noChangeAspect="1"/>
          </p:cNvPicPr>
          <p:nvPr/>
        </p:nvPicPr>
        <p:blipFill>
          <a:blip r:embed="rId3"/>
          <a:stretch>
            <a:fillRect/>
          </a:stretch>
        </p:blipFill>
        <p:spPr>
          <a:xfrm>
            <a:off x="8046720" y="45720"/>
            <a:ext cx="685800" cy="540068"/>
          </a:xfrm>
          <a:prstGeom prst="rect">
            <a:avLst/>
          </a:prstGeom>
        </p:spPr>
      </p:pic>
      <p:sp>
        <p:nvSpPr>
          <p:cNvPr id="3" name="Shape 1"/>
          <p:cNvSpPr/>
          <p:nvPr/>
        </p:nvSpPr>
        <p:spPr>
          <a:xfrm>
            <a:off x="338328" y="68580"/>
            <a:ext cx="475488" cy="475488"/>
          </a:xfrm>
          <a:prstGeom prst="ellipse">
            <a:avLst/>
          </a:prstGeom>
          <a:solidFill>
            <a:srgbClr val="02C39A"/>
          </a:solidFill>
          <a:ln w="12700">
            <a:solidFill>
              <a:srgbClr val="02C39A"/>
            </a:solidFill>
            <a:prstDash val="solid"/>
          </a:ln>
        </p:spPr>
        <p:txBody>
          <a:bodyPr/>
          <a:lstStyle/>
          <a:p>
            <a:endParaRPr lang="en-US"/>
          </a:p>
        </p:txBody>
      </p:sp>
      <p:sp>
        <p:nvSpPr>
          <p:cNvPr id="4" name="Text 2"/>
          <p:cNvSpPr/>
          <p:nvPr/>
        </p:nvSpPr>
        <p:spPr>
          <a:xfrm>
            <a:off x="320040" y="155448"/>
            <a:ext cx="475488" cy="301752"/>
          </a:xfrm>
          <a:prstGeom prst="rect">
            <a:avLst/>
          </a:prstGeom>
          <a:noFill/>
          <a:ln/>
        </p:spPr>
        <p:txBody>
          <a:bodyPr wrap="square" lIns="0" tIns="0" rIns="0" bIns="0" rtlCol="0" anchor="ctr"/>
          <a:lstStyle/>
          <a:p>
            <a:pPr marL="0" indent="0" algn="ctr">
              <a:buNone/>
            </a:pPr>
            <a:r>
              <a:rPr lang="ar-EG" sz="1400" b="1" dirty="0">
                <a:solidFill>
                  <a:srgbClr val="0A2342"/>
                </a:solidFill>
              </a:rPr>
              <a:t>2</a:t>
            </a:r>
            <a:endParaRPr lang="en-US" sz="1400" dirty="0"/>
          </a:p>
        </p:txBody>
      </p:sp>
      <p:sp>
        <p:nvSpPr>
          <p:cNvPr id="5" name="Text 3"/>
          <p:cNvSpPr/>
          <p:nvPr/>
        </p:nvSpPr>
        <p:spPr>
          <a:xfrm>
            <a:off x="960120" y="0"/>
            <a:ext cx="7772400" cy="576072"/>
          </a:xfrm>
          <a:prstGeom prst="rect">
            <a:avLst/>
          </a:prstGeom>
          <a:noFill/>
          <a:ln/>
        </p:spPr>
        <p:txBody>
          <a:bodyPr wrap="square" lIns="0" tIns="0" rIns="0" bIns="0" rtlCol="0" anchor="ctr"/>
          <a:lstStyle/>
          <a:p>
            <a:pPr marL="0" indent="0" algn="l">
              <a:buNone/>
            </a:pPr>
            <a:r>
              <a:rPr lang="en-US" sz="2600" b="1" dirty="0">
                <a:solidFill>
                  <a:schemeClr val="bg1"/>
                </a:solidFill>
                <a:latin typeface="Calibri" pitchFamily="34" charset="0"/>
                <a:ea typeface="Calibri" pitchFamily="34" charset="-122"/>
                <a:cs typeface="Calibri" pitchFamily="34" charset="-120"/>
              </a:rPr>
              <a:t>Audit Columns + Incremental Load</a:t>
            </a:r>
            <a:endParaRPr lang="en-US" sz="2600" dirty="0">
              <a:solidFill>
                <a:schemeClr val="bg1"/>
              </a:solidFill>
            </a:endParaRPr>
          </a:p>
        </p:txBody>
      </p:sp>
      <p:sp>
        <p:nvSpPr>
          <p:cNvPr id="6" name="Text 4"/>
          <p:cNvSpPr/>
          <p:nvPr/>
        </p:nvSpPr>
        <p:spPr>
          <a:xfrm>
            <a:off x="664308" y="630936"/>
            <a:ext cx="8068212" cy="326326"/>
          </a:xfrm>
          <a:prstGeom prst="rect">
            <a:avLst/>
          </a:prstGeom>
          <a:noFill/>
          <a:ln/>
        </p:spPr>
        <p:txBody>
          <a:bodyPr wrap="square" lIns="0" tIns="0" rIns="0" bIns="0" rtlCol="0" anchor="ctr"/>
          <a:lstStyle/>
          <a:p>
            <a:pPr marL="0" indent="0" algn="l">
              <a:buNone/>
            </a:pPr>
            <a:r>
              <a:rPr lang="en-US" sz="1200" b="1" dirty="0">
                <a:solidFill>
                  <a:srgbClr val="08204F"/>
                </a:solidFill>
                <a:latin typeface="Calibri" pitchFamily="34" charset="0"/>
                <a:ea typeface="Calibri" pitchFamily="34" charset="-122"/>
                <a:cs typeface="Calibri" pitchFamily="34" charset="-120"/>
              </a:rPr>
              <a:t>Fetch only new data — no full reload every time</a:t>
            </a:r>
            <a:endParaRPr lang="en-US" sz="1200" b="1" dirty="0">
              <a:solidFill>
                <a:srgbClr val="08204F"/>
              </a:solidFill>
            </a:endParaRPr>
          </a:p>
        </p:txBody>
      </p:sp>
      <p:sp>
        <p:nvSpPr>
          <p:cNvPr id="8" name="Shape 6"/>
          <p:cNvSpPr/>
          <p:nvPr/>
        </p:nvSpPr>
        <p:spPr>
          <a:xfrm>
            <a:off x="274320" y="1024128"/>
            <a:ext cx="3840480" cy="18745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9" name="Shape 7"/>
          <p:cNvSpPr/>
          <p:nvPr/>
        </p:nvSpPr>
        <p:spPr>
          <a:xfrm>
            <a:off x="274320" y="1024128"/>
            <a:ext cx="64008" cy="1874520"/>
          </a:xfrm>
          <a:prstGeom prst="rect">
            <a:avLst/>
          </a:prstGeom>
          <a:solidFill>
            <a:srgbClr val="02C39A"/>
          </a:solidFill>
          <a:ln w="12700">
            <a:solidFill>
              <a:srgbClr val="02C39A"/>
            </a:solidFill>
            <a:prstDash val="solid"/>
          </a:ln>
        </p:spPr>
        <p:txBody>
          <a:bodyPr/>
          <a:lstStyle/>
          <a:p>
            <a:endParaRPr lang="en-US"/>
          </a:p>
        </p:txBody>
      </p:sp>
      <p:sp>
        <p:nvSpPr>
          <p:cNvPr id="10" name="Text 8"/>
          <p:cNvSpPr/>
          <p:nvPr/>
        </p:nvSpPr>
        <p:spPr>
          <a:xfrm>
            <a:off x="457200" y="1069848"/>
            <a:ext cx="3474720" cy="347472"/>
          </a:xfrm>
          <a:prstGeom prst="rect">
            <a:avLst/>
          </a:prstGeom>
          <a:noFill/>
          <a:ln/>
        </p:spPr>
        <p:txBody>
          <a:bodyPr wrap="square" lIns="0" tIns="0" rIns="0" bIns="0" rtlCol="0" anchor="ctr"/>
          <a:lstStyle/>
          <a:p>
            <a:pPr marL="0" indent="0" algn="l">
              <a:buNone/>
            </a:pPr>
            <a:r>
              <a:rPr lang="en-US" sz="1300" b="1" dirty="0">
                <a:solidFill>
                  <a:srgbClr val="02C39A"/>
                </a:solidFill>
              </a:rPr>
              <a:t>🏷  Audit Columns</a:t>
            </a:r>
            <a:endParaRPr lang="en-US" sz="1300" dirty="0"/>
          </a:p>
        </p:txBody>
      </p:sp>
      <p:sp>
        <p:nvSpPr>
          <p:cNvPr id="11" name="Text 9"/>
          <p:cNvSpPr/>
          <p:nvPr/>
        </p:nvSpPr>
        <p:spPr>
          <a:xfrm>
            <a:off x="457200" y="1463040"/>
            <a:ext cx="3474720" cy="274320"/>
          </a:xfrm>
          <a:prstGeom prst="rect">
            <a:avLst/>
          </a:prstGeom>
          <a:noFill/>
          <a:ln/>
        </p:spPr>
        <p:txBody>
          <a:bodyPr wrap="square" lIns="0" tIns="0" rIns="0" bIns="0" rtlCol="0" anchor="ctr"/>
          <a:lstStyle/>
          <a:p>
            <a:pPr marL="0" indent="0" algn="l">
              <a:buNone/>
            </a:pPr>
            <a:r>
              <a:rPr lang="en-US" sz="1050" dirty="0">
                <a:solidFill>
                  <a:srgbClr val="F0F7FA"/>
                </a:solidFill>
              </a:rPr>
              <a:t>Columns added to every Staging table:</a:t>
            </a:r>
            <a:endParaRPr lang="en-US" sz="1050" dirty="0"/>
          </a:p>
        </p:txBody>
      </p:sp>
      <p:sp>
        <p:nvSpPr>
          <p:cNvPr id="12" name="Shape 10"/>
          <p:cNvSpPr/>
          <p:nvPr/>
        </p:nvSpPr>
        <p:spPr>
          <a:xfrm>
            <a:off x="457200" y="1801368"/>
            <a:ext cx="3474720" cy="301752"/>
          </a:xfrm>
          <a:prstGeom prst="rect">
            <a:avLst/>
          </a:prstGeom>
          <a:solidFill>
            <a:srgbClr val="0D1B2A"/>
          </a:solidFill>
          <a:ln w="12700">
            <a:solidFill>
              <a:srgbClr val="0D1B2A"/>
            </a:solidFill>
            <a:prstDash val="solid"/>
          </a:ln>
        </p:spPr>
        <p:txBody>
          <a:bodyPr/>
          <a:lstStyle/>
          <a:p>
            <a:endParaRPr lang="en-US"/>
          </a:p>
        </p:txBody>
      </p:sp>
      <p:sp>
        <p:nvSpPr>
          <p:cNvPr id="13" name="Text 11"/>
          <p:cNvSpPr/>
          <p:nvPr/>
        </p:nvSpPr>
        <p:spPr>
          <a:xfrm>
            <a:off x="521208" y="1801368"/>
            <a:ext cx="1371600" cy="301752"/>
          </a:xfrm>
          <a:prstGeom prst="rect">
            <a:avLst/>
          </a:prstGeom>
          <a:noFill/>
          <a:ln/>
        </p:spPr>
        <p:txBody>
          <a:bodyPr wrap="square" lIns="0" tIns="0" rIns="0" bIns="0" rtlCol="0" anchor="ctr"/>
          <a:lstStyle/>
          <a:p>
            <a:pPr marL="0" indent="0" algn="l">
              <a:buNone/>
            </a:pPr>
            <a:r>
              <a:rPr lang="en-US" sz="1000" b="1" dirty="0">
                <a:solidFill>
                  <a:srgbClr val="02C39A"/>
                </a:solidFill>
                <a:latin typeface="Consolas" pitchFamily="34" charset="0"/>
                <a:ea typeface="Consolas" pitchFamily="34" charset="-122"/>
                <a:cs typeface="Consolas" pitchFamily="34" charset="-120"/>
              </a:rPr>
              <a:t>CreatedDate</a:t>
            </a:r>
            <a:endParaRPr lang="en-US" sz="1000" dirty="0"/>
          </a:p>
        </p:txBody>
      </p:sp>
      <p:sp>
        <p:nvSpPr>
          <p:cNvPr id="14" name="Text 12"/>
          <p:cNvSpPr/>
          <p:nvPr/>
        </p:nvSpPr>
        <p:spPr>
          <a:xfrm>
            <a:off x="1920240" y="1801368"/>
            <a:ext cx="1920240" cy="301752"/>
          </a:xfrm>
          <a:prstGeom prst="rect">
            <a:avLst/>
          </a:prstGeom>
          <a:noFill/>
          <a:ln/>
        </p:spPr>
        <p:txBody>
          <a:bodyPr wrap="square" lIns="0" tIns="0" rIns="0" bIns="0" rtlCol="0" anchor="ctr"/>
          <a:lstStyle/>
          <a:p>
            <a:pPr marL="0" indent="0" algn="l">
              <a:buNone/>
            </a:pPr>
            <a:r>
              <a:rPr lang="en-US" sz="1000" dirty="0">
                <a:solidFill>
                  <a:srgbClr val="F0F7FA"/>
                </a:solidFill>
              </a:rPr>
              <a:t>→ Record creation timestamp</a:t>
            </a:r>
            <a:endParaRPr lang="en-US" sz="1000" dirty="0"/>
          </a:p>
        </p:txBody>
      </p:sp>
      <p:sp>
        <p:nvSpPr>
          <p:cNvPr id="15" name="Shape 13"/>
          <p:cNvSpPr/>
          <p:nvPr/>
        </p:nvSpPr>
        <p:spPr>
          <a:xfrm>
            <a:off x="457200" y="2148840"/>
            <a:ext cx="3474720" cy="301752"/>
          </a:xfrm>
          <a:prstGeom prst="rect">
            <a:avLst/>
          </a:prstGeom>
          <a:solidFill>
            <a:srgbClr val="0D1B2A"/>
          </a:solidFill>
          <a:ln w="12700">
            <a:solidFill>
              <a:srgbClr val="0D1B2A"/>
            </a:solidFill>
            <a:prstDash val="solid"/>
          </a:ln>
        </p:spPr>
        <p:txBody>
          <a:bodyPr/>
          <a:lstStyle/>
          <a:p>
            <a:endParaRPr lang="en-US"/>
          </a:p>
        </p:txBody>
      </p:sp>
      <p:sp>
        <p:nvSpPr>
          <p:cNvPr id="16" name="Text 14"/>
          <p:cNvSpPr/>
          <p:nvPr/>
        </p:nvSpPr>
        <p:spPr>
          <a:xfrm>
            <a:off x="521208" y="2148840"/>
            <a:ext cx="1371600" cy="301752"/>
          </a:xfrm>
          <a:prstGeom prst="rect">
            <a:avLst/>
          </a:prstGeom>
          <a:noFill/>
          <a:ln/>
        </p:spPr>
        <p:txBody>
          <a:bodyPr wrap="square" lIns="0" tIns="0" rIns="0" bIns="0" rtlCol="0" anchor="ctr"/>
          <a:lstStyle/>
          <a:p>
            <a:pPr marL="0" indent="0" algn="l">
              <a:buNone/>
            </a:pPr>
            <a:r>
              <a:rPr lang="en-US" sz="1000" b="1" dirty="0">
                <a:solidFill>
                  <a:srgbClr val="02C39A"/>
                </a:solidFill>
                <a:latin typeface="Consolas" pitchFamily="34" charset="0"/>
                <a:ea typeface="Consolas" pitchFamily="34" charset="-122"/>
                <a:cs typeface="Consolas" pitchFamily="34" charset="-120"/>
              </a:rPr>
              <a:t>ModifiedDate</a:t>
            </a:r>
            <a:endParaRPr lang="en-US" sz="1000" dirty="0"/>
          </a:p>
        </p:txBody>
      </p:sp>
      <p:sp>
        <p:nvSpPr>
          <p:cNvPr id="17" name="Text 15"/>
          <p:cNvSpPr/>
          <p:nvPr/>
        </p:nvSpPr>
        <p:spPr>
          <a:xfrm>
            <a:off x="1920240" y="2148840"/>
            <a:ext cx="1920240" cy="301752"/>
          </a:xfrm>
          <a:prstGeom prst="rect">
            <a:avLst/>
          </a:prstGeom>
          <a:noFill/>
          <a:ln/>
        </p:spPr>
        <p:txBody>
          <a:bodyPr wrap="square" lIns="0" tIns="0" rIns="0" bIns="0" rtlCol="0" anchor="ctr"/>
          <a:lstStyle/>
          <a:p>
            <a:pPr marL="0" indent="0" algn="l">
              <a:buNone/>
            </a:pPr>
            <a:r>
              <a:rPr lang="en-US" sz="1000" dirty="0">
                <a:solidFill>
                  <a:srgbClr val="F0F7FA"/>
                </a:solidFill>
              </a:rPr>
              <a:t>→ Last update timestamp</a:t>
            </a:r>
            <a:endParaRPr lang="en-US" sz="1000" dirty="0"/>
          </a:p>
        </p:txBody>
      </p:sp>
      <p:sp>
        <p:nvSpPr>
          <p:cNvPr id="18" name="Shape 16"/>
          <p:cNvSpPr/>
          <p:nvPr/>
        </p:nvSpPr>
        <p:spPr>
          <a:xfrm>
            <a:off x="457200" y="2496312"/>
            <a:ext cx="3474720" cy="301752"/>
          </a:xfrm>
          <a:prstGeom prst="rect">
            <a:avLst/>
          </a:prstGeom>
          <a:solidFill>
            <a:srgbClr val="0D1B2A"/>
          </a:solidFill>
          <a:ln w="12700">
            <a:solidFill>
              <a:srgbClr val="0D1B2A"/>
            </a:solidFill>
            <a:prstDash val="solid"/>
          </a:ln>
        </p:spPr>
        <p:txBody>
          <a:bodyPr/>
          <a:lstStyle/>
          <a:p>
            <a:endParaRPr lang="en-US"/>
          </a:p>
        </p:txBody>
      </p:sp>
      <p:sp>
        <p:nvSpPr>
          <p:cNvPr id="19" name="Text 17"/>
          <p:cNvSpPr/>
          <p:nvPr/>
        </p:nvSpPr>
        <p:spPr>
          <a:xfrm>
            <a:off x="521208" y="2496312"/>
            <a:ext cx="1371600" cy="301752"/>
          </a:xfrm>
          <a:prstGeom prst="rect">
            <a:avLst/>
          </a:prstGeom>
          <a:noFill/>
          <a:ln/>
        </p:spPr>
        <p:txBody>
          <a:bodyPr wrap="square" lIns="0" tIns="0" rIns="0" bIns="0" rtlCol="0" anchor="ctr"/>
          <a:lstStyle/>
          <a:p>
            <a:pPr marL="0" indent="0" algn="l">
              <a:buNone/>
            </a:pPr>
            <a:r>
              <a:rPr lang="en-US" sz="1000" b="1" dirty="0">
                <a:solidFill>
                  <a:srgbClr val="02C39A"/>
                </a:solidFill>
                <a:latin typeface="Consolas" pitchFamily="34" charset="0"/>
                <a:ea typeface="Consolas" pitchFamily="34" charset="-122"/>
                <a:cs typeface="Consolas" pitchFamily="34" charset="-120"/>
              </a:rPr>
              <a:t>Last_Load_Date</a:t>
            </a:r>
            <a:endParaRPr lang="en-US" sz="1000" dirty="0"/>
          </a:p>
        </p:txBody>
      </p:sp>
      <p:sp>
        <p:nvSpPr>
          <p:cNvPr id="20" name="Text 18"/>
          <p:cNvSpPr/>
          <p:nvPr/>
        </p:nvSpPr>
        <p:spPr>
          <a:xfrm>
            <a:off x="1920240" y="2496312"/>
            <a:ext cx="1920240" cy="301752"/>
          </a:xfrm>
          <a:prstGeom prst="rect">
            <a:avLst/>
          </a:prstGeom>
          <a:noFill/>
          <a:ln/>
        </p:spPr>
        <p:txBody>
          <a:bodyPr wrap="square" lIns="0" tIns="0" rIns="0" bIns="0" rtlCol="0" anchor="ctr"/>
          <a:lstStyle/>
          <a:p>
            <a:pPr marL="0" indent="0" algn="l">
              <a:buNone/>
            </a:pPr>
            <a:r>
              <a:rPr lang="en-US" sz="1000" dirty="0">
                <a:solidFill>
                  <a:srgbClr val="F0F7FA"/>
                </a:solidFill>
              </a:rPr>
              <a:t>→ ETL Control Table</a:t>
            </a:r>
            <a:endParaRPr lang="en-US" sz="1000" dirty="0"/>
          </a:p>
        </p:txBody>
      </p:sp>
      <p:sp>
        <p:nvSpPr>
          <p:cNvPr id="21" name="Shape 19"/>
          <p:cNvSpPr/>
          <p:nvPr/>
        </p:nvSpPr>
        <p:spPr>
          <a:xfrm>
            <a:off x="4434840" y="1024128"/>
            <a:ext cx="4434840" cy="18745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22" name="Shape 20"/>
          <p:cNvSpPr/>
          <p:nvPr/>
        </p:nvSpPr>
        <p:spPr>
          <a:xfrm>
            <a:off x="4434840" y="1024128"/>
            <a:ext cx="64008" cy="1874520"/>
          </a:xfrm>
          <a:prstGeom prst="rect">
            <a:avLst/>
          </a:prstGeom>
          <a:solidFill>
            <a:srgbClr val="1C7293"/>
          </a:solidFill>
          <a:ln w="12700">
            <a:solidFill>
              <a:srgbClr val="1C7293"/>
            </a:solidFill>
            <a:prstDash val="solid"/>
          </a:ln>
        </p:spPr>
        <p:txBody>
          <a:bodyPr/>
          <a:lstStyle/>
          <a:p>
            <a:endParaRPr lang="en-US"/>
          </a:p>
        </p:txBody>
      </p:sp>
      <p:sp>
        <p:nvSpPr>
          <p:cNvPr id="23" name="Text 21"/>
          <p:cNvSpPr/>
          <p:nvPr/>
        </p:nvSpPr>
        <p:spPr>
          <a:xfrm>
            <a:off x="4617720" y="1069848"/>
            <a:ext cx="4023360" cy="347472"/>
          </a:xfrm>
          <a:prstGeom prst="rect">
            <a:avLst/>
          </a:prstGeom>
          <a:noFill/>
          <a:ln/>
        </p:spPr>
        <p:txBody>
          <a:bodyPr wrap="square" lIns="0" tIns="0" rIns="0" bIns="0" rtlCol="0" anchor="ctr"/>
          <a:lstStyle/>
          <a:p>
            <a:pPr marL="0" indent="0" algn="l">
              <a:buNone/>
            </a:pPr>
            <a:r>
              <a:rPr lang="en-US" sz="1300" b="1" dirty="0">
                <a:solidFill>
                  <a:srgbClr val="1C7293"/>
                </a:solidFill>
              </a:rPr>
              <a:t>⚡  Full vs Incremental</a:t>
            </a:r>
            <a:endParaRPr lang="en-US" sz="1300" dirty="0"/>
          </a:p>
        </p:txBody>
      </p:sp>
      <p:sp>
        <p:nvSpPr>
          <p:cNvPr id="24" name="Shape 22"/>
          <p:cNvSpPr/>
          <p:nvPr/>
        </p:nvSpPr>
        <p:spPr>
          <a:xfrm>
            <a:off x="4617720" y="1508760"/>
            <a:ext cx="4114800" cy="566928"/>
          </a:xfrm>
          <a:prstGeom prst="rect">
            <a:avLst/>
          </a:prstGeom>
          <a:solidFill>
            <a:srgbClr val="0D1B2A"/>
          </a:solidFill>
          <a:ln w="19050">
            <a:solidFill>
              <a:srgbClr val="C0392B"/>
            </a:solidFill>
            <a:prstDash val="solid"/>
          </a:ln>
        </p:spPr>
        <p:txBody>
          <a:bodyPr/>
          <a:lstStyle/>
          <a:p>
            <a:endParaRPr lang="en-US"/>
          </a:p>
        </p:txBody>
      </p:sp>
      <p:sp>
        <p:nvSpPr>
          <p:cNvPr id="25" name="Text 23"/>
          <p:cNvSpPr/>
          <p:nvPr/>
        </p:nvSpPr>
        <p:spPr>
          <a:xfrm>
            <a:off x="4709160" y="1508760"/>
            <a:ext cx="1280160" cy="566928"/>
          </a:xfrm>
          <a:prstGeom prst="rect">
            <a:avLst/>
          </a:prstGeom>
          <a:noFill/>
          <a:ln/>
        </p:spPr>
        <p:txBody>
          <a:bodyPr wrap="square" lIns="0" tIns="0" rIns="0" bIns="0" rtlCol="0" anchor="ctr"/>
          <a:lstStyle/>
          <a:p>
            <a:pPr marL="0" indent="0" algn="l">
              <a:buNone/>
            </a:pPr>
            <a:r>
              <a:rPr lang="en-US" sz="1050" b="1" dirty="0">
                <a:solidFill>
                  <a:srgbClr val="C0392B"/>
                </a:solidFill>
              </a:rPr>
              <a:t>Full Load</a:t>
            </a:r>
            <a:endParaRPr lang="en-US" sz="1050" dirty="0"/>
          </a:p>
        </p:txBody>
      </p:sp>
      <p:sp>
        <p:nvSpPr>
          <p:cNvPr id="26" name="Text 24"/>
          <p:cNvSpPr/>
          <p:nvPr/>
        </p:nvSpPr>
        <p:spPr>
          <a:xfrm>
            <a:off x="5989320" y="1508760"/>
            <a:ext cx="2651760" cy="566928"/>
          </a:xfrm>
          <a:prstGeom prst="rect">
            <a:avLst/>
          </a:prstGeom>
          <a:noFill/>
          <a:ln/>
        </p:spPr>
        <p:txBody>
          <a:bodyPr wrap="square" lIns="0" tIns="0" rIns="0" bIns="0" rtlCol="0" anchor="ctr"/>
          <a:lstStyle/>
          <a:p>
            <a:pPr marL="0" indent="0" algn="l">
              <a:buNone/>
            </a:pPr>
            <a:r>
              <a:rPr lang="en-US" sz="950" dirty="0">
                <a:solidFill>
                  <a:srgbClr val="F0F7FA"/>
                </a:solidFill>
              </a:rPr>
              <a:t>Reloads everything every time 🐢</a:t>
            </a:r>
            <a:endParaRPr lang="en-US" sz="950" dirty="0"/>
          </a:p>
        </p:txBody>
      </p:sp>
      <p:sp>
        <p:nvSpPr>
          <p:cNvPr id="27" name="Shape 25"/>
          <p:cNvSpPr/>
          <p:nvPr/>
        </p:nvSpPr>
        <p:spPr>
          <a:xfrm>
            <a:off x="4617720" y="2167128"/>
            <a:ext cx="4114800" cy="566928"/>
          </a:xfrm>
          <a:prstGeom prst="rect">
            <a:avLst/>
          </a:prstGeom>
          <a:solidFill>
            <a:srgbClr val="0D1B2A"/>
          </a:solidFill>
          <a:ln w="19050">
            <a:solidFill>
              <a:srgbClr val="02C39A"/>
            </a:solidFill>
            <a:prstDash val="solid"/>
          </a:ln>
        </p:spPr>
        <p:txBody>
          <a:bodyPr/>
          <a:lstStyle/>
          <a:p>
            <a:endParaRPr lang="en-US"/>
          </a:p>
        </p:txBody>
      </p:sp>
      <p:sp>
        <p:nvSpPr>
          <p:cNvPr id="28" name="Text 26"/>
          <p:cNvSpPr/>
          <p:nvPr/>
        </p:nvSpPr>
        <p:spPr>
          <a:xfrm>
            <a:off x="4709160" y="2167128"/>
            <a:ext cx="1280160" cy="566928"/>
          </a:xfrm>
          <a:prstGeom prst="rect">
            <a:avLst/>
          </a:prstGeom>
          <a:noFill/>
          <a:ln/>
        </p:spPr>
        <p:txBody>
          <a:bodyPr wrap="square" lIns="0" tIns="0" rIns="0" bIns="0" rtlCol="0" anchor="ctr"/>
          <a:lstStyle/>
          <a:p>
            <a:pPr marL="0" indent="0" algn="l">
              <a:buNone/>
            </a:pPr>
            <a:r>
              <a:rPr lang="en-US" sz="1050" b="1" dirty="0">
                <a:solidFill>
                  <a:srgbClr val="02C39A"/>
                </a:solidFill>
              </a:rPr>
              <a:t>Incremental</a:t>
            </a:r>
            <a:endParaRPr lang="en-US" sz="1050" dirty="0"/>
          </a:p>
        </p:txBody>
      </p:sp>
      <p:sp>
        <p:nvSpPr>
          <p:cNvPr id="29" name="Text 27"/>
          <p:cNvSpPr/>
          <p:nvPr/>
        </p:nvSpPr>
        <p:spPr>
          <a:xfrm>
            <a:off x="5989320" y="2167128"/>
            <a:ext cx="2651760" cy="566928"/>
          </a:xfrm>
          <a:prstGeom prst="rect">
            <a:avLst/>
          </a:prstGeom>
          <a:noFill/>
          <a:ln/>
        </p:spPr>
        <p:txBody>
          <a:bodyPr wrap="square" lIns="0" tIns="0" rIns="0" bIns="0" rtlCol="0" anchor="ctr"/>
          <a:lstStyle/>
          <a:p>
            <a:pPr marL="0" indent="0" algn="l">
              <a:buNone/>
            </a:pPr>
            <a:r>
              <a:rPr lang="en-US" sz="950" dirty="0">
                <a:solidFill>
                  <a:srgbClr val="F0F7FA"/>
                </a:solidFill>
              </a:rPr>
              <a:t>Only new rows: WHERE CreatedDate &gt; Last_Load_Date 🚀</a:t>
            </a:r>
            <a:endParaRPr lang="en-US" sz="950" dirty="0"/>
          </a:p>
        </p:txBody>
      </p:sp>
      <p:sp>
        <p:nvSpPr>
          <p:cNvPr id="30" name="Shape 28"/>
          <p:cNvSpPr/>
          <p:nvPr/>
        </p:nvSpPr>
        <p:spPr>
          <a:xfrm>
            <a:off x="274320" y="3017520"/>
            <a:ext cx="8595360" cy="178308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31" name="Shape 29"/>
          <p:cNvSpPr/>
          <p:nvPr/>
        </p:nvSpPr>
        <p:spPr>
          <a:xfrm>
            <a:off x="274320" y="3017520"/>
            <a:ext cx="64008" cy="1783080"/>
          </a:xfrm>
          <a:prstGeom prst="rect">
            <a:avLst/>
          </a:prstGeom>
          <a:solidFill>
            <a:srgbClr val="028090"/>
          </a:solidFill>
          <a:ln w="12700">
            <a:solidFill>
              <a:srgbClr val="028090"/>
            </a:solidFill>
            <a:prstDash val="solid"/>
          </a:ln>
        </p:spPr>
        <p:txBody>
          <a:bodyPr/>
          <a:lstStyle/>
          <a:p>
            <a:endParaRPr lang="en-US"/>
          </a:p>
        </p:txBody>
      </p:sp>
      <p:sp>
        <p:nvSpPr>
          <p:cNvPr id="32" name="Text 30"/>
          <p:cNvSpPr/>
          <p:nvPr/>
        </p:nvSpPr>
        <p:spPr>
          <a:xfrm>
            <a:off x="457200" y="3063240"/>
            <a:ext cx="8229600" cy="365760"/>
          </a:xfrm>
          <a:prstGeom prst="rect">
            <a:avLst/>
          </a:prstGeom>
          <a:noFill/>
          <a:ln/>
        </p:spPr>
        <p:txBody>
          <a:bodyPr wrap="square" lIns="0" tIns="0" rIns="0" bIns="0" rtlCol="0" anchor="ctr"/>
          <a:lstStyle/>
          <a:p>
            <a:pPr marL="0" indent="0" algn="l">
              <a:buNone/>
            </a:pPr>
            <a:r>
              <a:rPr lang="en-US" sz="1300" b="1" dirty="0">
                <a:solidFill>
                  <a:srgbClr val="028090"/>
                </a:solidFill>
              </a:rPr>
              <a:t>🗄  Stored Procedures — Incremental Load + MERGE on the Fact Table</a:t>
            </a:r>
            <a:endParaRPr lang="en-US" sz="1300" dirty="0"/>
          </a:p>
        </p:txBody>
      </p:sp>
      <p:sp>
        <p:nvSpPr>
          <p:cNvPr id="33" name="Shape 31"/>
          <p:cNvSpPr/>
          <p:nvPr/>
        </p:nvSpPr>
        <p:spPr>
          <a:xfrm>
            <a:off x="411480" y="3493008"/>
            <a:ext cx="2011680" cy="1188720"/>
          </a:xfrm>
          <a:prstGeom prst="rect">
            <a:avLst/>
          </a:prstGeom>
          <a:solidFill>
            <a:srgbClr val="1E293B"/>
          </a:solidFill>
          <a:ln w="12700">
            <a:solidFill>
              <a:srgbClr val="1E293B"/>
            </a:solidFill>
            <a:prstDash val="solid"/>
          </a:ln>
        </p:spPr>
        <p:txBody>
          <a:bodyPr/>
          <a:lstStyle/>
          <a:p>
            <a:endParaRPr lang="en-US"/>
          </a:p>
        </p:txBody>
      </p:sp>
      <p:sp>
        <p:nvSpPr>
          <p:cNvPr id="34" name="Shape 32"/>
          <p:cNvSpPr/>
          <p:nvPr/>
        </p:nvSpPr>
        <p:spPr>
          <a:xfrm>
            <a:off x="411480" y="3493008"/>
            <a:ext cx="2011680" cy="320040"/>
          </a:xfrm>
          <a:prstGeom prst="rect">
            <a:avLst/>
          </a:prstGeom>
          <a:solidFill>
            <a:srgbClr val="028090"/>
          </a:solidFill>
          <a:ln w="12700">
            <a:solidFill>
              <a:srgbClr val="028090"/>
            </a:solidFill>
            <a:prstDash val="solid"/>
          </a:ln>
        </p:spPr>
        <p:txBody>
          <a:bodyPr/>
          <a:lstStyle/>
          <a:p>
            <a:endParaRPr lang="en-US"/>
          </a:p>
        </p:txBody>
      </p:sp>
      <p:sp>
        <p:nvSpPr>
          <p:cNvPr id="35" name="Text 33"/>
          <p:cNvSpPr/>
          <p:nvPr/>
        </p:nvSpPr>
        <p:spPr>
          <a:xfrm>
            <a:off x="411480" y="3493008"/>
            <a:ext cx="2011680" cy="320040"/>
          </a:xfrm>
          <a:prstGeom prst="rect">
            <a:avLst/>
          </a:prstGeom>
          <a:noFill/>
          <a:ln/>
        </p:spPr>
        <p:txBody>
          <a:bodyPr wrap="square" lIns="0" tIns="0" rIns="0" bIns="0" rtlCol="0" anchor="ctr"/>
          <a:lstStyle/>
          <a:p>
            <a:pPr marL="0" indent="0" algn="ctr">
              <a:buNone/>
            </a:pPr>
            <a:r>
              <a:rPr lang="en-US" sz="1050" b="1" dirty="0">
                <a:solidFill>
                  <a:schemeClr val="accent1">
                    <a:lumMod val="60000"/>
                    <a:lumOff val="40000"/>
                  </a:schemeClr>
                </a:solidFill>
              </a:rPr>
              <a:t>SP 1-4</a:t>
            </a:r>
            <a:endParaRPr lang="en-US" sz="1050" dirty="0">
              <a:solidFill>
                <a:schemeClr val="accent1">
                  <a:lumMod val="60000"/>
                  <a:lumOff val="40000"/>
                </a:schemeClr>
              </a:solidFill>
            </a:endParaRPr>
          </a:p>
        </p:txBody>
      </p:sp>
      <p:sp>
        <p:nvSpPr>
          <p:cNvPr id="36" name="Text 34"/>
          <p:cNvSpPr/>
          <p:nvPr/>
        </p:nvSpPr>
        <p:spPr>
          <a:xfrm>
            <a:off x="484632" y="3822192"/>
            <a:ext cx="1874520" cy="822960"/>
          </a:xfrm>
          <a:prstGeom prst="rect">
            <a:avLst/>
          </a:prstGeom>
          <a:noFill/>
          <a:ln/>
        </p:spPr>
        <p:txBody>
          <a:bodyPr wrap="square" lIns="0" tIns="0" rIns="0" bIns="0" rtlCol="0" anchor="t"/>
          <a:lstStyle/>
          <a:p>
            <a:pPr marL="0" indent="0" algn="l">
              <a:buNone/>
            </a:pPr>
            <a:r>
              <a:rPr lang="en-US" sz="900" dirty="0">
                <a:solidFill>
                  <a:srgbClr val="F0F7FA"/>
                </a:solidFill>
              </a:rPr>
              <a:t>Incremental Staging</a:t>
            </a:r>
            <a:endParaRPr lang="en-US" sz="900" dirty="0"/>
          </a:p>
          <a:p>
            <a:pPr marL="0" indent="0" algn="l">
              <a:buNone/>
            </a:pPr>
            <a:r>
              <a:rPr lang="en-US" sz="900" dirty="0">
                <a:solidFill>
                  <a:srgbClr val="F0F7FA"/>
                </a:solidFill>
              </a:rPr>
              <a:t>Fetch new records from each OLTP table</a:t>
            </a:r>
            <a:endParaRPr lang="en-US" sz="900" dirty="0"/>
          </a:p>
        </p:txBody>
      </p:sp>
      <p:sp>
        <p:nvSpPr>
          <p:cNvPr id="37" name="Shape 35"/>
          <p:cNvSpPr/>
          <p:nvPr/>
        </p:nvSpPr>
        <p:spPr>
          <a:xfrm>
            <a:off x="2560320" y="3493008"/>
            <a:ext cx="2011680" cy="1188720"/>
          </a:xfrm>
          <a:prstGeom prst="rect">
            <a:avLst/>
          </a:prstGeom>
          <a:solidFill>
            <a:srgbClr val="1E293B"/>
          </a:solidFill>
          <a:ln w="12700">
            <a:solidFill>
              <a:srgbClr val="1E293B"/>
            </a:solidFill>
            <a:prstDash val="solid"/>
          </a:ln>
        </p:spPr>
        <p:txBody>
          <a:bodyPr/>
          <a:lstStyle/>
          <a:p>
            <a:endParaRPr lang="en-US"/>
          </a:p>
        </p:txBody>
      </p:sp>
      <p:sp>
        <p:nvSpPr>
          <p:cNvPr id="38" name="Shape 36"/>
          <p:cNvSpPr/>
          <p:nvPr/>
        </p:nvSpPr>
        <p:spPr>
          <a:xfrm>
            <a:off x="2560320" y="3493008"/>
            <a:ext cx="2011680" cy="320040"/>
          </a:xfrm>
          <a:prstGeom prst="rect">
            <a:avLst/>
          </a:prstGeom>
          <a:solidFill>
            <a:srgbClr val="028090"/>
          </a:solidFill>
          <a:ln w="12700">
            <a:solidFill>
              <a:srgbClr val="028090"/>
            </a:solidFill>
            <a:prstDash val="solid"/>
          </a:ln>
        </p:spPr>
        <p:txBody>
          <a:bodyPr/>
          <a:lstStyle/>
          <a:p>
            <a:endParaRPr lang="en-US"/>
          </a:p>
        </p:txBody>
      </p:sp>
      <p:sp>
        <p:nvSpPr>
          <p:cNvPr id="39" name="Text 37"/>
          <p:cNvSpPr/>
          <p:nvPr/>
        </p:nvSpPr>
        <p:spPr>
          <a:xfrm>
            <a:off x="2560320" y="3493008"/>
            <a:ext cx="2011680" cy="320040"/>
          </a:xfrm>
          <a:prstGeom prst="rect">
            <a:avLst/>
          </a:prstGeom>
          <a:noFill/>
          <a:ln/>
        </p:spPr>
        <p:txBody>
          <a:bodyPr wrap="square" lIns="0" tIns="0" rIns="0" bIns="0" rtlCol="0" anchor="ctr"/>
          <a:lstStyle/>
          <a:p>
            <a:pPr marL="0" indent="0" algn="ctr">
              <a:buNone/>
            </a:pPr>
            <a:r>
              <a:rPr lang="en-US" sz="1050" b="1" dirty="0">
                <a:solidFill>
                  <a:schemeClr val="accent1">
                    <a:lumMod val="60000"/>
                    <a:lumOff val="40000"/>
                  </a:schemeClr>
                </a:solidFill>
              </a:rPr>
              <a:t>SP 5</a:t>
            </a:r>
            <a:endParaRPr lang="en-US" sz="1050" dirty="0">
              <a:solidFill>
                <a:schemeClr val="accent1">
                  <a:lumMod val="60000"/>
                  <a:lumOff val="40000"/>
                </a:schemeClr>
              </a:solidFill>
            </a:endParaRPr>
          </a:p>
        </p:txBody>
      </p:sp>
      <p:sp>
        <p:nvSpPr>
          <p:cNvPr id="40" name="Text 38"/>
          <p:cNvSpPr/>
          <p:nvPr/>
        </p:nvSpPr>
        <p:spPr>
          <a:xfrm>
            <a:off x="2633472" y="3822192"/>
            <a:ext cx="1874520" cy="822960"/>
          </a:xfrm>
          <a:prstGeom prst="rect">
            <a:avLst/>
          </a:prstGeom>
          <a:noFill/>
          <a:ln/>
        </p:spPr>
        <p:txBody>
          <a:bodyPr wrap="square" lIns="0" tIns="0" rIns="0" bIns="0" rtlCol="0" anchor="t"/>
          <a:lstStyle/>
          <a:p>
            <a:pPr marL="0" indent="0" algn="l">
              <a:buNone/>
            </a:pPr>
            <a:r>
              <a:rPr lang="en-US" sz="900" dirty="0">
                <a:solidFill>
                  <a:srgbClr val="F0F7FA"/>
                </a:solidFill>
              </a:rPr>
              <a:t>Dim_Location Load</a:t>
            </a:r>
            <a:endParaRPr lang="en-US" sz="900" dirty="0"/>
          </a:p>
          <a:p>
            <a:pPr marL="0" indent="0" algn="l">
              <a:buNone/>
            </a:pPr>
            <a:r>
              <a:rPr lang="en-US" sz="900" dirty="0">
                <a:solidFill>
                  <a:srgbClr val="F0F7FA"/>
                </a:solidFill>
              </a:rPr>
              <a:t>NOT EXISTS → insert new Locations only</a:t>
            </a:r>
            <a:endParaRPr lang="en-US" sz="900" dirty="0"/>
          </a:p>
        </p:txBody>
      </p:sp>
      <p:sp>
        <p:nvSpPr>
          <p:cNvPr id="41" name="Shape 39"/>
          <p:cNvSpPr/>
          <p:nvPr/>
        </p:nvSpPr>
        <p:spPr>
          <a:xfrm>
            <a:off x="4709160" y="3493008"/>
            <a:ext cx="2011680" cy="1188720"/>
          </a:xfrm>
          <a:prstGeom prst="rect">
            <a:avLst/>
          </a:prstGeom>
          <a:solidFill>
            <a:srgbClr val="1E293B"/>
          </a:solidFill>
          <a:ln w="12700">
            <a:solidFill>
              <a:srgbClr val="1E293B"/>
            </a:solidFill>
            <a:prstDash val="solid"/>
          </a:ln>
        </p:spPr>
        <p:txBody>
          <a:bodyPr/>
          <a:lstStyle/>
          <a:p>
            <a:endParaRPr lang="en-US"/>
          </a:p>
        </p:txBody>
      </p:sp>
      <p:sp>
        <p:nvSpPr>
          <p:cNvPr id="42" name="Shape 40"/>
          <p:cNvSpPr/>
          <p:nvPr/>
        </p:nvSpPr>
        <p:spPr>
          <a:xfrm>
            <a:off x="4709160" y="3493008"/>
            <a:ext cx="2011680" cy="320040"/>
          </a:xfrm>
          <a:prstGeom prst="rect">
            <a:avLst/>
          </a:prstGeom>
          <a:solidFill>
            <a:srgbClr val="028090"/>
          </a:solidFill>
          <a:ln w="12700">
            <a:solidFill>
              <a:srgbClr val="028090"/>
            </a:solidFill>
            <a:prstDash val="solid"/>
          </a:ln>
        </p:spPr>
        <p:txBody>
          <a:bodyPr/>
          <a:lstStyle/>
          <a:p>
            <a:endParaRPr lang="en-US"/>
          </a:p>
        </p:txBody>
      </p:sp>
      <p:sp>
        <p:nvSpPr>
          <p:cNvPr id="43" name="Text 41"/>
          <p:cNvSpPr/>
          <p:nvPr/>
        </p:nvSpPr>
        <p:spPr>
          <a:xfrm>
            <a:off x="4709160" y="3493008"/>
            <a:ext cx="2011680" cy="320040"/>
          </a:xfrm>
          <a:prstGeom prst="rect">
            <a:avLst/>
          </a:prstGeom>
          <a:noFill/>
          <a:ln/>
        </p:spPr>
        <p:txBody>
          <a:bodyPr wrap="square" lIns="0" tIns="0" rIns="0" bIns="0" rtlCol="0" anchor="ctr"/>
          <a:lstStyle/>
          <a:p>
            <a:pPr marL="0" indent="0" algn="ctr">
              <a:buNone/>
            </a:pPr>
            <a:r>
              <a:rPr lang="en-US" sz="1050" b="1" dirty="0">
                <a:solidFill>
                  <a:schemeClr val="accent1">
                    <a:lumMod val="60000"/>
                    <a:lumOff val="40000"/>
                  </a:schemeClr>
                </a:solidFill>
              </a:rPr>
              <a:t>SP 6</a:t>
            </a:r>
            <a:endParaRPr lang="en-US" sz="1050" dirty="0">
              <a:solidFill>
                <a:schemeClr val="accent1">
                  <a:lumMod val="60000"/>
                  <a:lumOff val="40000"/>
                </a:schemeClr>
              </a:solidFill>
            </a:endParaRPr>
          </a:p>
        </p:txBody>
      </p:sp>
      <p:sp>
        <p:nvSpPr>
          <p:cNvPr id="44" name="Text 42"/>
          <p:cNvSpPr/>
          <p:nvPr/>
        </p:nvSpPr>
        <p:spPr>
          <a:xfrm>
            <a:off x="4782312" y="3822192"/>
            <a:ext cx="1874520" cy="822960"/>
          </a:xfrm>
          <a:prstGeom prst="rect">
            <a:avLst/>
          </a:prstGeom>
          <a:noFill/>
          <a:ln/>
        </p:spPr>
        <p:txBody>
          <a:bodyPr wrap="square" lIns="0" tIns="0" rIns="0" bIns="0" rtlCol="0" anchor="t"/>
          <a:lstStyle/>
          <a:p>
            <a:pPr marL="0" indent="0" algn="l">
              <a:buNone/>
            </a:pPr>
            <a:r>
              <a:rPr lang="en-US" sz="900" dirty="0">
                <a:solidFill>
                  <a:srgbClr val="F0F7FA"/>
                </a:solidFill>
              </a:rPr>
              <a:t>MERGE Fact Table</a:t>
            </a:r>
            <a:endParaRPr lang="en-US" sz="900" dirty="0"/>
          </a:p>
          <a:p>
            <a:pPr marL="0" indent="0" algn="l">
              <a:buNone/>
            </a:pPr>
            <a:r>
              <a:rPr lang="en-US" sz="900" dirty="0">
                <a:solidFill>
                  <a:srgbClr val="F0F7FA"/>
                </a:solidFill>
              </a:rPr>
              <a:t>MATCHED → UPDATE</a:t>
            </a:r>
            <a:endParaRPr lang="en-US" sz="900" dirty="0"/>
          </a:p>
          <a:p>
            <a:pPr marL="0" indent="0" algn="l">
              <a:buNone/>
            </a:pPr>
            <a:r>
              <a:rPr lang="en-US" sz="900" dirty="0">
                <a:solidFill>
                  <a:srgbClr val="F0F7FA"/>
                </a:solidFill>
              </a:rPr>
              <a:t>NOT MATCHED → INSERT</a:t>
            </a:r>
            <a:endParaRPr lang="en-US" sz="900" dirty="0"/>
          </a:p>
        </p:txBody>
      </p:sp>
      <p:sp>
        <p:nvSpPr>
          <p:cNvPr id="45" name="Shape 43"/>
          <p:cNvSpPr/>
          <p:nvPr/>
        </p:nvSpPr>
        <p:spPr>
          <a:xfrm>
            <a:off x="6858000" y="3493008"/>
            <a:ext cx="2011680" cy="1188720"/>
          </a:xfrm>
          <a:prstGeom prst="rect">
            <a:avLst/>
          </a:prstGeom>
          <a:solidFill>
            <a:srgbClr val="1E293B"/>
          </a:solidFill>
          <a:ln w="12700">
            <a:solidFill>
              <a:srgbClr val="1E293B"/>
            </a:solidFill>
            <a:prstDash val="solid"/>
          </a:ln>
        </p:spPr>
        <p:txBody>
          <a:bodyPr/>
          <a:lstStyle/>
          <a:p>
            <a:endParaRPr lang="en-US"/>
          </a:p>
        </p:txBody>
      </p:sp>
      <p:sp>
        <p:nvSpPr>
          <p:cNvPr id="46" name="Shape 44"/>
          <p:cNvSpPr/>
          <p:nvPr/>
        </p:nvSpPr>
        <p:spPr>
          <a:xfrm>
            <a:off x="6858000" y="3493008"/>
            <a:ext cx="2011680" cy="320040"/>
          </a:xfrm>
          <a:prstGeom prst="rect">
            <a:avLst/>
          </a:prstGeom>
          <a:solidFill>
            <a:srgbClr val="028090"/>
          </a:solidFill>
          <a:ln w="12700">
            <a:solidFill>
              <a:srgbClr val="028090"/>
            </a:solidFill>
            <a:prstDash val="solid"/>
          </a:ln>
        </p:spPr>
        <p:txBody>
          <a:bodyPr/>
          <a:lstStyle/>
          <a:p>
            <a:endParaRPr lang="en-US"/>
          </a:p>
        </p:txBody>
      </p:sp>
      <p:sp>
        <p:nvSpPr>
          <p:cNvPr id="47" name="Text 45"/>
          <p:cNvSpPr/>
          <p:nvPr/>
        </p:nvSpPr>
        <p:spPr>
          <a:xfrm>
            <a:off x="6858000" y="3493008"/>
            <a:ext cx="2011680" cy="320040"/>
          </a:xfrm>
          <a:prstGeom prst="rect">
            <a:avLst/>
          </a:prstGeom>
          <a:noFill/>
          <a:ln/>
        </p:spPr>
        <p:txBody>
          <a:bodyPr wrap="square" lIns="0" tIns="0" rIns="0" bIns="0" rtlCol="0" anchor="ctr"/>
          <a:lstStyle/>
          <a:p>
            <a:pPr marL="0" indent="0" algn="ctr">
              <a:buNone/>
            </a:pPr>
            <a:r>
              <a:rPr lang="en-US" sz="1050" b="1" dirty="0">
                <a:solidFill>
                  <a:schemeClr val="accent1">
                    <a:lumMod val="60000"/>
                    <a:lumOff val="40000"/>
                  </a:schemeClr>
                </a:solidFill>
              </a:rPr>
              <a:t>SP 7</a:t>
            </a:r>
            <a:endParaRPr lang="en-US" sz="1050" dirty="0">
              <a:solidFill>
                <a:schemeClr val="accent1">
                  <a:lumMod val="60000"/>
                  <a:lumOff val="40000"/>
                </a:schemeClr>
              </a:solidFill>
            </a:endParaRPr>
          </a:p>
        </p:txBody>
      </p:sp>
      <p:sp>
        <p:nvSpPr>
          <p:cNvPr id="48" name="Text 46"/>
          <p:cNvSpPr/>
          <p:nvPr/>
        </p:nvSpPr>
        <p:spPr>
          <a:xfrm>
            <a:off x="6931152" y="3822192"/>
            <a:ext cx="1874520" cy="822960"/>
          </a:xfrm>
          <a:prstGeom prst="rect">
            <a:avLst/>
          </a:prstGeom>
          <a:noFill/>
          <a:ln/>
        </p:spPr>
        <p:txBody>
          <a:bodyPr wrap="square" lIns="0" tIns="0" rIns="0" bIns="0" rtlCol="0" anchor="t"/>
          <a:lstStyle/>
          <a:p>
            <a:pPr marL="0" indent="0" algn="l">
              <a:buNone/>
            </a:pPr>
            <a:r>
              <a:rPr lang="en-US" sz="900" dirty="0">
                <a:solidFill>
                  <a:srgbClr val="F0F7FA"/>
                </a:solidFill>
              </a:rPr>
              <a:t>ETL Control Update</a:t>
            </a:r>
            <a:endParaRPr lang="en-US" sz="900" dirty="0"/>
          </a:p>
          <a:p>
            <a:pPr marL="0" indent="0" algn="l">
              <a:buNone/>
            </a:pPr>
            <a:r>
              <a:rPr lang="en-US" sz="900" dirty="0">
                <a:solidFill>
                  <a:srgbClr val="F0F7FA"/>
                </a:solidFill>
              </a:rPr>
              <a:t>Refresh Last_Load_Date after each run</a:t>
            </a:r>
            <a:endParaRPr lang="en-US" sz="900" dirty="0"/>
          </a:p>
        </p:txBody>
      </p:sp>
      <p:sp>
        <p:nvSpPr>
          <p:cNvPr id="49" name="Shape 47"/>
          <p:cNvSpPr/>
          <p:nvPr/>
        </p:nvSpPr>
        <p:spPr>
          <a:xfrm>
            <a:off x="0" y="4773168"/>
            <a:ext cx="9144000" cy="370332"/>
          </a:xfrm>
          <a:prstGeom prst="rect">
            <a:avLst/>
          </a:prstGeom>
          <a:solidFill>
            <a:srgbClr val="1E293B"/>
          </a:solidFill>
          <a:ln w="12700">
            <a:solidFill>
              <a:srgbClr val="1E293B"/>
            </a:solidFill>
            <a:prstDash val="solid"/>
          </a:ln>
        </p:spPr>
        <p:txBody>
          <a:bodyPr/>
          <a:lstStyle/>
          <a:p>
            <a:endParaRPr lang="en-US"/>
          </a:p>
        </p:txBody>
      </p:sp>
      <p:sp>
        <p:nvSpPr>
          <p:cNvPr id="50" name="Text 48"/>
          <p:cNvSpPr/>
          <p:nvPr/>
        </p:nvSpPr>
        <p:spPr>
          <a:xfrm>
            <a:off x="182880" y="4773168"/>
            <a:ext cx="8778240" cy="370332"/>
          </a:xfrm>
          <a:prstGeom prst="rect">
            <a:avLst/>
          </a:prstGeom>
          <a:noFill/>
          <a:ln/>
        </p:spPr>
        <p:txBody>
          <a:bodyPr wrap="square" lIns="0" tIns="0" rIns="0" bIns="0" rtlCol="0" anchor="ctr"/>
          <a:lstStyle/>
          <a:p>
            <a:pPr marL="0" indent="0" algn="l">
              <a:buNone/>
            </a:pPr>
            <a:r>
              <a:rPr lang="en-US" sz="950" i="1" dirty="0">
                <a:solidFill>
                  <a:srgbClr val="02C39A"/>
                </a:solidFill>
              </a:rPr>
              <a:t>🗣  We added Audit Columns to track what's new, then built 6 Stored Procedures covering Incremental Staging, Dim Load, MERGE on the Fact, and ETL Control updates.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49" name="Shape 0">
            <a:extLst>
              <a:ext uri="{FF2B5EF4-FFF2-40B4-BE49-F238E27FC236}">
                <a16:creationId xmlns:a16="http://schemas.microsoft.com/office/drawing/2014/main" id="{3DF32610-012C-2DBB-EAEB-E45033C96F3A}"/>
              </a:ext>
            </a:extLst>
          </p:cNvPr>
          <p:cNvSpPr/>
          <p:nvPr/>
        </p:nvSpPr>
        <p:spPr>
          <a:xfrm>
            <a:off x="0" y="0"/>
            <a:ext cx="9144000" cy="642938"/>
          </a:xfrm>
          <a:prstGeom prst="roundRect">
            <a:avLst>
              <a:gd name="adj" fmla="val 0"/>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pic>
        <p:nvPicPr>
          <p:cNvPr id="50" name="Image 0" descr="preencoded.png">
            <a:extLst>
              <a:ext uri="{FF2B5EF4-FFF2-40B4-BE49-F238E27FC236}">
                <a16:creationId xmlns:a16="http://schemas.microsoft.com/office/drawing/2014/main" id="{CD898226-6451-F8DA-4306-2FA62A7637A8}"/>
              </a:ext>
            </a:extLst>
          </p:cNvPr>
          <p:cNvPicPr>
            <a:picLocks noChangeAspect="1"/>
          </p:cNvPicPr>
          <p:nvPr/>
        </p:nvPicPr>
        <p:blipFill>
          <a:blip r:embed="rId3"/>
          <a:stretch>
            <a:fillRect/>
          </a:stretch>
        </p:blipFill>
        <p:spPr>
          <a:xfrm>
            <a:off x="8046720" y="45720"/>
            <a:ext cx="685800" cy="540068"/>
          </a:xfrm>
          <a:prstGeom prst="rect">
            <a:avLst/>
          </a:prstGeom>
        </p:spPr>
      </p:pic>
      <p:sp>
        <p:nvSpPr>
          <p:cNvPr id="3" name="Shape 1"/>
          <p:cNvSpPr/>
          <p:nvPr/>
        </p:nvSpPr>
        <p:spPr>
          <a:xfrm>
            <a:off x="306324" y="64008"/>
            <a:ext cx="475488" cy="475488"/>
          </a:xfrm>
          <a:prstGeom prst="ellipse">
            <a:avLst/>
          </a:prstGeom>
          <a:solidFill>
            <a:srgbClr val="02C39A"/>
          </a:solidFill>
          <a:ln w="12700">
            <a:solidFill>
              <a:srgbClr val="02C39A"/>
            </a:solidFill>
            <a:prstDash val="solid"/>
          </a:ln>
        </p:spPr>
        <p:txBody>
          <a:bodyPr/>
          <a:lstStyle/>
          <a:p>
            <a:endParaRPr lang="en-US"/>
          </a:p>
        </p:txBody>
      </p:sp>
      <p:sp>
        <p:nvSpPr>
          <p:cNvPr id="4" name="Text 2"/>
          <p:cNvSpPr/>
          <p:nvPr/>
        </p:nvSpPr>
        <p:spPr>
          <a:xfrm>
            <a:off x="320040" y="64008"/>
            <a:ext cx="475488" cy="475488"/>
          </a:xfrm>
          <a:prstGeom prst="rect">
            <a:avLst/>
          </a:prstGeom>
          <a:noFill/>
          <a:ln/>
        </p:spPr>
        <p:txBody>
          <a:bodyPr wrap="square" lIns="0" tIns="0" rIns="0" bIns="0" rtlCol="0" anchor="ctr"/>
          <a:lstStyle/>
          <a:p>
            <a:pPr marL="0" indent="0" algn="ctr">
              <a:buNone/>
            </a:pPr>
            <a:r>
              <a:rPr lang="ar-EG" sz="1400" b="1" dirty="0">
                <a:solidFill>
                  <a:srgbClr val="0A2342"/>
                </a:solidFill>
              </a:rPr>
              <a:t>3</a:t>
            </a:r>
            <a:endParaRPr lang="en-US" sz="1400" dirty="0"/>
          </a:p>
        </p:txBody>
      </p:sp>
      <p:sp>
        <p:nvSpPr>
          <p:cNvPr id="5" name="Text 3"/>
          <p:cNvSpPr/>
          <p:nvPr/>
        </p:nvSpPr>
        <p:spPr>
          <a:xfrm>
            <a:off x="960120" y="-11430"/>
            <a:ext cx="5542280" cy="642938"/>
          </a:xfrm>
          <a:prstGeom prst="rect">
            <a:avLst/>
          </a:prstGeom>
          <a:noFill/>
          <a:ln/>
        </p:spPr>
        <p:txBody>
          <a:bodyPr wrap="square" lIns="0" tIns="0" rIns="0" bIns="0" rtlCol="0" anchor="ctr"/>
          <a:lstStyle/>
          <a:p>
            <a:pPr marL="0" indent="0" algn="l">
              <a:buNone/>
            </a:pPr>
            <a:r>
              <a:rPr lang="en-US" sz="2600" b="1" dirty="0">
                <a:solidFill>
                  <a:schemeClr val="bg1"/>
                </a:solidFill>
                <a:latin typeface="Calibri" pitchFamily="34" charset="0"/>
                <a:ea typeface="Calibri" pitchFamily="34" charset="-122"/>
                <a:cs typeface="Calibri" pitchFamily="34" charset="-120"/>
              </a:rPr>
              <a:t>SQL Server Agent Jobs — Automation</a:t>
            </a:r>
            <a:endParaRPr lang="en-US" sz="2600" dirty="0">
              <a:solidFill>
                <a:schemeClr val="bg1"/>
              </a:solidFill>
            </a:endParaRPr>
          </a:p>
        </p:txBody>
      </p:sp>
      <p:sp>
        <p:nvSpPr>
          <p:cNvPr id="6" name="Text 4"/>
          <p:cNvSpPr/>
          <p:nvPr/>
        </p:nvSpPr>
        <p:spPr>
          <a:xfrm>
            <a:off x="593969" y="685800"/>
            <a:ext cx="8138551" cy="269748"/>
          </a:xfrm>
          <a:prstGeom prst="rect">
            <a:avLst/>
          </a:prstGeom>
          <a:noFill/>
          <a:ln/>
        </p:spPr>
        <p:txBody>
          <a:bodyPr wrap="square" lIns="0" tIns="0" rIns="0" bIns="0" rtlCol="0" anchor="ctr"/>
          <a:lstStyle/>
          <a:p>
            <a:pPr marL="0" indent="0" algn="l">
              <a:buNone/>
            </a:pPr>
            <a:r>
              <a:rPr lang="en-US" sz="1200" b="1" dirty="0">
                <a:solidFill>
                  <a:srgbClr val="08204F"/>
                </a:solidFill>
                <a:latin typeface="Calibri" pitchFamily="34" charset="0"/>
                <a:ea typeface="Calibri" pitchFamily="34" charset="-122"/>
                <a:cs typeface="Calibri" pitchFamily="34" charset="-120"/>
              </a:rPr>
              <a:t>The entire pipeline runs automatically — no manual intervention</a:t>
            </a:r>
            <a:endParaRPr lang="en-US" sz="1200" b="1" dirty="0">
              <a:solidFill>
                <a:srgbClr val="08204F"/>
              </a:solidFill>
            </a:endParaRPr>
          </a:p>
        </p:txBody>
      </p:sp>
      <p:sp>
        <p:nvSpPr>
          <p:cNvPr id="8" name="Shape 6"/>
          <p:cNvSpPr/>
          <p:nvPr/>
        </p:nvSpPr>
        <p:spPr>
          <a:xfrm>
            <a:off x="274320" y="1024128"/>
            <a:ext cx="5303520" cy="7315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9" name="Shape 7"/>
          <p:cNvSpPr/>
          <p:nvPr/>
        </p:nvSpPr>
        <p:spPr>
          <a:xfrm>
            <a:off x="274320" y="1024128"/>
            <a:ext cx="64008" cy="731520"/>
          </a:xfrm>
          <a:prstGeom prst="rect">
            <a:avLst/>
          </a:prstGeom>
          <a:solidFill>
            <a:srgbClr val="1C7293"/>
          </a:solidFill>
          <a:ln w="12700">
            <a:solidFill>
              <a:srgbClr val="1C7293"/>
            </a:solidFill>
            <a:prstDash val="solid"/>
          </a:ln>
        </p:spPr>
        <p:txBody>
          <a:bodyPr/>
          <a:lstStyle/>
          <a:p>
            <a:endParaRPr lang="en-US"/>
          </a:p>
        </p:txBody>
      </p:sp>
      <p:sp>
        <p:nvSpPr>
          <p:cNvPr id="10" name="Shape 8"/>
          <p:cNvSpPr/>
          <p:nvPr/>
        </p:nvSpPr>
        <p:spPr>
          <a:xfrm>
            <a:off x="438912" y="1161288"/>
            <a:ext cx="457200" cy="457200"/>
          </a:xfrm>
          <a:prstGeom prst="ellipse">
            <a:avLst/>
          </a:prstGeom>
          <a:solidFill>
            <a:srgbClr val="1C7293"/>
          </a:solidFill>
          <a:ln w="12700">
            <a:solidFill>
              <a:srgbClr val="1C7293"/>
            </a:solidFill>
            <a:prstDash val="solid"/>
          </a:ln>
        </p:spPr>
        <p:txBody>
          <a:bodyPr/>
          <a:lstStyle/>
          <a:p>
            <a:endParaRPr lang="en-US"/>
          </a:p>
        </p:txBody>
      </p:sp>
      <p:sp>
        <p:nvSpPr>
          <p:cNvPr id="11" name="Text 9"/>
          <p:cNvSpPr/>
          <p:nvPr/>
        </p:nvSpPr>
        <p:spPr>
          <a:xfrm>
            <a:off x="438912" y="1161288"/>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12" name="Text 10"/>
          <p:cNvSpPr/>
          <p:nvPr/>
        </p:nvSpPr>
        <p:spPr>
          <a:xfrm>
            <a:off x="1005840" y="1097280"/>
            <a:ext cx="4389120" cy="320040"/>
          </a:xfrm>
          <a:prstGeom prst="rect">
            <a:avLst/>
          </a:prstGeom>
          <a:noFill/>
          <a:ln/>
        </p:spPr>
        <p:txBody>
          <a:bodyPr wrap="square" lIns="0" tIns="0" rIns="0" bIns="0" rtlCol="0" anchor="ctr"/>
          <a:lstStyle/>
          <a:p>
            <a:pPr marL="0" indent="0" algn="l">
              <a:buNone/>
            </a:pPr>
            <a:r>
              <a:rPr lang="en-US" sz="1200" b="1" dirty="0">
                <a:solidFill>
                  <a:schemeClr val="accent1">
                    <a:lumMod val="60000"/>
                    <a:lumOff val="40000"/>
                  </a:schemeClr>
                </a:solidFill>
              </a:rPr>
              <a:t>Incremental Staging SPs</a:t>
            </a:r>
            <a:endParaRPr lang="en-US" sz="1200" dirty="0">
              <a:solidFill>
                <a:schemeClr val="accent1">
                  <a:lumMod val="60000"/>
                  <a:lumOff val="40000"/>
                </a:schemeClr>
              </a:solidFill>
            </a:endParaRPr>
          </a:p>
        </p:txBody>
      </p:sp>
      <p:sp>
        <p:nvSpPr>
          <p:cNvPr id="13" name="Text 11"/>
          <p:cNvSpPr/>
          <p:nvPr/>
        </p:nvSpPr>
        <p:spPr>
          <a:xfrm>
            <a:off x="1005840" y="1426464"/>
            <a:ext cx="4389120" cy="274320"/>
          </a:xfrm>
          <a:prstGeom prst="rect">
            <a:avLst/>
          </a:prstGeom>
          <a:noFill/>
          <a:ln/>
        </p:spPr>
        <p:txBody>
          <a:bodyPr wrap="square" lIns="0" tIns="0" rIns="0" bIns="0" rtlCol="0" anchor="ctr"/>
          <a:lstStyle/>
          <a:p>
            <a:pPr marL="0" indent="0" algn="l">
              <a:buNone/>
            </a:pPr>
            <a:r>
              <a:rPr lang="en-US" sz="1000" dirty="0">
                <a:solidFill>
                  <a:srgbClr val="F0F7FA"/>
                </a:solidFill>
              </a:rPr>
              <a:t>Fetch new data from all 4 main OLTP tables</a:t>
            </a:r>
            <a:endParaRPr lang="en-US" sz="1000" dirty="0"/>
          </a:p>
        </p:txBody>
      </p:sp>
      <p:sp>
        <p:nvSpPr>
          <p:cNvPr id="14" name="Text 12"/>
          <p:cNvSpPr/>
          <p:nvPr/>
        </p:nvSpPr>
        <p:spPr>
          <a:xfrm>
            <a:off x="365760" y="1773936"/>
            <a:ext cx="457200" cy="109728"/>
          </a:xfrm>
          <a:prstGeom prst="rect">
            <a:avLst/>
          </a:prstGeom>
          <a:noFill/>
          <a:ln/>
        </p:spPr>
        <p:txBody>
          <a:bodyPr wrap="square" lIns="0" tIns="0" rIns="0" bIns="0" rtlCol="0" anchor="ctr"/>
          <a:lstStyle/>
          <a:p>
            <a:pPr marL="0" indent="0" algn="ctr">
              <a:buNone/>
            </a:pPr>
            <a:r>
              <a:rPr lang="en-US" sz="1100" dirty="0">
                <a:solidFill>
                  <a:srgbClr val="1C7293"/>
                </a:solidFill>
              </a:rPr>
              <a:t>▼</a:t>
            </a:r>
            <a:endParaRPr lang="en-US" sz="1100" dirty="0"/>
          </a:p>
        </p:txBody>
      </p:sp>
      <p:sp>
        <p:nvSpPr>
          <p:cNvPr id="15" name="Shape 13"/>
          <p:cNvSpPr/>
          <p:nvPr/>
        </p:nvSpPr>
        <p:spPr>
          <a:xfrm>
            <a:off x="274320" y="1892808"/>
            <a:ext cx="5303520" cy="7315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274320" y="1892808"/>
            <a:ext cx="64008" cy="731520"/>
          </a:xfrm>
          <a:prstGeom prst="rect">
            <a:avLst/>
          </a:prstGeom>
          <a:solidFill>
            <a:srgbClr val="028090"/>
          </a:solidFill>
          <a:ln w="12700">
            <a:solidFill>
              <a:srgbClr val="028090"/>
            </a:solidFill>
            <a:prstDash val="solid"/>
          </a:ln>
        </p:spPr>
        <p:txBody>
          <a:bodyPr/>
          <a:lstStyle/>
          <a:p>
            <a:endParaRPr lang="en-US"/>
          </a:p>
        </p:txBody>
      </p:sp>
      <p:sp>
        <p:nvSpPr>
          <p:cNvPr id="17" name="Shape 15"/>
          <p:cNvSpPr/>
          <p:nvPr/>
        </p:nvSpPr>
        <p:spPr>
          <a:xfrm>
            <a:off x="438912" y="2029968"/>
            <a:ext cx="457200" cy="457200"/>
          </a:xfrm>
          <a:prstGeom prst="ellipse">
            <a:avLst/>
          </a:prstGeom>
          <a:solidFill>
            <a:srgbClr val="028090"/>
          </a:solidFill>
          <a:ln w="12700">
            <a:solidFill>
              <a:srgbClr val="028090"/>
            </a:solidFill>
            <a:prstDash val="solid"/>
          </a:ln>
        </p:spPr>
        <p:txBody>
          <a:bodyPr/>
          <a:lstStyle/>
          <a:p>
            <a:endParaRPr lang="en-US"/>
          </a:p>
        </p:txBody>
      </p:sp>
      <p:sp>
        <p:nvSpPr>
          <p:cNvPr id="18" name="Text 16"/>
          <p:cNvSpPr/>
          <p:nvPr/>
        </p:nvSpPr>
        <p:spPr>
          <a:xfrm>
            <a:off x="438912" y="2029968"/>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9" name="Text 17"/>
          <p:cNvSpPr/>
          <p:nvPr/>
        </p:nvSpPr>
        <p:spPr>
          <a:xfrm>
            <a:off x="1005840" y="1965960"/>
            <a:ext cx="4389120" cy="320040"/>
          </a:xfrm>
          <a:prstGeom prst="rect">
            <a:avLst/>
          </a:prstGeom>
          <a:noFill/>
          <a:ln/>
        </p:spPr>
        <p:txBody>
          <a:bodyPr wrap="square" lIns="0" tIns="0" rIns="0" bIns="0" rtlCol="0" anchor="ctr"/>
          <a:lstStyle/>
          <a:p>
            <a:pPr marL="0" indent="0" algn="l">
              <a:buNone/>
            </a:pPr>
            <a:r>
              <a:rPr lang="en-US" sz="1200" b="1" dirty="0">
                <a:solidFill>
                  <a:schemeClr val="accent1">
                    <a:lumMod val="60000"/>
                    <a:lumOff val="40000"/>
                  </a:schemeClr>
                </a:solidFill>
              </a:rPr>
              <a:t>Dim_Location Load</a:t>
            </a:r>
            <a:endParaRPr lang="en-US" sz="1200" dirty="0">
              <a:solidFill>
                <a:schemeClr val="accent1">
                  <a:lumMod val="60000"/>
                  <a:lumOff val="40000"/>
                </a:schemeClr>
              </a:solidFill>
            </a:endParaRPr>
          </a:p>
        </p:txBody>
      </p:sp>
      <p:sp>
        <p:nvSpPr>
          <p:cNvPr id="20" name="Text 18"/>
          <p:cNvSpPr/>
          <p:nvPr/>
        </p:nvSpPr>
        <p:spPr>
          <a:xfrm>
            <a:off x="1005840" y="2295144"/>
            <a:ext cx="4389120" cy="274320"/>
          </a:xfrm>
          <a:prstGeom prst="rect">
            <a:avLst/>
          </a:prstGeom>
          <a:noFill/>
          <a:ln/>
        </p:spPr>
        <p:txBody>
          <a:bodyPr wrap="square" lIns="0" tIns="0" rIns="0" bIns="0" rtlCol="0" anchor="ctr"/>
          <a:lstStyle/>
          <a:p>
            <a:pPr marL="0" indent="0" algn="l">
              <a:buNone/>
            </a:pPr>
            <a:r>
              <a:rPr lang="en-US" sz="1000" dirty="0">
                <a:solidFill>
                  <a:srgbClr val="F0F7FA"/>
                </a:solidFill>
              </a:rPr>
              <a:t>Insert only new Locations (NOT EXISTS check)</a:t>
            </a:r>
            <a:endParaRPr lang="en-US" sz="1000" dirty="0"/>
          </a:p>
        </p:txBody>
      </p:sp>
      <p:sp>
        <p:nvSpPr>
          <p:cNvPr id="21" name="Text 19"/>
          <p:cNvSpPr/>
          <p:nvPr/>
        </p:nvSpPr>
        <p:spPr>
          <a:xfrm>
            <a:off x="365760" y="2642616"/>
            <a:ext cx="457200" cy="109728"/>
          </a:xfrm>
          <a:prstGeom prst="rect">
            <a:avLst/>
          </a:prstGeom>
          <a:noFill/>
          <a:ln/>
        </p:spPr>
        <p:txBody>
          <a:bodyPr wrap="square" lIns="0" tIns="0" rIns="0" bIns="0" rtlCol="0" anchor="ctr"/>
          <a:lstStyle/>
          <a:p>
            <a:pPr marL="0" indent="0" algn="ctr">
              <a:buNone/>
            </a:pPr>
            <a:r>
              <a:rPr lang="en-US" sz="1100" dirty="0">
                <a:solidFill>
                  <a:srgbClr val="028090"/>
                </a:solidFill>
              </a:rPr>
              <a:t>▼</a:t>
            </a:r>
            <a:endParaRPr lang="en-US" sz="1100" dirty="0"/>
          </a:p>
        </p:txBody>
      </p:sp>
      <p:sp>
        <p:nvSpPr>
          <p:cNvPr id="22" name="Shape 20"/>
          <p:cNvSpPr/>
          <p:nvPr/>
        </p:nvSpPr>
        <p:spPr>
          <a:xfrm>
            <a:off x="274320" y="2761488"/>
            <a:ext cx="5303520" cy="7315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23" name="Shape 21"/>
          <p:cNvSpPr/>
          <p:nvPr/>
        </p:nvSpPr>
        <p:spPr>
          <a:xfrm>
            <a:off x="274320" y="2761488"/>
            <a:ext cx="64008" cy="731520"/>
          </a:xfrm>
          <a:prstGeom prst="rect">
            <a:avLst/>
          </a:prstGeom>
          <a:solidFill>
            <a:srgbClr val="02C39A"/>
          </a:solidFill>
          <a:ln w="12700">
            <a:solidFill>
              <a:srgbClr val="02C39A"/>
            </a:solidFill>
            <a:prstDash val="solid"/>
          </a:ln>
        </p:spPr>
        <p:txBody>
          <a:bodyPr/>
          <a:lstStyle/>
          <a:p>
            <a:endParaRPr lang="en-US"/>
          </a:p>
        </p:txBody>
      </p:sp>
      <p:sp>
        <p:nvSpPr>
          <p:cNvPr id="24" name="Shape 22"/>
          <p:cNvSpPr/>
          <p:nvPr/>
        </p:nvSpPr>
        <p:spPr>
          <a:xfrm>
            <a:off x="438912" y="2898648"/>
            <a:ext cx="457200" cy="457200"/>
          </a:xfrm>
          <a:prstGeom prst="ellipse">
            <a:avLst/>
          </a:prstGeom>
          <a:solidFill>
            <a:srgbClr val="02C39A"/>
          </a:solidFill>
          <a:ln w="12700">
            <a:solidFill>
              <a:srgbClr val="02C39A"/>
            </a:solidFill>
            <a:prstDash val="solid"/>
          </a:ln>
        </p:spPr>
        <p:txBody>
          <a:bodyPr/>
          <a:lstStyle/>
          <a:p>
            <a:endParaRPr lang="en-US"/>
          </a:p>
        </p:txBody>
      </p:sp>
      <p:sp>
        <p:nvSpPr>
          <p:cNvPr id="25" name="Text 23"/>
          <p:cNvSpPr/>
          <p:nvPr/>
        </p:nvSpPr>
        <p:spPr>
          <a:xfrm>
            <a:off x="438912" y="2898648"/>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26" name="Text 24"/>
          <p:cNvSpPr/>
          <p:nvPr/>
        </p:nvSpPr>
        <p:spPr>
          <a:xfrm>
            <a:off x="1005840" y="2834640"/>
            <a:ext cx="4389120" cy="320040"/>
          </a:xfrm>
          <a:prstGeom prst="rect">
            <a:avLst/>
          </a:prstGeom>
          <a:noFill/>
          <a:ln/>
        </p:spPr>
        <p:txBody>
          <a:bodyPr wrap="square" lIns="0" tIns="0" rIns="0" bIns="0" rtlCol="0" anchor="ctr"/>
          <a:lstStyle/>
          <a:p>
            <a:pPr marL="0" indent="0" algn="l">
              <a:buNone/>
            </a:pPr>
            <a:r>
              <a:rPr lang="en-US" sz="1200" b="1" dirty="0">
                <a:solidFill>
                  <a:srgbClr val="02C39A"/>
                </a:solidFill>
              </a:rPr>
              <a:t>MERGE Fact Table</a:t>
            </a:r>
            <a:endParaRPr lang="en-US" sz="1200" dirty="0"/>
          </a:p>
        </p:txBody>
      </p:sp>
      <p:sp>
        <p:nvSpPr>
          <p:cNvPr id="27" name="Text 25"/>
          <p:cNvSpPr/>
          <p:nvPr/>
        </p:nvSpPr>
        <p:spPr>
          <a:xfrm>
            <a:off x="1005840" y="3163824"/>
            <a:ext cx="4389120" cy="274320"/>
          </a:xfrm>
          <a:prstGeom prst="rect">
            <a:avLst/>
          </a:prstGeom>
          <a:noFill/>
          <a:ln/>
        </p:spPr>
        <p:txBody>
          <a:bodyPr wrap="square" lIns="0" tIns="0" rIns="0" bIns="0" rtlCol="0" anchor="ctr"/>
          <a:lstStyle/>
          <a:p>
            <a:pPr marL="0" indent="0" algn="l">
              <a:buNone/>
            </a:pPr>
            <a:r>
              <a:rPr lang="en-US" sz="1000" dirty="0">
                <a:solidFill>
                  <a:srgbClr val="F0F7FA"/>
                </a:solidFill>
              </a:rPr>
              <a:t>UPDATE existing + INSERT new rows — single atomic operation</a:t>
            </a:r>
            <a:endParaRPr lang="en-US" sz="1000" dirty="0"/>
          </a:p>
        </p:txBody>
      </p:sp>
      <p:sp>
        <p:nvSpPr>
          <p:cNvPr id="28" name="Text 26"/>
          <p:cNvSpPr/>
          <p:nvPr/>
        </p:nvSpPr>
        <p:spPr>
          <a:xfrm>
            <a:off x="365760" y="3511296"/>
            <a:ext cx="457200" cy="109728"/>
          </a:xfrm>
          <a:prstGeom prst="rect">
            <a:avLst/>
          </a:prstGeom>
          <a:noFill/>
          <a:ln/>
        </p:spPr>
        <p:txBody>
          <a:bodyPr wrap="square" lIns="0" tIns="0" rIns="0" bIns="0" rtlCol="0" anchor="ctr"/>
          <a:lstStyle/>
          <a:p>
            <a:pPr marL="0" indent="0" algn="ctr">
              <a:buNone/>
            </a:pPr>
            <a:r>
              <a:rPr lang="en-US" sz="1100" dirty="0">
                <a:solidFill>
                  <a:srgbClr val="02C39A"/>
                </a:solidFill>
              </a:rPr>
              <a:t>▼</a:t>
            </a:r>
            <a:endParaRPr lang="en-US" sz="1100" dirty="0"/>
          </a:p>
        </p:txBody>
      </p:sp>
      <p:sp>
        <p:nvSpPr>
          <p:cNvPr id="29" name="Shape 27"/>
          <p:cNvSpPr/>
          <p:nvPr/>
        </p:nvSpPr>
        <p:spPr>
          <a:xfrm>
            <a:off x="274320" y="3630168"/>
            <a:ext cx="5303520" cy="7315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30" name="Shape 28"/>
          <p:cNvSpPr/>
          <p:nvPr/>
        </p:nvSpPr>
        <p:spPr>
          <a:xfrm>
            <a:off x="274320" y="3630168"/>
            <a:ext cx="64008" cy="731520"/>
          </a:xfrm>
          <a:prstGeom prst="rect">
            <a:avLst/>
          </a:prstGeom>
          <a:solidFill>
            <a:srgbClr val="028B70"/>
          </a:solidFill>
          <a:ln w="12700">
            <a:solidFill>
              <a:srgbClr val="028B70"/>
            </a:solidFill>
            <a:prstDash val="solid"/>
          </a:ln>
        </p:spPr>
        <p:txBody>
          <a:bodyPr/>
          <a:lstStyle/>
          <a:p>
            <a:endParaRPr lang="en-US"/>
          </a:p>
        </p:txBody>
      </p:sp>
      <p:sp>
        <p:nvSpPr>
          <p:cNvPr id="31" name="Shape 29"/>
          <p:cNvSpPr/>
          <p:nvPr/>
        </p:nvSpPr>
        <p:spPr>
          <a:xfrm>
            <a:off x="438912" y="3767328"/>
            <a:ext cx="457200" cy="457200"/>
          </a:xfrm>
          <a:prstGeom prst="ellipse">
            <a:avLst/>
          </a:prstGeom>
          <a:solidFill>
            <a:srgbClr val="028B70"/>
          </a:solidFill>
          <a:ln w="12700">
            <a:solidFill>
              <a:srgbClr val="028B70"/>
            </a:solidFill>
            <a:prstDash val="solid"/>
          </a:ln>
        </p:spPr>
        <p:txBody>
          <a:bodyPr/>
          <a:lstStyle/>
          <a:p>
            <a:endParaRPr lang="en-US"/>
          </a:p>
        </p:txBody>
      </p:sp>
      <p:sp>
        <p:nvSpPr>
          <p:cNvPr id="32" name="Text 30"/>
          <p:cNvSpPr/>
          <p:nvPr/>
        </p:nvSpPr>
        <p:spPr>
          <a:xfrm>
            <a:off x="438912" y="3767328"/>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33" name="Text 31"/>
          <p:cNvSpPr/>
          <p:nvPr/>
        </p:nvSpPr>
        <p:spPr>
          <a:xfrm>
            <a:off x="1005840" y="3703320"/>
            <a:ext cx="4389120" cy="320040"/>
          </a:xfrm>
          <a:prstGeom prst="rect">
            <a:avLst/>
          </a:prstGeom>
          <a:noFill/>
          <a:ln/>
        </p:spPr>
        <p:txBody>
          <a:bodyPr wrap="square" lIns="0" tIns="0" rIns="0" bIns="0" rtlCol="0" anchor="ctr"/>
          <a:lstStyle/>
          <a:p>
            <a:pPr marL="0" indent="0" algn="l">
              <a:buNone/>
            </a:pPr>
            <a:r>
              <a:rPr lang="en-US" sz="1200" b="1" dirty="0">
                <a:solidFill>
                  <a:srgbClr val="028B70"/>
                </a:solidFill>
              </a:rPr>
              <a:t>ETL Control Update</a:t>
            </a:r>
            <a:endParaRPr lang="en-US" sz="1200" dirty="0"/>
          </a:p>
        </p:txBody>
      </p:sp>
      <p:sp>
        <p:nvSpPr>
          <p:cNvPr id="34" name="Text 32"/>
          <p:cNvSpPr/>
          <p:nvPr/>
        </p:nvSpPr>
        <p:spPr>
          <a:xfrm>
            <a:off x="1005840" y="4032504"/>
            <a:ext cx="4389120" cy="274320"/>
          </a:xfrm>
          <a:prstGeom prst="rect">
            <a:avLst/>
          </a:prstGeom>
          <a:noFill/>
          <a:ln/>
        </p:spPr>
        <p:txBody>
          <a:bodyPr wrap="square" lIns="0" tIns="0" rIns="0" bIns="0" rtlCol="0" anchor="ctr"/>
          <a:lstStyle/>
          <a:p>
            <a:pPr marL="0" indent="0" algn="l">
              <a:buNone/>
            </a:pPr>
            <a:r>
              <a:rPr lang="en-US" sz="1000" dirty="0">
                <a:solidFill>
                  <a:srgbClr val="F0F7FA"/>
                </a:solidFill>
              </a:rPr>
              <a:t>Refresh Last_Load_Date — ready for the next scheduled run</a:t>
            </a:r>
            <a:endParaRPr lang="en-US" sz="1000" dirty="0"/>
          </a:p>
        </p:txBody>
      </p:sp>
      <p:sp>
        <p:nvSpPr>
          <p:cNvPr id="35" name="Shape 33"/>
          <p:cNvSpPr/>
          <p:nvPr/>
        </p:nvSpPr>
        <p:spPr>
          <a:xfrm>
            <a:off x="5943600" y="1024128"/>
            <a:ext cx="2926080" cy="34747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36" name="Shape 34"/>
          <p:cNvSpPr/>
          <p:nvPr/>
        </p:nvSpPr>
        <p:spPr>
          <a:xfrm>
            <a:off x="5943600" y="1024128"/>
            <a:ext cx="64008" cy="3474720"/>
          </a:xfrm>
          <a:prstGeom prst="rect">
            <a:avLst/>
          </a:prstGeom>
          <a:solidFill>
            <a:srgbClr val="02C39A"/>
          </a:solidFill>
          <a:ln w="12700">
            <a:solidFill>
              <a:srgbClr val="02C39A"/>
            </a:solidFill>
            <a:prstDash val="solid"/>
          </a:ln>
        </p:spPr>
        <p:txBody>
          <a:bodyPr/>
          <a:lstStyle/>
          <a:p>
            <a:endParaRPr lang="en-US"/>
          </a:p>
        </p:txBody>
      </p:sp>
      <p:sp>
        <p:nvSpPr>
          <p:cNvPr id="37" name="Text 35"/>
          <p:cNvSpPr/>
          <p:nvPr/>
        </p:nvSpPr>
        <p:spPr>
          <a:xfrm>
            <a:off x="6126480" y="1069848"/>
            <a:ext cx="2560320" cy="365760"/>
          </a:xfrm>
          <a:prstGeom prst="rect">
            <a:avLst/>
          </a:prstGeom>
          <a:noFill/>
          <a:ln/>
        </p:spPr>
        <p:txBody>
          <a:bodyPr wrap="square" lIns="0" tIns="0" rIns="0" bIns="0" rtlCol="0" anchor="ctr"/>
          <a:lstStyle/>
          <a:p>
            <a:pPr marL="0" indent="0" algn="l">
              <a:buNone/>
            </a:pPr>
            <a:r>
              <a:rPr lang="en-US" sz="1400" b="1" dirty="0">
                <a:solidFill>
                  <a:srgbClr val="02C39A"/>
                </a:solidFill>
              </a:rPr>
              <a:t>🏁  Results</a:t>
            </a:r>
            <a:endParaRPr lang="en-US" sz="1400" dirty="0"/>
          </a:p>
        </p:txBody>
      </p:sp>
      <p:sp>
        <p:nvSpPr>
          <p:cNvPr id="38" name="Shape 36"/>
          <p:cNvSpPr/>
          <p:nvPr/>
        </p:nvSpPr>
        <p:spPr>
          <a:xfrm>
            <a:off x="6126480" y="1572768"/>
            <a:ext cx="2560320" cy="822960"/>
          </a:xfrm>
          <a:prstGeom prst="rect">
            <a:avLst/>
          </a:prstGeom>
          <a:solidFill>
            <a:srgbClr val="1E293B"/>
          </a:solidFill>
          <a:ln w="12700">
            <a:solidFill>
              <a:srgbClr val="1E293B"/>
            </a:solidFill>
            <a:prstDash val="solid"/>
          </a:ln>
        </p:spPr>
        <p:txBody>
          <a:bodyPr/>
          <a:lstStyle/>
          <a:p>
            <a:endParaRPr lang="en-US"/>
          </a:p>
        </p:txBody>
      </p:sp>
      <p:sp>
        <p:nvSpPr>
          <p:cNvPr id="39" name="Text 37"/>
          <p:cNvSpPr/>
          <p:nvPr/>
        </p:nvSpPr>
        <p:spPr>
          <a:xfrm>
            <a:off x="6126480" y="1572768"/>
            <a:ext cx="1005840" cy="822960"/>
          </a:xfrm>
          <a:prstGeom prst="rect">
            <a:avLst/>
          </a:prstGeom>
          <a:noFill/>
          <a:ln/>
        </p:spPr>
        <p:txBody>
          <a:bodyPr wrap="square" lIns="0" tIns="0" rIns="0" bIns="0" rtlCol="0" anchor="ctr"/>
          <a:lstStyle/>
          <a:p>
            <a:pPr marL="0" indent="0" algn="ctr">
              <a:buNone/>
            </a:pPr>
            <a:r>
              <a:rPr lang="en-US" sz="2600" b="1" dirty="0">
                <a:solidFill>
                  <a:srgbClr val="02C39A"/>
                </a:solidFill>
              </a:rPr>
              <a:t>0</a:t>
            </a:r>
            <a:endParaRPr lang="en-US" sz="2600" dirty="0"/>
          </a:p>
        </p:txBody>
      </p:sp>
      <p:sp>
        <p:nvSpPr>
          <p:cNvPr id="40" name="Text 38"/>
          <p:cNvSpPr/>
          <p:nvPr/>
        </p:nvSpPr>
        <p:spPr>
          <a:xfrm>
            <a:off x="7150608" y="1572768"/>
            <a:ext cx="1463040" cy="822960"/>
          </a:xfrm>
          <a:prstGeom prst="rect">
            <a:avLst/>
          </a:prstGeom>
          <a:noFill/>
          <a:ln/>
        </p:spPr>
        <p:txBody>
          <a:bodyPr wrap="square" lIns="0" tIns="0" rIns="0" bIns="0" rtlCol="0" anchor="ctr"/>
          <a:lstStyle/>
          <a:p>
            <a:pPr marL="0" indent="0" algn="l">
              <a:buNone/>
            </a:pPr>
            <a:r>
              <a:rPr lang="en-US" sz="1100" dirty="0">
                <a:solidFill>
                  <a:srgbClr val="F0F7FA"/>
                </a:solidFill>
              </a:rPr>
              <a:t>Duplicate</a:t>
            </a:r>
            <a:endParaRPr lang="en-US" sz="1100" dirty="0"/>
          </a:p>
          <a:p>
            <a:pPr marL="0" indent="0" algn="l">
              <a:buNone/>
            </a:pPr>
            <a:r>
              <a:rPr lang="en-US" sz="1100" dirty="0">
                <a:solidFill>
                  <a:srgbClr val="F0F7FA"/>
                </a:solidFill>
              </a:rPr>
              <a:t>Records</a:t>
            </a:r>
            <a:endParaRPr lang="en-US" sz="1100" dirty="0"/>
          </a:p>
        </p:txBody>
      </p:sp>
      <p:sp>
        <p:nvSpPr>
          <p:cNvPr id="41" name="Shape 39"/>
          <p:cNvSpPr/>
          <p:nvPr/>
        </p:nvSpPr>
        <p:spPr>
          <a:xfrm>
            <a:off x="6126480" y="2532888"/>
            <a:ext cx="2560320" cy="822960"/>
          </a:xfrm>
          <a:prstGeom prst="rect">
            <a:avLst/>
          </a:prstGeom>
          <a:solidFill>
            <a:srgbClr val="1E293B"/>
          </a:solidFill>
          <a:ln w="12700">
            <a:solidFill>
              <a:srgbClr val="1E293B"/>
            </a:solidFill>
            <a:prstDash val="solid"/>
          </a:ln>
        </p:spPr>
        <p:txBody>
          <a:bodyPr/>
          <a:lstStyle/>
          <a:p>
            <a:endParaRPr lang="en-US"/>
          </a:p>
        </p:txBody>
      </p:sp>
      <p:sp>
        <p:nvSpPr>
          <p:cNvPr id="42" name="Text 40"/>
          <p:cNvSpPr/>
          <p:nvPr/>
        </p:nvSpPr>
        <p:spPr>
          <a:xfrm>
            <a:off x="6126480" y="2532888"/>
            <a:ext cx="1005840" cy="822960"/>
          </a:xfrm>
          <a:prstGeom prst="rect">
            <a:avLst/>
          </a:prstGeom>
          <a:noFill/>
          <a:ln/>
        </p:spPr>
        <p:txBody>
          <a:bodyPr wrap="square" lIns="0" tIns="0" rIns="0" bIns="0" rtlCol="0" anchor="ctr"/>
          <a:lstStyle/>
          <a:p>
            <a:pPr marL="0" indent="0" algn="ctr">
              <a:buNone/>
            </a:pPr>
            <a:r>
              <a:rPr lang="en-US" sz="2600" b="1" dirty="0">
                <a:solidFill>
                  <a:srgbClr val="02C39A"/>
                </a:solidFill>
              </a:rPr>
              <a:t>100%</a:t>
            </a:r>
            <a:endParaRPr lang="en-US" sz="2600" dirty="0"/>
          </a:p>
        </p:txBody>
      </p:sp>
      <p:sp>
        <p:nvSpPr>
          <p:cNvPr id="43" name="Text 41"/>
          <p:cNvSpPr/>
          <p:nvPr/>
        </p:nvSpPr>
        <p:spPr>
          <a:xfrm>
            <a:off x="7150608" y="2532888"/>
            <a:ext cx="1463040" cy="822960"/>
          </a:xfrm>
          <a:prstGeom prst="rect">
            <a:avLst/>
          </a:prstGeom>
          <a:noFill/>
          <a:ln/>
        </p:spPr>
        <p:txBody>
          <a:bodyPr wrap="square" lIns="0" tIns="0" rIns="0" bIns="0" rtlCol="0" anchor="ctr"/>
          <a:lstStyle/>
          <a:p>
            <a:pPr marL="0" indent="0" algn="l">
              <a:buNone/>
            </a:pPr>
            <a:r>
              <a:rPr lang="en-US" sz="1100" dirty="0">
                <a:solidFill>
                  <a:srgbClr val="F0F7FA"/>
                </a:solidFill>
              </a:rPr>
              <a:t>Upsert</a:t>
            </a:r>
            <a:endParaRPr lang="en-US" sz="1100" dirty="0"/>
          </a:p>
          <a:p>
            <a:pPr marL="0" indent="0" algn="l">
              <a:buNone/>
            </a:pPr>
            <a:r>
              <a:rPr lang="en-US" sz="1100" dirty="0">
                <a:solidFill>
                  <a:srgbClr val="F0F7FA"/>
                </a:solidFill>
              </a:rPr>
              <a:t>Accuracy</a:t>
            </a:r>
            <a:endParaRPr lang="en-US" sz="1100" dirty="0"/>
          </a:p>
        </p:txBody>
      </p:sp>
      <p:sp>
        <p:nvSpPr>
          <p:cNvPr id="44" name="Shape 42"/>
          <p:cNvSpPr/>
          <p:nvPr/>
        </p:nvSpPr>
        <p:spPr>
          <a:xfrm>
            <a:off x="6126480" y="3493008"/>
            <a:ext cx="2560320" cy="822960"/>
          </a:xfrm>
          <a:prstGeom prst="rect">
            <a:avLst/>
          </a:prstGeom>
          <a:solidFill>
            <a:srgbClr val="1E293B"/>
          </a:solidFill>
          <a:ln w="12700">
            <a:solidFill>
              <a:srgbClr val="1E293B"/>
            </a:solidFill>
            <a:prstDash val="solid"/>
          </a:ln>
        </p:spPr>
        <p:txBody>
          <a:bodyPr/>
          <a:lstStyle/>
          <a:p>
            <a:endParaRPr lang="en-US"/>
          </a:p>
        </p:txBody>
      </p:sp>
      <p:sp>
        <p:nvSpPr>
          <p:cNvPr id="45" name="Text 43"/>
          <p:cNvSpPr/>
          <p:nvPr/>
        </p:nvSpPr>
        <p:spPr>
          <a:xfrm>
            <a:off x="6126480" y="3493008"/>
            <a:ext cx="1005840" cy="822960"/>
          </a:xfrm>
          <a:prstGeom prst="rect">
            <a:avLst/>
          </a:prstGeom>
          <a:noFill/>
          <a:ln/>
        </p:spPr>
        <p:txBody>
          <a:bodyPr wrap="square" lIns="0" tIns="0" rIns="0" bIns="0" rtlCol="0" anchor="ctr"/>
          <a:lstStyle/>
          <a:p>
            <a:pPr marL="0" indent="0" algn="ctr">
              <a:buNone/>
            </a:pPr>
            <a:r>
              <a:rPr lang="en-US" sz="2600" b="1" dirty="0">
                <a:solidFill>
                  <a:srgbClr val="02C39A"/>
                </a:solidFill>
              </a:rPr>
              <a:t>Auto</a:t>
            </a:r>
            <a:endParaRPr lang="en-US" sz="2600" dirty="0"/>
          </a:p>
        </p:txBody>
      </p:sp>
      <p:sp>
        <p:nvSpPr>
          <p:cNvPr id="46" name="Text 44"/>
          <p:cNvSpPr/>
          <p:nvPr/>
        </p:nvSpPr>
        <p:spPr>
          <a:xfrm>
            <a:off x="7150608" y="3493008"/>
            <a:ext cx="1463040" cy="822960"/>
          </a:xfrm>
          <a:prstGeom prst="rect">
            <a:avLst/>
          </a:prstGeom>
          <a:noFill/>
          <a:ln/>
        </p:spPr>
        <p:txBody>
          <a:bodyPr wrap="square" lIns="0" tIns="0" rIns="0" bIns="0" rtlCol="0" anchor="ctr"/>
          <a:lstStyle/>
          <a:p>
            <a:pPr marL="0" indent="0" algn="l">
              <a:buNone/>
            </a:pPr>
            <a:r>
              <a:rPr lang="en-US" sz="1100" dirty="0">
                <a:solidFill>
                  <a:srgbClr val="F0F7FA"/>
                </a:solidFill>
              </a:rPr>
              <a:t>Scheduled</a:t>
            </a:r>
            <a:endParaRPr lang="en-US" sz="1100" dirty="0"/>
          </a:p>
          <a:p>
            <a:pPr marL="0" indent="0" algn="l">
              <a:buNone/>
            </a:pPr>
            <a:r>
              <a:rPr lang="en-US" sz="1100" dirty="0">
                <a:solidFill>
                  <a:srgbClr val="F0F7FA"/>
                </a:solidFill>
              </a:rPr>
              <a:t>Pipeline</a:t>
            </a:r>
            <a:endParaRPr lang="en-US" sz="1100" dirty="0"/>
          </a:p>
        </p:txBody>
      </p:sp>
      <p:sp>
        <p:nvSpPr>
          <p:cNvPr id="47" name="Shape 45"/>
          <p:cNvSpPr/>
          <p:nvPr/>
        </p:nvSpPr>
        <p:spPr>
          <a:xfrm>
            <a:off x="0" y="4773168"/>
            <a:ext cx="9144000" cy="370332"/>
          </a:xfrm>
          <a:prstGeom prst="rect">
            <a:avLst/>
          </a:prstGeom>
          <a:solidFill>
            <a:srgbClr val="1E293B"/>
          </a:solidFill>
          <a:ln w="12700">
            <a:solidFill>
              <a:srgbClr val="1E293B"/>
            </a:solidFill>
            <a:prstDash val="solid"/>
          </a:ln>
        </p:spPr>
        <p:txBody>
          <a:bodyPr/>
          <a:lstStyle/>
          <a:p>
            <a:endParaRPr lang="en-US"/>
          </a:p>
        </p:txBody>
      </p:sp>
      <p:sp>
        <p:nvSpPr>
          <p:cNvPr id="48" name="Text 46"/>
          <p:cNvSpPr/>
          <p:nvPr/>
        </p:nvSpPr>
        <p:spPr>
          <a:xfrm>
            <a:off x="182880" y="4773168"/>
            <a:ext cx="8778240" cy="370332"/>
          </a:xfrm>
          <a:prstGeom prst="rect">
            <a:avLst/>
          </a:prstGeom>
          <a:noFill/>
          <a:ln/>
        </p:spPr>
        <p:txBody>
          <a:bodyPr wrap="square" lIns="0" tIns="0" rIns="0" bIns="0" rtlCol="0" anchor="ctr"/>
          <a:lstStyle/>
          <a:p>
            <a:pPr marL="0" indent="0" algn="l">
              <a:buNone/>
            </a:pPr>
            <a:r>
              <a:rPr lang="en-US" sz="950" i="1" dirty="0">
                <a:solidFill>
                  <a:srgbClr val="02C39A"/>
                </a:solidFill>
              </a:rPr>
              <a:t>🗣  Finally, we scheduled a SQL Agent Job to run all 4 steps automatically — the pipeline is fully automated: zero manual effort, zero duplicates, 100% accuracy.</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8204F"/>
        </a:solidFill>
        <a:effectLst/>
      </p:bgPr>
    </p:bg>
    <p:spTree>
      <p:nvGrpSpPr>
        <p:cNvPr id="1" name="">
          <a:extLst>
            <a:ext uri="{FF2B5EF4-FFF2-40B4-BE49-F238E27FC236}">
              <a16:creationId xmlns:a16="http://schemas.microsoft.com/office/drawing/2014/main" id="{067CEB61-B5B6-9C37-BBC8-9B553ACAB4E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8DA85E7-BD36-6118-82A4-D99CFB1F1EC5}"/>
              </a:ext>
            </a:extLst>
          </p:cNvPr>
          <p:cNvSpPr/>
          <p:nvPr/>
        </p:nvSpPr>
        <p:spPr>
          <a:xfrm>
            <a:off x="0" y="0"/>
            <a:ext cx="9144000" cy="85725"/>
          </a:xfrm>
          <a:prstGeom prst="rect">
            <a:avLst/>
          </a:prstGeom>
          <a:solidFill>
            <a:srgbClr val="36ADA3"/>
          </a:solidFill>
          <a:ln/>
        </p:spPr>
        <p:txBody>
          <a:bodyPr/>
          <a:lstStyle/>
          <a:p>
            <a:endParaRPr lang="en-US"/>
          </a:p>
        </p:txBody>
      </p:sp>
      <p:sp>
        <p:nvSpPr>
          <p:cNvPr id="3" name="Shape 1">
            <a:extLst>
              <a:ext uri="{FF2B5EF4-FFF2-40B4-BE49-F238E27FC236}">
                <a16:creationId xmlns:a16="http://schemas.microsoft.com/office/drawing/2014/main" id="{A1A8B7FF-0A58-37C8-D4C6-0F4BD452B7FC}"/>
              </a:ext>
            </a:extLst>
          </p:cNvPr>
          <p:cNvSpPr/>
          <p:nvPr/>
        </p:nvSpPr>
        <p:spPr>
          <a:xfrm>
            <a:off x="0" y="5057775"/>
            <a:ext cx="9144000" cy="85725"/>
          </a:xfrm>
          <a:prstGeom prst="rect">
            <a:avLst/>
          </a:prstGeom>
          <a:solidFill>
            <a:srgbClr val="36ADA3"/>
          </a:solidFill>
          <a:ln/>
        </p:spPr>
        <p:txBody>
          <a:bodyPr/>
          <a:lstStyle/>
          <a:p>
            <a:endParaRPr lang="en-US"/>
          </a:p>
        </p:txBody>
      </p:sp>
      <p:sp>
        <p:nvSpPr>
          <p:cNvPr id="4" name="Text 2">
            <a:extLst>
              <a:ext uri="{FF2B5EF4-FFF2-40B4-BE49-F238E27FC236}">
                <a16:creationId xmlns:a16="http://schemas.microsoft.com/office/drawing/2014/main" id="{55C77270-D9A8-85A1-89B9-B7B77080E7EC}"/>
              </a:ext>
            </a:extLst>
          </p:cNvPr>
          <p:cNvSpPr/>
          <p:nvPr/>
        </p:nvSpPr>
        <p:spPr>
          <a:xfrm>
            <a:off x="0" y="1428750"/>
            <a:ext cx="9144000" cy="571500"/>
          </a:xfrm>
          <a:prstGeom prst="rect">
            <a:avLst/>
          </a:prstGeom>
          <a:noFill/>
          <a:ln/>
        </p:spPr>
        <p:txBody>
          <a:bodyPr wrap="none" lIns="0" tIns="0" rIns="0" bIns="0" rtlCol="0" anchor="ctr"/>
          <a:lstStyle/>
          <a:p>
            <a:pPr algn="ctr">
              <a:lnSpc>
                <a:spcPct val="100000"/>
              </a:lnSpc>
            </a:pPr>
            <a:r>
              <a:rPr lang="en-US" sz="4050" b="1" dirty="0">
                <a:solidFill>
                  <a:srgbClr val="36ADA3"/>
                </a:solidFill>
                <a:latin typeface="Liter" pitchFamily="34" charset="0"/>
                <a:ea typeface="Liter" pitchFamily="34" charset="-122"/>
                <a:cs typeface="Liter" pitchFamily="34" charset="-120"/>
              </a:rPr>
              <a:t>05</a:t>
            </a:r>
            <a:endParaRPr lang="en-US" sz="900" dirty="0">
              <a:solidFill>
                <a:srgbClr val="36ADA3"/>
              </a:solidFill>
            </a:endParaRPr>
          </a:p>
        </p:txBody>
      </p:sp>
      <p:sp>
        <p:nvSpPr>
          <p:cNvPr id="5" name="Text 3">
            <a:extLst>
              <a:ext uri="{FF2B5EF4-FFF2-40B4-BE49-F238E27FC236}">
                <a16:creationId xmlns:a16="http://schemas.microsoft.com/office/drawing/2014/main" id="{C691D53A-4AE9-294A-1D96-1A2846F68E7C}"/>
              </a:ext>
            </a:extLst>
          </p:cNvPr>
          <p:cNvSpPr/>
          <p:nvPr/>
        </p:nvSpPr>
        <p:spPr>
          <a:xfrm>
            <a:off x="0" y="2143125"/>
            <a:ext cx="9144000" cy="571500"/>
          </a:xfrm>
          <a:prstGeom prst="rect">
            <a:avLst/>
          </a:prstGeom>
          <a:noFill/>
          <a:ln/>
        </p:spPr>
        <p:txBody>
          <a:bodyPr wrap="none" lIns="0" tIns="0" rIns="0" bIns="0" rtlCol="0" anchor="ctr"/>
          <a:lstStyle/>
          <a:p>
            <a:pPr algn="ctr"/>
            <a:r>
              <a:rPr lang="en-US" sz="2800" b="1" dirty="0">
                <a:solidFill>
                  <a:schemeClr val="bg1"/>
                </a:solidFill>
                <a:latin typeface="Quattrocento Sans" pitchFamily="34" charset="0"/>
              </a:rPr>
              <a:t>Reporting</a:t>
            </a:r>
            <a:r>
              <a:rPr lang="en-US" sz="2800" b="1" dirty="0">
                <a:solidFill>
                  <a:schemeClr val="bg1"/>
                </a:solidFill>
                <a:ea typeface="Quattrocento Sans" pitchFamily="34" charset="-122"/>
                <a:cs typeface="Quattrocento Sans" pitchFamily="34" charset="-120"/>
              </a:rPr>
              <a:t> </a:t>
            </a:r>
            <a:r>
              <a:rPr lang="en-US" sz="2800" b="1" dirty="0">
                <a:solidFill>
                  <a:schemeClr val="bg1"/>
                </a:solidFill>
                <a:latin typeface="Quattrocento Sans" pitchFamily="34" charset="0"/>
              </a:rPr>
              <a:t>&amp;</a:t>
            </a:r>
            <a:r>
              <a:rPr lang="en-US" sz="2800" b="1" dirty="0">
                <a:solidFill>
                  <a:schemeClr val="bg1"/>
                </a:solidFill>
                <a:ea typeface="Quattrocento Sans" pitchFamily="34" charset="-122"/>
                <a:cs typeface="Quattrocento Sans" pitchFamily="34" charset="-120"/>
              </a:rPr>
              <a:t> </a:t>
            </a:r>
            <a:r>
              <a:rPr lang="en-US" sz="2800" b="1" dirty="0">
                <a:solidFill>
                  <a:schemeClr val="bg1"/>
                </a:solidFill>
                <a:latin typeface="Quattrocento Sans" pitchFamily="34" charset="0"/>
              </a:rPr>
              <a:t>BI</a:t>
            </a:r>
          </a:p>
        </p:txBody>
      </p:sp>
      <p:sp>
        <p:nvSpPr>
          <p:cNvPr id="6" name="Text 4">
            <a:extLst>
              <a:ext uri="{FF2B5EF4-FFF2-40B4-BE49-F238E27FC236}">
                <a16:creationId xmlns:a16="http://schemas.microsoft.com/office/drawing/2014/main" id="{9C6D8CB8-8EB2-9F6E-37CF-4652177AB7E5}"/>
              </a:ext>
            </a:extLst>
          </p:cNvPr>
          <p:cNvSpPr/>
          <p:nvPr/>
        </p:nvSpPr>
        <p:spPr>
          <a:xfrm>
            <a:off x="0" y="2857500"/>
            <a:ext cx="9144000" cy="357188"/>
          </a:xfrm>
          <a:prstGeom prst="rect">
            <a:avLst/>
          </a:prstGeom>
          <a:noFill/>
          <a:ln/>
        </p:spPr>
        <p:txBody>
          <a:bodyPr wrap="none" lIns="0" tIns="0" rIns="0" bIns="0" rtlCol="0" anchor="ctr"/>
          <a:lstStyle/>
          <a:p>
            <a:pPr algn="ctr"/>
            <a:r>
              <a:rPr lang="en-US" sz="1200" dirty="0">
                <a:solidFill>
                  <a:srgbClr val="36ADA3"/>
                </a:solidFill>
                <a:latin typeface="Calibri" pitchFamily="34" charset="0"/>
                <a:ea typeface="Calibri" pitchFamily="34" charset="-122"/>
                <a:cs typeface="Calibri" pitchFamily="34" charset="-120"/>
              </a:rPr>
              <a:t>Dashboards via SSRS, Power BI &amp; Tableau</a:t>
            </a:r>
            <a:endParaRPr lang="en-US" sz="1200" dirty="0">
              <a:solidFill>
                <a:srgbClr val="36ADA3"/>
              </a:solidFill>
            </a:endParaRPr>
          </a:p>
        </p:txBody>
      </p:sp>
    </p:spTree>
    <p:extLst>
      <p:ext uri="{BB962C8B-B14F-4D97-AF65-F5344CB8AC3E}">
        <p14:creationId xmlns:p14="http://schemas.microsoft.com/office/powerpoint/2010/main" val="494146352"/>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a:extLst>
            <a:ext uri="{FF2B5EF4-FFF2-40B4-BE49-F238E27FC236}">
              <a16:creationId xmlns:a16="http://schemas.microsoft.com/office/drawing/2014/main" id="{F1B8D45D-9046-C57C-F874-82EF55250D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93B85F1-7CE6-3308-AD34-FCB2A7B4DE7C}"/>
              </a:ext>
            </a:extLst>
          </p:cNvPr>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dirty="0"/>
          </a:p>
        </p:txBody>
      </p:sp>
      <p:pic>
        <p:nvPicPr>
          <p:cNvPr id="4" name="Image 0" descr="preencoded.png">
            <a:extLst>
              <a:ext uri="{FF2B5EF4-FFF2-40B4-BE49-F238E27FC236}">
                <a16:creationId xmlns:a16="http://schemas.microsoft.com/office/drawing/2014/main" id="{8762D5FF-D019-AEC1-43B7-8D1570C7D32C}"/>
              </a:ext>
            </a:extLst>
          </p:cNvPr>
          <p:cNvPicPr>
            <a:picLocks noChangeAspect="1"/>
          </p:cNvPicPr>
          <p:nvPr/>
        </p:nvPicPr>
        <p:blipFill>
          <a:blip r:embed="rId3"/>
          <a:stretch>
            <a:fillRect/>
          </a:stretch>
        </p:blipFill>
        <p:spPr>
          <a:xfrm>
            <a:off x="8046720" y="45720"/>
            <a:ext cx="685800" cy="676656"/>
          </a:xfrm>
          <a:prstGeom prst="rect">
            <a:avLst/>
          </a:prstGeom>
        </p:spPr>
      </p:pic>
      <p:sp>
        <p:nvSpPr>
          <p:cNvPr id="29" name="Text 23">
            <a:extLst>
              <a:ext uri="{FF2B5EF4-FFF2-40B4-BE49-F238E27FC236}">
                <a16:creationId xmlns:a16="http://schemas.microsoft.com/office/drawing/2014/main" id="{173CFAA5-4DEC-E9ED-7982-7834F095C8A2}"/>
              </a:ext>
            </a:extLst>
          </p:cNvPr>
          <p:cNvSpPr/>
          <p:nvPr/>
        </p:nvSpPr>
        <p:spPr>
          <a:xfrm>
            <a:off x="236583" y="3856482"/>
            <a:ext cx="640080" cy="308610"/>
          </a:xfrm>
          <a:prstGeom prst="rect">
            <a:avLst/>
          </a:prstGeom>
          <a:noFill/>
          <a:ln/>
        </p:spPr>
        <p:txBody>
          <a:bodyPr wrap="square" lIns="0" tIns="0" rIns="0" bIns="0" rtlCol="0" anchor="ctr"/>
          <a:lstStyle/>
          <a:p>
            <a:pPr marL="0" indent="0" algn="ctr">
              <a:buNone/>
            </a:pPr>
            <a:r>
              <a:rPr lang="en-US" sz="900" b="1" dirty="0">
                <a:solidFill>
                  <a:srgbClr val="FFFFFF"/>
                </a:solidFill>
              </a:rPr>
              <a:t>Output</a:t>
            </a:r>
            <a:endParaRPr lang="en-US" sz="900" dirty="0"/>
          </a:p>
        </p:txBody>
      </p:sp>
      <p:sp>
        <p:nvSpPr>
          <p:cNvPr id="55" name="Shape 15">
            <a:extLst>
              <a:ext uri="{FF2B5EF4-FFF2-40B4-BE49-F238E27FC236}">
                <a16:creationId xmlns:a16="http://schemas.microsoft.com/office/drawing/2014/main" id="{67027CA5-FB54-D82A-212E-9673F2BAF615}"/>
              </a:ext>
            </a:extLst>
          </p:cNvPr>
          <p:cNvSpPr/>
          <p:nvPr/>
        </p:nvSpPr>
        <p:spPr>
          <a:xfrm>
            <a:off x="274320" y="868679"/>
            <a:ext cx="3291840" cy="566928"/>
          </a:xfrm>
          <a:prstGeom prst="rect">
            <a:avLst/>
          </a:prstGeom>
          <a:solidFill>
            <a:srgbClr val="1E3060"/>
          </a:solidFill>
          <a:ln w="6350">
            <a:solidFill>
              <a:srgbClr val="C5D0E0"/>
            </a:solidFill>
            <a:prstDash val="solid"/>
          </a:ln>
        </p:spPr>
        <p:txBody>
          <a:bodyPr/>
          <a:lstStyle/>
          <a:p>
            <a:endParaRPr lang="en-US"/>
          </a:p>
        </p:txBody>
      </p:sp>
      <p:sp>
        <p:nvSpPr>
          <p:cNvPr id="56" name="Text 16">
            <a:extLst>
              <a:ext uri="{FF2B5EF4-FFF2-40B4-BE49-F238E27FC236}">
                <a16:creationId xmlns:a16="http://schemas.microsoft.com/office/drawing/2014/main" id="{EA6C28AA-FE8E-E58A-5838-6BE03171D38D}"/>
              </a:ext>
            </a:extLst>
          </p:cNvPr>
          <p:cNvSpPr/>
          <p:nvPr/>
        </p:nvSpPr>
        <p:spPr>
          <a:xfrm>
            <a:off x="402336" y="905255"/>
            <a:ext cx="3108960" cy="49377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Stored Procedure</a:t>
            </a:r>
            <a:endParaRPr lang="en-US" sz="1200" dirty="0"/>
          </a:p>
        </p:txBody>
      </p:sp>
      <p:sp>
        <p:nvSpPr>
          <p:cNvPr id="57" name="Shape 17">
            <a:extLst>
              <a:ext uri="{FF2B5EF4-FFF2-40B4-BE49-F238E27FC236}">
                <a16:creationId xmlns:a16="http://schemas.microsoft.com/office/drawing/2014/main" id="{F58737B5-1A02-26FC-EA3B-4034933A3130}"/>
              </a:ext>
            </a:extLst>
          </p:cNvPr>
          <p:cNvSpPr/>
          <p:nvPr/>
        </p:nvSpPr>
        <p:spPr>
          <a:xfrm>
            <a:off x="3611880" y="868679"/>
            <a:ext cx="5257800" cy="566928"/>
          </a:xfrm>
          <a:prstGeom prst="rect">
            <a:avLst/>
          </a:prstGeom>
          <a:solidFill>
            <a:srgbClr val="1E3060"/>
          </a:solidFill>
          <a:ln w="6350">
            <a:solidFill>
              <a:srgbClr val="C5D0E0"/>
            </a:solidFill>
            <a:prstDash val="solid"/>
          </a:ln>
        </p:spPr>
        <p:txBody>
          <a:bodyPr/>
          <a:lstStyle/>
          <a:p>
            <a:endParaRPr lang="en-US"/>
          </a:p>
        </p:txBody>
      </p:sp>
      <p:sp>
        <p:nvSpPr>
          <p:cNvPr id="58" name="Text 18">
            <a:extLst>
              <a:ext uri="{FF2B5EF4-FFF2-40B4-BE49-F238E27FC236}">
                <a16:creationId xmlns:a16="http://schemas.microsoft.com/office/drawing/2014/main" id="{B17BCFFF-62B1-77BE-6BE4-5E504C308928}"/>
              </a:ext>
            </a:extLst>
          </p:cNvPr>
          <p:cNvSpPr/>
          <p:nvPr/>
        </p:nvSpPr>
        <p:spPr>
          <a:xfrm>
            <a:off x="3739896" y="905255"/>
            <a:ext cx="5074920" cy="49377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p>
        </p:txBody>
      </p:sp>
      <p:sp>
        <p:nvSpPr>
          <p:cNvPr id="59" name="Shape 19">
            <a:extLst>
              <a:ext uri="{FF2B5EF4-FFF2-40B4-BE49-F238E27FC236}">
                <a16:creationId xmlns:a16="http://schemas.microsoft.com/office/drawing/2014/main" id="{39F8EE06-6B90-097C-DF5A-E6B51F9D0624}"/>
              </a:ext>
            </a:extLst>
          </p:cNvPr>
          <p:cNvSpPr/>
          <p:nvPr/>
        </p:nvSpPr>
        <p:spPr>
          <a:xfrm>
            <a:off x="274320" y="1435607"/>
            <a:ext cx="3291840" cy="566928"/>
          </a:xfrm>
          <a:prstGeom prst="rect">
            <a:avLst/>
          </a:prstGeom>
          <a:solidFill>
            <a:srgbClr val="FFFFFF"/>
          </a:solidFill>
          <a:ln w="6350">
            <a:solidFill>
              <a:srgbClr val="C5D0E0"/>
            </a:solidFill>
            <a:prstDash val="solid"/>
          </a:ln>
        </p:spPr>
        <p:txBody>
          <a:bodyPr/>
          <a:lstStyle/>
          <a:p>
            <a:endParaRPr lang="en-US"/>
          </a:p>
        </p:txBody>
      </p:sp>
      <p:sp>
        <p:nvSpPr>
          <p:cNvPr id="60" name="Shape 20">
            <a:extLst>
              <a:ext uri="{FF2B5EF4-FFF2-40B4-BE49-F238E27FC236}">
                <a16:creationId xmlns:a16="http://schemas.microsoft.com/office/drawing/2014/main" id="{E48B93E6-4063-8B70-4A4A-F24D8DADD981}"/>
              </a:ext>
            </a:extLst>
          </p:cNvPr>
          <p:cNvSpPr/>
          <p:nvPr/>
        </p:nvSpPr>
        <p:spPr>
          <a:xfrm>
            <a:off x="274320" y="1435607"/>
            <a:ext cx="54864" cy="566928"/>
          </a:xfrm>
          <a:prstGeom prst="rect">
            <a:avLst/>
          </a:prstGeom>
          <a:solidFill>
            <a:srgbClr val="36ADA3"/>
          </a:solidFill>
          <a:ln/>
        </p:spPr>
        <p:txBody>
          <a:bodyPr/>
          <a:lstStyle/>
          <a:p>
            <a:endParaRPr lang="en-US"/>
          </a:p>
        </p:txBody>
      </p:sp>
      <p:sp>
        <p:nvSpPr>
          <p:cNvPr id="61" name="Text 21">
            <a:extLst>
              <a:ext uri="{FF2B5EF4-FFF2-40B4-BE49-F238E27FC236}">
                <a16:creationId xmlns:a16="http://schemas.microsoft.com/office/drawing/2014/main" id="{2EDAC991-3167-B9D0-AD3F-1B3AA68C71A0}"/>
              </a:ext>
            </a:extLst>
          </p:cNvPr>
          <p:cNvSpPr/>
          <p:nvPr/>
        </p:nvSpPr>
        <p:spPr>
          <a:xfrm>
            <a:off x="402336" y="1472183"/>
            <a:ext cx="3108960" cy="493776"/>
          </a:xfrm>
          <a:prstGeom prst="rect">
            <a:avLst/>
          </a:prstGeom>
          <a:noFill/>
          <a:ln/>
        </p:spPr>
        <p:txBody>
          <a:bodyPr wrap="square" lIns="0" tIns="0" rIns="0" bIns="0" rtlCol="0" anchor="ctr"/>
          <a:lstStyle/>
          <a:p>
            <a:pPr marL="0" indent="0">
              <a:buNone/>
            </a:pPr>
            <a:r>
              <a:rPr lang="en-US" sz="950" b="1" dirty="0">
                <a:solidFill>
                  <a:srgbClr val="2A5080"/>
                </a:solidFill>
                <a:latin typeface="Courier New" pitchFamily="34" charset="0"/>
                <a:ea typeface="Courier New" pitchFamily="34" charset="-122"/>
                <a:cs typeface="Courier New" pitchFamily="34" charset="-120"/>
              </a:rPr>
              <a:t>sp_Employment_ByEducationLevel</a:t>
            </a:r>
            <a:endParaRPr lang="en-US" sz="950" b="1" dirty="0"/>
          </a:p>
        </p:txBody>
      </p:sp>
      <p:sp>
        <p:nvSpPr>
          <p:cNvPr id="62" name="Shape 22">
            <a:extLst>
              <a:ext uri="{FF2B5EF4-FFF2-40B4-BE49-F238E27FC236}">
                <a16:creationId xmlns:a16="http://schemas.microsoft.com/office/drawing/2014/main" id="{0E713791-3B56-8C00-A85E-4FF7BA8866DE}"/>
              </a:ext>
            </a:extLst>
          </p:cNvPr>
          <p:cNvSpPr/>
          <p:nvPr/>
        </p:nvSpPr>
        <p:spPr>
          <a:xfrm>
            <a:off x="3611880" y="1435607"/>
            <a:ext cx="5257800" cy="566928"/>
          </a:xfrm>
          <a:prstGeom prst="rect">
            <a:avLst/>
          </a:prstGeom>
          <a:solidFill>
            <a:srgbClr val="FFFFFF"/>
          </a:solidFill>
          <a:ln w="6350">
            <a:solidFill>
              <a:srgbClr val="C5D0E0"/>
            </a:solidFill>
            <a:prstDash val="solid"/>
          </a:ln>
        </p:spPr>
        <p:txBody>
          <a:bodyPr/>
          <a:lstStyle/>
          <a:p>
            <a:endParaRPr lang="en-US"/>
          </a:p>
        </p:txBody>
      </p:sp>
      <p:sp>
        <p:nvSpPr>
          <p:cNvPr id="63" name="Text 23">
            <a:extLst>
              <a:ext uri="{FF2B5EF4-FFF2-40B4-BE49-F238E27FC236}">
                <a16:creationId xmlns:a16="http://schemas.microsoft.com/office/drawing/2014/main" id="{A6A77DC5-B155-98EA-3499-251F8CD4BCF1}"/>
              </a:ext>
            </a:extLst>
          </p:cNvPr>
          <p:cNvSpPr/>
          <p:nvPr/>
        </p:nvSpPr>
        <p:spPr>
          <a:xfrm>
            <a:off x="3739896" y="1472183"/>
            <a:ext cx="5074920" cy="493776"/>
          </a:xfrm>
          <a:prstGeom prst="rect">
            <a:avLst/>
          </a:prstGeom>
          <a:noFill/>
          <a:ln/>
        </p:spPr>
        <p:txBody>
          <a:bodyPr wrap="square" lIns="0" tIns="0" rIns="0" bIns="0" rtlCol="0" anchor="ctr"/>
          <a:lstStyle/>
          <a:p>
            <a:pPr marL="0" indent="0">
              <a:buNone/>
            </a:pPr>
            <a:r>
              <a:rPr lang="en-US" sz="1100" b="1" dirty="0">
                <a:solidFill>
                  <a:srgbClr val="1A2456"/>
                </a:solidFill>
                <a:latin typeface="Calibri" pitchFamily="34" charset="0"/>
                <a:ea typeface="Calibri" pitchFamily="34" charset="-122"/>
                <a:cs typeface="Calibri" pitchFamily="34" charset="-120"/>
              </a:rPr>
              <a:t>Labor force KPIs &amp; monthly salaries per education level, filterable by Gender/Gov_ID</a:t>
            </a:r>
            <a:endParaRPr lang="en-US" sz="1100" dirty="0"/>
          </a:p>
        </p:txBody>
      </p:sp>
      <p:sp>
        <p:nvSpPr>
          <p:cNvPr id="64" name="Shape 24">
            <a:extLst>
              <a:ext uri="{FF2B5EF4-FFF2-40B4-BE49-F238E27FC236}">
                <a16:creationId xmlns:a16="http://schemas.microsoft.com/office/drawing/2014/main" id="{E4AA3F05-8DC9-45C2-0AFF-B80B2AE78936}"/>
              </a:ext>
            </a:extLst>
          </p:cNvPr>
          <p:cNvSpPr/>
          <p:nvPr/>
        </p:nvSpPr>
        <p:spPr>
          <a:xfrm>
            <a:off x="274320" y="2002535"/>
            <a:ext cx="3291840" cy="566928"/>
          </a:xfrm>
          <a:prstGeom prst="rect">
            <a:avLst/>
          </a:prstGeom>
          <a:solidFill>
            <a:srgbClr val="DDE5F2"/>
          </a:solidFill>
          <a:ln w="6350">
            <a:solidFill>
              <a:srgbClr val="C5D0E0"/>
            </a:solidFill>
            <a:prstDash val="solid"/>
          </a:ln>
        </p:spPr>
        <p:txBody>
          <a:bodyPr/>
          <a:lstStyle/>
          <a:p>
            <a:endParaRPr lang="en-US"/>
          </a:p>
        </p:txBody>
      </p:sp>
      <p:sp>
        <p:nvSpPr>
          <p:cNvPr id="65" name="Shape 25">
            <a:extLst>
              <a:ext uri="{FF2B5EF4-FFF2-40B4-BE49-F238E27FC236}">
                <a16:creationId xmlns:a16="http://schemas.microsoft.com/office/drawing/2014/main" id="{F9601605-63AC-5019-981B-3CF30941FA6E}"/>
              </a:ext>
            </a:extLst>
          </p:cNvPr>
          <p:cNvSpPr/>
          <p:nvPr/>
        </p:nvSpPr>
        <p:spPr>
          <a:xfrm>
            <a:off x="274320" y="2002535"/>
            <a:ext cx="54864" cy="566928"/>
          </a:xfrm>
          <a:prstGeom prst="rect">
            <a:avLst/>
          </a:prstGeom>
          <a:solidFill>
            <a:srgbClr val="36ADA3"/>
          </a:solidFill>
          <a:ln/>
        </p:spPr>
        <p:txBody>
          <a:bodyPr/>
          <a:lstStyle/>
          <a:p>
            <a:endParaRPr lang="en-US"/>
          </a:p>
        </p:txBody>
      </p:sp>
      <p:sp>
        <p:nvSpPr>
          <p:cNvPr id="66" name="Text 26">
            <a:extLst>
              <a:ext uri="{FF2B5EF4-FFF2-40B4-BE49-F238E27FC236}">
                <a16:creationId xmlns:a16="http://schemas.microsoft.com/office/drawing/2014/main" id="{7484BBC7-8C1A-337C-0DF1-AEF498C324DE}"/>
              </a:ext>
            </a:extLst>
          </p:cNvPr>
          <p:cNvSpPr/>
          <p:nvPr/>
        </p:nvSpPr>
        <p:spPr>
          <a:xfrm>
            <a:off x="402336" y="2039111"/>
            <a:ext cx="3108960" cy="493776"/>
          </a:xfrm>
          <a:prstGeom prst="rect">
            <a:avLst/>
          </a:prstGeom>
          <a:noFill/>
          <a:ln/>
        </p:spPr>
        <p:txBody>
          <a:bodyPr wrap="square" lIns="0" tIns="0" rIns="0" bIns="0" rtlCol="0" anchor="ctr"/>
          <a:lstStyle/>
          <a:p>
            <a:pPr marL="0" indent="0">
              <a:buNone/>
            </a:pPr>
            <a:r>
              <a:rPr lang="en-US" sz="950" b="1" dirty="0">
                <a:solidFill>
                  <a:srgbClr val="2A5080"/>
                </a:solidFill>
                <a:latin typeface="Courier New" pitchFamily="34" charset="0"/>
                <a:ea typeface="Courier New" pitchFamily="34" charset="-122"/>
                <a:cs typeface="Courier New" pitchFamily="34" charset="-120"/>
              </a:rPr>
              <a:t>sp_Income_SalaryDistribution</a:t>
            </a:r>
            <a:endParaRPr lang="en-US" sz="950" b="1" dirty="0"/>
          </a:p>
        </p:txBody>
      </p:sp>
      <p:sp>
        <p:nvSpPr>
          <p:cNvPr id="67" name="Shape 27">
            <a:extLst>
              <a:ext uri="{FF2B5EF4-FFF2-40B4-BE49-F238E27FC236}">
                <a16:creationId xmlns:a16="http://schemas.microsoft.com/office/drawing/2014/main" id="{B131A9C6-4179-938E-42C1-FFC288B726D5}"/>
              </a:ext>
            </a:extLst>
          </p:cNvPr>
          <p:cNvSpPr/>
          <p:nvPr/>
        </p:nvSpPr>
        <p:spPr>
          <a:xfrm>
            <a:off x="3611880" y="2002535"/>
            <a:ext cx="5257800" cy="566928"/>
          </a:xfrm>
          <a:prstGeom prst="rect">
            <a:avLst/>
          </a:prstGeom>
          <a:solidFill>
            <a:srgbClr val="DDE5F2"/>
          </a:solidFill>
          <a:ln w="6350">
            <a:solidFill>
              <a:srgbClr val="C5D0E0"/>
            </a:solidFill>
            <a:prstDash val="solid"/>
          </a:ln>
        </p:spPr>
        <p:txBody>
          <a:bodyPr/>
          <a:lstStyle/>
          <a:p>
            <a:endParaRPr lang="en-US"/>
          </a:p>
        </p:txBody>
      </p:sp>
      <p:sp>
        <p:nvSpPr>
          <p:cNvPr id="68" name="Text 28">
            <a:extLst>
              <a:ext uri="{FF2B5EF4-FFF2-40B4-BE49-F238E27FC236}">
                <a16:creationId xmlns:a16="http://schemas.microsoft.com/office/drawing/2014/main" id="{C43EA557-A189-3E79-F001-7A261BDFB9B0}"/>
              </a:ext>
            </a:extLst>
          </p:cNvPr>
          <p:cNvSpPr/>
          <p:nvPr/>
        </p:nvSpPr>
        <p:spPr>
          <a:xfrm>
            <a:off x="3739896" y="2039111"/>
            <a:ext cx="5074920" cy="493776"/>
          </a:xfrm>
          <a:prstGeom prst="rect">
            <a:avLst/>
          </a:prstGeom>
          <a:noFill/>
          <a:ln/>
        </p:spPr>
        <p:txBody>
          <a:bodyPr wrap="square" lIns="0" tIns="0" rIns="0" bIns="0" rtlCol="0" anchor="ctr"/>
          <a:lstStyle/>
          <a:p>
            <a:pPr marL="0" indent="0">
              <a:buNone/>
            </a:pPr>
            <a:r>
              <a:rPr lang="en-US" sz="1100" b="1" dirty="0">
                <a:solidFill>
                  <a:srgbClr val="1A2456"/>
                </a:solidFill>
                <a:latin typeface="Calibri" pitchFamily="34" charset="0"/>
                <a:ea typeface="Calibri" pitchFamily="34" charset="-122"/>
                <a:cs typeface="Calibri" pitchFamily="34" charset="-120"/>
              </a:rPr>
              <a:t>Min, max, avg salaries &amp; overtime hours grouped by Gender, Contract Type, Work Nature or Education</a:t>
            </a:r>
            <a:endParaRPr lang="en-US" sz="1100" dirty="0"/>
          </a:p>
        </p:txBody>
      </p:sp>
      <p:sp>
        <p:nvSpPr>
          <p:cNvPr id="69" name="Shape 29">
            <a:extLst>
              <a:ext uri="{FF2B5EF4-FFF2-40B4-BE49-F238E27FC236}">
                <a16:creationId xmlns:a16="http://schemas.microsoft.com/office/drawing/2014/main" id="{33DC9AFA-0038-2485-1988-11FDAAAAD384}"/>
              </a:ext>
            </a:extLst>
          </p:cNvPr>
          <p:cNvSpPr/>
          <p:nvPr/>
        </p:nvSpPr>
        <p:spPr>
          <a:xfrm>
            <a:off x="274320" y="2569463"/>
            <a:ext cx="3291840" cy="566928"/>
          </a:xfrm>
          <a:prstGeom prst="rect">
            <a:avLst/>
          </a:prstGeom>
          <a:solidFill>
            <a:srgbClr val="FFFFFF"/>
          </a:solidFill>
          <a:ln w="6350">
            <a:solidFill>
              <a:srgbClr val="C5D0E0"/>
            </a:solidFill>
            <a:prstDash val="solid"/>
          </a:ln>
        </p:spPr>
        <p:txBody>
          <a:bodyPr/>
          <a:lstStyle/>
          <a:p>
            <a:endParaRPr lang="en-US"/>
          </a:p>
        </p:txBody>
      </p:sp>
      <p:sp>
        <p:nvSpPr>
          <p:cNvPr id="70" name="Shape 30">
            <a:extLst>
              <a:ext uri="{FF2B5EF4-FFF2-40B4-BE49-F238E27FC236}">
                <a16:creationId xmlns:a16="http://schemas.microsoft.com/office/drawing/2014/main" id="{1615A919-ECAA-E7FC-2BF3-49B7C587EC93}"/>
              </a:ext>
            </a:extLst>
          </p:cNvPr>
          <p:cNvSpPr/>
          <p:nvPr/>
        </p:nvSpPr>
        <p:spPr>
          <a:xfrm>
            <a:off x="274320" y="2569463"/>
            <a:ext cx="54864" cy="566928"/>
          </a:xfrm>
          <a:prstGeom prst="rect">
            <a:avLst/>
          </a:prstGeom>
          <a:solidFill>
            <a:srgbClr val="36ADA3"/>
          </a:solidFill>
          <a:ln/>
        </p:spPr>
        <p:txBody>
          <a:bodyPr/>
          <a:lstStyle/>
          <a:p>
            <a:endParaRPr lang="en-US"/>
          </a:p>
        </p:txBody>
      </p:sp>
      <p:sp>
        <p:nvSpPr>
          <p:cNvPr id="71" name="Text 31">
            <a:extLst>
              <a:ext uri="{FF2B5EF4-FFF2-40B4-BE49-F238E27FC236}">
                <a16:creationId xmlns:a16="http://schemas.microsoft.com/office/drawing/2014/main" id="{0FC6C4F0-A2F1-8194-20B0-3C89F26D53AF}"/>
              </a:ext>
            </a:extLst>
          </p:cNvPr>
          <p:cNvSpPr/>
          <p:nvPr/>
        </p:nvSpPr>
        <p:spPr>
          <a:xfrm>
            <a:off x="402336" y="2606039"/>
            <a:ext cx="3108960" cy="493776"/>
          </a:xfrm>
          <a:prstGeom prst="rect">
            <a:avLst/>
          </a:prstGeom>
          <a:noFill/>
          <a:ln/>
        </p:spPr>
        <p:txBody>
          <a:bodyPr wrap="square" lIns="0" tIns="0" rIns="0" bIns="0" rtlCol="0" anchor="ctr"/>
          <a:lstStyle/>
          <a:p>
            <a:pPr marL="0" indent="0">
              <a:buNone/>
            </a:pPr>
            <a:r>
              <a:rPr lang="en-US" sz="950" b="1" dirty="0">
                <a:solidFill>
                  <a:srgbClr val="2A5080"/>
                </a:solidFill>
                <a:latin typeface="Courier New" pitchFamily="34" charset="0"/>
                <a:ea typeface="Courier New" pitchFamily="34" charset="-122"/>
                <a:cs typeface="Courier New" pitchFamily="34" charset="-120"/>
              </a:rPr>
              <a:t>sp_LaborForce_StatsByGovernorate</a:t>
            </a:r>
            <a:endParaRPr lang="en-US" sz="950" b="1" dirty="0"/>
          </a:p>
        </p:txBody>
      </p:sp>
      <p:sp>
        <p:nvSpPr>
          <p:cNvPr id="72" name="Shape 32">
            <a:extLst>
              <a:ext uri="{FF2B5EF4-FFF2-40B4-BE49-F238E27FC236}">
                <a16:creationId xmlns:a16="http://schemas.microsoft.com/office/drawing/2014/main" id="{F83A3866-9FEF-B968-3318-77355C23B5E5}"/>
              </a:ext>
            </a:extLst>
          </p:cNvPr>
          <p:cNvSpPr/>
          <p:nvPr/>
        </p:nvSpPr>
        <p:spPr>
          <a:xfrm>
            <a:off x="3611880" y="2569463"/>
            <a:ext cx="5257800" cy="566928"/>
          </a:xfrm>
          <a:prstGeom prst="rect">
            <a:avLst/>
          </a:prstGeom>
          <a:solidFill>
            <a:srgbClr val="FFFFFF"/>
          </a:solidFill>
          <a:ln w="6350">
            <a:solidFill>
              <a:srgbClr val="C5D0E0"/>
            </a:solidFill>
            <a:prstDash val="solid"/>
          </a:ln>
        </p:spPr>
        <p:txBody>
          <a:bodyPr/>
          <a:lstStyle/>
          <a:p>
            <a:endParaRPr lang="en-US"/>
          </a:p>
        </p:txBody>
      </p:sp>
      <p:sp>
        <p:nvSpPr>
          <p:cNvPr id="73" name="Text 33">
            <a:extLst>
              <a:ext uri="{FF2B5EF4-FFF2-40B4-BE49-F238E27FC236}">
                <a16:creationId xmlns:a16="http://schemas.microsoft.com/office/drawing/2014/main" id="{803BFFED-53C2-46D7-46D5-74B957F945E2}"/>
              </a:ext>
            </a:extLst>
          </p:cNvPr>
          <p:cNvSpPr/>
          <p:nvPr/>
        </p:nvSpPr>
        <p:spPr>
          <a:xfrm>
            <a:off x="3739896" y="2606039"/>
            <a:ext cx="5074920" cy="493776"/>
          </a:xfrm>
          <a:prstGeom prst="rect">
            <a:avLst/>
          </a:prstGeom>
          <a:noFill/>
          <a:ln/>
        </p:spPr>
        <p:txBody>
          <a:bodyPr wrap="square" lIns="0" tIns="0" rIns="0" bIns="0" rtlCol="0" anchor="ctr"/>
          <a:lstStyle/>
          <a:p>
            <a:pPr marL="0" indent="0">
              <a:buNone/>
            </a:pPr>
            <a:r>
              <a:rPr lang="en-US" sz="1100" b="1" dirty="0">
                <a:solidFill>
                  <a:srgbClr val="1A2456"/>
                </a:solidFill>
                <a:latin typeface="Calibri" pitchFamily="34" charset="0"/>
                <a:ea typeface="Calibri" pitchFamily="34" charset="-122"/>
                <a:cs typeface="Calibri" pitchFamily="34" charset="-120"/>
              </a:rPr>
              <a:t>Employment, unemployment, participation rates &amp; weekly hours per governorate, filterable by Gov_ID</a:t>
            </a:r>
            <a:endParaRPr lang="en-US" sz="1100" dirty="0"/>
          </a:p>
        </p:txBody>
      </p:sp>
      <p:sp>
        <p:nvSpPr>
          <p:cNvPr id="74" name="Shape 34">
            <a:extLst>
              <a:ext uri="{FF2B5EF4-FFF2-40B4-BE49-F238E27FC236}">
                <a16:creationId xmlns:a16="http://schemas.microsoft.com/office/drawing/2014/main" id="{DF4F2B7C-969A-9F42-06FF-8133A264C14E}"/>
              </a:ext>
            </a:extLst>
          </p:cNvPr>
          <p:cNvSpPr/>
          <p:nvPr/>
        </p:nvSpPr>
        <p:spPr>
          <a:xfrm>
            <a:off x="274320" y="3136391"/>
            <a:ext cx="3291840" cy="566928"/>
          </a:xfrm>
          <a:prstGeom prst="rect">
            <a:avLst/>
          </a:prstGeom>
          <a:solidFill>
            <a:srgbClr val="DDE5F2"/>
          </a:solidFill>
          <a:ln w="6350">
            <a:solidFill>
              <a:srgbClr val="C5D0E0"/>
            </a:solidFill>
            <a:prstDash val="solid"/>
          </a:ln>
        </p:spPr>
        <p:txBody>
          <a:bodyPr/>
          <a:lstStyle/>
          <a:p>
            <a:endParaRPr lang="en-US"/>
          </a:p>
        </p:txBody>
      </p:sp>
      <p:sp>
        <p:nvSpPr>
          <p:cNvPr id="75" name="Shape 35">
            <a:extLst>
              <a:ext uri="{FF2B5EF4-FFF2-40B4-BE49-F238E27FC236}">
                <a16:creationId xmlns:a16="http://schemas.microsoft.com/office/drawing/2014/main" id="{0ABEAF01-F929-D6EF-358C-AB572EDD0E76}"/>
              </a:ext>
            </a:extLst>
          </p:cNvPr>
          <p:cNvSpPr/>
          <p:nvPr/>
        </p:nvSpPr>
        <p:spPr>
          <a:xfrm>
            <a:off x="274320" y="3136391"/>
            <a:ext cx="54864" cy="566928"/>
          </a:xfrm>
          <a:prstGeom prst="rect">
            <a:avLst/>
          </a:prstGeom>
          <a:solidFill>
            <a:srgbClr val="36ADA3"/>
          </a:solidFill>
          <a:ln/>
        </p:spPr>
        <p:txBody>
          <a:bodyPr/>
          <a:lstStyle/>
          <a:p>
            <a:endParaRPr lang="en-US"/>
          </a:p>
        </p:txBody>
      </p:sp>
      <p:sp>
        <p:nvSpPr>
          <p:cNvPr id="76" name="Text 36">
            <a:extLst>
              <a:ext uri="{FF2B5EF4-FFF2-40B4-BE49-F238E27FC236}">
                <a16:creationId xmlns:a16="http://schemas.microsoft.com/office/drawing/2014/main" id="{364C121F-A4D1-1469-9DB1-2CB7A3F40D35}"/>
              </a:ext>
            </a:extLst>
          </p:cNvPr>
          <p:cNvSpPr/>
          <p:nvPr/>
        </p:nvSpPr>
        <p:spPr>
          <a:xfrm>
            <a:off x="402336" y="3172967"/>
            <a:ext cx="3108960" cy="493776"/>
          </a:xfrm>
          <a:prstGeom prst="rect">
            <a:avLst/>
          </a:prstGeom>
          <a:noFill/>
          <a:ln/>
        </p:spPr>
        <p:txBody>
          <a:bodyPr wrap="square" lIns="0" tIns="0" rIns="0" bIns="0" rtlCol="0" anchor="ctr"/>
          <a:lstStyle/>
          <a:p>
            <a:pPr marL="0" indent="0">
              <a:buNone/>
            </a:pPr>
            <a:r>
              <a:rPr lang="en-US" sz="950" b="1" dirty="0">
                <a:solidFill>
                  <a:srgbClr val="2A5080"/>
                </a:solidFill>
                <a:latin typeface="Courier New" pitchFamily="34" charset="0"/>
                <a:ea typeface="Courier New" pitchFamily="34" charset="-122"/>
                <a:cs typeface="Courier New" pitchFamily="34" charset="-120"/>
              </a:rPr>
              <a:t>sp_Disability_Select</a:t>
            </a:r>
            <a:endParaRPr lang="en-US" sz="950" b="1" dirty="0"/>
          </a:p>
        </p:txBody>
      </p:sp>
      <p:sp>
        <p:nvSpPr>
          <p:cNvPr id="77" name="Shape 37">
            <a:extLst>
              <a:ext uri="{FF2B5EF4-FFF2-40B4-BE49-F238E27FC236}">
                <a16:creationId xmlns:a16="http://schemas.microsoft.com/office/drawing/2014/main" id="{959BA1F2-691E-551A-5E57-B5556C26981B}"/>
              </a:ext>
            </a:extLst>
          </p:cNvPr>
          <p:cNvSpPr/>
          <p:nvPr/>
        </p:nvSpPr>
        <p:spPr>
          <a:xfrm>
            <a:off x="3611880" y="3136391"/>
            <a:ext cx="5257800" cy="566928"/>
          </a:xfrm>
          <a:prstGeom prst="rect">
            <a:avLst/>
          </a:prstGeom>
          <a:solidFill>
            <a:srgbClr val="DDE5F2"/>
          </a:solidFill>
          <a:ln w="6350">
            <a:solidFill>
              <a:srgbClr val="C5D0E0"/>
            </a:solidFill>
            <a:prstDash val="solid"/>
          </a:ln>
        </p:spPr>
        <p:txBody>
          <a:bodyPr/>
          <a:lstStyle/>
          <a:p>
            <a:endParaRPr lang="en-US"/>
          </a:p>
        </p:txBody>
      </p:sp>
      <p:sp>
        <p:nvSpPr>
          <p:cNvPr id="78" name="Text 38">
            <a:extLst>
              <a:ext uri="{FF2B5EF4-FFF2-40B4-BE49-F238E27FC236}">
                <a16:creationId xmlns:a16="http://schemas.microsoft.com/office/drawing/2014/main" id="{EAA263D2-9B7B-5EE1-05E1-2135640A2070}"/>
              </a:ext>
            </a:extLst>
          </p:cNvPr>
          <p:cNvSpPr/>
          <p:nvPr/>
        </p:nvSpPr>
        <p:spPr>
          <a:xfrm>
            <a:off x="3739896" y="3172967"/>
            <a:ext cx="5074920" cy="493776"/>
          </a:xfrm>
          <a:prstGeom prst="rect">
            <a:avLst/>
          </a:prstGeom>
          <a:noFill/>
          <a:ln/>
        </p:spPr>
        <p:txBody>
          <a:bodyPr wrap="square" lIns="0" tIns="0" rIns="0" bIns="0" rtlCol="0" anchor="ctr"/>
          <a:lstStyle/>
          <a:p>
            <a:pPr marL="0" indent="0">
              <a:buNone/>
            </a:pPr>
            <a:r>
              <a:rPr lang="en-US" sz="1100" b="1" dirty="0">
                <a:solidFill>
                  <a:srgbClr val="1A2456"/>
                </a:solidFill>
                <a:latin typeface="Calibri" pitchFamily="34" charset="0"/>
                <a:ea typeface="Calibri" pitchFamily="34" charset="-122"/>
                <a:cs typeface="Calibri" pitchFamily="34" charset="-120"/>
              </a:rPr>
              <a:t>Disability difficulty levels (sight, hearing, memory, walking) for one or all individuals</a:t>
            </a:r>
            <a:endParaRPr lang="en-US" sz="1100" dirty="0"/>
          </a:p>
        </p:txBody>
      </p:sp>
      <p:sp>
        <p:nvSpPr>
          <p:cNvPr id="79" name="Shape 39">
            <a:extLst>
              <a:ext uri="{FF2B5EF4-FFF2-40B4-BE49-F238E27FC236}">
                <a16:creationId xmlns:a16="http://schemas.microsoft.com/office/drawing/2014/main" id="{5F265177-FC71-7FF3-D5B9-FD684653EC77}"/>
              </a:ext>
            </a:extLst>
          </p:cNvPr>
          <p:cNvSpPr/>
          <p:nvPr/>
        </p:nvSpPr>
        <p:spPr>
          <a:xfrm>
            <a:off x="274320" y="3703319"/>
            <a:ext cx="3291840" cy="566928"/>
          </a:xfrm>
          <a:prstGeom prst="rect">
            <a:avLst/>
          </a:prstGeom>
          <a:solidFill>
            <a:srgbClr val="FFFFFF"/>
          </a:solidFill>
          <a:ln w="6350">
            <a:solidFill>
              <a:srgbClr val="C5D0E0"/>
            </a:solidFill>
            <a:prstDash val="solid"/>
          </a:ln>
        </p:spPr>
        <p:txBody>
          <a:bodyPr/>
          <a:lstStyle/>
          <a:p>
            <a:endParaRPr lang="en-US"/>
          </a:p>
        </p:txBody>
      </p:sp>
      <p:sp>
        <p:nvSpPr>
          <p:cNvPr id="80" name="Shape 40">
            <a:extLst>
              <a:ext uri="{FF2B5EF4-FFF2-40B4-BE49-F238E27FC236}">
                <a16:creationId xmlns:a16="http://schemas.microsoft.com/office/drawing/2014/main" id="{6ABAEE09-5050-734A-C234-6E8ED756F890}"/>
              </a:ext>
            </a:extLst>
          </p:cNvPr>
          <p:cNvSpPr/>
          <p:nvPr/>
        </p:nvSpPr>
        <p:spPr>
          <a:xfrm>
            <a:off x="274320" y="3703319"/>
            <a:ext cx="54864" cy="566928"/>
          </a:xfrm>
          <a:prstGeom prst="rect">
            <a:avLst/>
          </a:prstGeom>
          <a:solidFill>
            <a:srgbClr val="36ADA3"/>
          </a:solidFill>
          <a:ln/>
        </p:spPr>
        <p:txBody>
          <a:bodyPr/>
          <a:lstStyle/>
          <a:p>
            <a:endParaRPr lang="en-US"/>
          </a:p>
        </p:txBody>
      </p:sp>
      <p:sp>
        <p:nvSpPr>
          <p:cNvPr id="81" name="Text 41">
            <a:extLst>
              <a:ext uri="{FF2B5EF4-FFF2-40B4-BE49-F238E27FC236}">
                <a16:creationId xmlns:a16="http://schemas.microsoft.com/office/drawing/2014/main" id="{BC348DCA-22AE-05C2-E919-8D451BE7BD13}"/>
              </a:ext>
            </a:extLst>
          </p:cNvPr>
          <p:cNvSpPr/>
          <p:nvPr/>
        </p:nvSpPr>
        <p:spPr>
          <a:xfrm>
            <a:off x="402336" y="3739895"/>
            <a:ext cx="3108960" cy="493776"/>
          </a:xfrm>
          <a:prstGeom prst="rect">
            <a:avLst/>
          </a:prstGeom>
          <a:noFill/>
          <a:ln/>
        </p:spPr>
        <p:txBody>
          <a:bodyPr wrap="square" lIns="0" tIns="0" rIns="0" bIns="0" rtlCol="0" anchor="ctr"/>
          <a:lstStyle/>
          <a:p>
            <a:pPr marL="0" indent="0">
              <a:buNone/>
            </a:pPr>
            <a:r>
              <a:rPr lang="en-US" sz="950" b="1" dirty="0">
                <a:solidFill>
                  <a:srgbClr val="2A5080"/>
                </a:solidFill>
                <a:latin typeface="Courier New" pitchFamily="34" charset="0"/>
                <a:ea typeface="Courier New" pitchFamily="34" charset="-122"/>
                <a:cs typeface="Courier New" pitchFamily="34" charset="-120"/>
              </a:rPr>
              <a:t>sp_Employment_Select</a:t>
            </a:r>
            <a:endParaRPr lang="en-US" sz="950" b="1" dirty="0"/>
          </a:p>
        </p:txBody>
      </p:sp>
      <p:sp>
        <p:nvSpPr>
          <p:cNvPr id="82" name="Shape 42">
            <a:extLst>
              <a:ext uri="{FF2B5EF4-FFF2-40B4-BE49-F238E27FC236}">
                <a16:creationId xmlns:a16="http://schemas.microsoft.com/office/drawing/2014/main" id="{130DC5EC-E223-2FE5-AB67-0CA788A8B913}"/>
              </a:ext>
            </a:extLst>
          </p:cNvPr>
          <p:cNvSpPr/>
          <p:nvPr/>
        </p:nvSpPr>
        <p:spPr>
          <a:xfrm>
            <a:off x="3611880" y="3703319"/>
            <a:ext cx="5257800" cy="566928"/>
          </a:xfrm>
          <a:prstGeom prst="rect">
            <a:avLst/>
          </a:prstGeom>
          <a:solidFill>
            <a:srgbClr val="FFFFFF"/>
          </a:solidFill>
          <a:ln w="6350">
            <a:solidFill>
              <a:srgbClr val="C5D0E0"/>
            </a:solidFill>
            <a:prstDash val="solid"/>
          </a:ln>
        </p:spPr>
        <p:txBody>
          <a:bodyPr/>
          <a:lstStyle/>
          <a:p>
            <a:endParaRPr lang="en-US"/>
          </a:p>
        </p:txBody>
      </p:sp>
      <p:sp>
        <p:nvSpPr>
          <p:cNvPr id="83" name="Text 43">
            <a:extLst>
              <a:ext uri="{FF2B5EF4-FFF2-40B4-BE49-F238E27FC236}">
                <a16:creationId xmlns:a16="http://schemas.microsoft.com/office/drawing/2014/main" id="{67B3D25B-8AA9-B013-92BC-4CD8ACBDC251}"/>
              </a:ext>
            </a:extLst>
          </p:cNvPr>
          <p:cNvSpPr/>
          <p:nvPr/>
        </p:nvSpPr>
        <p:spPr>
          <a:xfrm>
            <a:off x="3739896" y="3739895"/>
            <a:ext cx="5074920" cy="493776"/>
          </a:xfrm>
          <a:prstGeom prst="rect">
            <a:avLst/>
          </a:prstGeom>
          <a:noFill/>
          <a:ln/>
        </p:spPr>
        <p:txBody>
          <a:bodyPr wrap="square" lIns="0" tIns="0" rIns="0" bIns="0" rtlCol="0" anchor="ctr"/>
          <a:lstStyle/>
          <a:p>
            <a:pPr marL="0" indent="0">
              <a:buNone/>
            </a:pPr>
            <a:r>
              <a:rPr lang="en-US" sz="1100" b="1" dirty="0">
                <a:solidFill>
                  <a:srgbClr val="1A2456"/>
                </a:solidFill>
                <a:latin typeface="Calibri" pitchFamily="34" charset="0"/>
                <a:ea typeface="Calibri" pitchFamily="34" charset="-122"/>
                <a:cs typeface="Calibri" pitchFamily="34" charset="-120"/>
              </a:rPr>
              <a:t>Employment details: current job, contract type, weekly hours, career start year, labor force status</a:t>
            </a:r>
            <a:endParaRPr lang="en-US" sz="1100" dirty="0"/>
          </a:p>
        </p:txBody>
      </p:sp>
      <p:sp>
        <p:nvSpPr>
          <p:cNvPr id="84" name="Shape 44">
            <a:extLst>
              <a:ext uri="{FF2B5EF4-FFF2-40B4-BE49-F238E27FC236}">
                <a16:creationId xmlns:a16="http://schemas.microsoft.com/office/drawing/2014/main" id="{72A149F5-BC70-5EEF-E472-8D3632F91F10}"/>
              </a:ext>
            </a:extLst>
          </p:cNvPr>
          <p:cNvSpPr/>
          <p:nvPr/>
        </p:nvSpPr>
        <p:spPr>
          <a:xfrm>
            <a:off x="274320" y="4270247"/>
            <a:ext cx="3291840" cy="566928"/>
          </a:xfrm>
          <a:prstGeom prst="rect">
            <a:avLst/>
          </a:prstGeom>
          <a:solidFill>
            <a:srgbClr val="DDE5F2"/>
          </a:solidFill>
          <a:ln w="6350">
            <a:solidFill>
              <a:srgbClr val="C5D0E0"/>
            </a:solidFill>
            <a:prstDash val="solid"/>
          </a:ln>
        </p:spPr>
        <p:txBody>
          <a:bodyPr/>
          <a:lstStyle/>
          <a:p>
            <a:endParaRPr lang="en-US"/>
          </a:p>
        </p:txBody>
      </p:sp>
      <p:sp>
        <p:nvSpPr>
          <p:cNvPr id="85" name="Shape 45">
            <a:extLst>
              <a:ext uri="{FF2B5EF4-FFF2-40B4-BE49-F238E27FC236}">
                <a16:creationId xmlns:a16="http://schemas.microsoft.com/office/drawing/2014/main" id="{0F457655-51E7-C080-CB80-7CC4CC75C502}"/>
              </a:ext>
            </a:extLst>
          </p:cNvPr>
          <p:cNvSpPr/>
          <p:nvPr/>
        </p:nvSpPr>
        <p:spPr>
          <a:xfrm>
            <a:off x="274320" y="4270247"/>
            <a:ext cx="54864" cy="566928"/>
          </a:xfrm>
          <a:prstGeom prst="rect">
            <a:avLst/>
          </a:prstGeom>
          <a:solidFill>
            <a:srgbClr val="36ADA3"/>
          </a:solidFill>
          <a:ln/>
        </p:spPr>
        <p:txBody>
          <a:bodyPr/>
          <a:lstStyle/>
          <a:p>
            <a:endParaRPr lang="en-US"/>
          </a:p>
        </p:txBody>
      </p:sp>
      <p:sp>
        <p:nvSpPr>
          <p:cNvPr id="86" name="Text 46">
            <a:extLst>
              <a:ext uri="{FF2B5EF4-FFF2-40B4-BE49-F238E27FC236}">
                <a16:creationId xmlns:a16="http://schemas.microsoft.com/office/drawing/2014/main" id="{22B7D1EB-7EF2-EA0A-BC6F-C8BE1E605587}"/>
              </a:ext>
            </a:extLst>
          </p:cNvPr>
          <p:cNvSpPr/>
          <p:nvPr/>
        </p:nvSpPr>
        <p:spPr>
          <a:xfrm>
            <a:off x="402336" y="4306823"/>
            <a:ext cx="3108960" cy="493776"/>
          </a:xfrm>
          <a:prstGeom prst="rect">
            <a:avLst/>
          </a:prstGeom>
          <a:noFill/>
          <a:ln/>
        </p:spPr>
        <p:txBody>
          <a:bodyPr wrap="square" lIns="0" tIns="0" rIns="0" bIns="0" rtlCol="0" anchor="ctr"/>
          <a:lstStyle/>
          <a:p>
            <a:pPr marL="0" indent="0">
              <a:buNone/>
            </a:pPr>
            <a:r>
              <a:rPr lang="en-US" sz="950" b="1" dirty="0">
                <a:solidFill>
                  <a:srgbClr val="2A5080"/>
                </a:solidFill>
                <a:latin typeface="Courier New" pitchFamily="34" charset="0"/>
                <a:ea typeface="Courier New" pitchFamily="34" charset="-122"/>
                <a:cs typeface="Courier New" pitchFamily="34" charset="-120"/>
              </a:rPr>
              <a:t>sp_Income_Select</a:t>
            </a:r>
            <a:endParaRPr lang="en-US" sz="950" b="1" dirty="0"/>
          </a:p>
        </p:txBody>
      </p:sp>
      <p:sp>
        <p:nvSpPr>
          <p:cNvPr id="87" name="Shape 47">
            <a:extLst>
              <a:ext uri="{FF2B5EF4-FFF2-40B4-BE49-F238E27FC236}">
                <a16:creationId xmlns:a16="http://schemas.microsoft.com/office/drawing/2014/main" id="{77959339-4F3B-ACE0-F5E3-F263276EE276}"/>
              </a:ext>
            </a:extLst>
          </p:cNvPr>
          <p:cNvSpPr/>
          <p:nvPr/>
        </p:nvSpPr>
        <p:spPr>
          <a:xfrm>
            <a:off x="3611880" y="4270247"/>
            <a:ext cx="5257800" cy="566928"/>
          </a:xfrm>
          <a:prstGeom prst="rect">
            <a:avLst/>
          </a:prstGeom>
          <a:solidFill>
            <a:srgbClr val="DDE5F2"/>
          </a:solidFill>
          <a:ln w="6350">
            <a:solidFill>
              <a:srgbClr val="C5D0E0"/>
            </a:solidFill>
            <a:prstDash val="solid"/>
          </a:ln>
        </p:spPr>
        <p:txBody>
          <a:bodyPr/>
          <a:lstStyle/>
          <a:p>
            <a:endParaRPr lang="en-US"/>
          </a:p>
        </p:txBody>
      </p:sp>
      <p:sp>
        <p:nvSpPr>
          <p:cNvPr id="88" name="Text 48">
            <a:extLst>
              <a:ext uri="{FF2B5EF4-FFF2-40B4-BE49-F238E27FC236}">
                <a16:creationId xmlns:a16="http://schemas.microsoft.com/office/drawing/2014/main" id="{3481C4AD-9210-54D1-5955-F249E6D80747}"/>
              </a:ext>
            </a:extLst>
          </p:cNvPr>
          <p:cNvSpPr/>
          <p:nvPr/>
        </p:nvSpPr>
        <p:spPr>
          <a:xfrm>
            <a:off x="3739896" y="4306823"/>
            <a:ext cx="5074920" cy="493776"/>
          </a:xfrm>
          <a:prstGeom prst="rect">
            <a:avLst/>
          </a:prstGeom>
          <a:noFill/>
          <a:ln/>
        </p:spPr>
        <p:txBody>
          <a:bodyPr wrap="square" lIns="0" tIns="0" rIns="0" bIns="0" rtlCol="0" anchor="ctr"/>
          <a:lstStyle/>
          <a:p>
            <a:pPr marL="0" indent="0">
              <a:buNone/>
            </a:pPr>
            <a:r>
              <a:rPr lang="en-US" sz="1100" b="1" dirty="0">
                <a:solidFill>
                  <a:srgbClr val="1A2456"/>
                </a:solidFill>
                <a:latin typeface="Calibri" pitchFamily="34" charset="0"/>
                <a:ea typeface="Calibri" pitchFamily="34" charset="-122"/>
                <a:cs typeface="Calibri" pitchFamily="34" charset="-120"/>
              </a:rPr>
              <a:t>Basic salary, total monthly salary &amp; overtime hours for one or all individuals</a:t>
            </a:r>
            <a:endParaRPr lang="en-US" sz="1100" dirty="0"/>
          </a:p>
        </p:txBody>
      </p:sp>
      <p:sp>
        <p:nvSpPr>
          <p:cNvPr id="89" name="Text 14">
            <a:extLst>
              <a:ext uri="{FF2B5EF4-FFF2-40B4-BE49-F238E27FC236}">
                <a16:creationId xmlns:a16="http://schemas.microsoft.com/office/drawing/2014/main" id="{7084D238-8F25-C68C-9D6E-8CCA965628D3}"/>
              </a:ext>
            </a:extLst>
          </p:cNvPr>
          <p:cNvSpPr/>
          <p:nvPr/>
        </p:nvSpPr>
        <p:spPr>
          <a:xfrm>
            <a:off x="320040" y="91439"/>
            <a:ext cx="7132320" cy="572929"/>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Stored Procedures</a:t>
            </a:r>
            <a:endParaRPr lang="en-US" sz="2200" dirty="0"/>
          </a:p>
        </p:txBody>
      </p:sp>
    </p:spTree>
    <p:extLst>
      <p:ext uri="{BB962C8B-B14F-4D97-AF65-F5344CB8AC3E}">
        <p14:creationId xmlns:p14="http://schemas.microsoft.com/office/powerpoint/2010/main" val="3738052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a:extLst>
            <a:ext uri="{FF2B5EF4-FFF2-40B4-BE49-F238E27FC236}">
              <a16:creationId xmlns:a16="http://schemas.microsoft.com/office/drawing/2014/main" id="{CE5243AC-C422-A384-E057-E76F732B4BB2}"/>
            </a:ext>
          </a:extLst>
        </p:cNvPr>
        <p:cNvGrpSpPr/>
        <p:nvPr/>
      </p:nvGrpSpPr>
      <p:grpSpPr>
        <a:xfrm>
          <a:off x="0" y="0"/>
          <a:ext cx="0" cy="0"/>
          <a:chOff x="0" y="0"/>
          <a:chExt cx="0" cy="0"/>
        </a:xfrm>
      </p:grpSpPr>
      <p:sp>
        <p:nvSpPr>
          <p:cNvPr id="79" name="Shape 15">
            <a:extLst>
              <a:ext uri="{FF2B5EF4-FFF2-40B4-BE49-F238E27FC236}">
                <a16:creationId xmlns:a16="http://schemas.microsoft.com/office/drawing/2014/main" id="{645D40B1-9127-05E3-D885-D1C057B0D6CB}"/>
              </a:ext>
            </a:extLst>
          </p:cNvPr>
          <p:cNvSpPr/>
          <p:nvPr/>
        </p:nvSpPr>
        <p:spPr>
          <a:xfrm>
            <a:off x="319183" y="814386"/>
            <a:ext cx="8503920" cy="566928"/>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80" name="Shape 16">
            <a:extLst>
              <a:ext uri="{FF2B5EF4-FFF2-40B4-BE49-F238E27FC236}">
                <a16:creationId xmlns:a16="http://schemas.microsoft.com/office/drawing/2014/main" id="{BB83C41C-8E3A-C52C-D4C8-8ACEE62DDFC2}"/>
              </a:ext>
            </a:extLst>
          </p:cNvPr>
          <p:cNvSpPr/>
          <p:nvPr/>
        </p:nvSpPr>
        <p:spPr>
          <a:xfrm>
            <a:off x="268587" y="814386"/>
            <a:ext cx="64008" cy="566928"/>
          </a:xfrm>
          <a:prstGeom prst="rect">
            <a:avLst/>
          </a:prstGeom>
          <a:solidFill>
            <a:srgbClr val="36ADA3"/>
          </a:solidFill>
          <a:ln/>
        </p:spPr>
        <p:txBody>
          <a:bodyPr/>
          <a:lstStyle/>
          <a:p>
            <a:endParaRPr lang="en-US"/>
          </a:p>
        </p:txBody>
      </p:sp>
      <p:sp>
        <p:nvSpPr>
          <p:cNvPr id="2" name="Shape 0">
            <a:extLst>
              <a:ext uri="{FF2B5EF4-FFF2-40B4-BE49-F238E27FC236}">
                <a16:creationId xmlns:a16="http://schemas.microsoft.com/office/drawing/2014/main" id="{23642480-27FB-ACEC-F3A2-0F5E8399CACC}"/>
              </a:ext>
            </a:extLst>
          </p:cNvPr>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dirty="0"/>
          </a:p>
        </p:txBody>
      </p:sp>
      <p:sp>
        <p:nvSpPr>
          <p:cNvPr id="3" name="Text 1">
            <a:extLst>
              <a:ext uri="{FF2B5EF4-FFF2-40B4-BE49-F238E27FC236}">
                <a16:creationId xmlns:a16="http://schemas.microsoft.com/office/drawing/2014/main" id="{361822BC-1311-BD6C-F45E-137D9A26F59D}"/>
              </a:ext>
            </a:extLst>
          </p:cNvPr>
          <p:cNvSpPr/>
          <p:nvPr/>
        </p:nvSpPr>
        <p:spPr>
          <a:xfrm>
            <a:off x="365760" y="91440"/>
            <a:ext cx="7772400" cy="594360"/>
          </a:xfrm>
          <a:prstGeom prst="rect">
            <a:avLst/>
          </a:prstGeom>
          <a:noFill/>
          <a:ln/>
        </p:spPr>
        <p:txBody>
          <a:bodyPr wrap="square" rtlCol="0" anchor="ctr"/>
          <a:lstStyle/>
          <a:p>
            <a:r>
              <a:rPr lang="en-US" sz="2200" b="1" dirty="0">
                <a:solidFill>
                  <a:srgbClr val="FFFFFF"/>
                </a:solidFill>
                <a:ea typeface="Quattrocento Sans" pitchFamily="34" charset="-122"/>
                <a:cs typeface="Quattrocento Sans" pitchFamily="34" charset="-120"/>
              </a:rPr>
              <a:t>Step 6: </a:t>
            </a:r>
            <a:r>
              <a:rPr lang="en-US" sz="2400" b="1" dirty="0">
                <a:solidFill>
                  <a:schemeClr val="bg1"/>
                </a:solidFill>
                <a:latin typeface="Quattrocento Sans" pitchFamily="34" charset="0"/>
                <a:ea typeface="Quattrocento Sans" pitchFamily="34" charset="-122"/>
                <a:cs typeface="Quattrocento Sans" pitchFamily="34" charset="-120"/>
              </a:rPr>
              <a:t>Reporting</a:t>
            </a:r>
            <a:r>
              <a:rPr lang="en-US" sz="2400" b="1" dirty="0">
                <a:solidFill>
                  <a:srgbClr val="121358"/>
                </a:solidFill>
                <a:latin typeface="Quattrocento Sans" pitchFamily="34" charset="0"/>
                <a:ea typeface="Quattrocento Sans" pitchFamily="34" charset="-122"/>
                <a:cs typeface="Quattrocento Sans" pitchFamily="34" charset="-120"/>
              </a:rPr>
              <a:t> </a:t>
            </a:r>
            <a:r>
              <a:rPr lang="en-US" sz="2400" b="1" dirty="0">
                <a:solidFill>
                  <a:schemeClr val="bg1"/>
                </a:solidFill>
                <a:latin typeface="Quattrocento Sans" pitchFamily="34" charset="0"/>
                <a:ea typeface="Quattrocento Sans" pitchFamily="34" charset="-122"/>
                <a:cs typeface="Quattrocento Sans" pitchFamily="34" charset="-120"/>
              </a:rPr>
              <a:t>&amp;</a:t>
            </a:r>
            <a:r>
              <a:rPr lang="en-US" sz="2400" b="1" dirty="0">
                <a:solidFill>
                  <a:srgbClr val="121358"/>
                </a:solidFill>
                <a:latin typeface="Quattrocento Sans" pitchFamily="34" charset="0"/>
                <a:ea typeface="Quattrocento Sans" pitchFamily="34" charset="-122"/>
                <a:cs typeface="Quattrocento Sans" pitchFamily="34" charset="-120"/>
              </a:rPr>
              <a:t> </a:t>
            </a:r>
            <a:r>
              <a:rPr lang="en-US" sz="2400" b="1" dirty="0">
                <a:solidFill>
                  <a:schemeClr val="bg1"/>
                </a:solidFill>
                <a:latin typeface="Quattrocento Sans" pitchFamily="34" charset="0"/>
                <a:ea typeface="Quattrocento Sans" pitchFamily="34" charset="-122"/>
                <a:cs typeface="Quattrocento Sans" pitchFamily="34" charset="-120"/>
              </a:rPr>
              <a:t>BI</a:t>
            </a:r>
            <a:endParaRPr lang="en-US" sz="2400" dirty="0">
              <a:solidFill>
                <a:schemeClr val="bg1"/>
              </a:solidFill>
            </a:endParaRPr>
          </a:p>
        </p:txBody>
      </p:sp>
      <p:pic>
        <p:nvPicPr>
          <p:cNvPr id="4" name="Image 0" descr="preencoded.png">
            <a:extLst>
              <a:ext uri="{FF2B5EF4-FFF2-40B4-BE49-F238E27FC236}">
                <a16:creationId xmlns:a16="http://schemas.microsoft.com/office/drawing/2014/main" id="{C7996ADC-9DCA-3667-A6E2-C7DAF2442228}"/>
              </a:ext>
            </a:extLst>
          </p:cNvPr>
          <p:cNvPicPr>
            <a:picLocks noChangeAspect="1"/>
          </p:cNvPicPr>
          <p:nvPr/>
        </p:nvPicPr>
        <p:blipFill>
          <a:blip r:embed="rId3"/>
          <a:stretch>
            <a:fillRect/>
          </a:stretch>
        </p:blipFill>
        <p:spPr>
          <a:xfrm>
            <a:off x="8046720" y="45720"/>
            <a:ext cx="685800" cy="676656"/>
          </a:xfrm>
          <a:prstGeom prst="rect">
            <a:avLst/>
          </a:prstGeom>
        </p:spPr>
      </p:pic>
      <p:sp>
        <p:nvSpPr>
          <p:cNvPr id="29" name="Text 23">
            <a:extLst>
              <a:ext uri="{FF2B5EF4-FFF2-40B4-BE49-F238E27FC236}">
                <a16:creationId xmlns:a16="http://schemas.microsoft.com/office/drawing/2014/main" id="{885EFDB4-F68A-08AA-2C14-66768500F9B1}"/>
              </a:ext>
            </a:extLst>
          </p:cNvPr>
          <p:cNvSpPr/>
          <p:nvPr/>
        </p:nvSpPr>
        <p:spPr>
          <a:xfrm>
            <a:off x="236583" y="4120800"/>
            <a:ext cx="640080" cy="308610"/>
          </a:xfrm>
          <a:prstGeom prst="rect">
            <a:avLst/>
          </a:prstGeom>
          <a:noFill/>
          <a:ln/>
        </p:spPr>
        <p:txBody>
          <a:bodyPr wrap="square" lIns="0" tIns="0" rIns="0" bIns="0" rtlCol="0" anchor="ctr"/>
          <a:lstStyle/>
          <a:p>
            <a:pPr marL="0" indent="0" algn="ctr">
              <a:buNone/>
            </a:pPr>
            <a:r>
              <a:rPr lang="en-US" sz="900" b="1" dirty="0">
                <a:solidFill>
                  <a:srgbClr val="FFFFFF"/>
                </a:solidFill>
              </a:rPr>
              <a:t>Output</a:t>
            </a:r>
            <a:endParaRPr lang="en-US" sz="900" dirty="0"/>
          </a:p>
        </p:txBody>
      </p:sp>
      <p:sp>
        <p:nvSpPr>
          <p:cNvPr id="5" name="Shape 15">
            <a:extLst>
              <a:ext uri="{FF2B5EF4-FFF2-40B4-BE49-F238E27FC236}">
                <a16:creationId xmlns:a16="http://schemas.microsoft.com/office/drawing/2014/main" id="{9DE0C5B7-10DD-BF64-5FC4-F75C0E407867}"/>
              </a:ext>
            </a:extLst>
          </p:cNvPr>
          <p:cNvSpPr/>
          <p:nvPr/>
        </p:nvSpPr>
        <p:spPr>
          <a:xfrm>
            <a:off x="320040" y="1499901"/>
            <a:ext cx="2715768" cy="14173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6" name="Shape 16">
            <a:extLst>
              <a:ext uri="{FF2B5EF4-FFF2-40B4-BE49-F238E27FC236}">
                <a16:creationId xmlns:a16="http://schemas.microsoft.com/office/drawing/2014/main" id="{35FD111D-391D-85F2-364E-8193F229D490}"/>
              </a:ext>
            </a:extLst>
          </p:cNvPr>
          <p:cNvSpPr/>
          <p:nvPr/>
        </p:nvSpPr>
        <p:spPr>
          <a:xfrm>
            <a:off x="320040" y="1499901"/>
            <a:ext cx="64008" cy="1417320"/>
          </a:xfrm>
          <a:prstGeom prst="rect">
            <a:avLst/>
          </a:prstGeom>
          <a:solidFill>
            <a:srgbClr val="36ADA3"/>
          </a:solidFill>
          <a:ln/>
        </p:spPr>
        <p:txBody>
          <a:bodyPr/>
          <a:lstStyle/>
          <a:p>
            <a:endParaRPr lang="en-US"/>
          </a:p>
        </p:txBody>
      </p:sp>
      <p:sp>
        <p:nvSpPr>
          <p:cNvPr id="7" name="Text 17">
            <a:extLst>
              <a:ext uri="{FF2B5EF4-FFF2-40B4-BE49-F238E27FC236}">
                <a16:creationId xmlns:a16="http://schemas.microsoft.com/office/drawing/2014/main" id="{2F839050-D106-66E8-FAF9-705AF1F58204}"/>
              </a:ext>
            </a:extLst>
          </p:cNvPr>
          <p:cNvSpPr/>
          <p:nvPr/>
        </p:nvSpPr>
        <p:spPr>
          <a:xfrm>
            <a:off x="566928" y="1627917"/>
            <a:ext cx="2404872" cy="347472"/>
          </a:xfrm>
          <a:prstGeom prst="rect">
            <a:avLst/>
          </a:prstGeom>
          <a:noFill/>
          <a:ln/>
        </p:spPr>
        <p:txBody>
          <a:bodyPr wrap="square" lIns="0" tIns="0" rIns="0" bIns="0" rtlCol="0" anchor="ctr"/>
          <a:lstStyle/>
          <a:p>
            <a:pPr marL="0" indent="0">
              <a:buNone/>
            </a:pPr>
            <a:r>
              <a:rPr lang="en-US" sz="1200" b="1" dirty="0">
                <a:solidFill>
                  <a:srgbClr val="36ADA3"/>
                </a:solidFill>
                <a:latin typeface="Calibri" pitchFamily="34" charset="0"/>
                <a:ea typeface="Calibri" pitchFamily="34" charset="-122"/>
                <a:cs typeface="Calibri" pitchFamily="34" charset="-120"/>
              </a:rPr>
              <a:t>Labor Force by Governorate</a:t>
            </a:r>
            <a:endParaRPr lang="en-US" sz="1200" dirty="0">
              <a:solidFill>
                <a:srgbClr val="36ADA3"/>
              </a:solidFill>
            </a:endParaRPr>
          </a:p>
        </p:txBody>
      </p:sp>
      <p:sp>
        <p:nvSpPr>
          <p:cNvPr id="8" name="Text 18">
            <a:extLst>
              <a:ext uri="{FF2B5EF4-FFF2-40B4-BE49-F238E27FC236}">
                <a16:creationId xmlns:a16="http://schemas.microsoft.com/office/drawing/2014/main" id="{8CBE278B-D003-FD7F-020A-0A6BE572B42C}"/>
              </a:ext>
            </a:extLst>
          </p:cNvPr>
          <p:cNvSpPr/>
          <p:nvPr/>
        </p:nvSpPr>
        <p:spPr>
          <a:xfrm>
            <a:off x="484632" y="2030253"/>
            <a:ext cx="2487168" cy="777240"/>
          </a:xfrm>
          <a:prstGeom prst="rect">
            <a:avLst/>
          </a:prstGeom>
          <a:noFill/>
          <a:ln/>
        </p:spPr>
        <p:txBody>
          <a:bodyPr wrap="square" lIns="0" tIns="0" rIns="0" bIns="0" rtlCol="0" anchor="ctr"/>
          <a:lstStyle/>
          <a:p>
            <a:pPr marL="0" indent="0">
              <a:buNone/>
            </a:pPr>
            <a:r>
              <a:rPr lang="en-US" sz="1050" dirty="0">
                <a:solidFill>
                  <a:srgbClr val="C8D4E8"/>
                </a:solidFill>
                <a:latin typeface="Calibri" pitchFamily="34" charset="0"/>
                <a:ea typeface="Calibri" pitchFamily="34" charset="-122"/>
                <a:cs typeface="Calibri" pitchFamily="34" charset="-120"/>
              </a:rPr>
              <a:t>Employment, unemployment &amp; participation rates + avg weekly hours per governorate</a:t>
            </a:r>
            <a:endParaRPr lang="en-US" sz="1050" dirty="0"/>
          </a:p>
        </p:txBody>
      </p:sp>
      <p:sp>
        <p:nvSpPr>
          <p:cNvPr id="9" name="Shape 19">
            <a:extLst>
              <a:ext uri="{FF2B5EF4-FFF2-40B4-BE49-F238E27FC236}">
                <a16:creationId xmlns:a16="http://schemas.microsoft.com/office/drawing/2014/main" id="{C48A0C18-30C1-91C1-028B-96AFB3F497E7}"/>
              </a:ext>
            </a:extLst>
          </p:cNvPr>
          <p:cNvSpPr/>
          <p:nvPr/>
        </p:nvSpPr>
        <p:spPr>
          <a:xfrm>
            <a:off x="3218688" y="1499901"/>
            <a:ext cx="2715768" cy="14173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10" name="Shape 20">
            <a:extLst>
              <a:ext uri="{FF2B5EF4-FFF2-40B4-BE49-F238E27FC236}">
                <a16:creationId xmlns:a16="http://schemas.microsoft.com/office/drawing/2014/main" id="{5ED31059-EA33-7517-C3F9-79801E4802C2}"/>
              </a:ext>
            </a:extLst>
          </p:cNvPr>
          <p:cNvSpPr/>
          <p:nvPr/>
        </p:nvSpPr>
        <p:spPr>
          <a:xfrm>
            <a:off x="3218688" y="1499901"/>
            <a:ext cx="64008" cy="1417320"/>
          </a:xfrm>
          <a:prstGeom prst="rect">
            <a:avLst/>
          </a:prstGeom>
          <a:solidFill>
            <a:srgbClr val="36ADA3"/>
          </a:solidFill>
          <a:ln/>
        </p:spPr>
        <p:txBody>
          <a:bodyPr/>
          <a:lstStyle/>
          <a:p>
            <a:endParaRPr lang="en-US"/>
          </a:p>
        </p:txBody>
      </p:sp>
      <p:sp>
        <p:nvSpPr>
          <p:cNvPr id="11" name="Text 21">
            <a:extLst>
              <a:ext uri="{FF2B5EF4-FFF2-40B4-BE49-F238E27FC236}">
                <a16:creationId xmlns:a16="http://schemas.microsoft.com/office/drawing/2014/main" id="{6CB1E661-A299-B759-0108-C8BC30C310AC}"/>
              </a:ext>
            </a:extLst>
          </p:cNvPr>
          <p:cNvSpPr/>
          <p:nvPr/>
        </p:nvSpPr>
        <p:spPr>
          <a:xfrm>
            <a:off x="3383280" y="1627917"/>
            <a:ext cx="2487168" cy="347472"/>
          </a:xfrm>
          <a:prstGeom prst="rect">
            <a:avLst/>
          </a:prstGeom>
          <a:noFill/>
          <a:ln/>
        </p:spPr>
        <p:txBody>
          <a:bodyPr wrap="square" lIns="0" tIns="0" rIns="0" bIns="0" rtlCol="0" anchor="ctr"/>
          <a:lstStyle/>
          <a:p>
            <a:pPr marL="0" indent="0">
              <a:buNone/>
            </a:pPr>
            <a:r>
              <a:rPr lang="en-US" sz="1200" b="1" dirty="0">
                <a:solidFill>
                  <a:srgbClr val="36ADA3"/>
                </a:solidFill>
                <a:latin typeface="Calibri" pitchFamily="34" charset="0"/>
                <a:ea typeface="Calibri" pitchFamily="34" charset="-122"/>
                <a:cs typeface="Calibri" pitchFamily="34" charset="-120"/>
              </a:rPr>
              <a:t>Salary Distribution</a:t>
            </a:r>
            <a:endParaRPr lang="en-US" sz="1200" dirty="0">
              <a:solidFill>
                <a:srgbClr val="36ADA3"/>
              </a:solidFill>
            </a:endParaRPr>
          </a:p>
        </p:txBody>
      </p:sp>
      <p:sp>
        <p:nvSpPr>
          <p:cNvPr id="12" name="Text 22">
            <a:extLst>
              <a:ext uri="{FF2B5EF4-FFF2-40B4-BE49-F238E27FC236}">
                <a16:creationId xmlns:a16="http://schemas.microsoft.com/office/drawing/2014/main" id="{FC586DBB-4F4F-C3A3-3BB2-92EDF85738D9}"/>
              </a:ext>
            </a:extLst>
          </p:cNvPr>
          <p:cNvSpPr/>
          <p:nvPr/>
        </p:nvSpPr>
        <p:spPr>
          <a:xfrm>
            <a:off x="3383280" y="2030253"/>
            <a:ext cx="2487168" cy="777240"/>
          </a:xfrm>
          <a:prstGeom prst="rect">
            <a:avLst/>
          </a:prstGeom>
          <a:noFill/>
          <a:ln/>
        </p:spPr>
        <p:txBody>
          <a:bodyPr wrap="square" lIns="0" tIns="0" rIns="0" bIns="0" rtlCol="0" anchor="ctr"/>
          <a:lstStyle/>
          <a:p>
            <a:pPr marL="0" indent="0">
              <a:buNone/>
            </a:pPr>
            <a:r>
              <a:rPr lang="en-US" sz="1050" dirty="0">
                <a:solidFill>
                  <a:srgbClr val="C8D4E8"/>
                </a:solidFill>
                <a:latin typeface="Calibri" pitchFamily="34" charset="0"/>
                <a:ea typeface="Calibri" pitchFamily="34" charset="-122"/>
                <a:cs typeface="Calibri" pitchFamily="34" charset="-120"/>
              </a:rPr>
              <a:t>Min, max &amp; avg salaries by Gender, Contract Type &amp; Work Nature</a:t>
            </a:r>
            <a:endParaRPr lang="en-US" sz="1050" dirty="0"/>
          </a:p>
        </p:txBody>
      </p:sp>
      <p:sp>
        <p:nvSpPr>
          <p:cNvPr id="13" name="Shape 23">
            <a:extLst>
              <a:ext uri="{FF2B5EF4-FFF2-40B4-BE49-F238E27FC236}">
                <a16:creationId xmlns:a16="http://schemas.microsoft.com/office/drawing/2014/main" id="{232F3173-F4A4-DDB5-E99E-A0BE2C01CF97}"/>
              </a:ext>
            </a:extLst>
          </p:cNvPr>
          <p:cNvSpPr/>
          <p:nvPr/>
        </p:nvSpPr>
        <p:spPr>
          <a:xfrm>
            <a:off x="6117336" y="1499901"/>
            <a:ext cx="2715768" cy="14173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14" name="Shape 24">
            <a:extLst>
              <a:ext uri="{FF2B5EF4-FFF2-40B4-BE49-F238E27FC236}">
                <a16:creationId xmlns:a16="http://schemas.microsoft.com/office/drawing/2014/main" id="{407B8D36-4F8D-B0A5-B6B9-8686D2970073}"/>
              </a:ext>
            </a:extLst>
          </p:cNvPr>
          <p:cNvSpPr/>
          <p:nvPr/>
        </p:nvSpPr>
        <p:spPr>
          <a:xfrm>
            <a:off x="6117336" y="1499901"/>
            <a:ext cx="64008" cy="1417320"/>
          </a:xfrm>
          <a:prstGeom prst="rect">
            <a:avLst/>
          </a:prstGeom>
          <a:solidFill>
            <a:srgbClr val="36ADA3"/>
          </a:solidFill>
          <a:ln/>
        </p:spPr>
        <p:txBody>
          <a:bodyPr/>
          <a:lstStyle/>
          <a:p>
            <a:endParaRPr lang="en-US"/>
          </a:p>
        </p:txBody>
      </p:sp>
      <p:sp>
        <p:nvSpPr>
          <p:cNvPr id="15" name="Text 25">
            <a:extLst>
              <a:ext uri="{FF2B5EF4-FFF2-40B4-BE49-F238E27FC236}">
                <a16:creationId xmlns:a16="http://schemas.microsoft.com/office/drawing/2014/main" id="{9E77CF75-6F85-AAA6-8C79-4EBAE1A8C86F}"/>
              </a:ext>
            </a:extLst>
          </p:cNvPr>
          <p:cNvSpPr/>
          <p:nvPr/>
        </p:nvSpPr>
        <p:spPr>
          <a:xfrm>
            <a:off x="6281928" y="1627917"/>
            <a:ext cx="2487168" cy="347472"/>
          </a:xfrm>
          <a:prstGeom prst="rect">
            <a:avLst/>
          </a:prstGeom>
          <a:noFill/>
          <a:ln/>
        </p:spPr>
        <p:txBody>
          <a:bodyPr wrap="square" lIns="0" tIns="0" rIns="0" bIns="0" rtlCol="0" anchor="ctr"/>
          <a:lstStyle/>
          <a:p>
            <a:pPr marL="0" indent="0">
              <a:buNone/>
            </a:pPr>
            <a:r>
              <a:rPr lang="en-US" sz="1200" b="1" dirty="0">
                <a:solidFill>
                  <a:srgbClr val="36ADA3"/>
                </a:solidFill>
                <a:latin typeface="Calibri" pitchFamily="34" charset="0"/>
                <a:ea typeface="Calibri" pitchFamily="34" charset="-122"/>
                <a:cs typeface="Calibri" pitchFamily="34" charset="-120"/>
              </a:rPr>
              <a:t>Employment by Education</a:t>
            </a:r>
            <a:endParaRPr lang="en-US" sz="1200" dirty="0">
              <a:solidFill>
                <a:srgbClr val="36ADA3"/>
              </a:solidFill>
            </a:endParaRPr>
          </a:p>
        </p:txBody>
      </p:sp>
      <p:sp>
        <p:nvSpPr>
          <p:cNvPr id="16" name="Text 26">
            <a:extLst>
              <a:ext uri="{FF2B5EF4-FFF2-40B4-BE49-F238E27FC236}">
                <a16:creationId xmlns:a16="http://schemas.microsoft.com/office/drawing/2014/main" id="{950FFC1A-6A50-0FA5-B2B0-19EB54B51805}"/>
              </a:ext>
            </a:extLst>
          </p:cNvPr>
          <p:cNvSpPr/>
          <p:nvPr/>
        </p:nvSpPr>
        <p:spPr>
          <a:xfrm>
            <a:off x="6281928" y="2030253"/>
            <a:ext cx="2487168" cy="777240"/>
          </a:xfrm>
          <a:prstGeom prst="rect">
            <a:avLst/>
          </a:prstGeom>
          <a:noFill/>
          <a:ln/>
        </p:spPr>
        <p:txBody>
          <a:bodyPr wrap="square" lIns="0" tIns="0" rIns="0" bIns="0" rtlCol="0" anchor="ctr"/>
          <a:lstStyle/>
          <a:p>
            <a:pPr marL="0" indent="0">
              <a:buNone/>
            </a:pPr>
            <a:r>
              <a:rPr lang="en-US" sz="1050" dirty="0">
                <a:solidFill>
                  <a:srgbClr val="C8D4E8"/>
                </a:solidFill>
                <a:latin typeface="Calibri" pitchFamily="34" charset="0"/>
                <a:ea typeface="Calibri" pitchFamily="34" charset="-122"/>
                <a:cs typeface="Calibri" pitchFamily="34" charset="-120"/>
              </a:rPr>
              <a:t>Employment status, unemployment rate, avg salary &amp; training coverage per education level</a:t>
            </a:r>
            <a:endParaRPr lang="en-US" sz="1050" dirty="0"/>
          </a:p>
        </p:txBody>
      </p:sp>
      <p:sp>
        <p:nvSpPr>
          <p:cNvPr id="17" name="Shape 27">
            <a:extLst>
              <a:ext uri="{FF2B5EF4-FFF2-40B4-BE49-F238E27FC236}">
                <a16:creationId xmlns:a16="http://schemas.microsoft.com/office/drawing/2014/main" id="{F91250DA-6E0B-E13E-C3F7-A25D9AC45F59}"/>
              </a:ext>
            </a:extLst>
          </p:cNvPr>
          <p:cNvSpPr/>
          <p:nvPr/>
        </p:nvSpPr>
        <p:spPr>
          <a:xfrm>
            <a:off x="320040" y="3217830"/>
            <a:ext cx="2715768" cy="14173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18" name="Shape 28">
            <a:extLst>
              <a:ext uri="{FF2B5EF4-FFF2-40B4-BE49-F238E27FC236}">
                <a16:creationId xmlns:a16="http://schemas.microsoft.com/office/drawing/2014/main" id="{C702593C-D4F1-808E-9880-9E9B03FE9615}"/>
              </a:ext>
            </a:extLst>
          </p:cNvPr>
          <p:cNvSpPr/>
          <p:nvPr/>
        </p:nvSpPr>
        <p:spPr>
          <a:xfrm>
            <a:off x="320040" y="3217830"/>
            <a:ext cx="64008" cy="1417320"/>
          </a:xfrm>
          <a:prstGeom prst="rect">
            <a:avLst/>
          </a:prstGeom>
          <a:solidFill>
            <a:srgbClr val="36ADA3"/>
          </a:solidFill>
          <a:ln/>
        </p:spPr>
        <p:txBody>
          <a:bodyPr/>
          <a:lstStyle/>
          <a:p>
            <a:endParaRPr lang="en-US"/>
          </a:p>
        </p:txBody>
      </p:sp>
      <p:sp>
        <p:nvSpPr>
          <p:cNvPr id="19" name="Text 29">
            <a:extLst>
              <a:ext uri="{FF2B5EF4-FFF2-40B4-BE49-F238E27FC236}">
                <a16:creationId xmlns:a16="http://schemas.microsoft.com/office/drawing/2014/main" id="{244F5A7C-9FC9-27BD-162C-AB4BD838DD31}"/>
              </a:ext>
            </a:extLst>
          </p:cNvPr>
          <p:cNvSpPr/>
          <p:nvPr/>
        </p:nvSpPr>
        <p:spPr>
          <a:xfrm>
            <a:off x="484632" y="3345846"/>
            <a:ext cx="2487168" cy="347472"/>
          </a:xfrm>
          <a:prstGeom prst="rect">
            <a:avLst/>
          </a:prstGeom>
          <a:noFill/>
          <a:ln/>
        </p:spPr>
        <p:txBody>
          <a:bodyPr wrap="square" lIns="0" tIns="0" rIns="0" bIns="0" rtlCol="0" anchor="ctr"/>
          <a:lstStyle/>
          <a:p>
            <a:pPr marL="0" indent="0">
              <a:buNone/>
            </a:pPr>
            <a:r>
              <a:rPr lang="en-US" sz="1200" b="1" dirty="0">
                <a:solidFill>
                  <a:srgbClr val="36ADA3"/>
                </a:solidFill>
                <a:latin typeface="Calibri" pitchFamily="34" charset="0"/>
                <a:ea typeface="Calibri" pitchFamily="34" charset="-122"/>
                <a:cs typeface="Calibri" pitchFamily="34" charset="-120"/>
              </a:rPr>
              <a:t>Health Insurance Coverage</a:t>
            </a:r>
            <a:endParaRPr lang="en-US" sz="1200" dirty="0">
              <a:solidFill>
                <a:srgbClr val="36ADA3"/>
              </a:solidFill>
            </a:endParaRPr>
          </a:p>
        </p:txBody>
      </p:sp>
      <p:sp>
        <p:nvSpPr>
          <p:cNvPr id="20" name="Text 30">
            <a:extLst>
              <a:ext uri="{FF2B5EF4-FFF2-40B4-BE49-F238E27FC236}">
                <a16:creationId xmlns:a16="http://schemas.microsoft.com/office/drawing/2014/main" id="{692A3EC2-7B98-CA51-E175-49104854BEAF}"/>
              </a:ext>
            </a:extLst>
          </p:cNvPr>
          <p:cNvSpPr/>
          <p:nvPr/>
        </p:nvSpPr>
        <p:spPr>
          <a:xfrm>
            <a:off x="484632" y="3748182"/>
            <a:ext cx="2487168" cy="777240"/>
          </a:xfrm>
          <a:prstGeom prst="rect">
            <a:avLst/>
          </a:prstGeom>
          <a:noFill/>
          <a:ln/>
        </p:spPr>
        <p:txBody>
          <a:bodyPr wrap="square" lIns="0" tIns="0" rIns="0" bIns="0" rtlCol="0" anchor="ctr"/>
          <a:lstStyle/>
          <a:p>
            <a:pPr marL="0" indent="0">
              <a:buNone/>
            </a:pPr>
            <a:r>
              <a:rPr lang="en-US" sz="1050" dirty="0">
                <a:solidFill>
                  <a:srgbClr val="C8D4E8"/>
                </a:solidFill>
                <a:latin typeface="Calibri" pitchFamily="34" charset="0"/>
                <a:ea typeface="Calibri" pitchFamily="34" charset="-122"/>
                <a:cs typeface="Calibri" pitchFamily="34" charset="-120"/>
              </a:rPr>
              <a:t>Insurance rates by governorate &amp; gender — insured count &amp; coverage percentage</a:t>
            </a:r>
            <a:endParaRPr lang="en-US" sz="1050" dirty="0"/>
          </a:p>
        </p:txBody>
      </p:sp>
      <p:sp>
        <p:nvSpPr>
          <p:cNvPr id="21" name="Shape 31">
            <a:extLst>
              <a:ext uri="{FF2B5EF4-FFF2-40B4-BE49-F238E27FC236}">
                <a16:creationId xmlns:a16="http://schemas.microsoft.com/office/drawing/2014/main" id="{3033F80B-4CAF-DE45-E5A0-588320E52E2B}"/>
              </a:ext>
            </a:extLst>
          </p:cNvPr>
          <p:cNvSpPr/>
          <p:nvPr/>
        </p:nvSpPr>
        <p:spPr>
          <a:xfrm>
            <a:off x="3218688" y="3217830"/>
            <a:ext cx="2715768" cy="14173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22" name="Shape 32">
            <a:extLst>
              <a:ext uri="{FF2B5EF4-FFF2-40B4-BE49-F238E27FC236}">
                <a16:creationId xmlns:a16="http://schemas.microsoft.com/office/drawing/2014/main" id="{7B6EDCD5-25D4-58EC-9BB9-7B6FBF823D74}"/>
              </a:ext>
            </a:extLst>
          </p:cNvPr>
          <p:cNvSpPr/>
          <p:nvPr/>
        </p:nvSpPr>
        <p:spPr>
          <a:xfrm>
            <a:off x="3218688" y="3217830"/>
            <a:ext cx="64008" cy="1417320"/>
          </a:xfrm>
          <a:prstGeom prst="rect">
            <a:avLst/>
          </a:prstGeom>
          <a:solidFill>
            <a:srgbClr val="36ADA3"/>
          </a:solidFill>
          <a:ln/>
        </p:spPr>
        <p:txBody>
          <a:bodyPr/>
          <a:lstStyle/>
          <a:p>
            <a:endParaRPr lang="en-US"/>
          </a:p>
        </p:txBody>
      </p:sp>
      <p:sp>
        <p:nvSpPr>
          <p:cNvPr id="23" name="Text 33">
            <a:extLst>
              <a:ext uri="{FF2B5EF4-FFF2-40B4-BE49-F238E27FC236}">
                <a16:creationId xmlns:a16="http://schemas.microsoft.com/office/drawing/2014/main" id="{6EA54081-3C19-7FFF-83B9-3F53E0CF17B3}"/>
              </a:ext>
            </a:extLst>
          </p:cNvPr>
          <p:cNvSpPr/>
          <p:nvPr/>
        </p:nvSpPr>
        <p:spPr>
          <a:xfrm>
            <a:off x="3383280" y="3345846"/>
            <a:ext cx="2487168" cy="347472"/>
          </a:xfrm>
          <a:prstGeom prst="rect">
            <a:avLst/>
          </a:prstGeom>
          <a:noFill/>
          <a:ln/>
        </p:spPr>
        <p:txBody>
          <a:bodyPr wrap="square" lIns="0" tIns="0" rIns="0" bIns="0" rtlCol="0" anchor="ctr"/>
          <a:lstStyle/>
          <a:p>
            <a:pPr marL="0" indent="0">
              <a:buNone/>
            </a:pPr>
            <a:r>
              <a:rPr lang="en-US" sz="1200" b="1" dirty="0">
                <a:solidFill>
                  <a:srgbClr val="36ADA3"/>
                </a:solidFill>
                <a:latin typeface="Calibri" pitchFamily="34" charset="0"/>
                <a:ea typeface="Calibri" pitchFamily="34" charset="-122"/>
                <a:cs typeface="Calibri" pitchFamily="34" charset="-120"/>
              </a:rPr>
              <a:t>Social Indicators</a:t>
            </a:r>
            <a:endParaRPr lang="en-US" sz="1200" dirty="0">
              <a:solidFill>
                <a:srgbClr val="36ADA3"/>
              </a:solidFill>
            </a:endParaRPr>
          </a:p>
        </p:txBody>
      </p:sp>
      <p:sp>
        <p:nvSpPr>
          <p:cNvPr id="24" name="Text 34">
            <a:extLst>
              <a:ext uri="{FF2B5EF4-FFF2-40B4-BE49-F238E27FC236}">
                <a16:creationId xmlns:a16="http://schemas.microsoft.com/office/drawing/2014/main" id="{B0D4B38D-6D68-F855-6B68-16B81A6EA6B3}"/>
              </a:ext>
            </a:extLst>
          </p:cNvPr>
          <p:cNvSpPr/>
          <p:nvPr/>
        </p:nvSpPr>
        <p:spPr>
          <a:xfrm>
            <a:off x="3383280" y="3748182"/>
            <a:ext cx="2487168" cy="777240"/>
          </a:xfrm>
          <a:prstGeom prst="rect">
            <a:avLst/>
          </a:prstGeom>
          <a:noFill/>
          <a:ln/>
        </p:spPr>
        <p:txBody>
          <a:bodyPr wrap="square" lIns="0" tIns="0" rIns="0" bIns="0" rtlCol="0" anchor="ctr"/>
          <a:lstStyle/>
          <a:p>
            <a:pPr marL="0" indent="0">
              <a:buNone/>
            </a:pPr>
            <a:r>
              <a:rPr lang="en-US" sz="1050" dirty="0">
                <a:solidFill>
                  <a:srgbClr val="C8D4E8"/>
                </a:solidFill>
                <a:latin typeface="Calibri" pitchFamily="34" charset="0"/>
                <a:ea typeface="Calibri" pitchFamily="34" charset="-122"/>
                <a:cs typeface="Calibri" pitchFamily="34" charset="-120"/>
              </a:rPr>
              <a:t>Employment status &amp; disability rates — vision, hearing, memory &amp; mobility</a:t>
            </a:r>
            <a:endParaRPr lang="en-US" sz="1050" dirty="0"/>
          </a:p>
        </p:txBody>
      </p:sp>
      <p:sp>
        <p:nvSpPr>
          <p:cNvPr id="25" name="Shape 35">
            <a:extLst>
              <a:ext uri="{FF2B5EF4-FFF2-40B4-BE49-F238E27FC236}">
                <a16:creationId xmlns:a16="http://schemas.microsoft.com/office/drawing/2014/main" id="{D229A09C-437E-B918-4DE6-7F4DF182A231}"/>
              </a:ext>
            </a:extLst>
          </p:cNvPr>
          <p:cNvSpPr/>
          <p:nvPr/>
        </p:nvSpPr>
        <p:spPr>
          <a:xfrm>
            <a:off x="6117336" y="3217830"/>
            <a:ext cx="2715768" cy="1417320"/>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26" name="Shape 36">
            <a:extLst>
              <a:ext uri="{FF2B5EF4-FFF2-40B4-BE49-F238E27FC236}">
                <a16:creationId xmlns:a16="http://schemas.microsoft.com/office/drawing/2014/main" id="{A3EC79CE-6D2B-3936-423A-9A258C1AFBB7}"/>
              </a:ext>
            </a:extLst>
          </p:cNvPr>
          <p:cNvSpPr/>
          <p:nvPr/>
        </p:nvSpPr>
        <p:spPr>
          <a:xfrm>
            <a:off x="6117336" y="3217830"/>
            <a:ext cx="64008" cy="1417320"/>
          </a:xfrm>
          <a:prstGeom prst="rect">
            <a:avLst/>
          </a:prstGeom>
          <a:solidFill>
            <a:srgbClr val="36ADA3"/>
          </a:solidFill>
          <a:ln/>
        </p:spPr>
        <p:txBody>
          <a:bodyPr/>
          <a:lstStyle/>
          <a:p>
            <a:endParaRPr lang="en-US"/>
          </a:p>
        </p:txBody>
      </p:sp>
      <p:sp>
        <p:nvSpPr>
          <p:cNvPr id="27" name="Text 37">
            <a:extLst>
              <a:ext uri="{FF2B5EF4-FFF2-40B4-BE49-F238E27FC236}">
                <a16:creationId xmlns:a16="http://schemas.microsoft.com/office/drawing/2014/main" id="{00E26EBF-2A0B-2601-0061-FC14E89A2F36}"/>
              </a:ext>
            </a:extLst>
          </p:cNvPr>
          <p:cNvSpPr/>
          <p:nvPr/>
        </p:nvSpPr>
        <p:spPr>
          <a:xfrm>
            <a:off x="6281928" y="3345846"/>
            <a:ext cx="2487168" cy="347472"/>
          </a:xfrm>
          <a:prstGeom prst="rect">
            <a:avLst/>
          </a:prstGeom>
          <a:noFill/>
          <a:ln/>
        </p:spPr>
        <p:txBody>
          <a:bodyPr wrap="square" lIns="0" tIns="0" rIns="0" bIns="0" rtlCol="0" anchor="ctr"/>
          <a:lstStyle/>
          <a:p>
            <a:pPr marL="0" indent="0">
              <a:buNone/>
            </a:pPr>
            <a:r>
              <a:rPr lang="en-US" sz="1200" b="1" dirty="0">
                <a:solidFill>
                  <a:srgbClr val="36ADA3"/>
                </a:solidFill>
                <a:latin typeface="Calibri" pitchFamily="34" charset="0"/>
                <a:ea typeface="Calibri" pitchFamily="34" charset="-122"/>
                <a:cs typeface="Calibri" pitchFamily="34" charset="-120"/>
              </a:rPr>
              <a:t>COVID-19 Impact</a:t>
            </a:r>
            <a:endParaRPr lang="en-US" sz="1200" dirty="0">
              <a:solidFill>
                <a:srgbClr val="36ADA3"/>
              </a:solidFill>
            </a:endParaRPr>
          </a:p>
        </p:txBody>
      </p:sp>
      <p:sp>
        <p:nvSpPr>
          <p:cNvPr id="28" name="Text 38">
            <a:extLst>
              <a:ext uri="{FF2B5EF4-FFF2-40B4-BE49-F238E27FC236}">
                <a16:creationId xmlns:a16="http://schemas.microsoft.com/office/drawing/2014/main" id="{DB32134F-F36B-E4CC-8967-58CC433C2274}"/>
              </a:ext>
            </a:extLst>
          </p:cNvPr>
          <p:cNvSpPr/>
          <p:nvPr/>
        </p:nvSpPr>
        <p:spPr>
          <a:xfrm>
            <a:off x="6281928" y="3748182"/>
            <a:ext cx="2487168" cy="777240"/>
          </a:xfrm>
          <a:prstGeom prst="rect">
            <a:avLst/>
          </a:prstGeom>
          <a:noFill/>
          <a:ln/>
        </p:spPr>
        <p:txBody>
          <a:bodyPr wrap="square" lIns="0" tIns="0" rIns="0" bIns="0" rtlCol="0" anchor="ctr"/>
          <a:lstStyle/>
          <a:p>
            <a:pPr marL="0" indent="0">
              <a:buNone/>
            </a:pPr>
            <a:r>
              <a:rPr lang="en-US" sz="1050" dirty="0">
                <a:solidFill>
                  <a:srgbClr val="C8D4E8"/>
                </a:solidFill>
                <a:latin typeface="Calibri" pitchFamily="34" charset="0"/>
                <a:ea typeface="Calibri" pitchFamily="34" charset="-122"/>
                <a:cs typeface="Calibri" pitchFamily="34" charset="-120"/>
              </a:rPr>
              <a:t>Effect on salaries &amp; working hours grouped by reason for change in work conditions</a:t>
            </a:r>
            <a:endParaRPr lang="en-US" sz="1050" dirty="0"/>
          </a:p>
        </p:txBody>
      </p:sp>
      <p:sp>
        <p:nvSpPr>
          <p:cNvPr id="78" name="Text 14">
            <a:extLst>
              <a:ext uri="{FF2B5EF4-FFF2-40B4-BE49-F238E27FC236}">
                <a16:creationId xmlns:a16="http://schemas.microsoft.com/office/drawing/2014/main" id="{D39AADF6-EAB7-AE90-2F8E-D634913B9DFD}"/>
              </a:ext>
            </a:extLst>
          </p:cNvPr>
          <p:cNvSpPr/>
          <p:nvPr/>
        </p:nvSpPr>
        <p:spPr>
          <a:xfrm>
            <a:off x="448056" y="832103"/>
            <a:ext cx="7004304" cy="558069"/>
          </a:xfrm>
          <a:prstGeom prst="rect">
            <a:avLst/>
          </a:prstGeom>
          <a:noFill/>
          <a:ln/>
        </p:spPr>
        <p:txBody>
          <a:bodyPr wrap="square" lIns="0" tIns="0" rIns="0" bIns="0" rtlCol="0" anchor="ctr"/>
          <a:lstStyle/>
          <a:p>
            <a:pPr marL="0" indent="0">
              <a:buNone/>
            </a:pPr>
            <a:r>
              <a:rPr lang="en-US" b="1" dirty="0">
                <a:solidFill>
                  <a:schemeClr val="bg1"/>
                </a:solidFill>
                <a:latin typeface="Calibri" pitchFamily="34" charset="0"/>
                <a:ea typeface="Calibri" pitchFamily="34" charset="-122"/>
                <a:cs typeface="Calibri" pitchFamily="34" charset="-120"/>
              </a:rPr>
              <a:t>SSRS Reports</a:t>
            </a:r>
            <a:endParaRPr lang="en-US" dirty="0">
              <a:solidFill>
                <a:schemeClr val="bg1"/>
              </a:solidFill>
            </a:endParaRPr>
          </a:p>
        </p:txBody>
      </p:sp>
    </p:spTree>
    <p:extLst>
      <p:ext uri="{BB962C8B-B14F-4D97-AF65-F5344CB8AC3E}">
        <p14:creationId xmlns:p14="http://schemas.microsoft.com/office/powerpoint/2010/main" val="2964272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2044DC9-34AA-0367-1519-C5A7789D9028}"/>
              </a:ext>
            </a:extLst>
          </p:cNvPr>
          <p:cNvPicPr>
            <a:picLocks noGrp="1" noChangeAspect="1"/>
          </p:cNvPicPr>
          <p:nvPr>
            <p:ph idx="1"/>
          </p:nvPr>
        </p:nvPicPr>
        <p:blipFill>
          <a:blip r:embed="rId2"/>
          <a:srcRect l="7283" t="12553" r="6821" b="24243"/>
          <a:stretch>
            <a:fillRect/>
          </a:stretch>
        </p:blipFill>
        <p:spPr>
          <a:xfrm>
            <a:off x="376499" y="951552"/>
            <a:ext cx="8391002" cy="3415571"/>
          </a:xfrm>
          <a:prstGeom prst="rect">
            <a:avLst/>
          </a:prstGeom>
        </p:spPr>
      </p:pic>
    </p:spTree>
    <p:extLst>
      <p:ext uri="{BB962C8B-B14F-4D97-AF65-F5344CB8AC3E}">
        <p14:creationId xmlns:p14="http://schemas.microsoft.com/office/powerpoint/2010/main" val="2284932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71B33B-E573-FEB0-F644-4414F469DC11}"/>
              </a:ext>
            </a:extLst>
          </p:cNvPr>
          <p:cNvPicPr>
            <a:picLocks noChangeAspect="1"/>
          </p:cNvPicPr>
          <p:nvPr/>
        </p:nvPicPr>
        <p:blipFill>
          <a:blip r:embed="rId2"/>
          <a:srcRect l="7416" t="7097" r="5922" b="7164"/>
          <a:stretch>
            <a:fillRect/>
          </a:stretch>
        </p:blipFill>
        <p:spPr>
          <a:xfrm>
            <a:off x="490756" y="2824"/>
            <a:ext cx="8220272" cy="5140676"/>
          </a:xfrm>
          <a:prstGeom prst="rect">
            <a:avLst/>
          </a:prstGeom>
        </p:spPr>
      </p:pic>
    </p:spTree>
    <p:extLst>
      <p:ext uri="{BB962C8B-B14F-4D97-AF65-F5344CB8AC3E}">
        <p14:creationId xmlns:p14="http://schemas.microsoft.com/office/powerpoint/2010/main" val="24182979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0FB2DA-5D25-7B2B-2475-9C1225893807}"/>
              </a:ext>
            </a:extLst>
          </p:cNvPr>
          <p:cNvPicPr>
            <a:picLocks noChangeAspect="1"/>
          </p:cNvPicPr>
          <p:nvPr/>
        </p:nvPicPr>
        <p:blipFill>
          <a:blip r:embed="rId2"/>
          <a:srcRect l="4895" t="2572" r="3892" b="1709"/>
          <a:stretch>
            <a:fillRect/>
          </a:stretch>
        </p:blipFill>
        <p:spPr>
          <a:xfrm>
            <a:off x="1651635" y="68094"/>
            <a:ext cx="5840730" cy="5007312"/>
          </a:xfrm>
          <a:prstGeom prst="rect">
            <a:avLst/>
          </a:prstGeom>
        </p:spPr>
      </p:pic>
    </p:spTree>
    <p:extLst>
      <p:ext uri="{BB962C8B-B14F-4D97-AF65-F5344CB8AC3E}">
        <p14:creationId xmlns:p14="http://schemas.microsoft.com/office/powerpoint/2010/main" val="1309698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74BCEF-B92D-6593-8BA4-1FBAB0741776}"/>
              </a:ext>
            </a:extLst>
          </p:cNvPr>
          <p:cNvPicPr>
            <a:picLocks noChangeAspect="1"/>
          </p:cNvPicPr>
          <p:nvPr/>
        </p:nvPicPr>
        <p:blipFill>
          <a:blip r:embed="rId2"/>
          <a:srcRect l="1888" t="3693" r="1817" b="8289"/>
          <a:stretch>
            <a:fillRect/>
          </a:stretch>
        </p:blipFill>
        <p:spPr>
          <a:xfrm>
            <a:off x="1551616" y="47187"/>
            <a:ext cx="6040769" cy="2052206"/>
          </a:xfrm>
          <a:prstGeom prst="rect">
            <a:avLst/>
          </a:prstGeom>
        </p:spPr>
      </p:pic>
      <p:pic>
        <p:nvPicPr>
          <p:cNvPr id="5" name="Picture 4">
            <a:extLst>
              <a:ext uri="{FF2B5EF4-FFF2-40B4-BE49-F238E27FC236}">
                <a16:creationId xmlns:a16="http://schemas.microsoft.com/office/drawing/2014/main" id="{1A558BFF-98C2-E6D1-00FB-2FA02404321C}"/>
              </a:ext>
            </a:extLst>
          </p:cNvPr>
          <p:cNvPicPr>
            <a:picLocks noChangeAspect="1"/>
          </p:cNvPicPr>
          <p:nvPr/>
        </p:nvPicPr>
        <p:blipFill>
          <a:blip r:embed="rId3"/>
          <a:srcRect l="1900" t="3734" r="2652" b="6883"/>
          <a:stretch>
            <a:fillRect/>
          </a:stretch>
        </p:blipFill>
        <p:spPr>
          <a:xfrm>
            <a:off x="1551616" y="2099392"/>
            <a:ext cx="6040769" cy="2906786"/>
          </a:xfrm>
          <a:prstGeom prst="rect">
            <a:avLst/>
          </a:prstGeom>
        </p:spPr>
      </p:pic>
    </p:spTree>
    <p:extLst>
      <p:ext uri="{BB962C8B-B14F-4D97-AF65-F5344CB8AC3E}">
        <p14:creationId xmlns:p14="http://schemas.microsoft.com/office/powerpoint/2010/main" val="2852305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E3A285-830A-38A1-8387-C741526F7A1C}"/>
              </a:ext>
            </a:extLst>
          </p:cNvPr>
          <p:cNvPicPr>
            <a:picLocks noChangeAspect="1"/>
          </p:cNvPicPr>
          <p:nvPr/>
        </p:nvPicPr>
        <p:blipFill>
          <a:blip r:embed="rId2"/>
          <a:srcRect l="4275" t="6217" r="4437" b="14323"/>
          <a:stretch>
            <a:fillRect/>
          </a:stretch>
        </p:blipFill>
        <p:spPr>
          <a:xfrm>
            <a:off x="2218887" y="73929"/>
            <a:ext cx="4706225" cy="2497822"/>
          </a:xfrm>
          <a:prstGeom prst="rect">
            <a:avLst/>
          </a:prstGeom>
        </p:spPr>
      </p:pic>
      <p:pic>
        <p:nvPicPr>
          <p:cNvPr id="5" name="Picture 4">
            <a:extLst>
              <a:ext uri="{FF2B5EF4-FFF2-40B4-BE49-F238E27FC236}">
                <a16:creationId xmlns:a16="http://schemas.microsoft.com/office/drawing/2014/main" id="{D9214BC4-1FC5-4C35-3F50-E0341B2FC8D6}"/>
              </a:ext>
            </a:extLst>
          </p:cNvPr>
          <p:cNvPicPr>
            <a:picLocks noChangeAspect="1"/>
          </p:cNvPicPr>
          <p:nvPr/>
        </p:nvPicPr>
        <p:blipFill>
          <a:blip r:embed="rId3"/>
          <a:srcRect l="4154" t="2909" r="3108" b="8280"/>
          <a:stretch>
            <a:fillRect/>
          </a:stretch>
        </p:blipFill>
        <p:spPr>
          <a:xfrm>
            <a:off x="2245104" y="2571750"/>
            <a:ext cx="4653793" cy="2548156"/>
          </a:xfrm>
          <a:prstGeom prst="rect">
            <a:avLst/>
          </a:prstGeom>
        </p:spPr>
      </p:pic>
    </p:spTree>
    <p:extLst>
      <p:ext uri="{BB962C8B-B14F-4D97-AF65-F5344CB8AC3E}">
        <p14:creationId xmlns:p14="http://schemas.microsoft.com/office/powerpoint/2010/main" val="39568425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470EAB-B06C-C7A9-03C2-2E5A6962BE70}"/>
              </a:ext>
            </a:extLst>
          </p:cNvPr>
          <p:cNvPicPr>
            <a:picLocks noChangeAspect="1"/>
          </p:cNvPicPr>
          <p:nvPr/>
        </p:nvPicPr>
        <p:blipFill>
          <a:blip r:embed="rId2"/>
          <a:stretch>
            <a:fillRect/>
          </a:stretch>
        </p:blipFill>
        <p:spPr>
          <a:xfrm>
            <a:off x="378553" y="73980"/>
            <a:ext cx="8386895" cy="4995541"/>
          </a:xfrm>
          <a:prstGeom prst="rect">
            <a:avLst/>
          </a:prstGeom>
        </p:spPr>
      </p:pic>
    </p:spTree>
    <p:extLst>
      <p:ext uri="{BB962C8B-B14F-4D97-AF65-F5344CB8AC3E}">
        <p14:creationId xmlns:p14="http://schemas.microsoft.com/office/powerpoint/2010/main" val="1355275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02C7DE-D4B2-E97B-E6AA-C6FD765DC61B}"/>
              </a:ext>
            </a:extLst>
          </p:cNvPr>
          <p:cNvPicPr>
            <a:picLocks noChangeAspect="1"/>
          </p:cNvPicPr>
          <p:nvPr/>
        </p:nvPicPr>
        <p:blipFill>
          <a:blip r:embed="rId2"/>
          <a:stretch>
            <a:fillRect/>
          </a:stretch>
        </p:blipFill>
        <p:spPr>
          <a:xfrm>
            <a:off x="674368" y="64851"/>
            <a:ext cx="7795265" cy="5013799"/>
          </a:xfrm>
          <a:prstGeom prst="rect">
            <a:avLst/>
          </a:prstGeom>
        </p:spPr>
      </p:pic>
    </p:spTree>
    <p:extLst>
      <p:ext uri="{BB962C8B-B14F-4D97-AF65-F5344CB8AC3E}">
        <p14:creationId xmlns:p14="http://schemas.microsoft.com/office/powerpoint/2010/main" val="1175399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Shape 0">
            <a:extLst>
              <a:ext uri="{FF2B5EF4-FFF2-40B4-BE49-F238E27FC236}">
                <a16:creationId xmlns:a16="http://schemas.microsoft.com/office/drawing/2014/main" id="{1589CF5E-70B8-1FB4-8F03-06D3A42D4E70}"/>
              </a:ext>
            </a:extLst>
          </p:cNvPr>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dirty="0"/>
          </a:p>
        </p:txBody>
      </p:sp>
      <p:sp>
        <p:nvSpPr>
          <p:cNvPr id="16" name="Text 14"/>
          <p:cNvSpPr/>
          <p:nvPr/>
        </p:nvSpPr>
        <p:spPr>
          <a:xfrm>
            <a:off x="320040" y="91440"/>
            <a:ext cx="713232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Power BI Dashboards</a:t>
            </a:r>
            <a:endParaRPr lang="en-US" sz="2200" dirty="0"/>
          </a:p>
        </p:txBody>
      </p:sp>
      <p:sp>
        <p:nvSpPr>
          <p:cNvPr id="18" name="Shape 15"/>
          <p:cNvSpPr/>
          <p:nvPr/>
        </p:nvSpPr>
        <p:spPr>
          <a:xfrm>
            <a:off x="320040" y="930402"/>
            <a:ext cx="8503920" cy="566928"/>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19" name="Shape 16"/>
          <p:cNvSpPr/>
          <p:nvPr/>
        </p:nvSpPr>
        <p:spPr>
          <a:xfrm>
            <a:off x="320040" y="930402"/>
            <a:ext cx="64008" cy="566928"/>
          </a:xfrm>
          <a:prstGeom prst="rect">
            <a:avLst/>
          </a:prstGeom>
          <a:solidFill>
            <a:srgbClr val="36ADA3"/>
          </a:solidFill>
          <a:ln/>
        </p:spPr>
        <p:txBody>
          <a:bodyPr/>
          <a:lstStyle/>
          <a:p>
            <a:endParaRPr lang="en-US"/>
          </a:p>
        </p:txBody>
      </p:sp>
      <p:sp>
        <p:nvSpPr>
          <p:cNvPr id="20" name="Text 17"/>
          <p:cNvSpPr/>
          <p:nvPr/>
        </p:nvSpPr>
        <p:spPr>
          <a:xfrm>
            <a:off x="502920" y="930402"/>
            <a:ext cx="8229600" cy="566928"/>
          </a:xfrm>
          <a:prstGeom prst="rect">
            <a:avLst/>
          </a:prstGeom>
          <a:noFill/>
          <a:ln/>
        </p:spPr>
        <p:txBody>
          <a:bodyPr wrap="square" lIns="0" tIns="0" rIns="0" bIns="0" rtlCol="0" anchor="ctr"/>
          <a:lstStyle/>
          <a:p>
            <a:pPr marL="0" indent="0">
              <a:buNone/>
            </a:pPr>
            <a:r>
              <a:rPr lang="en-US" sz="1400" b="1" dirty="0">
                <a:solidFill>
                  <a:srgbClr val="36ADA3"/>
                </a:solidFill>
                <a:latin typeface="Calibri" pitchFamily="34" charset="0"/>
                <a:ea typeface="Calibri" pitchFamily="34" charset="-122"/>
                <a:cs typeface="Calibri" pitchFamily="34" charset="-120"/>
              </a:rPr>
              <a:t>17 dashboards </a:t>
            </a:r>
            <a:r>
              <a:rPr lang="en-US" sz="1300" dirty="0">
                <a:solidFill>
                  <a:srgbClr val="C8D4E8"/>
                </a:solidFill>
                <a:latin typeface="Calibri" pitchFamily="34" charset="0"/>
                <a:ea typeface="Calibri" pitchFamily="34" charset="-122"/>
                <a:cs typeface="Calibri" pitchFamily="34" charset="-120"/>
              </a:rPr>
              <a:t>across </a:t>
            </a:r>
            <a:r>
              <a:rPr lang="en-US" sz="1300" b="1" dirty="0">
                <a:solidFill>
                  <a:srgbClr val="FFFFFF"/>
                </a:solidFill>
                <a:latin typeface="Calibri" pitchFamily="34" charset="0"/>
                <a:ea typeface="Calibri" pitchFamily="34" charset="-122"/>
                <a:cs typeface="Calibri" pitchFamily="34" charset="-120"/>
              </a:rPr>
              <a:t>5 thematic groups </a:t>
            </a:r>
            <a:r>
              <a:rPr lang="en-US" sz="1300" dirty="0">
                <a:solidFill>
                  <a:srgbClr val="C8D4E8"/>
                </a:solidFill>
                <a:latin typeface="Calibri" pitchFamily="34" charset="0"/>
                <a:ea typeface="Calibri" pitchFamily="34" charset="-122"/>
                <a:cs typeface="Calibri" pitchFamily="34" charset="-120"/>
              </a:rPr>
              <a:t>covering Egypt's full labor market landscape</a:t>
            </a:r>
            <a:endParaRPr lang="en-US" sz="1400" dirty="0"/>
          </a:p>
        </p:txBody>
      </p:sp>
      <p:sp>
        <p:nvSpPr>
          <p:cNvPr id="21" name="Shape 18"/>
          <p:cNvSpPr/>
          <p:nvPr/>
        </p:nvSpPr>
        <p:spPr>
          <a:xfrm>
            <a:off x="365760" y="1696212"/>
            <a:ext cx="1600200" cy="3063240"/>
          </a:xfrm>
          <a:prstGeom prst="rect">
            <a:avLst/>
          </a:prstGeom>
          <a:solidFill>
            <a:srgbClr val="1E3060"/>
          </a:solidFill>
          <a:ln/>
          <a:effectLst>
            <a:outerShdw blurRad="76200" dist="25400" dir="8100000" algn="bl" rotWithShape="0">
              <a:srgbClr val="000000">
                <a:alpha val="15000"/>
              </a:srgbClr>
            </a:outerShdw>
          </a:effectLst>
        </p:spPr>
        <p:txBody>
          <a:bodyPr/>
          <a:lstStyle/>
          <a:p>
            <a:endParaRPr lang="en-US"/>
          </a:p>
        </p:txBody>
      </p:sp>
      <p:sp>
        <p:nvSpPr>
          <p:cNvPr id="23" name="Shape 20"/>
          <p:cNvSpPr/>
          <p:nvPr/>
        </p:nvSpPr>
        <p:spPr>
          <a:xfrm>
            <a:off x="891540" y="1911096"/>
            <a:ext cx="548640" cy="548640"/>
          </a:xfrm>
          <a:prstGeom prst="ellipse">
            <a:avLst/>
          </a:prstGeom>
          <a:solidFill>
            <a:srgbClr val="36ADA3"/>
          </a:solidFill>
          <a:ln/>
        </p:spPr>
        <p:txBody>
          <a:bodyPr/>
          <a:lstStyle/>
          <a:p>
            <a:endParaRPr lang="en-US"/>
          </a:p>
        </p:txBody>
      </p:sp>
      <p:sp>
        <p:nvSpPr>
          <p:cNvPr id="24" name="Text 21"/>
          <p:cNvSpPr/>
          <p:nvPr/>
        </p:nvSpPr>
        <p:spPr>
          <a:xfrm>
            <a:off x="873252" y="1911096"/>
            <a:ext cx="548640" cy="548640"/>
          </a:xfrm>
          <a:prstGeom prst="rect">
            <a:avLst/>
          </a:prstGeom>
          <a:noFill/>
          <a:ln/>
        </p:spPr>
        <p:txBody>
          <a:bodyPr wrap="square" lIns="0" tIns="0" rIns="0" bIns="0" rtlCol="0" anchor="ctr"/>
          <a:lstStyle/>
          <a:p>
            <a:pPr marL="0" indent="0" algn="ctr">
              <a:buNone/>
            </a:pPr>
            <a:r>
              <a:rPr lang="en-US" sz="1600" b="1" dirty="0">
                <a:solidFill>
                  <a:srgbClr val="1A2456"/>
                </a:solidFill>
              </a:rPr>
              <a:t>4</a:t>
            </a:r>
            <a:endParaRPr lang="en-US" sz="1600" dirty="0"/>
          </a:p>
        </p:txBody>
      </p:sp>
      <p:sp>
        <p:nvSpPr>
          <p:cNvPr id="25" name="Text 22"/>
          <p:cNvSpPr/>
          <p:nvPr/>
        </p:nvSpPr>
        <p:spPr>
          <a:xfrm>
            <a:off x="411480" y="2496312"/>
            <a:ext cx="1508760" cy="256032"/>
          </a:xfrm>
          <a:prstGeom prst="rect">
            <a:avLst/>
          </a:prstGeom>
          <a:noFill/>
          <a:ln/>
        </p:spPr>
        <p:txBody>
          <a:bodyPr wrap="square" lIns="0" tIns="0" rIns="0" bIns="0" rtlCol="0" anchor="ctr"/>
          <a:lstStyle/>
          <a:p>
            <a:pPr marL="0" indent="0" algn="ctr">
              <a:buNone/>
            </a:pPr>
            <a:r>
              <a:rPr lang="en-US" sz="850" dirty="0">
                <a:solidFill>
                  <a:srgbClr val="2ECC9A"/>
                </a:solidFill>
              </a:rPr>
              <a:t>dashboards</a:t>
            </a:r>
            <a:endParaRPr lang="en-US" sz="850" dirty="0"/>
          </a:p>
        </p:txBody>
      </p:sp>
      <p:sp>
        <p:nvSpPr>
          <p:cNvPr id="26" name="Text 23"/>
          <p:cNvSpPr/>
          <p:nvPr/>
        </p:nvSpPr>
        <p:spPr>
          <a:xfrm>
            <a:off x="457200" y="3113532"/>
            <a:ext cx="141732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Employment &amp; Labor Market</a:t>
            </a:r>
            <a:endParaRPr lang="en-US" sz="1100" dirty="0"/>
          </a:p>
        </p:txBody>
      </p:sp>
      <p:sp>
        <p:nvSpPr>
          <p:cNvPr id="27" name="Text 24"/>
          <p:cNvSpPr/>
          <p:nvPr/>
        </p:nvSpPr>
        <p:spPr>
          <a:xfrm>
            <a:off x="457200" y="3634740"/>
            <a:ext cx="1417320" cy="1005840"/>
          </a:xfrm>
          <a:prstGeom prst="rect">
            <a:avLst/>
          </a:prstGeom>
          <a:noFill/>
          <a:ln/>
        </p:spPr>
        <p:txBody>
          <a:bodyPr wrap="square" lIns="0" tIns="0" rIns="0" bIns="0" rtlCol="0" anchor="ctr"/>
          <a:lstStyle/>
          <a:p>
            <a:pPr marL="0" indent="0" algn="ctr">
              <a:buNone/>
            </a:pPr>
            <a:r>
              <a:rPr lang="en-US" sz="900" dirty="0">
                <a:solidFill>
                  <a:srgbClr val="AABCCC"/>
                </a:solidFill>
                <a:latin typeface="Calibri" pitchFamily="34" charset="0"/>
                <a:ea typeface="Calibri" pitchFamily="34" charset="-122"/>
                <a:cs typeface="Calibri" pitchFamily="34" charset="-120"/>
              </a:rPr>
              <a:t>Employment status · Workforce trends</a:t>
            </a:r>
            <a:endParaRPr lang="en-US" sz="900" dirty="0"/>
          </a:p>
          <a:p>
            <a:pPr marL="0" indent="0" algn="ctr">
              <a:buNone/>
            </a:pPr>
            <a:r>
              <a:rPr lang="en-US" sz="900" dirty="0">
                <a:solidFill>
                  <a:srgbClr val="AABCCC"/>
                </a:solidFill>
                <a:latin typeface="Calibri" pitchFamily="34" charset="0"/>
                <a:ea typeface="Calibri" pitchFamily="34" charset="-122"/>
                <a:cs typeface="Calibri" pitchFamily="34" charset="-120"/>
              </a:rPr>
              <a:t>Education vs Employment · Unemployment</a:t>
            </a:r>
            <a:endParaRPr lang="en-US" sz="900" dirty="0"/>
          </a:p>
        </p:txBody>
      </p:sp>
      <p:sp>
        <p:nvSpPr>
          <p:cNvPr id="28" name="Shape 25"/>
          <p:cNvSpPr/>
          <p:nvPr/>
        </p:nvSpPr>
        <p:spPr>
          <a:xfrm>
            <a:off x="2075688" y="1696212"/>
            <a:ext cx="1600200" cy="3063240"/>
          </a:xfrm>
          <a:prstGeom prst="rect">
            <a:avLst/>
          </a:prstGeom>
          <a:solidFill>
            <a:srgbClr val="1E3060"/>
          </a:solidFill>
          <a:ln/>
          <a:effectLst>
            <a:outerShdw blurRad="76200" dist="25400" dir="8100000" algn="bl" rotWithShape="0">
              <a:srgbClr val="000000">
                <a:alpha val="15000"/>
              </a:srgbClr>
            </a:outerShdw>
          </a:effectLst>
        </p:spPr>
        <p:txBody>
          <a:bodyPr/>
          <a:lstStyle/>
          <a:p>
            <a:endParaRPr lang="en-US" dirty="0"/>
          </a:p>
        </p:txBody>
      </p:sp>
      <p:sp>
        <p:nvSpPr>
          <p:cNvPr id="30" name="Shape 27"/>
          <p:cNvSpPr/>
          <p:nvPr/>
        </p:nvSpPr>
        <p:spPr>
          <a:xfrm>
            <a:off x="2601468" y="1911096"/>
            <a:ext cx="548640" cy="548640"/>
          </a:xfrm>
          <a:prstGeom prst="ellipse">
            <a:avLst/>
          </a:prstGeom>
          <a:solidFill>
            <a:srgbClr val="36ADA3"/>
          </a:solidFill>
          <a:ln/>
        </p:spPr>
        <p:txBody>
          <a:bodyPr/>
          <a:lstStyle/>
          <a:p>
            <a:endParaRPr lang="en-US"/>
          </a:p>
        </p:txBody>
      </p:sp>
      <p:sp>
        <p:nvSpPr>
          <p:cNvPr id="31" name="Text 28"/>
          <p:cNvSpPr/>
          <p:nvPr/>
        </p:nvSpPr>
        <p:spPr>
          <a:xfrm>
            <a:off x="2583180" y="1911096"/>
            <a:ext cx="548640" cy="548640"/>
          </a:xfrm>
          <a:prstGeom prst="rect">
            <a:avLst/>
          </a:prstGeom>
          <a:noFill/>
          <a:ln/>
        </p:spPr>
        <p:txBody>
          <a:bodyPr wrap="square" lIns="0" tIns="0" rIns="0" bIns="0" rtlCol="0" anchor="ctr"/>
          <a:lstStyle/>
          <a:p>
            <a:pPr marL="0" indent="0" algn="ctr">
              <a:buNone/>
            </a:pPr>
            <a:r>
              <a:rPr lang="en-US" sz="1600" b="1" dirty="0">
                <a:solidFill>
                  <a:srgbClr val="1A2456"/>
                </a:solidFill>
              </a:rPr>
              <a:t>4</a:t>
            </a:r>
            <a:endParaRPr lang="en-US" sz="1600" dirty="0"/>
          </a:p>
        </p:txBody>
      </p:sp>
      <p:sp>
        <p:nvSpPr>
          <p:cNvPr id="32" name="Text 29"/>
          <p:cNvSpPr/>
          <p:nvPr/>
        </p:nvSpPr>
        <p:spPr>
          <a:xfrm>
            <a:off x="2121408" y="2496312"/>
            <a:ext cx="1508760" cy="256032"/>
          </a:xfrm>
          <a:prstGeom prst="rect">
            <a:avLst/>
          </a:prstGeom>
          <a:noFill/>
          <a:ln/>
        </p:spPr>
        <p:txBody>
          <a:bodyPr wrap="square" lIns="0" tIns="0" rIns="0" bIns="0" rtlCol="0" anchor="ctr"/>
          <a:lstStyle/>
          <a:p>
            <a:pPr marL="0" indent="0" algn="ctr">
              <a:buNone/>
            </a:pPr>
            <a:r>
              <a:rPr lang="en-US" sz="850" dirty="0">
                <a:solidFill>
                  <a:srgbClr val="2ECC9A"/>
                </a:solidFill>
              </a:rPr>
              <a:t>dashboards</a:t>
            </a:r>
            <a:endParaRPr lang="en-US" sz="850" dirty="0"/>
          </a:p>
        </p:txBody>
      </p:sp>
      <p:sp>
        <p:nvSpPr>
          <p:cNvPr id="33" name="Text 30"/>
          <p:cNvSpPr/>
          <p:nvPr/>
        </p:nvSpPr>
        <p:spPr>
          <a:xfrm>
            <a:off x="2167128" y="3113532"/>
            <a:ext cx="1417320" cy="47548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Income &amp; Economic Profile</a:t>
            </a:r>
            <a:endParaRPr lang="en-US" sz="1100" dirty="0"/>
          </a:p>
        </p:txBody>
      </p:sp>
      <p:sp>
        <p:nvSpPr>
          <p:cNvPr id="34" name="Text 31"/>
          <p:cNvSpPr/>
          <p:nvPr/>
        </p:nvSpPr>
        <p:spPr>
          <a:xfrm>
            <a:off x="2167128" y="3634740"/>
            <a:ext cx="1417320" cy="1005840"/>
          </a:xfrm>
          <a:prstGeom prst="rect">
            <a:avLst/>
          </a:prstGeom>
          <a:noFill/>
          <a:ln/>
        </p:spPr>
        <p:txBody>
          <a:bodyPr wrap="square" lIns="0" tIns="0" rIns="0" bIns="0" rtlCol="0" anchor="ctr"/>
          <a:lstStyle/>
          <a:p>
            <a:pPr marL="0" indent="0" algn="ctr">
              <a:buNone/>
            </a:pPr>
            <a:r>
              <a:rPr lang="en-US" sz="900" dirty="0">
                <a:solidFill>
                  <a:srgbClr val="AABCCC"/>
                </a:solidFill>
                <a:latin typeface="Calibri" pitchFamily="34" charset="0"/>
                <a:ea typeface="Calibri" pitchFamily="34" charset="-122"/>
                <a:cs typeface="Calibri" pitchFamily="34" charset="-120"/>
              </a:rPr>
              <a:t>Income profile · Inequality</a:t>
            </a:r>
            <a:endParaRPr lang="en-US" sz="900" dirty="0"/>
          </a:p>
          <a:p>
            <a:pPr marL="0" indent="0" algn="ctr">
              <a:buNone/>
            </a:pPr>
            <a:r>
              <a:rPr lang="en-US" sz="900" dirty="0">
                <a:solidFill>
                  <a:srgbClr val="AABCCC"/>
                </a:solidFill>
                <a:latin typeface="Calibri" pitchFamily="34" charset="0"/>
                <a:ea typeface="Calibri" pitchFamily="34" charset="-122"/>
                <a:cs typeface="Calibri" pitchFamily="34" charset="-120"/>
              </a:rPr>
              <a:t>Household economic · Secondary jobs</a:t>
            </a:r>
            <a:endParaRPr lang="en-US" sz="900" dirty="0"/>
          </a:p>
        </p:txBody>
      </p:sp>
      <p:sp>
        <p:nvSpPr>
          <p:cNvPr id="35" name="Shape 32"/>
          <p:cNvSpPr/>
          <p:nvPr/>
        </p:nvSpPr>
        <p:spPr>
          <a:xfrm>
            <a:off x="3785616" y="1696212"/>
            <a:ext cx="1600200" cy="3063240"/>
          </a:xfrm>
          <a:prstGeom prst="rect">
            <a:avLst/>
          </a:prstGeom>
          <a:solidFill>
            <a:srgbClr val="1E3060"/>
          </a:solidFill>
          <a:ln/>
          <a:effectLst>
            <a:outerShdw blurRad="76200" dist="25400" dir="8100000" algn="bl" rotWithShape="0">
              <a:srgbClr val="000000">
                <a:alpha val="15000"/>
              </a:srgbClr>
            </a:outerShdw>
          </a:effectLst>
        </p:spPr>
        <p:txBody>
          <a:bodyPr/>
          <a:lstStyle/>
          <a:p>
            <a:endParaRPr lang="en-US"/>
          </a:p>
        </p:txBody>
      </p:sp>
      <p:sp>
        <p:nvSpPr>
          <p:cNvPr id="37" name="Shape 34"/>
          <p:cNvSpPr/>
          <p:nvPr/>
        </p:nvSpPr>
        <p:spPr>
          <a:xfrm>
            <a:off x="4311396" y="1911096"/>
            <a:ext cx="548640" cy="548640"/>
          </a:xfrm>
          <a:prstGeom prst="ellipse">
            <a:avLst/>
          </a:prstGeom>
          <a:solidFill>
            <a:srgbClr val="36ADA3"/>
          </a:solidFill>
          <a:ln/>
        </p:spPr>
        <p:txBody>
          <a:bodyPr/>
          <a:lstStyle/>
          <a:p>
            <a:endParaRPr lang="en-US"/>
          </a:p>
        </p:txBody>
      </p:sp>
      <p:sp>
        <p:nvSpPr>
          <p:cNvPr id="38" name="Text 35"/>
          <p:cNvSpPr/>
          <p:nvPr/>
        </p:nvSpPr>
        <p:spPr>
          <a:xfrm>
            <a:off x="4311396" y="1911096"/>
            <a:ext cx="548640" cy="548640"/>
          </a:xfrm>
          <a:prstGeom prst="rect">
            <a:avLst/>
          </a:prstGeom>
          <a:noFill/>
          <a:ln/>
        </p:spPr>
        <p:txBody>
          <a:bodyPr wrap="square" lIns="0" tIns="0" rIns="0" bIns="0" rtlCol="0" anchor="ctr"/>
          <a:lstStyle/>
          <a:p>
            <a:pPr marL="0" indent="0" algn="ctr">
              <a:buNone/>
            </a:pPr>
            <a:r>
              <a:rPr lang="en-US" sz="1600" b="1" dirty="0">
                <a:solidFill>
                  <a:srgbClr val="1A2456"/>
                </a:solidFill>
              </a:rPr>
              <a:t>3</a:t>
            </a:r>
            <a:endParaRPr lang="en-US" sz="1600" dirty="0"/>
          </a:p>
        </p:txBody>
      </p:sp>
      <p:sp>
        <p:nvSpPr>
          <p:cNvPr id="39" name="Text 36"/>
          <p:cNvSpPr/>
          <p:nvPr/>
        </p:nvSpPr>
        <p:spPr>
          <a:xfrm>
            <a:off x="3831336" y="2496312"/>
            <a:ext cx="1508760" cy="256032"/>
          </a:xfrm>
          <a:prstGeom prst="rect">
            <a:avLst/>
          </a:prstGeom>
          <a:noFill/>
          <a:ln/>
        </p:spPr>
        <p:txBody>
          <a:bodyPr wrap="square" lIns="0" tIns="0" rIns="0" bIns="0" rtlCol="0" anchor="ctr"/>
          <a:lstStyle/>
          <a:p>
            <a:pPr marL="0" indent="0" algn="ctr">
              <a:buNone/>
            </a:pPr>
            <a:r>
              <a:rPr lang="en-US" sz="850" dirty="0">
                <a:solidFill>
                  <a:srgbClr val="2ECC9A"/>
                </a:solidFill>
              </a:rPr>
              <a:t>dashboards</a:t>
            </a:r>
            <a:endParaRPr lang="en-US" sz="850" dirty="0"/>
          </a:p>
        </p:txBody>
      </p:sp>
      <p:sp>
        <p:nvSpPr>
          <p:cNvPr id="40" name="Text 37"/>
          <p:cNvSpPr/>
          <p:nvPr/>
        </p:nvSpPr>
        <p:spPr>
          <a:xfrm>
            <a:off x="3877056" y="3113532"/>
            <a:ext cx="1417320" cy="47548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Education</a:t>
            </a:r>
            <a:r>
              <a:rPr lang="en-US" sz="1000" b="1">
                <a:solidFill>
                  <a:srgbClr val="FFFFFF"/>
                </a:solidFill>
                <a:latin typeface="Calibri" pitchFamily="34" charset="0"/>
                <a:ea typeface="Calibri" pitchFamily="34" charset="-122"/>
                <a:cs typeface="Calibri" pitchFamily="34" charset="-120"/>
              </a:rPr>
              <a:t> </a:t>
            </a:r>
            <a:r>
              <a:rPr lang="en-US" sz="1100" b="1">
                <a:solidFill>
                  <a:srgbClr val="FFFFFF"/>
                </a:solidFill>
                <a:latin typeface="Calibri" pitchFamily="34" charset="0"/>
                <a:ea typeface="Calibri" pitchFamily="34" charset="-122"/>
                <a:cs typeface="Calibri" pitchFamily="34" charset="-120"/>
              </a:rPr>
              <a:t>&amp;</a:t>
            </a:r>
            <a:r>
              <a:rPr lang="en-US" sz="1000" b="1">
                <a:solidFill>
                  <a:srgbClr val="FFFFFF"/>
                </a:solidFill>
                <a:latin typeface="Calibri" pitchFamily="34" charset="0"/>
                <a:ea typeface="Calibri" pitchFamily="34" charset="-122"/>
                <a:cs typeface="Calibri" pitchFamily="34" charset="-120"/>
              </a:rPr>
              <a:t> </a:t>
            </a:r>
            <a:r>
              <a:rPr lang="en-US" sz="1100" b="1">
                <a:solidFill>
                  <a:srgbClr val="FFFFFF"/>
                </a:solidFill>
                <a:latin typeface="Calibri" pitchFamily="34" charset="0"/>
                <a:ea typeface="Calibri" pitchFamily="34" charset="-122"/>
                <a:cs typeface="Calibri" pitchFamily="34" charset="-120"/>
              </a:rPr>
              <a:t>Training</a:t>
            </a:r>
            <a:endParaRPr lang="en-US" sz="1100" dirty="0"/>
          </a:p>
        </p:txBody>
      </p:sp>
      <p:sp>
        <p:nvSpPr>
          <p:cNvPr id="41" name="Text 38"/>
          <p:cNvSpPr/>
          <p:nvPr/>
        </p:nvSpPr>
        <p:spPr>
          <a:xfrm>
            <a:off x="3877056" y="3634740"/>
            <a:ext cx="1417320" cy="1005840"/>
          </a:xfrm>
          <a:prstGeom prst="rect">
            <a:avLst/>
          </a:prstGeom>
          <a:noFill/>
          <a:ln/>
        </p:spPr>
        <p:txBody>
          <a:bodyPr wrap="square" lIns="0" tIns="0" rIns="0" bIns="0" rtlCol="0" anchor="ctr"/>
          <a:lstStyle/>
          <a:p>
            <a:pPr marL="0" indent="0" algn="ctr">
              <a:buNone/>
            </a:pPr>
            <a:r>
              <a:rPr lang="en-US" sz="900" dirty="0">
                <a:solidFill>
                  <a:srgbClr val="AABCCC"/>
                </a:solidFill>
                <a:latin typeface="Calibri" pitchFamily="34" charset="0"/>
                <a:ea typeface="Calibri" pitchFamily="34" charset="-122"/>
                <a:cs typeface="Calibri" pitchFamily="34" charset="-120"/>
              </a:rPr>
              <a:t>Educational profile · Training &amp; dropout</a:t>
            </a:r>
            <a:endParaRPr lang="en-US" sz="900" dirty="0"/>
          </a:p>
          <a:p>
            <a:pPr marL="0" indent="0" algn="ctr">
              <a:buNone/>
            </a:pPr>
            <a:r>
              <a:rPr lang="en-US" sz="900" dirty="0">
                <a:solidFill>
                  <a:srgbClr val="AABCCC"/>
                </a:solidFill>
                <a:latin typeface="Calibri" pitchFamily="34" charset="0"/>
                <a:ea typeface="Calibri" pitchFamily="34" charset="-122"/>
                <a:cs typeface="Calibri" pitchFamily="34" charset="-120"/>
              </a:rPr>
              <a:t>Job quality &amp; work nature</a:t>
            </a:r>
            <a:endParaRPr lang="en-US" sz="900" dirty="0"/>
          </a:p>
        </p:txBody>
      </p:sp>
      <p:sp>
        <p:nvSpPr>
          <p:cNvPr id="42" name="Shape 39"/>
          <p:cNvSpPr/>
          <p:nvPr/>
        </p:nvSpPr>
        <p:spPr>
          <a:xfrm>
            <a:off x="5495544" y="1696212"/>
            <a:ext cx="1600200" cy="3063240"/>
          </a:xfrm>
          <a:prstGeom prst="rect">
            <a:avLst/>
          </a:prstGeom>
          <a:solidFill>
            <a:srgbClr val="1E3060"/>
          </a:solidFill>
          <a:ln/>
          <a:effectLst>
            <a:outerShdw blurRad="76200" dist="25400" dir="8100000" algn="bl" rotWithShape="0">
              <a:srgbClr val="000000">
                <a:alpha val="15000"/>
              </a:srgbClr>
            </a:outerShdw>
          </a:effectLst>
        </p:spPr>
        <p:txBody>
          <a:bodyPr/>
          <a:lstStyle/>
          <a:p>
            <a:endParaRPr lang="en-US"/>
          </a:p>
        </p:txBody>
      </p:sp>
      <p:sp>
        <p:nvSpPr>
          <p:cNvPr id="44" name="Shape 41"/>
          <p:cNvSpPr/>
          <p:nvPr/>
        </p:nvSpPr>
        <p:spPr>
          <a:xfrm>
            <a:off x="6021324" y="1911096"/>
            <a:ext cx="548640" cy="548640"/>
          </a:xfrm>
          <a:prstGeom prst="ellipse">
            <a:avLst/>
          </a:prstGeom>
          <a:solidFill>
            <a:srgbClr val="36ADA3"/>
          </a:solidFill>
          <a:ln/>
        </p:spPr>
        <p:txBody>
          <a:bodyPr/>
          <a:lstStyle/>
          <a:p>
            <a:endParaRPr lang="en-US"/>
          </a:p>
        </p:txBody>
      </p:sp>
      <p:sp>
        <p:nvSpPr>
          <p:cNvPr id="45" name="Text 42"/>
          <p:cNvSpPr/>
          <p:nvPr/>
        </p:nvSpPr>
        <p:spPr>
          <a:xfrm>
            <a:off x="6021324" y="1911096"/>
            <a:ext cx="548640" cy="548640"/>
          </a:xfrm>
          <a:prstGeom prst="rect">
            <a:avLst/>
          </a:prstGeom>
          <a:noFill/>
          <a:ln/>
        </p:spPr>
        <p:txBody>
          <a:bodyPr wrap="square" lIns="0" tIns="0" rIns="0" bIns="0" rtlCol="0" anchor="ctr"/>
          <a:lstStyle/>
          <a:p>
            <a:pPr marL="0" indent="0" algn="ctr">
              <a:buNone/>
            </a:pPr>
            <a:r>
              <a:rPr lang="en-US" sz="1600" b="1" dirty="0">
                <a:solidFill>
                  <a:srgbClr val="1A2456"/>
                </a:solidFill>
              </a:rPr>
              <a:t>3</a:t>
            </a:r>
            <a:endParaRPr lang="en-US" sz="1600" dirty="0"/>
          </a:p>
        </p:txBody>
      </p:sp>
      <p:sp>
        <p:nvSpPr>
          <p:cNvPr id="46" name="Text 43"/>
          <p:cNvSpPr/>
          <p:nvPr/>
        </p:nvSpPr>
        <p:spPr>
          <a:xfrm>
            <a:off x="5541264" y="2496312"/>
            <a:ext cx="1508760" cy="256032"/>
          </a:xfrm>
          <a:prstGeom prst="rect">
            <a:avLst/>
          </a:prstGeom>
          <a:noFill/>
          <a:ln/>
        </p:spPr>
        <p:txBody>
          <a:bodyPr wrap="square" lIns="0" tIns="0" rIns="0" bIns="0" rtlCol="0" anchor="ctr"/>
          <a:lstStyle/>
          <a:p>
            <a:pPr marL="0" indent="0" algn="ctr">
              <a:buNone/>
            </a:pPr>
            <a:r>
              <a:rPr lang="en-US" sz="850" dirty="0">
                <a:solidFill>
                  <a:srgbClr val="2ECC9A"/>
                </a:solidFill>
              </a:rPr>
              <a:t>dashboards</a:t>
            </a:r>
            <a:endParaRPr lang="en-US" sz="850" dirty="0"/>
          </a:p>
        </p:txBody>
      </p:sp>
      <p:sp>
        <p:nvSpPr>
          <p:cNvPr id="47" name="Text 44"/>
          <p:cNvSpPr/>
          <p:nvPr/>
        </p:nvSpPr>
        <p:spPr>
          <a:xfrm>
            <a:off x="5586984" y="3113532"/>
            <a:ext cx="1417320" cy="47548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Demographics &amp; Geography</a:t>
            </a:r>
            <a:endParaRPr lang="en-US" sz="1100" dirty="0"/>
          </a:p>
        </p:txBody>
      </p:sp>
      <p:sp>
        <p:nvSpPr>
          <p:cNvPr id="48" name="Text 45"/>
          <p:cNvSpPr/>
          <p:nvPr/>
        </p:nvSpPr>
        <p:spPr>
          <a:xfrm>
            <a:off x="5586984" y="3634740"/>
            <a:ext cx="1417320" cy="1005840"/>
          </a:xfrm>
          <a:prstGeom prst="rect">
            <a:avLst/>
          </a:prstGeom>
          <a:noFill/>
          <a:ln/>
        </p:spPr>
        <p:txBody>
          <a:bodyPr wrap="square" lIns="0" tIns="0" rIns="0" bIns="0" rtlCol="0" anchor="ctr"/>
          <a:lstStyle/>
          <a:p>
            <a:pPr marL="0" indent="0" algn="ctr">
              <a:buNone/>
            </a:pPr>
            <a:r>
              <a:rPr lang="en-US" sz="900" dirty="0">
                <a:solidFill>
                  <a:srgbClr val="AABCCC"/>
                </a:solidFill>
                <a:latin typeface="Calibri" pitchFamily="34" charset="0"/>
                <a:ea typeface="Calibri" pitchFamily="34" charset="-122"/>
                <a:cs typeface="Calibri" pitchFamily="34" charset="-120"/>
              </a:rPr>
              <a:t>Population overview · Geographic distribution</a:t>
            </a:r>
            <a:endParaRPr lang="en-US" sz="900" dirty="0"/>
          </a:p>
          <a:p>
            <a:pPr marL="0" indent="0" algn="ctr">
              <a:buNone/>
            </a:pPr>
            <a:r>
              <a:rPr lang="en-US" sz="900" dirty="0">
                <a:solidFill>
                  <a:srgbClr val="AABCCC"/>
                </a:solidFill>
                <a:latin typeface="Calibri" pitchFamily="34" charset="0"/>
                <a:ea typeface="Calibri" pitchFamily="34" charset="-122"/>
                <a:cs typeface="Calibri" pitchFamily="34" charset="-120"/>
              </a:rPr>
              <a:t>Disability &amp; social benefits</a:t>
            </a:r>
            <a:endParaRPr lang="en-US" sz="900" dirty="0"/>
          </a:p>
        </p:txBody>
      </p:sp>
      <p:sp>
        <p:nvSpPr>
          <p:cNvPr id="49" name="Shape 46"/>
          <p:cNvSpPr/>
          <p:nvPr/>
        </p:nvSpPr>
        <p:spPr>
          <a:xfrm>
            <a:off x="7205472" y="1696212"/>
            <a:ext cx="1600200" cy="3063240"/>
          </a:xfrm>
          <a:prstGeom prst="rect">
            <a:avLst/>
          </a:prstGeom>
          <a:solidFill>
            <a:srgbClr val="1E3060"/>
          </a:solidFill>
          <a:ln/>
          <a:effectLst>
            <a:outerShdw blurRad="76200" dist="25400" dir="8100000" algn="bl" rotWithShape="0">
              <a:srgbClr val="000000">
                <a:alpha val="15000"/>
              </a:srgbClr>
            </a:outerShdw>
          </a:effectLst>
        </p:spPr>
        <p:txBody>
          <a:bodyPr/>
          <a:lstStyle/>
          <a:p>
            <a:endParaRPr lang="en-US"/>
          </a:p>
        </p:txBody>
      </p:sp>
      <p:sp>
        <p:nvSpPr>
          <p:cNvPr id="51" name="Shape 48"/>
          <p:cNvSpPr/>
          <p:nvPr/>
        </p:nvSpPr>
        <p:spPr>
          <a:xfrm>
            <a:off x="7731252" y="1911096"/>
            <a:ext cx="548640" cy="548640"/>
          </a:xfrm>
          <a:prstGeom prst="ellipse">
            <a:avLst/>
          </a:prstGeom>
          <a:solidFill>
            <a:srgbClr val="36ADA3"/>
          </a:solidFill>
          <a:ln/>
        </p:spPr>
        <p:txBody>
          <a:bodyPr/>
          <a:lstStyle/>
          <a:p>
            <a:endParaRPr lang="en-US"/>
          </a:p>
        </p:txBody>
      </p:sp>
      <p:sp>
        <p:nvSpPr>
          <p:cNvPr id="52" name="Text 49"/>
          <p:cNvSpPr/>
          <p:nvPr/>
        </p:nvSpPr>
        <p:spPr>
          <a:xfrm>
            <a:off x="7731252" y="1911096"/>
            <a:ext cx="548640" cy="548640"/>
          </a:xfrm>
          <a:prstGeom prst="rect">
            <a:avLst/>
          </a:prstGeom>
          <a:noFill/>
          <a:ln/>
        </p:spPr>
        <p:txBody>
          <a:bodyPr wrap="square" lIns="0" tIns="0" rIns="0" bIns="0" rtlCol="0" anchor="ctr"/>
          <a:lstStyle/>
          <a:p>
            <a:pPr marL="0" indent="0" algn="ctr">
              <a:buNone/>
            </a:pPr>
            <a:r>
              <a:rPr lang="en-US" sz="1600" b="1" dirty="0">
                <a:solidFill>
                  <a:srgbClr val="1A2456"/>
                </a:solidFill>
              </a:rPr>
              <a:t>2</a:t>
            </a:r>
            <a:endParaRPr lang="en-US" sz="1600" dirty="0"/>
          </a:p>
        </p:txBody>
      </p:sp>
      <p:sp>
        <p:nvSpPr>
          <p:cNvPr id="53" name="Text 50"/>
          <p:cNvSpPr/>
          <p:nvPr/>
        </p:nvSpPr>
        <p:spPr>
          <a:xfrm>
            <a:off x="7251192" y="2496312"/>
            <a:ext cx="1508760" cy="256032"/>
          </a:xfrm>
          <a:prstGeom prst="rect">
            <a:avLst/>
          </a:prstGeom>
          <a:noFill/>
          <a:ln/>
        </p:spPr>
        <p:txBody>
          <a:bodyPr wrap="square" lIns="0" tIns="0" rIns="0" bIns="0" rtlCol="0" anchor="ctr"/>
          <a:lstStyle/>
          <a:p>
            <a:pPr marL="0" indent="0" algn="ctr">
              <a:buNone/>
            </a:pPr>
            <a:r>
              <a:rPr lang="en-US" sz="850" dirty="0">
                <a:solidFill>
                  <a:srgbClr val="2ECC9A"/>
                </a:solidFill>
              </a:rPr>
              <a:t>dashboards</a:t>
            </a:r>
            <a:endParaRPr lang="en-US" sz="850" dirty="0"/>
          </a:p>
        </p:txBody>
      </p:sp>
      <p:sp>
        <p:nvSpPr>
          <p:cNvPr id="54" name="Text 51"/>
          <p:cNvSpPr/>
          <p:nvPr/>
        </p:nvSpPr>
        <p:spPr>
          <a:xfrm>
            <a:off x="7296912" y="3113532"/>
            <a:ext cx="1417320" cy="47548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Social Protection &amp; Safety Net</a:t>
            </a:r>
            <a:endParaRPr lang="en-US" sz="1100" dirty="0"/>
          </a:p>
        </p:txBody>
      </p:sp>
      <p:sp>
        <p:nvSpPr>
          <p:cNvPr id="55" name="Text 52"/>
          <p:cNvSpPr/>
          <p:nvPr/>
        </p:nvSpPr>
        <p:spPr>
          <a:xfrm>
            <a:off x="7296912" y="3634740"/>
            <a:ext cx="1417320" cy="1005840"/>
          </a:xfrm>
          <a:prstGeom prst="rect">
            <a:avLst/>
          </a:prstGeom>
          <a:noFill/>
          <a:ln/>
        </p:spPr>
        <p:txBody>
          <a:bodyPr wrap="square" lIns="0" tIns="0" rIns="0" bIns="0" rtlCol="0" anchor="ctr"/>
          <a:lstStyle/>
          <a:p>
            <a:pPr marL="0" indent="0" algn="ctr">
              <a:buNone/>
            </a:pPr>
            <a:r>
              <a:rPr lang="en-US" sz="900" dirty="0">
                <a:solidFill>
                  <a:srgbClr val="AABCCC"/>
                </a:solidFill>
                <a:latin typeface="Calibri" pitchFamily="34" charset="0"/>
                <a:ea typeface="Calibri" pitchFamily="34" charset="-122"/>
                <a:cs typeface="Calibri" pitchFamily="34" charset="-120"/>
              </a:rPr>
              <a:t>Social benefits &amp; safety net</a:t>
            </a:r>
            <a:endParaRPr lang="en-US" sz="900" dirty="0"/>
          </a:p>
          <a:p>
            <a:pPr marL="0" indent="0" algn="ctr">
              <a:buNone/>
            </a:pPr>
            <a:r>
              <a:rPr lang="en-US" sz="900" dirty="0">
                <a:solidFill>
                  <a:srgbClr val="AABCCC"/>
                </a:solidFill>
                <a:latin typeface="Calibri" pitchFamily="34" charset="0"/>
                <a:ea typeface="Calibri" pitchFamily="34" charset="-122"/>
                <a:cs typeface="Calibri" pitchFamily="34" charset="-120"/>
              </a:rPr>
              <a:t>COVID-19 economic impact</a:t>
            </a:r>
            <a:endParaRPr lang="en-US" sz="900" dirty="0"/>
          </a:p>
        </p:txBody>
      </p:sp>
      <p:pic>
        <p:nvPicPr>
          <p:cNvPr id="57" name="Image 0" descr="preencoded.png">
            <a:extLst>
              <a:ext uri="{FF2B5EF4-FFF2-40B4-BE49-F238E27FC236}">
                <a16:creationId xmlns:a16="http://schemas.microsoft.com/office/drawing/2014/main" id="{DAC6D5A2-F421-C730-7A80-760E05BC605B}"/>
              </a:ext>
            </a:extLst>
          </p:cNvPr>
          <p:cNvPicPr>
            <a:picLocks noChangeAspect="1"/>
          </p:cNvPicPr>
          <p:nvPr/>
        </p:nvPicPr>
        <p:blipFill>
          <a:blip r:embed="rId3"/>
          <a:stretch>
            <a:fillRect/>
          </a:stretch>
        </p:blipFill>
        <p:spPr>
          <a:xfrm>
            <a:off x="8046720" y="45720"/>
            <a:ext cx="685800" cy="67665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a:extLst>
            <a:ext uri="{FF2B5EF4-FFF2-40B4-BE49-F238E27FC236}">
              <a16:creationId xmlns:a16="http://schemas.microsoft.com/office/drawing/2014/main" id="{01969271-8E52-5301-A52C-E4880184C9F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0B4A03C-BD59-56E6-F630-68567DFEB0B1}"/>
              </a:ext>
            </a:extLst>
          </p:cNvPr>
          <p:cNvSpPr/>
          <p:nvPr/>
        </p:nvSpPr>
        <p:spPr>
          <a:xfrm>
            <a:off x="0" y="0"/>
            <a:ext cx="9144000" cy="777240"/>
          </a:xfrm>
          <a:prstGeom prst="rect">
            <a:avLst/>
          </a:prstGeom>
          <a:gradFill flip="none" rotWithShape="1">
            <a:gsLst>
              <a:gs pos="0">
                <a:srgbClr val="121358"/>
              </a:gs>
              <a:gs pos="75000">
                <a:srgbClr val="36ADA3"/>
              </a:gs>
              <a:gs pos="93000">
                <a:schemeClr val="accent1">
                  <a:lumMod val="40000"/>
                  <a:lumOff val="60000"/>
                </a:schemeClr>
              </a:gs>
            </a:gsLst>
            <a:lin ang="0" scaled="1"/>
          </a:gradFill>
          <a:ln/>
        </p:spPr>
        <p:txBody>
          <a:bodyPr/>
          <a:lstStyle/>
          <a:p>
            <a:endParaRPr lang="en-US"/>
          </a:p>
        </p:txBody>
      </p:sp>
      <p:sp>
        <p:nvSpPr>
          <p:cNvPr id="3" name="Text 1">
            <a:extLst>
              <a:ext uri="{FF2B5EF4-FFF2-40B4-BE49-F238E27FC236}">
                <a16:creationId xmlns:a16="http://schemas.microsoft.com/office/drawing/2014/main" id="{CAF51C8F-5643-6F5A-9816-C3015E2FF7A9}"/>
              </a:ext>
            </a:extLst>
          </p:cNvPr>
          <p:cNvSpPr/>
          <p:nvPr/>
        </p:nvSpPr>
        <p:spPr>
          <a:xfrm>
            <a:off x="365760" y="91440"/>
            <a:ext cx="8229600" cy="594360"/>
          </a:xfrm>
          <a:prstGeom prst="rect">
            <a:avLst/>
          </a:prstGeom>
          <a:noFill/>
          <a:ln/>
        </p:spPr>
        <p:txBody>
          <a:bodyPr wrap="square" rtlCol="0" anchor="ctr"/>
          <a:lstStyle/>
          <a:p>
            <a:pPr marL="0" indent="0">
              <a:buNone/>
            </a:pPr>
            <a:r>
              <a:rPr lang="en-US" sz="2600" b="1" dirty="0">
                <a:solidFill>
                  <a:srgbClr val="FFFFFF"/>
                </a:solidFill>
                <a:latin typeface="Quattrocento Sans" pitchFamily="34" charset="0"/>
                <a:ea typeface="Quattrocento Sans" pitchFamily="34" charset="-122"/>
                <a:cs typeface="Quattrocento Sans" pitchFamily="34" charset="-120"/>
              </a:rPr>
              <a:t>What We Built</a:t>
            </a:r>
            <a:endParaRPr lang="en-US" sz="2600" dirty="0"/>
          </a:p>
        </p:txBody>
      </p:sp>
      <p:pic>
        <p:nvPicPr>
          <p:cNvPr id="4" name="Image 0" descr="preencoded.png">
            <a:extLst>
              <a:ext uri="{FF2B5EF4-FFF2-40B4-BE49-F238E27FC236}">
                <a16:creationId xmlns:a16="http://schemas.microsoft.com/office/drawing/2014/main" id="{048995F2-7F55-56A6-F0CA-25E87F21ADEC}"/>
              </a:ext>
            </a:extLst>
          </p:cNvPr>
          <p:cNvPicPr>
            <a:picLocks noChangeAspect="1"/>
          </p:cNvPicPr>
          <p:nvPr/>
        </p:nvPicPr>
        <p:blipFill>
          <a:blip r:embed="rId3"/>
          <a:stretch>
            <a:fillRect/>
          </a:stretch>
        </p:blipFill>
        <p:spPr>
          <a:xfrm>
            <a:off x="8046720" y="45720"/>
            <a:ext cx="685800" cy="676656"/>
          </a:xfrm>
          <a:prstGeom prst="rect">
            <a:avLst/>
          </a:prstGeom>
        </p:spPr>
      </p:pic>
      <mc:AlternateContent xmlns:mc="http://schemas.openxmlformats.org/markup-compatibility/2006" xmlns:we="http://schemas.microsoft.com/office/webextensions/webextension/2010/11" xmlns:pca="http://schemas.microsoft.com/office/powerpoint/2013/contentapp">
        <mc:Choice Requires="we pca">
          <p:graphicFrame>
            <p:nvGraphicFramePr>
              <p:cNvPr id="9" name="Add-in 8">
                <a:extLst>
                  <a:ext uri="{FF2B5EF4-FFF2-40B4-BE49-F238E27FC236}">
                    <a16:creationId xmlns:a16="http://schemas.microsoft.com/office/drawing/2014/main" id="{65A2CD88-81B6-B7B9-EE9D-8D27C2E9FF4A}"/>
                  </a:ext>
                </a:extLst>
              </p:cNvPr>
              <p:cNvGraphicFramePr>
                <a:graphicFrameLocks noGrp="1"/>
              </p:cNvGraphicFramePr>
              <p:nvPr/>
            </p:nvGraphicFramePr>
            <p:xfrm>
              <a:off x="0" y="-144780"/>
              <a:ext cx="9144000" cy="5433060"/>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xmlns="">
          <p:pic>
            <p:nvPicPr>
              <p:cNvPr id="9" name="Add-in 8">
                <a:extLst>
                  <a:ext uri="{FF2B5EF4-FFF2-40B4-BE49-F238E27FC236}">
                    <a16:creationId xmlns:a16="http://schemas.microsoft.com/office/drawing/2014/main" id="{65A2CD88-81B6-B7B9-EE9D-8D27C2E9FF4A}"/>
                  </a:ext>
                </a:extLst>
              </p:cNvPr>
              <p:cNvPicPr>
                <a:picLocks noGrp="1" noRot="1" noChangeAspect="1" noMove="1" noResize="1" noEditPoints="1" noAdjustHandles="1" noChangeArrowheads="1" noChangeShapeType="1"/>
              </p:cNvPicPr>
              <p:nvPr/>
            </p:nvPicPr>
            <p:blipFill>
              <a:blip r:embed="rId5"/>
              <a:stretch>
                <a:fillRect/>
              </a:stretch>
            </p:blipFill>
            <p:spPr>
              <a:xfrm>
                <a:off x="0" y="-144780"/>
                <a:ext cx="9144000" cy="5433060"/>
              </a:xfrm>
              <a:prstGeom prst="rect">
                <a:avLst/>
              </a:prstGeom>
            </p:spPr>
          </p:pic>
        </mc:Fallback>
      </mc:AlternateContent>
    </p:spTree>
    <p:extLst>
      <p:ext uri="{BB962C8B-B14F-4D97-AF65-F5344CB8AC3E}">
        <p14:creationId xmlns:p14="http://schemas.microsoft.com/office/powerpoint/2010/main" val="11600769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D0428C-2A6F-B491-972E-883926A13299}"/>
              </a:ext>
            </a:extLst>
          </p:cNvPr>
          <p:cNvPicPr>
            <a:picLocks noChangeAspect="1"/>
          </p:cNvPicPr>
          <p:nvPr/>
        </p:nvPicPr>
        <p:blipFill>
          <a:blip r:embed="rId2"/>
          <a:srcRect l="756" t="625" r="1866" b="1"/>
          <a:stretch>
            <a:fillRect/>
          </a:stretch>
        </p:blipFill>
        <p:spPr>
          <a:xfrm>
            <a:off x="0" y="0"/>
            <a:ext cx="9144000" cy="5135327"/>
          </a:xfrm>
          <a:prstGeom prst="rect">
            <a:avLst/>
          </a:prstGeom>
        </p:spPr>
      </p:pic>
    </p:spTree>
    <p:extLst>
      <p:ext uri="{BB962C8B-B14F-4D97-AF65-F5344CB8AC3E}">
        <p14:creationId xmlns:p14="http://schemas.microsoft.com/office/powerpoint/2010/main" val="2056846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30E91A-5FB9-82B6-DA70-8CCD8E370DC9}"/>
              </a:ext>
            </a:extLst>
          </p:cNvPr>
          <p:cNvPicPr>
            <a:picLocks noChangeAspect="1"/>
          </p:cNvPicPr>
          <p:nvPr/>
        </p:nvPicPr>
        <p:blipFill>
          <a:blip r:embed="rId2"/>
          <a:srcRect l="808" t="823" r="1299" b="1297"/>
          <a:stretch>
            <a:fillRect/>
          </a:stretch>
        </p:blipFill>
        <p:spPr>
          <a:xfrm>
            <a:off x="0" y="-45604"/>
            <a:ext cx="9144000" cy="5235502"/>
          </a:xfrm>
          <a:prstGeom prst="rect">
            <a:avLst/>
          </a:prstGeom>
        </p:spPr>
      </p:pic>
    </p:spTree>
    <p:extLst>
      <p:ext uri="{BB962C8B-B14F-4D97-AF65-F5344CB8AC3E}">
        <p14:creationId xmlns:p14="http://schemas.microsoft.com/office/powerpoint/2010/main" val="376715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AD5A77-6CEE-D8C6-7837-6DB36BF66BD9}"/>
              </a:ext>
            </a:extLst>
          </p:cNvPr>
          <p:cNvPicPr>
            <a:picLocks noChangeAspect="1"/>
          </p:cNvPicPr>
          <p:nvPr/>
        </p:nvPicPr>
        <p:blipFill>
          <a:blip r:embed="rId2"/>
          <a:srcRect l="2385" t="1375" r="1638" b="3038"/>
          <a:stretch>
            <a:fillRect/>
          </a:stretch>
        </p:blipFill>
        <p:spPr>
          <a:xfrm>
            <a:off x="1" y="-40696"/>
            <a:ext cx="9132206" cy="5107996"/>
          </a:xfrm>
          <a:prstGeom prst="rect">
            <a:avLst/>
          </a:prstGeom>
        </p:spPr>
      </p:pic>
    </p:spTree>
    <p:extLst>
      <p:ext uri="{BB962C8B-B14F-4D97-AF65-F5344CB8AC3E}">
        <p14:creationId xmlns:p14="http://schemas.microsoft.com/office/powerpoint/2010/main" val="862074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AF96DB-9811-73AB-D7B9-922E94F2DE87}"/>
              </a:ext>
            </a:extLst>
          </p:cNvPr>
          <p:cNvPicPr>
            <a:picLocks noChangeAspect="1"/>
          </p:cNvPicPr>
          <p:nvPr/>
        </p:nvPicPr>
        <p:blipFill>
          <a:blip r:embed="rId2"/>
          <a:srcRect l="1297" t="1482" r="1579" b="1648"/>
          <a:stretch>
            <a:fillRect/>
          </a:stretch>
        </p:blipFill>
        <p:spPr>
          <a:xfrm>
            <a:off x="-1" y="-1520"/>
            <a:ext cx="9131968" cy="5145020"/>
          </a:xfrm>
          <a:prstGeom prst="rect">
            <a:avLst/>
          </a:prstGeom>
        </p:spPr>
      </p:pic>
    </p:spTree>
    <p:extLst>
      <p:ext uri="{BB962C8B-B14F-4D97-AF65-F5344CB8AC3E}">
        <p14:creationId xmlns:p14="http://schemas.microsoft.com/office/powerpoint/2010/main" val="4517324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661E58-8538-7FC3-312C-CDFE8A0F0DA5}"/>
              </a:ext>
            </a:extLst>
          </p:cNvPr>
          <p:cNvPicPr>
            <a:picLocks noChangeAspect="1"/>
          </p:cNvPicPr>
          <p:nvPr/>
        </p:nvPicPr>
        <p:blipFill>
          <a:blip r:embed="rId2"/>
          <a:srcRect l="1026" t="2259" r="2619" b="4673"/>
          <a:stretch>
            <a:fillRect/>
          </a:stretch>
        </p:blipFill>
        <p:spPr>
          <a:xfrm>
            <a:off x="1" y="-22089"/>
            <a:ext cx="9178302" cy="5165588"/>
          </a:xfrm>
          <a:prstGeom prst="rect">
            <a:avLst/>
          </a:prstGeom>
        </p:spPr>
      </p:pic>
    </p:spTree>
    <p:extLst>
      <p:ext uri="{BB962C8B-B14F-4D97-AF65-F5344CB8AC3E}">
        <p14:creationId xmlns:p14="http://schemas.microsoft.com/office/powerpoint/2010/main" val="24647261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6F4E22-BDDE-68DC-1C55-1AA25C084A86}"/>
              </a:ext>
            </a:extLst>
          </p:cNvPr>
          <p:cNvPicPr>
            <a:picLocks noChangeAspect="1"/>
          </p:cNvPicPr>
          <p:nvPr/>
        </p:nvPicPr>
        <p:blipFill>
          <a:blip r:embed="rId2"/>
          <a:srcRect l="1312" t="1494" r="1219" b="3241"/>
          <a:stretch>
            <a:fillRect/>
          </a:stretch>
        </p:blipFill>
        <p:spPr>
          <a:xfrm>
            <a:off x="0" y="2472"/>
            <a:ext cx="9144000" cy="5080984"/>
          </a:xfrm>
          <a:prstGeom prst="rect">
            <a:avLst/>
          </a:prstGeom>
        </p:spPr>
      </p:pic>
    </p:spTree>
    <p:extLst>
      <p:ext uri="{BB962C8B-B14F-4D97-AF65-F5344CB8AC3E}">
        <p14:creationId xmlns:p14="http://schemas.microsoft.com/office/powerpoint/2010/main" val="24948194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A42A90-3CCF-2028-C1F2-50666E2C248E}"/>
              </a:ext>
            </a:extLst>
          </p:cNvPr>
          <p:cNvPicPr>
            <a:picLocks noChangeAspect="1"/>
          </p:cNvPicPr>
          <p:nvPr/>
        </p:nvPicPr>
        <p:blipFill>
          <a:blip r:embed="rId2"/>
          <a:srcRect l="1451" t="1974" r="1639" b="2139"/>
          <a:stretch>
            <a:fillRect/>
          </a:stretch>
        </p:blipFill>
        <p:spPr>
          <a:xfrm>
            <a:off x="0" y="0"/>
            <a:ext cx="9144000" cy="5184559"/>
          </a:xfrm>
          <a:prstGeom prst="rect">
            <a:avLst/>
          </a:prstGeom>
        </p:spPr>
      </p:pic>
    </p:spTree>
    <p:extLst>
      <p:ext uri="{BB962C8B-B14F-4D97-AF65-F5344CB8AC3E}">
        <p14:creationId xmlns:p14="http://schemas.microsoft.com/office/powerpoint/2010/main" val="26358473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C814F3-F35F-1BB2-BE0D-CBFA00D7321E}"/>
              </a:ext>
            </a:extLst>
          </p:cNvPr>
          <p:cNvPicPr>
            <a:picLocks noChangeAspect="1"/>
          </p:cNvPicPr>
          <p:nvPr/>
        </p:nvPicPr>
        <p:blipFill>
          <a:blip r:embed="rId2"/>
          <a:srcRect l="1122" t="1422" r="1680" b="1751"/>
          <a:stretch>
            <a:fillRect/>
          </a:stretch>
        </p:blipFill>
        <p:spPr>
          <a:xfrm>
            <a:off x="1" y="0"/>
            <a:ext cx="9197339" cy="5188920"/>
          </a:xfrm>
          <a:prstGeom prst="rect">
            <a:avLst/>
          </a:prstGeom>
        </p:spPr>
      </p:pic>
    </p:spTree>
    <p:extLst>
      <p:ext uri="{BB962C8B-B14F-4D97-AF65-F5344CB8AC3E}">
        <p14:creationId xmlns:p14="http://schemas.microsoft.com/office/powerpoint/2010/main" val="31732364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F078A2-6927-5018-E290-246592FF45B9}"/>
              </a:ext>
            </a:extLst>
          </p:cNvPr>
          <p:cNvPicPr>
            <a:picLocks noChangeAspect="1"/>
          </p:cNvPicPr>
          <p:nvPr/>
        </p:nvPicPr>
        <p:blipFill>
          <a:blip r:embed="rId2"/>
          <a:srcRect l="2271" t="2595" r="1622" b="2758"/>
          <a:stretch>
            <a:fillRect/>
          </a:stretch>
        </p:blipFill>
        <p:spPr>
          <a:xfrm>
            <a:off x="1" y="-14081"/>
            <a:ext cx="9204959" cy="5168321"/>
          </a:xfrm>
          <a:prstGeom prst="rect">
            <a:avLst/>
          </a:prstGeom>
        </p:spPr>
      </p:pic>
    </p:spTree>
    <p:extLst>
      <p:ext uri="{BB962C8B-B14F-4D97-AF65-F5344CB8AC3E}">
        <p14:creationId xmlns:p14="http://schemas.microsoft.com/office/powerpoint/2010/main" val="22573319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14CF7A-8097-85C8-B171-FC50D6F4F157}"/>
              </a:ext>
            </a:extLst>
          </p:cNvPr>
          <p:cNvPicPr>
            <a:picLocks noChangeAspect="1"/>
          </p:cNvPicPr>
          <p:nvPr/>
        </p:nvPicPr>
        <p:blipFill>
          <a:blip r:embed="rId2"/>
          <a:srcRect l="1647" t="2623" r="2484" b="5163"/>
          <a:stretch>
            <a:fillRect/>
          </a:stretch>
        </p:blipFill>
        <p:spPr>
          <a:xfrm>
            <a:off x="0" y="-51318"/>
            <a:ext cx="9144000" cy="5162939"/>
          </a:xfrm>
          <a:prstGeom prst="rect">
            <a:avLst/>
          </a:prstGeom>
        </p:spPr>
      </p:pic>
    </p:spTree>
    <p:extLst>
      <p:ext uri="{BB962C8B-B14F-4D97-AF65-F5344CB8AC3E}">
        <p14:creationId xmlns:p14="http://schemas.microsoft.com/office/powerpoint/2010/main" val="23508185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96A859-0EDC-F95C-8311-6D900C0F7BE3}"/>
              </a:ext>
            </a:extLst>
          </p:cNvPr>
          <p:cNvPicPr>
            <a:picLocks noChangeAspect="1"/>
          </p:cNvPicPr>
          <p:nvPr/>
        </p:nvPicPr>
        <p:blipFill>
          <a:blip r:embed="rId2"/>
          <a:srcRect l="1141" t="2219" r="1046" b="1557"/>
          <a:stretch>
            <a:fillRect/>
          </a:stretch>
        </p:blipFill>
        <p:spPr>
          <a:xfrm>
            <a:off x="-23779" y="0"/>
            <a:ext cx="9167779" cy="5156321"/>
          </a:xfrm>
          <a:prstGeom prst="rect">
            <a:avLst/>
          </a:prstGeom>
        </p:spPr>
      </p:pic>
    </p:spTree>
    <p:extLst>
      <p:ext uri="{BB962C8B-B14F-4D97-AF65-F5344CB8AC3E}">
        <p14:creationId xmlns:p14="http://schemas.microsoft.com/office/powerpoint/2010/main" val="16294875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CEAD06-8F86-8422-5A76-3D6E9B9A1077}"/>
              </a:ext>
            </a:extLst>
          </p:cNvPr>
          <p:cNvPicPr>
            <a:picLocks noChangeAspect="1"/>
          </p:cNvPicPr>
          <p:nvPr/>
        </p:nvPicPr>
        <p:blipFill>
          <a:blip r:embed="rId2"/>
          <a:srcRect l="1864" t="2988" r="2417" b="3638"/>
          <a:stretch>
            <a:fillRect/>
          </a:stretch>
        </p:blipFill>
        <p:spPr>
          <a:xfrm>
            <a:off x="0" y="0"/>
            <a:ext cx="9144000" cy="5075098"/>
          </a:xfrm>
          <a:prstGeom prst="rect">
            <a:avLst/>
          </a:prstGeom>
        </p:spPr>
      </p:pic>
    </p:spTree>
    <p:extLst>
      <p:ext uri="{BB962C8B-B14F-4D97-AF65-F5344CB8AC3E}">
        <p14:creationId xmlns:p14="http://schemas.microsoft.com/office/powerpoint/2010/main" val="3765477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64D81C-BCEA-4E4C-32F2-69DDBC1BCB2E}"/>
              </a:ext>
            </a:extLst>
          </p:cNvPr>
          <p:cNvPicPr>
            <a:picLocks noChangeAspect="1"/>
          </p:cNvPicPr>
          <p:nvPr/>
        </p:nvPicPr>
        <p:blipFill>
          <a:blip r:embed="rId2"/>
          <a:srcRect l="385" t="674" r="766" b="1513"/>
          <a:stretch>
            <a:fillRect/>
          </a:stretch>
        </p:blipFill>
        <p:spPr>
          <a:xfrm>
            <a:off x="0" y="-11028"/>
            <a:ext cx="9144000" cy="5144603"/>
          </a:xfrm>
          <a:prstGeom prst="rect">
            <a:avLst/>
          </a:prstGeom>
        </p:spPr>
      </p:pic>
    </p:spTree>
    <p:extLst>
      <p:ext uri="{BB962C8B-B14F-4D97-AF65-F5344CB8AC3E}">
        <p14:creationId xmlns:p14="http://schemas.microsoft.com/office/powerpoint/2010/main" val="21606421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E5D7A3-61B1-F5A2-D912-A1291D3C884B}"/>
              </a:ext>
            </a:extLst>
          </p:cNvPr>
          <p:cNvPicPr>
            <a:picLocks noChangeAspect="1"/>
          </p:cNvPicPr>
          <p:nvPr/>
        </p:nvPicPr>
        <p:blipFill>
          <a:blip r:embed="rId2"/>
          <a:srcRect l="1451" t="1362" r="1262" b="3172"/>
          <a:stretch>
            <a:fillRect/>
          </a:stretch>
        </p:blipFill>
        <p:spPr>
          <a:xfrm>
            <a:off x="0" y="0"/>
            <a:ext cx="9144000" cy="5129129"/>
          </a:xfrm>
          <a:prstGeom prst="rect">
            <a:avLst/>
          </a:prstGeom>
        </p:spPr>
      </p:pic>
    </p:spTree>
    <p:extLst>
      <p:ext uri="{BB962C8B-B14F-4D97-AF65-F5344CB8AC3E}">
        <p14:creationId xmlns:p14="http://schemas.microsoft.com/office/powerpoint/2010/main" val="34146693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D54F84-C822-2A51-81E6-73BF719712C6}"/>
              </a:ext>
            </a:extLst>
          </p:cNvPr>
          <p:cNvPicPr>
            <a:picLocks noChangeAspect="1"/>
          </p:cNvPicPr>
          <p:nvPr/>
        </p:nvPicPr>
        <p:blipFill>
          <a:blip r:embed="rId2"/>
          <a:srcRect l="1400" t="1841" r="1400" b="2174"/>
          <a:stretch>
            <a:fillRect/>
          </a:stretch>
        </p:blipFill>
        <p:spPr>
          <a:xfrm>
            <a:off x="1" y="104"/>
            <a:ext cx="9143999" cy="5128053"/>
          </a:xfrm>
          <a:prstGeom prst="rect">
            <a:avLst/>
          </a:prstGeom>
        </p:spPr>
      </p:pic>
    </p:spTree>
    <p:extLst>
      <p:ext uri="{BB962C8B-B14F-4D97-AF65-F5344CB8AC3E}">
        <p14:creationId xmlns:p14="http://schemas.microsoft.com/office/powerpoint/2010/main" val="29774626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515328-251D-D8EB-DBFF-E3B16AD2C132}"/>
              </a:ext>
            </a:extLst>
          </p:cNvPr>
          <p:cNvPicPr>
            <a:picLocks noChangeAspect="1"/>
          </p:cNvPicPr>
          <p:nvPr/>
        </p:nvPicPr>
        <p:blipFill>
          <a:blip r:embed="rId2"/>
          <a:srcRect l="195" t="1254" r="1058" b="921"/>
          <a:stretch>
            <a:fillRect/>
          </a:stretch>
        </p:blipFill>
        <p:spPr>
          <a:xfrm>
            <a:off x="0" y="-4177"/>
            <a:ext cx="9144000" cy="5147677"/>
          </a:xfrm>
          <a:prstGeom prst="rect">
            <a:avLst/>
          </a:prstGeom>
        </p:spPr>
      </p:pic>
    </p:spTree>
    <p:extLst>
      <p:ext uri="{BB962C8B-B14F-4D97-AF65-F5344CB8AC3E}">
        <p14:creationId xmlns:p14="http://schemas.microsoft.com/office/powerpoint/2010/main" val="28251783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E606CC-4AA2-336A-1EA5-25D6186B399B}"/>
              </a:ext>
            </a:extLst>
          </p:cNvPr>
          <p:cNvPicPr>
            <a:picLocks noChangeAspect="1"/>
          </p:cNvPicPr>
          <p:nvPr/>
        </p:nvPicPr>
        <p:blipFill>
          <a:blip r:embed="rId2"/>
          <a:srcRect l="1121" t="3249" r="1867" b="2931"/>
          <a:stretch>
            <a:fillRect/>
          </a:stretch>
        </p:blipFill>
        <p:spPr>
          <a:xfrm>
            <a:off x="1" y="12235"/>
            <a:ext cx="9143999" cy="5131265"/>
          </a:xfrm>
          <a:prstGeom prst="rect">
            <a:avLst/>
          </a:prstGeom>
        </p:spPr>
      </p:pic>
    </p:spTree>
    <p:extLst>
      <p:ext uri="{BB962C8B-B14F-4D97-AF65-F5344CB8AC3E}">
        <p14:creationId xmlns:p14="http://schemas.microsoft.com/office/powerpoint/2010/main" val="3361810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6AFF5C-81DF-21E2-1CCB-2397D176B99F}"/>
              </a:ext>
            </a:extLst>
          </p:cNvPr>
          <p:cNvPicPr>
            <a:picLocks noChangeAspect="1"/>
          </p:cNvPicPr>
          <p:nvPr/>
        </p:nvPicPr>
        <p:blipFill>
          <a:blip r:embed="rId2"/>
          <a:srcRect l="1182" t="1679" r="992" b="1679"/>
          <a:stretch>
            <a:fillRect/>
          </a:stretch>
        </p:blipFill>
        <p:spPr>
          <a:xfrm>
            <a:off x="0" y="1282"/>
            <a:ext cx="9144000" cy="5132382"/>
          </a:xfrm>
          <a:prstGeom prst="rect">
            <a:avLst/>
          </a:prstGeom>
        </p:spPr>
      </p:pic>
    </p:spTree>
    <p:extLst>
      <p:ext uri="{BB962C8B-B14F-4D97-AF65-F5344CB8AC3E}">
        <p14:creationId xmlns:p14="http://schemas.microsoft.com/office/powerpoint/2010/main" val="13751564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FE1CA6-B2DA-36DF-3017-6669F8811BA6}"/>
              </a:ext>
            </a:extLst>
          </p:cNvPr>
          <p:cNvPicPr>
            <a:picLocks noChangeAspect="1"/>
          </p:cNvPicPr>
          <p:nvPr/>
        </p:nvPicPr>
        <p:blipFill>
          <a:blip r:embed="rId2"/>
          <a:srcRect l="836" t="1602" r="1502" b="2599"/>
          <a:stretch>
            <a:fillRect/>
          </a:stretch>
        </p:blipFill>
        <p:spPr>
          <a:xfrm>
            <a:off x="1" y="-4816"/>
            <a:ext cx="9143999" cy="5137379"/>
          </a:xfrm>
          <a:prstGeom prst="rect">
            <a:avLst/>
          </a:prstGeom>
        </p:spPr>
      </p:pic>
    </p:spTree>
    <p:extLst>
      <p:ext uri="{BB962C8B-B14F-4D97-AF65-F5344CB8AC3E}">
        <p14:creationId xmlns:p14="http://schemas.microsoft.com/office/powerpoint/2010/main" val="33209063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FE887F-D5DA-B870-2E00-800DB82C1FD5}"/>
              </a:ext>
            </a:extLst>
          </p:cNvPr>
          <p:cNvPicPr>
            <a:picLocks noChangeAspect="1"/>
          </p:cNvPicPr>
          <p:nvPr/>
        </p:nvPicPr>
        <p:blipFill>
          <a:blip r:embed="rId2"/>
          <a:srcRect l="1234" t="3831" r="1141" b="3672"/>
          <a:stretch>
            <a:fillRect/>
          </a:stretch>
        </p:blipFill>
        <p:spPr>
          <a:xfrm>
            <a:off x="1" y="1390"/>
            <a:ext cx="9143999" cy="5144054"/>
          </a:xfrm>
          <a:prstGeom prst="rect">
            <a:avLst/>
          </a:prstGeom>
        </p:spPr>
      </p:pic>
    </p:spTree>
    <p:extLst>
      <p:ext uri="{BB962C8B-B14F-4D97-AF65-F5344CB8AC3E}">
        <p14:creationId xmlns:p14="http://schemas.microsoft.com/office/powerpoint/2010/main" val="4839272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71E835-0102-E8B1-8CD5-C151A43DA2C4}"/>
              </a:ext>
            </a:extLst>
          </p:cNvPr>
          <p:cNvPicPr>
            <a:picLocks noChangeAspect="1"/>
          </p:cNvPicPr>
          <p:nvPr/>
        </p:nvPicPr>
        <p:blipFill>
          <a:blip r:embed="rId2"/>
          <a:srcRect l="677" t="2522" r="866" b="2363"/>
          <a:stretch>
            <a:fillRect/>
          </a:stretch>
        </p:blipFill>
        <p:spPr>
          <a:xfrm>
            <a:off x="0" y="-8878"/>
            <a:ext cx="9144000" cy="5177506"/>
          </a:xfrm>
          <a:prstGeom prst="rect">
            <a:avLst/>
          </a:prstGeom>
        </p:spPr>
      </p:pic>
    </p:spTree>
    <p:extLst>
      <p:ext uri="{BB962C8B-B14F-4D97-AF65-F5344CB8AC3E}">
        <p14:creationId xmlns:p14="http://schemas.microsoft.com/office/powerpoint/2010/main" val="11952798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D6C2DB-6C35-276F-7927-FEE791510050}"/>
              </a:ext>
            </a:extLst>
          </p:cNvPr>
          <p:cNvPicPr>
            <a:picLocks noChangeAspect="1"/>
          </p:cNvPicPr>
          <p:nvPr/>
        </p:nvPicPr>
        <p:blipFill>
          <a:blip r:embed="rId2"/>
          <a:srcRect l="902" t="2540" r="1468" b="1709"/>
          <a:stretch>
            <a:fillRect/>
          </a:stretch>
        </p:blipFill>
        <p:spPr>
          <a:xfrm>
            <a:off x="1" y="-6914"/>
            <a:ext cx="9144000" cy="5097074"/>
          </a:xfrm>
          <a:prstGeom prst="rect">
            <a:avLst/>
          </a:prstGeom>
        </p:spPr>
      </p:pic>
    </p:spTree>
    <p:extLst>
      <p:ext uri="{BB962C8B-B14F-4D97-AF65-F5344CB8AC3E}">
        <p14:creationId xmlns:p14="http://schemas.microsoft.com/office/powerpoint/2010/main" val="37437332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ACBA2F-3B68-FA2D-3B47-2C7F074B99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692"/>
            <a:ext cx="9144000" cy="5070117"/>
          </a:xfrm>
          <a:prstGeom prst="rect">
            <a:avLst/>
          </a:prstGeom>
        </p:spPr>
      </p:pic>
    </p:spTree>
    <p:extLst>
      <p:ext uri="{BB962C8B-B14F-4D97-AF65-F5344CB8AC3E}">
        <p14:creationId xmlns:p14="http://schemas.microsoft.com/office/powerpoint/2010/main" val="17360968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7362E7C-CE16-B7D1-FBAA-5F1A54A45B9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7A9D1D7-9177-DEBF-F0BA-62BA90CCE0AE}"/>
              </a:ext>
            </a:extLst>
          </p:cNvPr>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dirty="0"/>
          </a:p>
        </p:txBody>
      </p:sp>
      <p:sp>
        <p:nvSpPr>
          <p:cNvPr id="3" name="Text 1">
            <a:extLst>
              <a:ext uri="{FF2B5EF4-FFF2-40B4-BE49-F238E27FC236}">
                <a16:creationId xmlns:a16="http://schemas.microsoft.com/office/drawing/2014/main" id="{355C7953-BD2C-840A-D7B6-4700247272D9}"/>
              </a:ext>
            </a:extLst>
          </p:cNvPr>
          <p:cNvSpPr/>
          <p:nvPr/>
        </p:nvSpPr>
        <p:spPr>
          <a:xfrm>
            <a:off x="365760" y="91440"/>
            <a:ext cx="7772400" cy="594360"/>
          </a:xfrm>
          <a:prstGeom prst="rect">
            <a:avLst/>
          </a:prstGeom>
          <a:noFill/>
          <a:ln/>
        </p:spPr>
        <p:txBody>
          <a:bodyPr wrap="square" rtlCol="0" anchor="ctr"/>
          <a:lstStyle/>
          <a:p>
            <a:r>
              <a:rPr lang="en-US" sz="2200" b="1" dirty="0">
                <a:solidFill>
                  <a:srgbClr val="FFFFFF"/>
                </a:solidFill>
                <a:latin typeface="Calibri" pitchFamily="34" charset="0"/>
                <a:ea typeface="Calibri" pitchFamily="34" charset="-122"/>
                <a:cs typeface="Calibri" pitchFamily="34" charset="-120"/>
              </a:rPr>
              <a:t>Tableau Dashboards</a:t>
            </a:r>
            <a:endParaRPr lang="en-US" sz="2200" dirty="0"/>
          </a:p>
        </p:txBody>
      </p:sp>
      <p:pic>
        <p:nvPicPr>
          <p:cNvPr id="4" name="Image 0" descr="preencoded.png">
            <a:extLst>
              <a:ext uri="{FF2B5EF4-FFF2-40B4-BE49-F238E27FC236}">
                <a16:creationId xmlns:a16="http://schemas.microsoft.com/office/drawing/2014/main" id="{1246F7EB-31B6-2970-D4E2-28B356B6D457}"/>
              </a:ext>
            </a:extLst>
          </p:cNvPr>
          <p:cNvPicPr>
            <a:picLocks noChangeAspect="1"/>
          </p:cNvPicPr>
          <p:nvPr/>
        </p:nvPicPr>
        <p:blipFill>
          <a:blip r:embed="rId3"/>
          <a:stretch>
            <a:fillRect/>
          </a:stretch>
        </p:blipFill>
        <p:spPr>
          <a:xfrm>
            <a:off x="8046720" y="45720"/>
            <a:ext cx="685800" cy="676656"/>
          </a:xfrm>
          <a:prstGeom prst="rect">
            <a:avLst/>
          </a:prstGeom>
        </p:spPr>
      </p:pic>
      <p:sp>
        <p:nvSpPr>
          <p:cNvPr id="29" name="Text 23">
            <a:extLst>
              <a:ext uri="{FF2B5EF4-FFF2-40B4-BE49-F238E27FC236}">
                <a16:creationId xmlns:a16="http://schemas.microsoft.com/office/drawing/2014/main" id="{8F0F8118-D9BD-9EA4-EE51-5FE797870264}"/>
              </a:ext>
            </a:extLst>
          </p:cNvPr>
          <p:cNvSpPr/>
          <p:nvPr/>
        </p:nvSpPr>
        <p:spPr>
          <a:xfrm>
            <a:off x="236583" y="3856482"/>
            <a:ext cx="640080" cy="308610"/>
          </a:xfrm>
          <a:prstGeom prst="rect">
            <a:avLst/>
          </a:prstGeom>
          <a:noFill/>
          <a:ln/>
        </p:spPr>
        <p:txBody>
          <a:bodyPr wrap="square" lIns="0" tIns="0" rIns="0" bIns="0" rtlCol="0" anchor="ctr"/>
          <a:lstStyle/>
          <a:p>
            <a:pPr marL="0" indent="0" algn="ctr">
              <a:buNone/>
            </a:pPr>
            <a:r>
              <a:rPr lang="en-US" sz="900" b="1" dirty="0">
                <a:solidFill>
                  <a:srgbClr val="FFFFFF"/>
                </a:solidFill>
              </a:rPr>
              <a:t>Output</a:t>
            </a:r>
            <a:endParaRPr lang="en-US" sz="900" dirty="0"/>
          </a:p>
        </p:txBody>
      </p:sp>
      <p:sp>
        <p:nvSpPr>
          <p:cNvPr id="54" name="Shape 18">
            <a:extLst>
              <a:ext uri="{FF2B5EF4-FFF2-40B4-BE49-F238E27FC236}">
                <a16:creationId xmlns:a16="http://schemas.microsoft.com/office/drawing/2014/main" id="{D7DD7704-0F94-DA83-1969-0165095082E8}"/>
              </a:ext>
            </a:extLst>
          </p:cNvPr>
          <p:cNvSpPr/>
          <p:nvPr/>
        </p:nvSpPr>
        <p:spPr>
          <a:xfrm>
            <a:off x="365759" y="1614488"/>
            <a:ext cx="2306003" cy="3144964"/>
          </a:xfrm>
          <a:prstGeom prst="rect">
            <a:avLst/>
          </a:prstGeom>
          <a:solidFill>
            <a:srgbClr val="1E3060"/>
          </a:solidFill>
          <a:ln/>
          <a:effectLst>
            <a:outerShdw blurRad="76200" dist="25400" dir="8100000" algn="bl" rotWithShape="0">
              <a:srgbClr val="000000">
                <a:alpha val="15000"/>
              </a:srgbClr>
            </a:outerShdw>
          </a:effectLst>
        </p:spPr>
        <p:txBody>
          <a:bodyPr/>
          <a:lstStyle/>
          <a:p>
            <a:endParaRPr lang="en-US"/>
          </a:p>
        </p:txBody>
      </p:sp>
      <p:sp>
        <p:nvSpPr>
          <p:cNvPr id="57" name="Shape 16">
            <a:extLst>
              <a:ext uri="{FF2B5EF4-FFF2-40B4-BE49-F238E27FC236}">
                <a16:creationId xmlns:a16="http://schemas.microsoft.com/office/drawing/2014/main" id="{43A9983F-0097-297C-6F00-7DBD536B28CB}"/>
              </a:ext>
            </a:extLst>
          </p:cNvPr>
          <p:cNvSpPr/>
          <p:nvPr/>
        </p:nvSpPr>
        <p:spPr>
          <a:xfrm>
            <a:off x="320040" y="1614488"/>
            <a:ext cx="64008" cy="3144963"/>
          </a:xfrm>
          <a:prstGeom prst="rect">
            <a:avLst/>
          </a:prstGeom>
          <a:solidFill>
            <a:srgbClr val="36ADA3"/>
          </a:solidFill>
          <a:ln/>
        </p:spPr>
        <p:txBody>
          <a:bodyPr/>
          <a:lstStyle/>
          <a:p>
            <a:endParaRPr lang="en-US"/>
          </a:p>
        </p:txBody>
      </p:sp>
      <p:sp>
        <p:nvSpPr>
          <p:cNvPr id="60" name="Shape 20">
            <a:extLst>
              <a:ext uri="{FF2B5EF4-FFF2-40B4-BE49-F238E27FC236}">
                <a16:creationId xmlns:a16="http://schemas.microsoft.com/office/drawing/2014/main" id="{DBC187EF-E42D-BDC0-011D-29285577ED1A}"/>
              </a:ext>
            </a:extLst>
          </p:cNvPr>
          <p:cNvSpPr/>
          <p:nvPr/>
        </p:nvSpPr>
        <p:spPr>
          <a:xfrm>
            <a:off x="1244440" y="1911096"/>
            <a:ext cx="548640" cy="548640"/>
          </a:xfrm>
          <a:prstGeom prst="ellipse">
            <a:avLst/>
          </a:prstGeom>
          <a:solidFill>
            <a:srgbClr val="36ADA3"/>
          </a:solidFill>
          <a:ln/>
        </p:spPr>
        <p:txBody>
          <a:bodyPr/>
          <a:lstStyle/>
          <a:p>
            <a:pPr algn="ctr"/>
            <a:r>
              <a:rPr lang="en-US" b="1" dirty="0">
                <a:solidFill>
                  <a:srgbClr val="08204F"/>
                </a:solidFill>
              </a:rPr>
              <a:t>1</a:t>
            </a:r>
          </a:p>
        </p:txBody>
      </p:sp>
      <p:sp>
        <p:nvSpPr>
          <p:cNvPr id="63" name="Text 23">
            <a:extLst>
              <a:ext uri="{FF2B5EF4-FFF2-40B4-BE49-F238E27FC236}">
                <a16:creationId xmlns:a16="http://schemas.microsoft.com/office/drawing/2014/main" id="{B81A18CF-6B82-A327-992D-EC2BBD1EB3E8}"/>
              </a:ext>
            </a:extLst>
          </p:cNvPr>
          <p:cNvSpPr/>
          <p:nvPr/>
        </p:nvSpPr>
        <p:spPr>
          <a:xfrm>
            <a:off x="457200" y="2571751"/>
            <a:ext cx="2128838" cy="514350"/>
          </a:xfrm>
          <a:prstGeom prst="rect">
            <a:avLst/>
          </a:prstGeom>
          <a:noFill/>
          <a:ln/>
        </p:spPr>
        <p:txBody>
          <a:bodyPr wrap="square" lIns="0" tIns="0" rIns="0" bIns="0" rtlCol="0" anchor="ctr"/>
          <a:lstStyle/>
          <a:p>
            <a:pPr algn="ctr">
              <a:buNone/>
            </a:pPr>
            <a:r>
              <a:rPr lang="en-US" sz="1400" b="1" dirty="0">
                <a:solidFill>
                  <a:srgbClr val="36ADA3"/>
                </a:solidFill>
                <a:latin typeface="Calibri (Body)"/>
                <a:ea typeface="Calibri" panose="020F0502020204030204" pitchFamily="34" charset="0"/>
                <a:cs typeface="Calibri" panose="020F0502020204030204" pitchFamily="34" charset="0"/>
              </a:rPr>
              <a:t>Survey Coverage &amp; Representativeness</a:t>
            </a:r>
            <a:endParaRPr lang="en-US" sz="1400" dirty="0">
              <a:solidFill>
                <a:srgbClr val="36ADA3"/>
              </a:solidFill>
              <a:latin typeface="Calibri (Body)"/>
              <a:ea typeface="Calibri" panose="020F0502020204030204" pitchFamily="34" charset="0"/>
              <a:cs typeface="Calibri" panose="020F0502020204030204" pitchFamily="34" charset="0"/>
            </a:endParaRPr>
          </a:p>
        </p:txBody>
      </p:sp>
      <p:sp>
        <p:nvSpPr>
          <p:cNvPr id="64" name="Text 23">
            <a:extLst>
              <a:ext uri="{FF2B5EF4-FFF2-40B4-BE49-F238E27FC236}">
                <a16:creationId xmlns:a16="http://schemas.microsoft.com/office/drawing/2014/main" id="{90801BC4-942F-AE57-39B6-F21A562F20C1}"/>
              </a:ext>
            </a:extLst>
          </p:cNvPr>
          <p:cNvSpPr/>
          <p:nvPr/>
        </p:nvSpPr>
        <p:spPr>
          <a:xfrm>
            <a:off x="457200" y="3138531"/>
            <a:ext cx="2128838" cy="1302739"/>
          </a:xfrm>
          <a:prstGeom prst="rect">
            <a:avLst/>
          </a:prstGeom>
          <a:noFill/>
          <a:ln/>
        </p:spPr>
        <p:txBody>
          <a:bodyPr wrap="square" lIns="0" tIns="0" rIns="0" bIns="0" rtlCol="0" anchor="ctr"/>
          <a:lstStyle/>
          <a:p>
            <a:pPr algn="ctr">
              <a:buNone/>
            </a:pPr>
            <a:r>
              <a:rPr lang="en-US" sz="1100" dirty="0">
                <a:solidFill>
                  <a:schemeClr val="bg1"/>
                </a:solidFill>
                <a:latin typeface="Calibri (Body)"/>
                <a:ea typeface="Calibri" panose="020F0502020204030204" pitchFamily="34" charset="0"/>
                <a:cs typeface="Calibri" panose="020F0502020204030204" pitchFamily="34" charset="0"/>
              </a:rPr>
              <a:t>Monitors data quality and sample validity across Egypt's governorates. It tracks quarterly trends and weight distributions to ensure accurate representation of the labor force.</a:t>
            </a:r>
          </a:p>
        </p:txBody>
      </p:sp>
      <p:sp>
        <p:nvSpPr>
          <p:cNvPr id="65" name="Shape 3">
            <a:extLst>
              <a:ext uri="{FF2B5EF4-FFF2-40B4-BE49-F238E27FC236}">
                <a16:creationId xmlns:a16="http://schemas.microsoft.com/office/drawing/2014/main" id="{AC421E15-E225-4A34-E9C8-5612243B7410}"/>
              </a:ext>
            </a:extLst>
          </p:cNvPr>
          <p:cNvSpPr/>
          <p:nvPr/>
        </p:nvSpPr>
        <p:spPr>
          <a:xfrm rot="5400000">
            <a:off x="1545191" y="2279138"/>
            <a:ext cx="45719" cy="1764506"/>
          </a:xfrm>
          <a:prstGeom prst="rect">
            <a:avLst/>
          </a:prstGeom>
          <a:solidFill>
            <a:srgbClr val="36ADA3">
              <a:alpha val="32000"/>
            </a:srgbClr>
          </a:solidFill>
          <a:ln/>
        </p:spPr>
        <p:txBody>
          <a:bodyPr/>
          <a:lstStyle/>
          <a:p>
            <a:endParaRPr lang="en-US"/>
          </a:p>
        </p:txBody>
      </p:sp>
      <p:sp>
        <p:nvSpPr>
          <p:cNvPr id="66" name="Shape 18">
            <a:extLst>
              <a:ext uri="{FF2B5EF4-FFF2-40B4-BE49-F238E27FC236}">
                <a16:creationId xmlns:a16="http://schemas.microsoft.com/office/drawing/2014/main" id="{1418416A-F073-3C5B-2DD5-EF8062F3880E}"/>
              </a:ext>
            </a:extLst>
          </p:cNvPr>
          <p:cNvSpPr/>
          <p:nvPr/>
        </p:nvSpPr>
        <p:spPr>
          <a:xfrm>
            <a:off x="3414987" y="1614488"/>
            <a:ext cx="2306003" cy="3144964"/>
          </a:xfrm>
          <a:prstGeom prst="rect">
            <a:avLst/>
          </a:prstGeom>
          <a:solidFill>
            <a:srgbClr val="1E3060"/>
          </a:solidFill>
          <a:ln/>
          <a:effectLst>
            <a:outerShdw blurRad="76200" dist="25400" dir="8100000" algn="bl" rotWithShape="0">
              <a:srgbClr val="000000">
                <a:alpha val="15000"/>
              </a:srgbClr>
            </a:outerShdw>
          </a:effectLst>
        </p:spPr>
        <p:txBody>
          <a:bodyPr/>
          <a:lstStyle/>
          <a:p>
            <a:endParaRPr lang="en-US"/>
          </a:p>
        </p:txBody>
      </p:sp>
      <p:sp>
        <p:nvSpPr>
          <p:cNvPr id="67" name="Shape 16">
            <a:extLst>
              <a:ext uri="{FF2B5EF4-FFF2-40B4-BE49-F238E27FC236}">
                <a16:creationId xmlns:a16="http://schemas.microsoft.com/office/drawing/2014/main" id="{2D18B679-51AC-E643-FBB3-466DB39537ED}"/>
              </a:ext>
            </a:extLst>
          </p:cNvPr>
          <p:cNvSpPr/>
          <p:nvPr/>
        </p:nvSpPr>
        <p:spPr>
          <a:xfrm>
            <a:off x="3369268" y="1614488"/>
            <a:ext cx="64008" cy="3144963"/>
          </a:xfrm>
          <a:prstGeom prst="rect">
            <a:avLst/>
          </a:prstGeom>
          <a:solidFill>
            <a:srgbClr val="36ADA3"/>
          </a:solidFill>
          <a:ln/>
        </p:spPr>
        <p:txBody>
          <a:bodyPr/>
          <a:lstStyle/>
          <a:p>
            <a:endParaRPr lang="en-US"/>
          </a:p>
        </p:txBody>
      </p:sp>
      <p:sp>
        <p:nvSpPr>
          <p:cNvPr id="68" name="Shape 20">
            <a:extLst>
              <a:ext uri="{FF2B5EF4-FFF2-40B4-BE49-F238E27FC236}">
                <a16:creationId xmlns:a16="http://schemas.microsoft.com/office/drawing/2014/main" id="{4D740D61-CB6E-4EB6-C5B9-896D95C5063D}"/>
              </a:ext>
            </a:extLst>
          </p:cNvPr>
          <p:cNvSpPr/>
          <p:nvPr/>
        </p:nvSpPr>
        <p:spPr>
          <a:xfrm>
            <a:off x="4293668" y="1911096"/>
            <a:ext cx="548640" cy="548640"/>
          </a:xfrm>
          <a:prstGeom prst="ellipse">
            <a:avLst/>
          </a:prstGeom>
          <a:solidFill>
            <a:srgbClr val="36ADA3"/>
          </a:solidFill>
          <a:ln/>
        </p:spPr>
        <p:txBody>
          <a:bodyPr/>
          <a:lstStyle/>
          <a:p>
            <a:pPr algn="ctr"/>
            <a:r>
              <a:rPr lang="en-US" b="1" dirty="0">
                <a:solidFill>
                  <a:srgbClr val="08204F"/>
                </a:solidFill>
              </a:rPr>
              <a:t>2</a:t>
            </a:r>
          </a:p>
        </p:txBody>
      </p:sp>
      <p:sp>
        <p:nvSpPr>
          <p:cNvPr id="69" name="Text 23">
            <a:extLst>
              <a:ext uri="{FF2B5EF4-FFF2-40B4-BE49-F238E27FC236}">
                <a16:creationId xmlns:a16="http://schemas.microsoft.com/office/drawing/2014/main" id="{19859B21-C0F1-9B35-637E-48E33299BB5F}"/>
              </a:ext>
            </a:extLst>
          </p:cNvPr>
          <p:cNvSpPr/>
          <p:nvPr/>
        </p:nvSpPr>
        <p:spPr>
          <a:xfrm>
            <a:off x="3478994" y="3233962"/>
            <a:ext cx="2165415" cy="1207308"/>
          </a:xfrm>
          <a:prstGeom prst="rect">
            <a:avLst/>
          </a:prstGeom>
          <a:noFill/>
          <a:ln/>
        </p:spPr>
        <p:txBody>
          <a:bodyPr wrap="square" lIns="0" tIns="0" rIns="0" bIns="0" rtlCol="0" anchor="ctr"/>
          <a:lstStyle/>
          <a:p>
            <a:pPr algn="ctr">
              <a:buNone/>
            </a:pPr>
            <a:r>
              <a:rPr lang="en-US" sz="1100" dirty="0">
                <a:solidFill>
                  <a:schemeClr val="bg1"/>
                </a:solidFill>
                <a:latin typeface="Calibri (Body)"/>
                <a:ea typeface="Calibri" panose="020F0502020204030204" pitchFamily="34" charset="0"/>
                <a:cs typeface="Calibri" panose="020F0502020204030204" pitchFamily="34" charset="0"/>
              </a:rPr>
              <a:t>Analyzes risk factors across education levels, region types (Urban vs. Rural), and age groups to identify marginalized segments and high-risk demographic clusters.</a:t>
            </a:r>
          </a:p>
        </p:txBody>
      </p:sp>
      <p:sp>
        <p:nvSpPr>
          <p:cNvPr id="70" name="Shape 3">
            <a:extLst>
              <a:ext uri="{FF2B5EF4-FFF2-40B4-BE49-F238E27FC236}">
                <a16:creationId xmlns:a16="http://schemas.microsoft.com/office/drawing/2014/main" id="{BD02C3B8-1A88-67D7-BBBD-3BAECA0C920D}"/>
              </a:ext>
            </a:extLst>
          </p:cNvPr>
          <p:cNvSpPr/>
          <p:nvPr/>
        </p:nvSpPr>
        <p:spPr>
          <a:xfrm rot="5400000">
            <a:off x="4594419" y="2279138"/>
            <a:ext cx="45719" cy="1764506"/>
          </a:xfrm>
          <a:prstGeom prst="rect">
            <a:avLst/>
          </a:prstGeom>
          <a:solidFill>
            <a:srgbClr val="36ADA3">
              <a:alpha val="32000"/>
            </a:srgbClr>
          </a:solidFill>
          <a:ln/>
        </p:spPr>
        <p:txBody>
          <a:bodyPr/>
          <a:lstStyle/>
          <a:p>
            <a:endParaRPr lang="en-US"/>
          </a:p>
        </p:txBody>
      </p:sp>
      <p:sp>
        <p:nvSpPr>
          <p:cNvPr id="71" name="Shape 18">
            <a:extLst>
              <a:ext uri="{FF2B5EF4-FFF2-40B4-BE49-F238E27FC236}">
                <a16:creationId xmlns:a16="http://schemas.microsoft.com/office/drawing/2014/main" id="{69E93D43-7133-5D01-006E-160A4B927DAA}"/>
              </a:ext>
            </a:extLst>
          </p:cNvPr>
          <p:cNvSpPr/>
          <p:nvPr/>
        </p:nvSpPr>
        <p:spPr>
          <a:xfrm>
            <a:off x="6538811" y="1614488"/>
            <a:ext cx="2306003" cy="3144964"/>
          </a:xfrm>
          <a:prstGeom prst="rect">
            <a:avLst/>
          </a:prstGeom>
          <a:solidFill>
            <a:srgbClr val="1E3060"/>
          </a:solidFill>
          <a:ln/>
          <a:effectLst>
            <a:outerShdw blurRad="76200" dist="25400" dir="8100000" algn="bl" rotWithShape="0">
              <a:srgbClr val="000000">
                <a:alpha val="15000"/>
              </a:srgbClr>
            </a:outerShdw>
          </a:effectLst>
        </p:spPr>
        <p:txBody>
          <a:bodyPr/>
          <a:lstStyle/>
          <a:p>
            <a:endParaRPr lang="en-US"/>
          </a:p>
        </p:txBody>
      </p:sp>
      <p:sp>
        <p:nvSpPr>
          <p:cNvPr id="72" name="Shape 16">
            <a:extLst>
              <a:ext uri="{FF2B5EF4-FFF2-40B4-BE49-F238E27FC236}">
                <a16:creationId xmlns:a16="http://schemas.microsoft.com/office/drawing/2014/main" id="{048A1B31-8873-FEF5-A031-997D463A4605}"/>
              </a:ext>
            </a:extLst>
          </p:cNvPr>
          <p:cNvSpPr/>
          <p:nvPr/>
        </p:nvSpPr>
        <p:spPr>
          <a:xfrm>
            <a:off x="6493092" y="1614488"/>
            <a:ext cx="64008" cy="3144963"/>
          </a:xfrm>
          <a:prstGeom prst="rect">
            <a:avLst/>
          </a:prstGeom>
          <a:solidFill>
            <a:srgbClr val="36ADA3"/>
          </a:solidFill>
          <a:ln/>
        </p:spPr>
        <p:txBody>
          <a:bodyPr/>
          <a:lstStyle/>
          <a:p>
            <a:endParaRPr lang="en-US"/>
          </a:p>
        </p:txBody>
      </p:sp>
      <p:sp>
        <p:nvSpPr>
          <p:cNvPr id="73" name="Shape 20">
            <a:extLst>
              <a:ext uri="{FF2B5EF4-FFF2-40B4-BE49-F238E27FC236}">
                <a16:creationId xmlns:a16="http://schemas.microsoft.com/office/drawing/2014/main" id="{DEC5BFE8-DDCA-0B3B-2AF6-278EAB44FD3B}"/>
              </a:ext>
            </a:extLst>
          </p:cNvPr>
          <p:cNvSpPr/>
          <p:nvPr/>
        </p:nvSpPr>
        <p:spPr>
          <a:xfrm>
            <a:off x="7417492" y="1911096"/>
            <a:ext cx="548640" cy="548640"/>
          </a:xfrm>
          <a:prstGeom prst="ellipse">
            <a:avLst/>
          </a:prstGeom>
          <a:solidFill>
            <a:srgbClr val="36ADA3"/>
          </a:solidFill>
          <a:ln/>
        </p:spPr>
        <p:txBody>
          <a:bodyPr/>
          <a:lstStyle/>
          <a:p>
            <a:pPr algn="ctr"/>
            <a:r>
              <a:rPr lang="en-US" b="1" dirty="0">
                <a:solidFill>
                  <a:srgbClr val="08204F"/>
                </a:solidFill>
              </a:rPr>
              <a:t>3</a:t>
            </a:r>
          </a:p>
        </p:txBody>
      </p:sp>
      <p:sp>
        <p:nvSpPr>
          <p:cNvPr id="74" name="Text 23">
            <a:extLst>
              <a:ext uri="{FF2B5EF4-FFF2-40B4-BE49-F238E27FC236}">
                <a16:creationId xmlns:a16="http://schemas.microsoft.com/office/drawing/2014/main" id="{5EC57D66-F307-9FE3-B24E-F4B2E7607EDF}"/>
              </a:ext>
            </a:extLst>
          </p:cNvPr>
          <p:cNvSpPr/>
          <p:nvPr/>
        </p:nvSpPr>
        <p:spPr>
          <a:xfrm>
            <a:off x="6573102" y="3034525"/>
            <a:ext cx="2259140" cy="1406746"/>
          </a:xfrm>
          <a:prstGeom prst="rect">
            <a:avLst/>
          </a:prstGeom>
          <a:noFill/>
          <a:ln/>
        </p:spPr>
        <p:txBody>
          <a:bodyPr wrap="square" lIns="0" tIns="0" rIns="0" bIns="0" rtlCol="0" anchor="ctr"/>
          <a:lstStyle/>
          <a:p>
            <a:pPr algn="ctr">
              <a:buNone/>
            </a:pPr>
            <a:r>
              <a:rPr lang="en-US" sz="1100" dirty="0">
                <a:solidFill>
                  <a:schemeClr val="bg1"/>
                </a:solidFill>
                <a:latin typeface="Calibri (Body)"/>
                <a:ea typeface="Calibri" panose="020F0502020204030204" pitchFamily="34" charset="0"/>
                <a:cs typeface="Calibri" panose="020F0502020204030204" pitchFamily="34" charset="0"/>
              </a:rPr>
              <a:t>Provides a deep dive into wage architecture, correlating education levels with monthly income and examining salary distributions across public, private, and informal sectors.</a:t>
            </a:r>
          </a:p>
        </p:txBody>
      </p:sp>
      <p:sp>
        <p:nvSpPr>
          <p:cNvPr id="75" name="Shape 3">
            <a:extLst>
              <a:ext uri="{FF2B5EF4-FFF2-40B4-BE49-F238E27FC236}">
                <a16:creationId xmlns:a16="http://schemas.microsoft.com/office/drawing/2014/main" id="{F7508229-B308-4F35-B9AE-119ED4791950}"/>
              </a:ext>
            </a:extLst>
          </p:cNvPr>
          <p:cNvSpPr/>
          <p:nvPr/>
        </p:nvSpPr>
        <p:spPr>
          <a:xfrm rot="5400000">
            <a:off x="7718243" y="2279138"/>
            <a:ext cx="45719" cy="1764506"/>
          </a:xfrm>
          <a:prstGeom prst="rect">
            <a:avLst/>
          </a:prstGeom>
          <a:solidFill>
            <a:srgbClr val="36ADA3">
              <a:alpha val="32000"/>
            </a:srgbClr>
          </a:solidFill>
          <a:ln/>
        </p:spPr>
        <p:txBody>
          <a:bodyPr/>
          <a:lstStyle/>
          <a:p>
            <a:endParaRPr lang="en-US"/>
          </a:p>
        </p:txBody>
      </p:sp>
      <p:sp>
        <p:nvSpPr>
          <p:cNvPr id="76" name="Text 23">
            <a:extLst>
              <a:ext uri="{FF2B5EF4-FFF2-40B4-BE49-F238E27FC236}">
                <a16:creationId xmlns:a16="http://schemas.microsoft.com/office/drawing/2014/main" id="{4EFDE4E0-254D-A7D7-C6AA-736BEF16DC41}"/>
              </a:ext>
            </a:extLst>
          </p:cNvPr>
          <p:cNvSpPr/>
          <p:nvPr/>
        </p:nvSpPr>
        <p:spPr>
          <a:xfrm>
            <a:off x="3639873" y="2574469"/>
            <a:ext cx="1859659" cy="514351"/>
          </a:xfrm>
          <a:prstGeom prst="rect">
            <a:avLst/>
          </a:prstGeom>
          <a:noFill/>
          <a:ln/>
        </p:spPr>
        <p:txBody>
          <a:bodyPr wrap="square" lIns="0" tIns="0" rIns="0" bIns="0" rtlCol="0" anchor="ctr"/>
          <a:lstStyle/>
          <a:p>
            <a:pPr algn="ctr">
              <a:buNone/>
            </a:pPr>
            <a:r>
              <a:rPr lang="en-US" sz="1400" b="1" dirty="0">
                <a:solidFill>
                  <a:srgbClr val="36ADA3"/>
                </a:solidFill>
                <a:latin typeface="Calibri (Body)"/>
                <a:ea typeface="Calibri" panose="020F0502020204030204" pitchFamily="34" charset="0"/>
                <a:cs typeface="Calibri" panose="020F0502020204030204" pitchFamily="34" charset="0"/>
              </a:rPr>
              <a:t>Social Vulnerability Index</a:t>
            </a:r>
            <a:endParaRPr lang="en-US" sz="1400" dirty="0">
              <a:solidFill>
                <a:srgbClr val="36ADA3"/>
              </a:solidFill>
              <a:latin typeface="Calibri (Body)"/>
              <a:ea typeface="Calibri" panose="020F0502020204030204" pitchFamily="34" charset="0"/>
              <a:cs typeface="Calibri" panose="020F0502020204030204" pitchFamily="34" charset="0"/>
            </a:endParaRPr>
          </a:p>
        </p:txBody>
      </p:sp>
      <p:sp>
        <p:nvSpPr>
          <p:cNvPr id="77" name="Text 23">
            <a:extLst>
              <a:ext uri="{FF2B5EF4-FFF2-40B4-BE49-F238E27FC236}">
                <a16:creationId xmlns:a16="http://schemas.microsoft.com/office/drawing/2014/main" id="{2244DB4D-1DD0-4F54-61B0-E1D05D2E6AD0}"/>
              </a:ext>
            </a:extLst>
          </p:cNvPr>
          <p:cNvSpPr/>
          <p:nvPr/>
        </p:nvSpPr>
        <p:spPr>
          <a:xfrm>
            <a:off x="6649403" y="2624181"/>
            <a:ext cx="2128838" cy="514350"/>
          </a:xfrm>
          <a:prstGeom prst="rect">
            <a:avLst/>
          </a:prstGeom>
          <a:noFill/>
          <a:ln/>
        </p:spPr>
        <p:txBody>
          <a:bodyPr wrap="square" lIns="0" tIns="0" rIns="0" bIns="0" rtlCol="0" anchor="ctr"/>
          <a:lstStyle/>
          <a:p>
            <a:pPr algn="ctr">
              <a:buNone/>
            </a:pPr>
            <a:r>
              <a:rPr lang="en-US" sz="1400" b="1" dirty="0">
                <a:solidFill>
                  <a:srgbClr val="36ADA3"/>
                </a:solidFill>
                <a:latin typeface="Calibri (Body)"/>
                <a:ea typeface="Calibri" panose="020F0502020204030204" pitchFamily="34" charset="0"/>
                <a:cs typeface="Calibri" panose="020F0502020204030204" pitchFamily="34" charset="0"/>
              </a:rPr>
              <a:t>Income and Employment Statement</a:t>
            </a:r>
            <a:endParaRPr lang="en-US" sz="1400" dirty="0">
              <a:solidFill>
                <a:srgbClr val="36ADA3"/>
              </a:solidFill>
              <a:latin typeface="Calibri (Body)"/>
              <a:ea typeface="Calibri" panose="020F0502020204030204" pitchFamily="34" charset="0"/>
              <a:cs typeface="Calibri" panose="020F0502020204030204" pitchFamily="34" charset="0"/>
            </a:endParaRPr>
          </a:p>
        </p:txBody>
      </p:sp>
      <p:sp>
        <p:nvSpPr>
          <p:cNvPr id="78" name="Shape 15">
            <a:extLst>
              <a:ext uri="{FF2B5EF4-FFF2-40B4-BE49-F238E27FC236}">
                <a16:creationId xmlns:a16="http://schemas.microsoft.com/office/drawing/2014/main" id="{31263E96-9688-EC24-8380-670D7DA02B9C}"/>
              </a:ext>
            </a:extLst>
          </p:cNvPr>
          <p:cNvSpPr/>
          <p:nvPr/>
        </p:nvSpPr>
        <p:spPr>
          <a:xfrm>
            <a:off x="320040" y="930402"/>
            <a:ext cx="8503920" cy="566928"/>
          </a:xfrm>
          <a:prstGeom prst="rect">
            <a:avLst/>
          </a:prstGeom>
          <a:solidFill>
            <a:srgbClr val="1E3060"/>
          </a:solidFill>
          <a:ln/>
          <a:effectLst>
            <a:outerShdw blurRad="101600" dist="38100" dir="8100000" algn="bl" rotWithShape="0">
              <a:srgbClr val="000000">
                <a:alpha val="18000"/>
              </a:srgbClr>
            </a:outerShdw>
          </a:effectLst>
        </p:spPr>
        <p:txBody>
          <a:bodyPr/>
          <a:lstStyle/>
          <a:p>
            <a:endParaRPr lang="en-US"/>
          </a:p>
        </p:txBody>
      </p:sp>
      <p:sp>
        <p:nvSpPr>
          <p:cNvPr id="79" name="Shape 16">
            <a:extLst>
              <a:ext uri="{FF2B5EF4-FFF2-40B4-BE49-F238E27FC236}">
                <a16:creationId xmlns:a16="http://schemas.microsoft.com/office/drawing/2014/main" id="{78478265-2D7E-A1EC-DE50-B91327E0178C}"/>
              </a:ext>
            </a:extLst>
          </p:cNvPr>
          <p:cNvSpPr/>
          <p:nvPr/>
        </p:nvSpPr>
        <p:spPr>
          <a:xfrm>
            <a:off x="320040" y="930402"/>
            <a:ext cx="64008" cy="566928"/>
          </a:xfrm>
          <a:prstGeom prst="rect">
            <a:avLst/>
          </a:prstGeom>
          <a:solidFill>
            <a:srgbClr val="36ADA3"/>
          </a:solidFill>
          <a:ln/>
        </p:spPr>
        <p:txBody>
          <a:bodyPr/>
          <a:lstStyle/>
          <a:p>
            <a:endParaRPr lang="en-US"/>
          </a:p>
        </p:txBody>
      </p:sp>
      <p:sp>
        <p:nvSpPr>
          <p:cNvPr id="80" name="Text 17">
            <a:extLst>
              <a:ext uri="{FF2B5EF4-FFF2-40B4-BE49-F238E27FC236}">
                <a16:creationId xmlns:a16="http://schemas.microsoft.com/office/drawing/2014/main" id="{177917A0-FB88-BEFF-3DFA-FA1882509402}"/>
              </a:ext>
            </a:extLst>
          </p:cNvPr>
          <p:cNvSpPr/>
          <p:nvPr/>
        </p:nvSpPr>
        <p:spPr>
          <a:xfrm>
            <a:off x="502920" y="930402"/>
            <a:ext cx="8229600" cy="566928"/>
          </a:xfrm>
          <a:prstGeom prst="rect">
            <a:avLst/>
          </a:prstGeom>
          <a:noFill/>
          <a:ln/>
        </p:spPr>
        <p:txBody>
          <a:bodyPr wrap="square" lIns="0" tIns="0" rIns="0" bIns="0" rtlCol="0" anchor="ctr"/>
          <a:lstStyle/>
          <a:p>
            <a:pPr marL="0" indent="0">
              <a:buNone/>
            </a:pPr>
            <a:r>
              <a:rPr lang="en-US" sz="1400" b="1" dirty="0">
                <a:solidFill>
                  <a:srgbClr val="36ADA3"/>
                </a:solidFill>
                <a:latin typeface="Calibri" pitchFamily="34" charset="0"/>
                <a:ea typeface="Calibri" pitchFamily="34" charset="-122"/>
                <a:cs typeface="Calibri" pitchFamily="34" charset="-120"/>
              </a:rPr>
              <a:t>3 dashboards </a:t>
            </a:r>
            <a:r>
              <a:rPr lang="en-US" sz="1300" dirty="0">
                <a:solidFill>
                  <a:srgbClr val="C8D4E8"/>
                </a:solidFill>
                <a:latin typeface="Calibri" pitchFamily="34" charset="0"/>
                <a:ea typeface="Calibri" pitchFamily="34" charset="-122"/>
                <a:cs typeface="Calibri" pitchFamily="34" charset="-120"/>
              </a:rPr>
              <a:t>covering Egypt's full labor market landscape</a:t>
            </a:r>
            <a:endParaRPr lang="en-US" sz="1400" dirty="0"/>
          </a:p>
        </p:txBody>
      </p:sp>
    </p:spTree>
    <p:extLst>
      <p:ext uri="{BB962C8B-B14F-4D97-AF65-F5344CB8AC3E}">
        <p14:creationId xmlns:p14="http://schemas.microsoft.com/office/powerpoint/2010/main" val="16011640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81A6A1-924A-9A8C-816E-E550E190B44D}"/>
              </a:ext>
            </a:extLst>
          </p:cNvPr>
          <p:cNvPicPr>
            <a:picLocks noChangeAspect="1"/>
          </p:cNvPicPr>
          <p:nvPr/>
        </p:nvPicPr>
        <p:blipFill>
          <a:blip r:embed="rId2"/>
          <a:stretch>
            <a:fillRect/>
          </a:stretch>
        </p:blipFill>
        <p:spPr>
          <a:xfrm>
            <a:off x="0" y="0"/>
            <a:ext cx="9144000" cy="5072583"/>
          </a:xfrm>
          <a:prstGeom prst="rect">
            <a:avLst/>
          </a:prstGeom>
        </p:spPr>
      </p:pic>
    </p:spTree>
    <p:extLst>
      <p:ext uri="{BB962C8B-B14F-4D97-AF65-F5344CB8AC3E}">
        <p14:creationId xmlns:p14="http://schemas.microsoft.com/office/powerpoint/2010/main" val="27910498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C0C7AE-F3DD-4131-EC3C-F92ED450C7E1}"/>
              </a:ext>
            </a:extLst>
          </p:cNvPr>
          <p:cNvPicPr>
            <a:picLocks noChangeAspect="1"/>
          </p:cNvPicPr>
          <p:nvPr/>
        </p:nvPicPr>
        <p:blipFill>
          <a:blip r:embed="rId2"/>
          <a:stretch>
            <a:fillRect/>
          </a:stretch>
        </p:blipFill>
        <p:spPr>
          <a:xfrm>
            <a:off x="0" y="0"/>
            <a:ext cx="9144000" cy="5150615"/>
          </a:xfrm>
          <a:prstGeom prst="rect">
            <a:avLst/>
          </a:prstGeom>
        </p:spPr>
      </p:pic>
    </p:spTree>
    <p:extLst>
      <p:ext uri="{BB962C8B-B14F-4D97-AF65-F5344CB8AC3E}">
        <p14:creationId xmlns:p14="http://schemas.microsoft.com/office/powerpoint/2010/main" val="10283597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5E132C-98CD-69F3-40B7-02501E61A405}"/>
              </a:ext>
            </a:extLst>
          </p:cNvPr>
          <p:cNvSpPr txBox="1"/>
          <p:nvPr/>
        </p:nvSpPr>
        <p:spPr>
          <a:xfrm>
            <a:off x="2286000" y="2433250"/>
            <a:ext cx="4572000" cy="300082"/>
          </a:xfrm>
          <a:prstGeom prst="rect">
            <a:avLst/>
          </a:prstGeom>
          <a:noFill/>
        </p:spPr>
        <p:txBody>
          <a:bodyPr wrap="square">
            <a:spAutoFit/>
          </a:bodyPr>
          <a:lstStyle/>
          <a:p>
            <a:endParaRPr lang="en-US" sz="1350" dirty="0"/>
          </a:p>
        </p:txBody>
      </p:sp>
      <p:sp>
        <p:nvSpPr>
          <p:cNvPr id="5" name="TextBox 4">
            <a:extLst>
              <a:ext uri="{FF2B5EF4-FFF2-40B4-BE49-F238E27FC236}">
                <a16:creationId xmlns:a16="http://schemas.microsoft.com/office/drawing/2014/main" id="{87E6E1D7-7EE3-7706-FF20-899FBB62017C}"/>
              </a:ext>
            </a:extLst>
          </p:cNvPr>
          <p:cNvSpPr txBox="1"/>
          <p:nvPr/>
        </p:nvSpPr>
        <p:spPr>
          <a:xfrm>
            <a:off x="2286000" y="2433250"/>
            <a:ext cx="4572000" cy="300082"/>
          </a:xfrm>
          <a:prstGeom prst="rect">
            <a:avLst/>
          </a:prstGeom>
          <a:noFill/>
        </p:spPr>
        <p:txBody>
          <a:bodyPr wrap="square">
            <a:spAutoFit/>
          </a:bodyPr>
          <a:lstStyle/>
          <a:p>
            <a:endParaRPr lang="en-US" sz="1350" dirty="0"/>
          </a:p>
        </p:txBody>
      </p:sp>
      <p:pic>
        <p:nvPicPr>
          <p:cNvPr id="7" name="Picture 6">
            <a:extLst>
              <a:ext uri="{FF2B5EF4-FFF2-40B4-BE49-F238E27FC236}">
                <a16:creationId xmlns:a16="http://schemas.microsoft.com/office/drawing/2014/main" id="{AAC6D7F8-3AC8-EB3F-C52A-D623E6AA4CED}"/>
              </a:ext>
            </a:extLst>
          </p:cNvPr>
          <p:cNvPicPr>
            <a:picLocks noChangeAspect="1"/>
          </p:cNvPicPr>
          <p:nvPr/>
        </p:nvPicPr>
        <p:blipFill>
          <a:blip r:embed="rId2"/>
          <a:srcRect l="981" r="900"/>
          <a:stretch>
            <a:fillRect/>
          </a:stretch>
        </p:blipFill>
        <p:spPr>
          <a:xfrm>
            <a:off x="0" y="0"/>
            <a:ext cx="9144000" cy="5166752"/>
          </a:xfrm>
          <a:prstGeom prst="rect">
            <a:avLst/>
          </a:prstGeom>
        </p:spPr>
      </p:pic>
    </p:spTree>
    <p:extLst>
      <p:ext uri="{BB962C8B-B14F-4D97-AF65-F5344CB8AC3E}">
        <p14:creationId xmlns:p14="http://schemas.microsoft.com/office/powerpoint/2010/main" val="3581592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8204F"/>
        </a:solidFill>
        <a:effectLst/>
      </p:bgPr>
    </p:bg>
    <p:spTree>
      <p:nvGrpSpPr>
        <p:cNvPr id="1" name="">
          <a:extLst>
            <a:ext uri="{FF2B5EF4-FFF2-40B4-BE49-F238E27FC236}">
              <a16:creationId xmlns:a16="http://schemas.microsoft.com/office/drawing/2014/main" id="{F6B7D984-8961-446E-3DBB-A3CE4EFC71C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E051972-A7BB-AFFC-D488-A3BB2BDF25E3}"/>
              </a:ext>
            </a:extLst>
          </p:cNvPr>
          <p:cNvSpPr/>
          <p:nvPr/>
        </p:nvSpPr>
        <p:spPr>
          <a:xfrm>
            <a:off x="0" y="0"/>
            <a:ext cx="9144000" cy="85725"/>
          </a:xfrm>
          <a:prstGeom prst="rect">
            <a:avLst/>
          </a:prstGeom>
          <a:solidFill>
            <a:srgbClr val="2EAF8B"/>
          </a:solidFill>
          <a:ln/>
        </p:spPr>
        <p:txBody>
          <a:bodyPr/>
          <a:lstStyle/>
          <a:p>
            <a:endParaRPr lang="en-US"/>
          </a:p>
        </p:txBody>
      </p:sp>
      <p:sp>
        <p:nvSpPr>
          <p:cNvPr id="3" name="Shape 1">
            <a:extLst>
              <a:ext uri="{FF2B5EF4-FFF2-40B4-BE49-F238E27FC236}">
                <a16:creationId xmlns:a16="http://schemas.microsoft.com/office/drawing/2014/main" id="{F629155C-7BE6-69B0-6600-B95DA7C90D37}"/>
              </a:ext>
            </a:extLst>
          </p:cNvPr>
          <p:cNvSpPr/>
          <p:nvPr/>
        </p:nvSpPr>
        <p:spPr>
          <a:xfrm>
            <a:off x="0" y="5057775"/>
            <a:ext cx="9144000" cy="85725"/>
          </a:xfrm>
          <a:prstGeom prst="rect">
            <a:avLst/>
          </a:prstGeom>
          <a:solidFill>
            <a:srgbClr val="2EAF8B"/>
          </a:solidFill>
          <a:ln/>
        </p:spPr>
        <p:txBody>
          <a:bodyPr/>
          <a:lstStyle/>
          <a:p>
            <a:endParaRPr lang="en-US"/>
          </a:p>
        </p:txBody>
      </p:sp>
      <p:sp>
        <p:nvSpPr>
          <p:cNvPr id="4" name="Text 2">
            <a:extLst>
              <a:ext uri="{FF2B5EF4-FFF2-40B4-BE49-F238E27FC236}">
                <a16:creationId xmlns:a16="http://schemas.microsoft.com/office/drawing/2014/main" id="{3F047B40-51DC-4D23-6F26-C47856B31CE4}"/>
              </a:ext>
            </a:extLst>
          </p:cNvPr>
          <p:cNvSpPr/>
          <p:nvPr/>
        </p:nvSpPr>
        <p:spPr>
          <a:xfrm>
            <a:off x="0" y="1428750"/>
            <a:ext cx="9144000" cy="571500"/>
          </a:xfrm>
          <a:prstGeom prst="rect">
            <a:avLst/>
          </a:prstGeom>
          <a:noFill/>
          <a:ln/>
        </p:spPr>
        <p:txBody>
          <a:bodyPr wrap="none" lIns="0" tIns="0" rIns="0" bIns="0" rtlCol="0" anchor="ctr"/>
          <a:lstStyle/>
          <a:p>
            <a:pPr algn="ctr">
              <a:lnSpc>
                <a:spcPct val="100000"/>
              </a:lnSpc>
            </a:pPr>
            <a:r>
              <a:rPr lang="en-US" sz="4050" b="1" dirty="0">
                <a:solidFill>
                  <a:srgbClr val="2EAF8B"/>
                </a:solidFill>
                <a:latin typeface="Liter" pitchFamily="34" charset="0"/>
                <a:ea typeface="Liter" pitchFamily="34" charset="-122"/>
                <a:cs typeface="Liter" pitchFamily="34" charset="-120"/>
              </a:rPr>
              <a:t>06</a:t>
            </a:r>
            <a:endParaRPr lang="en-US" sz="900" dirty="0"/>
          </a:p>
        </p:txBody>
      </p:sp>
      <p:sp>
        <p:nvSpPr>
          <p:cNvPr id="5" name="Text 3">
            <a:extLst>
              <a:ext uri="{FF2B5EF4-FFF2-40B4-BE49-F238E27FC236}">
                <a16:creationId xmlns:a16="http://schemas.microsoft.com/office/drawing/2014/main" id="{48208428-B196-D0C5-B1AC-6DC73998EF1D}"/>
              </a:ext>
            </a:extLst>
          </p:cNvPr>
          <p:cNvSpPr/>
          <p:nvPr/>
        </p:nvSpPr>
        <p:spPr>
          <a:xfrm>
            <a:off x="0" y="2143125"/>
            <a:ext cx="9144000" cy="571500"/>
          </a:xfrm>
          <a:prstGeom prst="rect">
            <a:avLst/>
          </a:prstGeom>
          <a:noFill/>
          <a:ln/>
        </p:spPr>
        <p:txBody>
          <a:bodyPr wrap="none" lIns="0" tIns="0" rIns="0" bIns="0" rtlCol="0" anchor="ctr"/>
          <a:lstStyle/>
          <a:p>
            <a:pPr algn="ctr">
              <a:lnSpc>
                <a:spcPct val="100000"/>
              </a:lnSpc>
            </a:pPr>
            <a:r>
              <a:rPr lang="en-US" sz="2800" b="1" dirty="0">
                <a:solidFill>
                  <a:srgbClr val="FFFFFF"/>
                </a:solidFill>
                <a:ea typeface="Quattrocento Sans" pitchFamily="34" charset="-122"/>
                <a:cs typeface="Quattrocento Sans" pitchFamily="34" charset="-120"/>
              </a:rPr>
              <a:t>Power Apps</a:t>
            </a:r>
            <a:endParaRPr lang="en-US" sz="900" dirty="0"/>
          </a:p>
        </p:txBody>
      </p:sp>
      <p:sp>
        <p:nvSpPr>
          <p:cNvPr id="6" name="Text 4">
            <a:extLst>
              <a:ext uri="{FF2B5EF4-FFF2-40B4-BE49-F238E27FC236}">
                <a16:creationId xmlns:a16="http://schemas.microsoft.com/office/drawing/2014/main" id="{0A009EEB-D891-1006-7A7D-388ADC661B5B}"/>
              </a:ext>
            </a:extLst>
          </p:cNvPr>
          <p:cNvSpPr/>
          <p:nvPr/>
        </p:nvSpPr>
        <p:spPr>
          <a:xfrm>
            <a:off x="0" y="2857500"/>
            <a:ext cx="9144000" cy="357188"/>
          </a:xfrm>
          <a:prstGeom prst="rect">
            <a:avLst/>
          </a:prstGeom>
          <a:noFill/>
          <a:ln/>
        </p:spPr>
        <p:txBody>
          <a:bodyPr wrap="none" lIns="0" tIns="0" rIns="0" bIns="0" rtlCol="0" anchor="ctr"/>
          <a:lstStyle/>
          <a:p>
            <a:pPr algn="ctr">
              <a:lnSpc>
                <a:spcPct val="100000"/>
              </a:lnSpc>
            </a:pPr>
            <a:r>
              <a:rPr lang="en-US" sz="1125" dirty="0">
                <a:solidFill>
                  <a:srgbClr val="2EAF8B"/>
                </a:solidFill>
                <a:latin typeface="Liter" pitchFamily="34" charset="0"/>
                <a:ea typeface="Liter" pitchFamily="34" charset="-122"/>
                <a:cs typeface="Liter" pitchFamily="34" charset="-120"/>
              </a:rPr>
              <a:t>What is RAG and why it matters</a:t>
            </a:r>
            <a:endParaRPr lang="en-US" sz="900" dirty="0"/>
          </a:p>
        </p:txBody>
      </p:sp>
    </p:spTree>
    <p:extLst>
      <p:ext uri="{BB962C8B-B14F-4D97-AF65-F5344CB8AC3E}">
        <p14:creationId xmlns:p14="http://schemas.microsoft.com/office/powerpoint/2010/main" val="1802447822"/>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32" name="Shape 0">
            <a:extLst>
              <a:ext uri="{FF2B5EF4-FFF2-40B4-BE49-F238E27FC236}">
                <a16:creationId xmlns:a16="http://schemas.microsoft.com/office/drawing/2014/main" id="{0087C29A-F950-B22F-F1DF-5847DC713A95}"/>
              </a:ext>
            </a:extLst>
          </p:cNvPr>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2" name="Shape 0"/>
          <p:cNvSpPr/>
          <p:nvPr/>
        </p:nvSpPr>
        <p:spPr>
          <a:xfrm>
            <a:off x="0" y="0"/>
            <a:ext cx="9144000" cy="42863"/>
          </a:xfrm>
          <a:prstGeom prst="rect">
            <a:avLst/>
          </a:prstGeom>
          <a:gradFill flip="none" rotWithShape="1">
            <a:gsLst>
              <a:gs pos="0">
                <a:srgbClr val="121358"/>
              </a:gs>
              <a:gs pos="100000">
                <a:srgbClr val="36ADA3"/>
              </a:gs>
            </a:gsLst>
            <a:lin ang="0" scaled="1"/>
          </a:gradFill>
          <a:ln/>
        </p:spPr>
        <p:txBody>
          <a:bodyPr/>
          <a:lstStyle/>
          <a:p>
            <a:endParaRPr lang="en-US"/>
          </a:p>
        </p:txBody>
      </p:sp>
      <p:sp>
        <p:nvSpPr>
          <p:cNvPr id="5" name="Text 3"/>
          <p:cNvSpPr/>
          <p:nvPr/>
        </p:nvSpPr>
        <p:spPr>
          <a:xfrm>
            <a:off x="428625" y="920115"/>
            <a:ext cx="5000625" cy="330041"/>
          </a:xfrm>
          <a:prstGeom prst="rect">
            <a:avLst/>
          </a:prstGeom>
          <a:noFill/>
          <a:ln/>
        </p:spPr>
        <p:txBody>
          <a:bodyPr wrap="none" lIns="0" tIns="0" rIns="0" bIns="0" rtlCol="0" anchor="ctr"/>
          <a:lstStyle/>
          <a:p>
            <a:pPr>
              <a:lnSpc>
                <a:spcPct val="130000"/>
              </a:lnSpc>
            </a:pPr>
            <a:r>
              <a:rPr lang="en-US" sz="1575" b="1" dirty="0">
                <a:solidFill>
                  <a:srgbClr val="121358"/>
                </a:solidFill>
                <a:latin typeface="QuattrocentoSans" pitchFamily="34" charset="0"/>
                <a:ea typeface="QuattrocentoSans" pitchFamily="34" charset="-122"/>
                <a:cs typeface="QuattrocentoSans" pitchFamily="34" charset="-120"/>
              </a:rPr>
              <a:t>Database Design &amp; Sample Data</a:t>
            </a:r>
            <a:endParaRPr lang="en-US" sz="1575" dirty="0"/>
          </a:p>
        </p:txBody>
      </p:sp>
      <p:sp>
        <p:nvSpPr>
          <p:cNvPr id="7" name="Shape 5"/>
          <p:cNvSpPr/>
          <p:nvPr/>
        </p:nvSpPr>
        <p:spPr>
          <a:xfrm>
            <a:off x="428625" y="1393031"/>
            <a:ext cx="3857625" cy="3571875"/>
          </a:xfrm>
          <a:prstGeom prst="roundRect">
            <a:avLst>
              <a:gd name="adj" fmla="val 6000"/>
            </a:avLst>
          </a:prstGeom>
          <a:solidFill>
            <a:srgbClr val="FFFFFF"/>
          </a:solidFill>
          <a:ln/>
          <a:effectLst>
            <a:outerShdw blurRad="127000" dist="38100" dir="5400000" algn="bl" rotWithShape="0">
              <a:srgbClr val="121358">
                <a:alpha val="7059"/>
              </a:srgbClr>
            </a:outerShdw>
          </a:effectLst>
        </p:spPr>
        <p:txBody>
          <a:bodyPr/>
          <a:lstStyle/>
          <a:p>
            <a:endParaRPr lang="en-US"/>
          </a:p>
        </p:txBody>
      </p:sp>
      <p:sp>
        <p:nvSpPr>
          <p:cNvPr id="8" name="Shape 6"/>
          <p:cNvSpPr/>
          <p:nvPr/>
        </p:nvSpPr>
        <p:spPr>
          <a:xfrm>
            <a:off x="659011" y="1607344"/>
            <a:ext cx="225028" cy="257175"/>
          </a:xfrm>
          <a:custGeom>
            <a:avLst/>
            <a:gdLst/>
            <a:ahLst/>
            <a:cxnLst/>
            <a:rect l="l" t="t" r="r" b="b"/>
            <a:pathLst>
              <a:path w="400050" h="457200">
                <a:moveTo>
                  <a:pt x="400050" y="183773"/>
                </a:moveTo>
                <a:cubicBezTo>
                  <a:pt x="386834" y="192524"/>
                  <a:pt x="371654" y="199579"/>
                  <a:pt x="355848" y="205204"/>
                </a:cubicBezTo>
                <a:cubicBezTo>
                  <a:pt x="313879" y="220206"/>
                  <a:pt x="258782" y="228600"/>
                  <a:pt x="200025" y="228600"/>
                </a:cubicBezTo>
                <a:cubicBezTo>
                  <a:pt x="141268" y="228600"/>
                  <a:pt x="86082" y="220117"/>
                  <a:pt x="44202" y="205204"/>
                </a:cubicBezTo>
                <a:cubicBezTo>
                  <a:pt x="28486" y="199579"/>
                  <a:pt x="13216" y="192524"/>
                  <a:pt x="0" y="183773"/>
                </a:cubicBezTo>
                <a:lnTo>
                  <a:pt x="0" y="257175"/>
                </a:lnTo>
                <a:cubicBezTo>
                  <a:pt x="0" y="296644"/>
                  <a:pt x="89565" y="328613"/>
                  <a:pt x="200025" y="328613"/>
                </a:cubicBezTo>
                <a:cubicBezTo>
                  <a:pt x="310485" y="328613"/>
                  <a:pt x="400050" y="296644"/>
                  <a:pt x="400050" y="257175"/>
                </a:cubicBezTo>
                <a:lnTo>
                  <a:pt x="400050" y="183773"/>
                </a:lnTo>
                <a:close/>
                <a:moveTo>
                  <a:pt x="400050" y="114300"/>
                </a:moveTo>
                <a:lnTo>
                  <a:pt x="400050" y="71438"/>
                </a:lnTo>
                <a:cubicBezTo>
                  <a:pt x="400050" y="31968"/>
                  <a:pt x="310485" y="0"/>
                  <a:pt x="200025" y="0"/>
                </a:cubicBezTo>
                <a:cubicBezTo>
                  <a:pt x="89565" y="0"/>
                  <a:pt x="0" y="31968"/>
                  <a:pt x="0" y="71438"/>
                </a:cubicBezTo>
                <a:lnTo>
                  <a:pt x="0" y="114300"/>
                </a:lnTo>
                <a:cubicBezTo>
                  <a:pt x="0" y="153769"/>
                  <a:pt x="89565" y="185738"/>
                  <a:pt x="200025" y="185738"/>
                </a:cubicBezTo>
                <a:cubicBezTo>
                  <a:pt x="310485" y="185738"/>
                  <a:pt x="400050" y="153769"/>
                  <a:pt x="400050" y="114300"/>
                </a:cubicBezTo>
                <a:close/>
                <a:moveTo>
                  <a:pt x="355848" y="348079"/>
                </a:moveTo>
                <a:cubicBezTo>
                  <a:pt x="313968" y="362992"/>
                  <a:pt x="258872" y="371475"/>
                  <a:pt x="200025" y="371475"/>
                </a:cubicBezTo>
                <a:cubicBezTo>
                  <a:pt x="141178" y="371475"/>
                  <a:pt x="86082" y="362992"/>
                  <a:pt x="44202" y="348079"/>
                </a:cubicBezTo>
                <a:cubicBezTo>
                  <a:pt x="28486" y="342454"/>
                  <a:pt x="13216" y="335399"/>
                  <a:pt x="0" y="326648"/>
                </a:cubicBezTo>
                <a:lnTo>
                  <a:pt x="0" y="385763"/>
                </a:lnTo>
                <a:cubicBezTo>
                  <a:pt x="0" y="425232"/>
                  <a:pt x="89565" y="457200"/>
                  <a:pt x="200025" y="457200"/>
                </a:cubicBezTo>
                <a:cubicBezTo>
                  <a:pt x="310485" y="457200"/>
                  <a:pt x="400050" y="425232"/>
                  <a:pt x="400050" y="385763"/>
                </a:cubicBezTo>
                <a:lnTo>
                  <a:pt x="400050" y="326648"/>
                </a:lnTo>
                <a:cubicBezTo>
                  <a:pt x="386834" y="335399"/>
                  <a:pt x="371654" y="342454"/>
                  <a:pt x="355848" y="348079"/>
                </a:cubicBezTo>
                <a:close/>
              </a:path>
            </a:pathLst>
          </a:custGeom>
          <a:solidFill>
            <a:srgbClr val="36ADA3"/>
          </a:solidFill>
          <a:ln/>
        </p:spPr>
        <p:txBody>
          <a:bodyPr/>
          <a:lstStyle/>
          <a:p>
            <a:endParaRPr lang="en-US"/>
          </a:p>
        </p:txBody>
      </p:sp>
      <p:sp>
        <p:nvSpPr>
          <p:cNvPr id="9" name="Text 7"/>
          <p:cNvSpPr/>
          <p:nvPr/>
        </p:nvSpPr>
        <p:spPr>
          <a:xfrm>
            <a:off x="1000125" y="1607344"/>
            <a:ext cx="3071813" cy="257175"/>
          </a:xfrm>
          <a:prstGeom prst="rect">
            <a:avLst/>
          </a:prstGeom>
          <a:noFill/>
          <a:ln/>
        </p:spPr>
        <p:txBody>
          <a:bodyPr wrap="none" lIns="0" tIns="0" rIns="0" bIns="0" rtlCol="0" anchor="ctr"/>
          <a:lstStyle/>
          <a:p>
            <a:pPr>
              <a:lnSpc>
                <a:spcPct val="100000"/>
              </a:lnSpc>
            </a:pPr>
            <a:r>
              <a:rPr lang="en-US" sz="1125" b="1" dirty="0">
                <a:solidFill>
                  <a:srgbClr val="121358"/>
                </a:solidFill>
                <a:latin typeface="Quattrocento Sans" pitchFamily="34" charset="0"/>
                <a:ea typeface="Quattrocento Sans" pitchFamily="34" charset="-122"/>
                <a:cs typeface="Quattrocento Sans" pitchFamily="34" charset="-120"/>
              </a:rPr>
              <a:t>Full Database Architecture</a:t>
            </a:r>
            <a:endParaRPr lang="en-US" sz="900" dirty="0"/>
          </a:p>
        </p:txBody>
      </p:sp>
      <p:sp>
        <p:nvSpPr>
          <p:cNvPr id="10" name="Text 8"/>
          <p:cNvSpPr/>
          <p:nvPr/>
        </p:nvSpPr>
        <p:spPr>
          <a:xfrm>
            <a:off x="642938" y="1964531"/>
            <a:ext cx="3429000" cy="714375"/>
          </a:xfrm>
          <a:prstGeom prst="rect">
            <a:avLst/>
          </a:prstGeom>
          <a:noFill/>
          <a:ln/>
        </p:spPr>
        <p:txBody>
          <a:bodyPr wrap="square" lIns="0" tIns="0" rIns="0" bIns="0" rtlCol="0" anchor="t"/>
          <a:lstStyle/>
          <a:p>
            <a:pPr>
              <a:lnSpc>
                <a:spcPct val="160000"/>
              </a:lnSpc>
            </a:pPr>
            <a:r>
              <a:rPr lang="en-US" sz="956" dirty="0">
                <a:solidFill>
                  <a:srgbClr val="1A1A2E"/>
                </a:solidFill>
                <a:latin typeface="QuattrocentoSans" pitchFamily="34" charset="0"/>
                <a:ea typeface="QuattrocentoSans" pitchFamily="34" charset="-122"/>
                <a:cs typeface="QuattrocentoSans" pitchFamily="34" charset="-120"/>
              </a:rPr>
              <a:t>We built a comprehensive </a:t>
            </a:r>
            <a:r>
              <a:rPr lang="en-US" sz="956" b="1" dirty="0">
                <a:solidFill>
                  <a:srgbClr val="1A1A2E"/>
                </a:solidFill>
                <a:latin typeface="QuattrocentoSans" pitchFamily="34" charset="0"/>
                <a:ea typeface="QuattrocentoSans" pitchFamily="34" charset="-122"/>
                <a:cs typeface="QuattrocentoSans" pitchFamily="34" charset="-120"/>
              </a:rPr>
              <a:t>SQL Server database</a:t>
            </a:r>
            <a:r>
              <a:rPr lang="en-US" sz="956" dirty="0">
                <a:solidFill>
                  <a:srgbClr val="1A1A2E"/>
                </a:solidFill>
                <a:latin typeface="QuattrocentoSans" pitchFamily="34" charset="0"/>
                <a:ea typeface="QuattrocentoSans" pitchFamily="34" charset="-122"/>
                <a:cs typeface="QuattrocentoSans" pitchFamily="34" charset="-120"/>
              </a:rPr>
              <a:t> with multiple related tables, constraints, and relationships to store CAPMAS labor force survey data.</a:t>
            </a:r>
            <a:endParaRPr lang="en-US" sz="1013" dirty="0"/>
          </a:p>
        </p:txBody>
      </p:sp>
      <p:sp>
        <p:nvSpPr>
          <p:cNvPr id="11" name="Shape 9"/>
          <p:cNvSpPr/>
          <p:nvPr/>
        </p:nvSpPr>
        <p:spPr>
          <a:xfrm>
            <a:off x="659011" y="2821781"/>
            <a:ext cx="225028" cy="257175"/>
          </a:xfrm>
          <a:custGeom>
            <a:avLst/>
            <a:gdLst/>
            <a:ahLst/>
            <a:cxnLst/>
            <a:rect l="l" t="t" r="r" b="b"/>
            <a:pathLst>
              <a:path w="400050" h="457200">
                <a:moveTo>
                  <a:pt x="228600" y="142875"/>
                </a:moveTo>
                <a:lnTo>
                  <a:pt x="228600" y="228600"/>
                </a:lnTo>
                <a:lnTo>
                  <a:pt x="342900" y="228600"/>
                </a:lnTo>
                <a:lnTo>
                  <a:pt x="342900" y="142875"/>
                </a:lnTo>
                <a:lnTo>
                  <a:pt x="228600" y="142875"/>
                </a:lnTo>
                <a:close/>
                <a:moveTo>
                  <a:pt x="171450" y="142875"/>
                </a:moveTo>
                <a:lnTo>
                  <a:pt x="57150" y="142875"/>
                </a:lnTo>
                <a:lnTo>
                  <a:pt x="57150" y="228600"/>
                </a:lnTo>
                <a:lnTo>
                  <a:pt x="171450" y="228600"/>
                </a:lnTo>
                <a:lnTo>
                  <a:pt x="171450" y="142875"/>
                </a:lnTo>
                <a:close/>
                <a:moveTo>
                  <a:pt x="0" y="285750"/>
                </a:moveTo>
                <a:lnTo>
                  <a:pt x="0" y="85725"/>
                </a:lnTo>
                <a:cubicBezTo>
                  <a:pt x="0" y="54203"/>
                  <a:pt x="25628" y="28575"/>
                  <a:pt x="57150" y="28575"/>
                </a:cubicBezTo>
                <a:lnTo>
                  <a:pt x="342900" y="28575"/>
                </a:lnTo>
                <a:cubicBezTo>
                  <a:pt x="374422" y="28575"/>
                  <a:pt x="400050" y="54203"/>
                  <a:pt x="400050" y="85725"/>
                </a:cubicBezTo>
                <a:lnTo>
                  <a:pt x="400050" y="371475"/>
                </a:lnTo>
                <a:cubicBezTo>
                  <a:pt x="400050" y="402997"/>
                  <a:pt x="374422" y="428625"/>
                  <a:pt x="342900" y="428625"/>
                </a:cubicBezTo>
                <a:lnTo>
                  <a:pt x="57150" y="428625"/>
                </a:lnTo>
                <a:cubicBezTo>
                  <a:pt x="25628" y="428625"/>
                  <a:pt x="0" y="402997"/>
                  <a:pt x="0" y="371475"/>
                </a:cubicBezTo>
                <a:lnTo>
                  <a:pt x="0" y="285750"/>
                </a:lnTo>
                <a:close/>
                <a:moveTo>
                  <a:pt x="342900" y="285750"/>
                </a:moveTo>
                <a:lnTo>
                  <a:pt x="228600" y="285750"/>
                </a:lnTo>
                <a:lnTo>
                  <a:pt x="228600" y="371475"/>
                </a:lnTo>
                <a:lnTo>
                  <a:pt x="342900" y="371475"/>
                </a:lnTo>
                <a:lnTo>
                  <a:pt x="342900" y="285750"/>
                </a:lnTo>
                <a:close/>
                <a:moveTo>
                  <a:pt x="171450" y="371475"/>
                </a:moveTo>
                <a:lnTo>
                  <a:pt x="171450" y="285750"/>
                </a:lnTo>
                <a:lnTo>
                  <a:pt x="57150" y="285750"/>
                </a:lnTo>
                <a:lnTo>
                  <a:pt x="57150" y="371475"/>
                </a:lnTo>
                <a:lnTo>
                  <a:pt x="171450" y="371475"/>
                </a:lnTo>
                <a:close/>
              </a:path>
            </a:pathLst>
          </a:custGeom>
          <a:solidFill>
            <a:srgbClr val="36ADA3"/>
          </a:solidFill>
          <a:ln/>
        </p:spPr>
        <p:txBody>
          <a:bodyPr/>
          <a:lstStyle/>
          <a:p>
            <a:endParaRPr lang="en-US"/>
          </a:p>
        </p:txBody>
      </p:sp>
      <p:sp>
        <p:nvSpPr>
          <p:cNvPr id="12" name="Text 10"/>
          <p:cNvSpPr/>
          <p:nvPr/>
        </p:nvSpPr>
        <p:spPr>
          <a:xfrm>
            <a:off x="1000125" y="2821781"/>
            <a:ext cx="3071813" cy="257175"/>
          </a:xfrm>
          <a:prstGeom prst="rect">
            <a:avLst/>
          </a:prstGeom>
          <a:noFill/>
          <a:ln/>
        </p:spPr>
        <p:txBody>
          <a:bodyPr wrap="none" lIns="0" tIns="0" rIns="0" bIns="0" rtlCol="0" anchor="ctr"/>
          <a:lstStyle/>
          <a:p>
            <a:pPr>
              <a:lnSpc>
                <a:spcPct val="100000"/>
              </a:lnSpc>
            </a:pPr>
            <a:r>
              <a:rPr lang="en-US" sz="1125" b="1" dirty="0">
                <a:solidFill>
                  <a:srgbClr val="121358"/>
                </a:solidFill>
                <a:latin typeface="Quattrocento Sans" pitchFamily="34" charset="0"/>
                <a:ea typeface="Quattrocento Sans" pitchFamily="34" charset="-122"/>
                <a:cs typeface="Quattrocento Sans" pitchFamily="34" charset="-120"/>
              </a:rPr>
              <a:t>Sample Data Extraction</a:t>
            </a:r>
            <a:endParaRPr lang="en-US" sz="900" dirty="0"/>
          </a:p>
        </p:txBody>
      </p:sp>
      <p:sp>
        <p:nvSpPr>
          <p:cNvPr id="13" name="Text 11"/>
          <p:cNvSpPr/>
          <p:nvPr/>
        </p:nvSpPr>
        <p:spPr>
          <a:xfrm>
            <a:off x="642938" y="3178969"/>
            <a:ext cx="3429000" cy="857250"/>
          </a:xfrm>
          <a:prstGeom prst="rect">
            <a:avLst/>
          </a:prstGeom>
          <a:noFill/>
          <a:ln/>
        </p:spPr>
        <p:txBody>
          <a:bodyPr wrap="square" lIns="0" tIns="0" rIns="0" bIns="0" rtlCol="0" anchor="t"/>
          <a:lstStyle/>
          <a:p>
            <a:pPr>
              <a:lnSpc>
                <a:spcPct val="160000"/>
              </a:lnSpc>
            </a:pPr>
            <a:r>
              <a:rPr lang="en-US" sz="956" dirty="0">
                <a:solidFill>
                  <a:srgbClr val="1A1A2E"/>
                </a:solidFill>
                <a:latin typeface="QuattrocentoSans" pitchFamily="34" charset="0"/>
                <a:ea typeface="QuattrocentoSans" pitchFamily="34" charset="-122"/>
                <a:cs typeface="QuattrocentoSans" pitchFamily="34" charset="-120"/>
              </a:rPr>
              <a:t>Due to the database complexity, we created a simplified sample table named </a:t>
            </a:r>
            <a:r>
              <a:rPr lang="en-US" sz="956" b="1" dirty="0">
                <a:solidFill>
                  <a:srgbClr val="36ADA3"/>
                </a:solidFill>
                <a:latin typeface="QuattrocentoSans" pitchFamily="34" charset="0"/>
                <a:ea typeface="QuattrocentoSans" pitchFamily="34" charset="-122"/>
                <a:cs typeface="QuattrocentoSans" pitchFamily="34" charset="-120"/>
              </a:rPr>
              <a:t>"SharePoint"</a:t>
            </a:r>
            <a:r>
              <a:rPr lang="en-US" sz="956" dirty="0">
                <a:solidFill>
                  <a:srgbClr val="1A1A2E"/>
                </a:solidFill>
                <a:latin typeface="QuattrocentoSans" pitchFamily="34" charset="0"/>
                <a:ea typeface="QuattrocentoSans" pitchFamily="34" charset="-122"/>
                <a:cs typeface="QuattrocentoSans" pitchFamily="34" charset="-120"/>
              </a:rPr>
              <a:t> containing the essential columns needed for Power Platform integration.</a:t>
            </a:r>
            <a:endParaRPr lang="en-US" sz="1013" dirty="0"/>
          </a:p>
        </p:txBody>
      </p:sp>
      <p:sp>
        <p:nvSpPr>
          <p:cNvPr id="14" name="Shape 12"/>
          <p:cNvSpPr/>
          <p:nvPr/>
        </p:nvSpPr>
        <p:spPr>
          <a:xfrm>
            <a:off x="626864" y="4179094"/>
            <a:ext cx="289322" cy="257175"/>
          </a:xfrm>
          <a:custGeom>
            <a:avLst/>
            <a:gdLst/>
            <a:ahLst/>
            <a:cxnLst/>
            <a:rect l="l" t="t" r="r" b="b"/>
            <a:pathLst>
              <a:path w="514350" h="457200">
                <a:moveTo>
                  <a:pt x="374600" y="85725"/>
                </a:moveTo>
                <a:cubicBezTo>
                  <a:pt x="359777" y="85725"/>
                  <a:pt x="345400" y="89743"/>
                  <a:pt x="332809" y="97066"/>
                </a:cubicBezTo>
                <a:cubicBezTo>
                  <a:pt x="318701" y="82778"/>
                  <a:pt x="302270" y="70812"/>
                  <a:pt x="284143" y="61793"/>
                </a:cubicBezTo>
                <a:cubicBezTo>
                  <a:pt x="309324" y="40362"/>
                  <a:pt x="341382" y="28575"/>
                  <a:pt x="374600" y="28575"/>
                </a:cubicBezTo>
                <a:cubicBezTo>
                  <a:pt x="451753" y="28575"/>
                  <a:pt x="514350" y="91083"/>
                  <a:pt x="514350" y="168325"/>
                </a:cubicBezTo>
                <a:cubicBezTo>
                  <a:pt x="514350" y="205383"/>
                  <a:pt x="499616" y="240923"/>
                  <a:pt x="473452" y="267087"/>
                </a:cubicBezTo>
                <a:lnTo>
                  <a:pt x="409962" y="330577"/>
                </a:lnTo>
                <a:cubicBezTo>
                  <a:pt x="383798" y="356741"/>
                  <a:pt x="348258" y="371475"/>
                  <a:pt x="311200" y="371475"/>
                </a:cubicBezTo>
                <a:cubicBezTo>
                  <a:pt x="234047" y="371475"/>
                  <a:pt x="171450" y="308967"/>
                  <a:pt x="171450" y="231725"/>
                </a:cubicBezTo>
                <a:cubicBezTo>
                  <a:pt x="171450" y="230386"/>
                  <a:pt x="171450" y="229046"/>
                  <a:pt x="171539" y="227707"/>
                </a:cubicBezTo>
                <a:cubicBezTo>
                  <a:pt x="171986" y="211901"/>
                  <a:pt x="185112" y="199489"/>
                  <a:pt x="200918" y="199936"/>
                </a:cubicBezTo>
                <a:cubicBezTo>
                  <a:pt x="216724" y="200382"/>
                  <a:pt x="229136" y="213509"/>
                  <a:pt x="228689" y="229314"/>
                </a:cubicBezTo>
                <a:cubicBezTo>
                  <a:pt x="228689" y="230118"/>
                  <a:pt x="228689" y="230922"/>
                  <a:pt x="228689" y="231636"/>
                </a:cubicBezTo>
                <a:cubicBezTo>
                  <a:pt x="228689" y="277267"/>
                  <a:pt x="265658" y="314236"/>
                  <a:pt x="311289" y="314236"/>
                </a:cubicBezTo>
                <a:cubicBezTo>
                  <a:pt x="333167" y="314236"/>
                  <a:pt x="354151" y="305574"/>
                  <a:pt x="369689" y="290036"/>
                </a:cubicBezTo>
                <a:lnTo>
                  <a:pt x="433179" y="226546"/>
                </a:lnTo>
                <a:cubicBezTo>
                  <a:pt x="448628" y="211098"/>
                  <a:pt x="457379" y="190024"/>
                  <a:pt x="457379" y="168146"/>
                </a:cubicBezTo>
                <a:cubicBezTo>
                  <a:pt x="457379" y="122515"/>
                  <a:pt x="420410" y="85546"/>
                  <a:pt x="374779" y="85546"/>
                </a:cubicBezTo>
                <a:close/>
                <a:moveTo>
                  <a:pt x="245745" y="154751"/>
                </a:moveTo>
                <a:cubicBezTo>
                  <a:pt x="244048" y="154037"/>
                  <a:pt x="242352" y="153055"/>
                  <a:pt x="240834" y="151983"/>
                </a:cubicBezTo>
                <a:cubicBezTo>
                  <a:pt x="229582" y="146179"/>
                  <a:pt x="216724" y="142875"/>
                  <a:pt x="203240" y="142875"/>
                </a:cubicBezTo>
                <a:cubicBezTo>
                  <a:pt x="181362" y="142875"/>
                  <a:pt x="160377" y="151537"/>
                  <a:pt x="144840" y="167074"/>
                </a:cubicBezTo>
                <a:lnTo>
                  <a:pt x="81349" y="230565"/>
                </a:lnTo>
                <a:cubicBezTo>
                  <a:pt x="65901" y="246013"/>
                  <a:pt x="57150" y="267087"/>
                  <a:pt x="57150" y="288965"/>
                </a:cubicBezTo>
                <a:cubicBezTo>
                  <a:pt x="57150" y="334595"/>
                  <a:pt x="94119" y="371564"/>
                  <a:pt x="139750" y="371564"/>
                </a:cubicBezTo>
                <a:cubicBezTo>
                  <a:pt x="154484" y="371564"/>
                  <a:pt x="168860" y="367635"/>
                  <a:pt x="181451" y="360313"/>
                </a:cubicBezTo>
                <a:cubicBezTo>
                  <a:pt x="195560" y="374600"/>
                  <a:pt x="211991" y="386566"/>
                  <a:pt x="230207" y="395585"/>
                </a:cubicBezTo>
                <a:cubicBezTo>
                  <a:pt x="205026" y="416927"/>
                  <a:pt x="173057" y="428804"/>
                  <a:pt x="139750" y="428804"/>
                </a:cubicBezTo>
                <a:cubicBezTo>
                  <a:pt x="62597" y="428804"/>
                  <a:pt x="0" y="366296"/>
                  <a:pt x="0" y="289054"/>
                </a:cubicBezTo>
                <a:cubicBezTo>
                  <a:pt x="0" y="251996"/>
                  <a:pt x="14734" y="216456"/>
                  <a:pt x="40898" y="190292"/>
                </a:cubicBezTo>
                <a:lnTo>
                  <a:pt x="104388" y="126802"/>
                </a:lnTo>
                <a:cubicBezTo>
                  <a:pt x="130552" y="100638"/>
                  <a:pt x="166092" y="85904"/>
                  <a:pt x="203150" y="85904"/>
                </a:cubicBezTo>
                <a:cubicBezTo>
                  <a:pt x="280481" y="85904"/>
                  <a:pt x="342900" y="148947"/>
                  <a:pt x="342900" y="226010"/>
                </a:cubicBezTo>
                <a:cubicBezTo>
                  <a:pt x="342900" y="227171"/>
                  <a:pt x="342900" y="228332"/>
                  <a:pt x="342900" y="229493"/>
                </a:cubicBezTo>
                <a:cubicBezTo>
                  <a:pt x="342543" y="245299"/>
                  <a:pt x="329416" y="257711"/>
                  <a:pt x="313611" y="257354"/>
                </a:cubicBezTo>
                <a:cubicBezTo>
                  <a:pt x="297805" y="256996"/>
                  <a:pt x="285393" y="243870"/>
                  <a:pt x="285750" y="228064"/>
                </a:cubicBezTo>
                <a:cubicBezTo>
                  <a:pt x="285750" y="227350"/>
                  <a:pt x="285750" y="226725"/>
                  <a:pt x="285750" y="226010"/>
                </a:cubicBezTo>
                <a:cubicBezTo>
                  <a:pt x="285750" y="195917"/>
                  <a:pt x="269677" y="169485"/>
                  <a:pt x="245745" y="154930"/>
                </a:cubicBezTo>
                <a:close/>
              </a:path>
            </a:pathLst>
          </a:custGeom>
          <a:solidFill>
            <a:srgbClr val="36ADA3"/>
          </a:solidFill>
          <a:ln/>
        </p:spPr>
        <p:txBody>
          <a:bodyPr/>
          <a:lstStyle/>
          <a:p>
            <a:endParaRPr lang="en-US"/>
          </a:p>
        </p:txBody>
      </p:sp>
      <p:sp>
        <p:nvSpPr>
          <p:cNvPr id="15" name="Text 13"/>
          <p:cNvSpPr/>
          <p:nvPr/>
        </p:nvSpPr>
        <p:spPr>
          <a:xfrm>
            <a:off x="1000125" y="4179094"/>
            <a:ext cx="3071813" cy="257175"/>
          </a:xfrm>
          <a:prstGeom prst="rect">
            <a:avLst/>
          </a:prstGeom>
          <a:noFill/>
          <a:ln/>
        </p:spPr>
        <p:txBody>
          <a:bodyPr wrap="none" lIns="0" tIns="0" rIns="0" bIns="0" rtlCol="0" anchor="ctr"/>
          <a:lstStyle/>
          <a:p>
            <a:pPr>
              <a:lnSpc>
                <a:spcPct val="100000"/>
              </a:lnSpc>
            </a:pPr>
            <a:r>
              <a:rPr lang="en-US" sz="1125" b="1" dirty="0">
                <a:solidFill>
                  <a:srgbClr val="121358"/>
                </a:solidFill>
                <a:latin typeface="Quattrocento Sans" pitchFamily="34" charset="0"/>
                <a:ea typeface="Quattrocento Sans" pitchFamily="34" charset="-122"/>
                <a:cs typeface="Quattrocento Sans" pitchFamily="34" charset="-120"/>
              </a:rPr>
              <a:t>Bridge to Cloud</a:t>
            </a:r>
            <a:endParaRPr lang="en-US" sz="900" dirty="0"/>
          </a:p>
        </p:txBody>
      </p:sp>
      <p:sp>
        <p:nvSpPr>
          <p:cNvPr id="16" name="Text 14"/>
          <p:cNvSpPr/>
          <p:nvPr/>
        </p:nvSpPr>
        <p:spPr>
          <a:xfrm>
            <a:off x="642938" y="4536281"/>
            <a:ext cx="3429000" cy="392906"/>
          </a:xfrm>
          <a:prstGeom prst="rect">
            <a:avLst/>
          </a:prstGeom>
          <a:noFill/>
          <a:ln/>
        </p:spPr>
        <p:txBody>
          <a:bodyPr wrap="square" lIns="0" tIns="0" rIns="0" bIns="0" rtlCol="0" anchor="t"/>
          <a:lstStyle/>
          <a:p>
            <a:pPr>
              <a:lnSpc>
                <a:spcPct val="160000"/>
              </a:lnSpc>
            </a:pPr>
            <a:r>
              <a:rPr lang="en-US" sz="956" dirty="0">
                <a:solidFill>
                  <a:srgbClr val="1A1A2E"/>
                </a:solidFill>
                <a:latin typeface="QuattrocentoSans" pitchFamily="34" charset="0"/>
                <a:ea typeface="QuattrocentoSans" pitchFamily="34" charset="-122"/>
                <a:cs typeface="QuattrocentoSans" pitchFamily="34" charset="-120"/>
              </a:rPr>
              <a:t>This sample bridges our database to cloud services.</a:t>
            </a:r>
            <a:endParaRPr lang="en-US" sz="1013" dirty="0"/>
          </a:p>
        </p:txBody>
      </p:sp>
      <p:sp>
        <p:nvSpPr>
          <p:cNvPr id="17" name="Shape 15"/>
          <p:cNvSpPr/>
          <p:nvPr/>
        </p:nvSpPr>
        <p:spPr>
          <a:xfrm>
            <a:off x="4572000" y="1393031"/>
            <a:ext cx="4143375" cy="3571875"/>
          </a:xfrm>
          <a:prstGeom prst="roundRect">
            <a:avLst>
              <a:gd name="adj" fmla="val 6000"/>
            </a:avLst>
          </a:prstGeom>
          <a:solidFill>
            <a:srgbClr val="FFFFFF"/>
          </a:solidFill>
          <a:ln/>
          <a:effectLst>
            <a:outerShdw blurRad="127000" dist="38100" dir="5400000" algn="bl" rotWithShape="0">
              <a:srgbClr val="121358">
                <a:alpha val="7059"/>
              </a:srgbClr>
            </a:outerShdw>
          </a:effectLst>
        </p:spPr>
        <p:txBody>
          <a:bodyPr/>
          <a:lstStyle/>
          <a:p>
            <a:endParaRPr lang="en-US"/>
          </a:p>
        </p:txBody>
      </p:sp>
      <p:sp>
        <p:nvSpPr>
          <p:cNvPr id="18" name="Text 16"/>
          <p:cNvSpPr/>
          <p:nvPr/>
        </p:nvSpPr>
        <p:spPr>
          <a:xfrm>
            <a:off x="4786313" y="1535906"/>
            <a:ext cx="3714750" cy="250031"/>
          </a:xfrm>
          <a:prstGeom prst="rect">
            <a:avLst/>
          </a:prstGeom>
          <a:noFill/>
          <a:ln/>
        </p:spPr>
        <p:txBody>
          <a:bodyPr wrap="none" lIns="0" tIns="0" rIns="0" bIns="0" rtlCol="0" anchor="ctr"/>
          <a:lstStyle/>
          <a:p>
            <a:pPr algn="ctr">
              <a:lnSpc>
                <a:spcPct val="100000"/>
              </a:lnSpc>
            </a:pPr>
            <a:r>
              <a:rPr lang="en-US" sz="1013" b="1" dirty="0">
                <a:solidFill>
                  <a:srgbClr val="121358"/>
                </a:solidFill>
                <a:latin typeface="Quattrocento Sans" pitchFamily="34" charset="0"/>
                <a:ea typeface="Quattrocento Sans" pitchFamily="34" charset="-122"/>
                <a:cs typeface="Quattrocento Sans" pitchFamily="34" charset="-120"/>
              </a:rPr>
              <a:t>Data Flow Architecture</a:t>
            </a:r>
            <a:endParaRPr lang="en-US" sz="900" dirty="0"/>
          </a:p>
        </p:txBody>
      </p:sp>
      <p:sp>
        <p:nvSpPr>
          <p:cNvPr id="19" name="Shape 17"/>
          <p:cNvSpPr/>
          <p:nvPr/>
        </p:nvSpPr>
        <p:spPr>
          <a:xfrm>
            <a:off x="5143500" y="1964531"/>
            <a:ext cx="3000375" cy="428625"/>
          </a:xfrm>
          <a:prstGeom prst="roundRect">
            <a:avLst>
              <a:gd name="adj" fmla="val 10000"/>
            </a:avLst>
          </a:prstGeom>
          <a:solidFill>
            <a:srgbClr val="121358"/>
          </a:solidFill>
          <a:ln/>
        </p:spPr>
        <p:txBody>
          <a:bodyPr/>
          <a:lstStyle/>
          <a:p>
            <a:endParaRPr lang="en-US"/>
          </a:p>
        </p:txBody>
      </p:sp>
      <p:sp>
        <p:nvSpPr>
          <p:cNvPr id="20" name="Text 18"/>
          <p:cNvSpPr/>
          <p:nvPr/>
        </p:nvSpPr>
        <p:spPr>
          <a:xfrm>
            <a:off x="5143500" y="1964531"/>
            <a:ext cx="3000375" cy="428625"/>
          </a:xfrm>
          <a:prstGeom prst="rect">
            <a:avLst/>
          </a:prstGeom>
          <a:noFill/>
          <a:ln/>
        </p:spPr>
        <p:txBody>
          <a:bodyPr wrap="none" lIns="0" tIns="0" rIns="0" bIns="0" rtlCol="0" anchor="ctr"/>
          <a:lstStyle/>
          <a:p>
            <a:pPr algn="ctr">
              <a:lnSpc>
                <a:spcPct val="100000"/>
              </a:lnSpc>
            </a:pPr>
            <a:r>
              <a:rPr lang="en-US" sz="900" b="1" dirty="0">
                <a:solidFill>
                  <a:srgbClr val="FFFFFF"/>
                </a:solidFill>
                <a:latin typeface="Quattrocento Sans" pitchFamily="34" charset="0"/>
                <a:ea typeface="Quattrocento Sans" pitchFamily="34" charset="-122"/>
                <a:cs typeface="Quattrocento Sans" pitchFamily="34" charset="-120"/>
              </a:rPr>
              <a:t>SQL Server Database</a:t>
            </a:r>
            <a:r>
              <a:rPr lang="en-US" sz="900" dirty="0">
                <a:solidFill>
                  <a:srgbClr val="FFFFFF"/>
                </a:solidFill>
                <a:latin typeface="Quattrocento Sans" pitchFamily="34" charset="0"/>
                <a:ea typeface="Quattrocento Sans" pitchFamily="34" charset="-122"/>
                <a:cs typeface="Quattrocento Sans" pitchFamily="34" charset="-120"/>
              </a:rPr>
              <a:t> (Full Tables + Relations)</a:t>
            </a:r>
            <a:endParaRPr lang="en-US" sz="900" dirty="0"/>
          </a:p>
        </p:txBody>
      </p:sp>
      <p:sp>
        <p:nvSpPr>
          <p:cNvPr id="21" name="Shape 19"/>
          <p:cNvSpPr/>
          <p:nvPr/>
        </p:nvSpPr>
        <p:spPr>
          <a:xfrm>
            <a:off x="6643688" y="2393156"/>
            <a:ext cx="0" cy="285750"/>
          </a:xfrm>
          <a:prstGeom prst="straightConnector1">
            <a:avLst/>
          </a:prstGeom>
          <a:noFill/>
          <a:ln w="25400">
            <a:solidFill>
              <a:srgbClr val="36ADA3"/>
            </a:solidFill>
            <a:prstDash val="solid"/>
            <a:headEnd type="none"/>
            <a:tailEnd type="arrow"/>
          </a:ln>
        </p:spPr>
        <p:txBody>
          <a:bodyPr/>
          <a:lstStyle/>
          <a:p>
            <a:endParaRPr lang="en-US"/>
          </a:p>
        </p:txBody>
      </p:sp>
      <p:sp>
        <p:nvSpPr>
          <p:cNvPr id="22" name="Shape 20"/>
          <p:cNvSpPr/>
          <p:nvPr/>
        </p:nvSpPr>
        <p:spPr>
          <a:xfrm>
            <a:off x="5143500" y="2678906"/>
            <a:ext cx="3000375" cy="428625"/>
          </a:xfrm>
          <a:prstGeom prst="roundRect">
            <a:avLst>
              <a:gd name="adj" fmla="val 10000"/>
            </a:avLst>
          </a:prstGeom>
          <a:solidFill>
            <a:srgbClr val="232F72"/>
          </a:solidFill>
          <a:ln/>
        </p:spPr>
        <p:txBody>
          <a:bodyPr/>
          <a:lstStyle/>
          <a:p>
            <a:endParaRPr lang="en-US"/>
          </a:p>
        </p:txBody>
      </p:sp>
      <p:sp>
        <p:nvSpPr>
          <p:cNvPr id="23" name="Text 21"/>
          <p:cNvSpPr/>
          <p:nvPr/>
        </p:nvSpPr>
        <p:spPr>
          <a:xfrm>
            <a:off x="5143500" y="2678906"/>
            <a:ext cx="3000375" cy="428625"/>
          </a:xfrm>
          <a:prstGeom prst="rect">
            <a:avLst/>
          </a:prstGeom>
          <a:noFill/>
          <a:ln/>
        </p:spPr>
        <p:txBody>
          <a:bodyPr wrap="none" lIns="0" tIns="0" rIns="0" bIns="0" rtlCol="0" anchor="ctr"/>
          <a:lstStyle/>
          <a:p>
            <a:pPr algn="ctr">
              <a:lnSpc>
                <a:spcPct val="100000"/>
              </a:lnSpc>
            </a:pPr>
            <a:r>
              <a:rPr lang="en-US" sz="900" b="1" dirty="0">
                <a:solidFill>
                  <a:srgbClr val="FFFFFF"/>
                </a:solidFill>
                <a:latin typeface="Quattrocento Sans" pitchFamily="34" charset="0"/>
                <a:ea typeface="Quattrocento Sans" pitchFamily="34" charset="-122"/>
                <a:cs typeface="Quattrocento Sans" pitchFamily="34" charset="-120"/>
              </a:rPr>
              <a:t>Sample "SharePoint" Table</a:t>
            </a:r>
            <a:r>
              <a:rPr lang="en-US" sz="900" dirty="0">
                <a:solidFill>
                  <a:srgbClr val="FFFFFF"/>
                </a:solidFill>
                <a:latin typeface="Quattrocento Sans" pitchFamily="34" charset="0"/>
                <a:ea typeface="Quattrocento Sans" pitchFamily="34" charset="-122"/>
                <a:cs typeface="Quattrocento Sans" pitchFamily="34" charset="-120"/>
              </a:rPr>
              <a:t> (Essential Columns)</a:t>
            </a:r>
            <a:endParaRPr lang="en-US" sz="900" dirty="0"/>
          </a:p>
        </p:txBody>
      </p:sp>
      <p:sp>
        <p:nvSpPr>
          <p:cNvPr id="24" name="Shape 22"/>
          <p:cNvSpPr/>
          <p:nvPr/>
        </p:nvSpPr>
        <p:spPr>
          <a:xfrm>
            <a:off x="6643688" y="3107531"/>
            <a:ext cx="0" cy="285750"/>
          </a:xfrm>
          <a:prstGeom prst="straightConnector1">
            <a:avLst/>
          </a:prstGeom>
          <a:noFill/>
          <a:ln w="25400">
            <a:solidFill>
              <a:srgbClr val="36ADA3"/>
            </a:solidFill>
            <a:prstDash val="solid"/>
            <a:headEnd type="none"/>
            <a:tailEnd type="arrow"/>
          </a:ln>
        </p:spPr>
        <p:txBody>
          <a:bodyPr/>
          <a:lstStyle/>
          <a:p>
            <a:endParaRPr lang="en-US"/>
          </a:p>
        </p:txBody>
      </p:sp>
      <p:sp>
        <p:nvSpPr>
          <p:cNvPr id="25" name="Shape 23"/>
          <p:cNvSpPr/>
          <p:nvPr/>
        </p:nvSpPr>
        <p:spPr>
          <a:xfrm>
            <a:off x="5143500" y="3393281"/>
            <a:ext cx="3000375" cy="428625"/>
          </a:xfrm>
          <a:prstGeom prst="roundRect">
            <a:avLst>
              <a:gd name="adj" fmla="val 10000"/>
            </a:avLst>
          </a:prstGeom>
          <a:solidFill>
            <a:srgbClr val="2F578A"/>
          </a:solidFill>
          <a:ln/>
        </p:spPr>
        <p:txBody>
          <a:bodyPr/>
          <a:lstStyle/>
          <a:p>
            <a:endParaRPr lang="en-US"/>
          </a:p>
        </p:txBody>
      </p:sp>
      <p:sp>
        <p:nvSpPr>
          <p:cNvPr id="26" name="Text 24"/>
          <p:cNvSpPr/>
          <p:nvPr/>
        </p:nvSpPr>
        <p:spPr>
          <a:xfrm>
            <a:off x="5143500" y="3393281"/>
            <a:ext cx="3000375" cy="428625"/>
          </a:xfrm>
          <a:prstGeom prst="rect">
            <a:avLst/>
          </a:prstGeom>
          <a:noFill/>
          <a:ln/>
        </p:spPr>
        <p:txBody>
          <a:bodyPr wrap="none" lIns="0" tIns="0" rIns="0" bIns="0" rtlCol="0" anchor="ctr"/>
          <a:lstStyle/>
          <a:p>
            <a:pPr algn="ctr">
              <a:lnSpc>
                <a:spcPct val="100000"/>
              </a:lnSpc>
            </a:pPr>
            <a:r>
              <a:rPr lang="en-US" sz="900" b="1" dirty="0">
                <a:solidFill>
                  <a:srgbClr val="FFFFFF"/>
                </a:solidFill>
                <a:latin typeface="Quattrocento Sans" pitchFamily="34" charset="0"/>
                <a:ea typeface="Quattrocento Sans" pitchFamily="34" charset="-122"/>
                <a:cs typeface="Quattrocento Sans" pitchFamily="34" charset="-120"/>
              </a:rPr>
              <a:t>SharePoint List</a:t>
            </a:r>
            <a:r>
              <a:rPr lang="en-US" sz="900" dirty="0">
                <a:solidFill>
                  <a:srgbClr val="FFFFFF"/>
                </a:solidFill>
                <a:latin typeface="Quattrocento Sans" pitchFamily="34" charset="0"/>
                <a:ea typeface="Quattrocento Sans" pitchFamily="34" charset="-122"/>
                <a:cs typeface="Quattrocento Sans" pitchFamily="34" charset="-120"/>
              </a:rPr>
              <a:t> (Cloud Storage Layer)</a:t>
            </a:r>
            <a:endParaRPr lang="en-US" sz="900" dirty="0"/>
          </a:p>
        </p:txBody>
      </p:sp>
      <p:sp>
        <p:nvSpPr>
          <p:cNvPr id="27" name="Shape 25"/>
          <p:cNvSpPr/>
          <p:nvPr/>
        </p:nvSpPr>
        <p:spPr>
          <a:xfrm>
            <a:off x="6643688" y="3821906"/>
            <a:ext cx="0" cy="285750"/>
          </a:xfrm>
          <a:prstGeom prst="straightConnector1">
            <a:avLst/>
          </a:prstGeom>
          <a:noFill/>
          <a:ln w="25400">
            <a:solidFill>
              <a:srgbClr val="36ADA3"/>
            </a:solidFill>
            <a:prstDash val="solid"/>
            <a:headEnd type="none"/>
            <a:tailEnd type="arrow"/>
          </a:ln>
        </p:spPr>
        <p:txBody>
          <a:bodyPr/>
          <a:lstStyle/>
          <a:p>
            <a:endParaRPr lang="en-US"/>
          </a:p>
        </p:txBody>
      </p:sp>
      <p:sp>
        <p:nvSpPr>
          <p:cNvPr id="28" name="Shape 26"/>
          <p:cNvSpPr/>
          <p:nvPr/>
        </p:nvSpPr>
        <p:spPr>
          <a:xfrm>
            <a:off x="5143500" y="4107656"/>
            <a:ext cx="3000375" cy="428625"/>
          </a:xfrm>
          <a:prstGeom prst="roundRect">
            <a:avLst>
              <a:gd name="adj" fmla="val 10000"/>
            </a:avLst>
          </a:prstGeom>
          <a:solidFill>
            <a:srgbClr val="36ADA3"/>
          </a:solidFill>
          <a:ln/>
        </p:spPr>
        <p:txBody>
          <a:bodyPr/>
          <a:lstStyle/>
          <a:p>
            <a:endParaRPr lang="en-US"/>
          </a:p>
        </p:txBody>
      </p:sp>
      <p:sp>
        <p:nvSpPr>
          <p:cNvPr id="29" name="Text 27"/>
          <p:cNvSpPr/>
          <p:nvPr/>
        </p:nvSpPr>
        <p:spPr>
          <a:xfrm>
            <a:off x="5143500" y="4107656"/>
            <a:ext cx="3000375" cy="428625"/>
          </a:xfrm>
          <a:prstGeom prst="rect">
            <a:avLst/>
          </a:prstGeom>
          <a:noFill/>
          <a:ln/>
        </p:spPr>
        <p:txBody>
          <a:bodyPr wrap="none" lIns="0" tIns="0" rIns="0" bIns="0" rtlCol="0" anchor="ctr"/>
          <a:lstStyle/>
          <a:p>
            <a:pPr algn="ctr">
              <a:lnSpc>
                <a:spcPct val="100000"/>
              </a:lnSpc>
            </a:pPr>
            <a:r>
              <a:rPr lang="en-US" sz="900" b="1" dirty="0">
                <a:solidFill>
                  <a:srgbClr val="FFFFFF"/>
                </a:solidFill>
                <a:latin typeface="Quattrocento Sans" pitchFamily="34" charset="0"/>
                <a:ea typeface="Quattrocento Sans" pitchFamily="34" charset="-122"/>
                <a:cs typeface="Quattrocento Sans" pitchFamily="34" charset="-120"/>
              </a:rPr>
              <a:t>Power Platform Services</a:t>
            </a:r>
            <a:endParaRPr lang="en-US" sz="900" dirty="0"/>
          </a:p>
        </p:txBody>
      </p:sp>
      <p:sp>
        <p:nvSpPr>
          <p:cNvPr id="30" name="Text 28"/>
          <p:cNvSpPr/>
          <p:nvPr/>
        </p:nvSpPr>
        <p:spPr>
          <a:xfrm>
            <a:off x="8429625" y="4857750"/>
            <a:ext cx="428625" cy="178594"/>
          </a:xfrm>
          <a:prstGeom prst="rect">
            <a:avLst/>
          </a:prstGeom>
          <a:noFill/>
          <a:ln/>
        </p:spPr>
        <p:txBody>
          <a:bodyPr wrap="none" lIns="0" tIns="0" rIns="0" bIns="0" rtlCol="0" anchor="ctr"/>
          <a:lstStyle/>
          <a:p>
            <a:pPr algn="r">
              <a:lnSpc>
                <a:spcPct val="140000"/>
              </a:lnSpc>
            </a:pPr>
            <a:r>
              <a:rPr lang="en-US" sz="788" dirty="0">
                <a:solidFill>
                  <a:srgbClr val="2F578A"/>
                </a:solidFill>
                <a:latin typeface="QuattrocentoSans" pitchFamily="34" charset="0"/>
                <a:ea typeface="QuattrocentoSans" pitchFamily="34" charset="-122"/>
                <a:cs typeface="QuattrocentoSans" pitchFamily="34" charset="-120"/>
              </a:rPr>
              <a:t>04</a:t>
            </a:r>
            <a:endParaRPr lang="en-US" sz="788" dirty="0"/>
          </a:p>
        </p:txBody>
      </p:sp>
      <p:sp>
        <p:nvSpPr>
          <p:cNvPr id="33" name="Text 1">
            <a:extLst>
              <a:ext uri="{FF2B5EF4-FFF2-40B4-BE49-F238E27FC236}">
                <a16:creationId xmlns:a16="http://schemas.microsoft.com/office/drawing/2014/main" id="{3AFCCBA8-27D0-3DB7-FDC8-5670B4C0E8EA}"/>
              </a:ext>
            </a:extLst>
          </p:cNvPr>
          <p:cNvSpPr/>
          <p:nvPr/>
        </p:nvSpPr>
        <p:spPr>
          <a:xfrm>
            <a:off x="365760" y="91440"/>
            <a:ext cx="7772400" cy="594360"/>
          </a:xfrm>
          <a:prstGeom prst="rect">
            <a:avLst/>
          </a:prstGeom>
          <a:noFill/>
          <a:ln/>
        </p:spPr>
        <p:txBody>
          <a:bodyPr wrap="square" rtlCol="0" anchor="ctr"/>
          <a:lstStyle/>
          <a:p>
            <a:pPr marL="0" indent="0">
              <a:buNone/>
            </a:pPr>
            <a:r>
              <a:rPr lang="en-US" sz="2200" b="1" dirty="0">
                <a:solidFill>
                  <a:srgbClr val="FFFFFF"/>
                </a:solidFill>
                <a:ea typeface="Quattrocento Sans" pitchFamily="34" charset="-122"/>
                <a:cs typeface="Quattrocento Sans" pitchFamily="34" charset="-120"/>
              </a:rPr>
              <a:t>Step 7: Power Apps</a:t>
            </a:r>
            <a:endParaRPr lang="en-US" sz="2200" dirty="0"/>
          </a:p>
        </p:txBody>
      </p:sp>
      <p:pic>
        <p:nvPicPr>
          <p:cNvPr id="34" name="Image 0" descr="preencoded.png">
            <a:extLst>
              <a:ext uri="{FF2B5EF4-FFF2-40B4-BE49-F238E27FC236}">
                <a16:creationId xmlns:a16="http://schemas.microsoft.com/office/drawing/2014/main" id="{9B593C41-CF8A-09A4-4A90-82D14680F4BA}"/>
              </a:ext>
            </a:extLst>
          </p:cNvPr>
          <p:cNvPicPr>
            <a:picLocks noChangeAspect="1"/>
          </p:cNvPicPr>
          <p:nvPr/>
        </p:nvPicPr>
        <p:blipFill>
          <a:blip r:embed="rId3"/>
          <a:stretch>
            <a:fillRect/>
          </a:stretch>
        </p:blipFill>
        <p:spPr>
          <a:xfrm>
            <a:off x="8046720" y="45720"/>
            <a:ext cx="685800" cy="676656"/>
          </a:xfrm>
          <a:prstGeom prst="rect">
            <a:avLst/>
          </a:prstGeom>
        </p:spPr>
      </p:pic>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42863"/>
          </a:xfrm>
          <a:prstGeom prst="rect">
            <a:avLst/>
          </a:prstGeom>
          <a:gradFill flip="none" rotWithShape="1">
            <a:gsLst>
              <a:gs pos="0">
                <a:srgbClr val="121358"/>
              </a:gs>
              <a:gs pos="100000">
                <a:srgbClr val="36ADA3"/>
              </a:gs>
            </a:gsLst>
            <a:lin ang="0" scaled="1"/>
          </a:gradFill>
          <a:ln/>
        </p:spPr>
        <p:txBody>
          <a:bodyPr/>
          <a:lstStyle/>
          <a:p>
            <a:endParaRPr lang="en-US"/>
          </a:p>
        </p:txBody>
      </p:sp>
      <p:sp>
        <p:nvSpPr>
          <p:cNvPr id="7" name="Shape 5"/>
          <p:cNvSpPr/>
          <p:nvPr/>
        </p:nvSpPr>
        <p:spPr>
          <a:xfrm>
            <a:off x="428625" y="1031557"/>
            <a:ext cx="4857750" cy="3734753"/>
          </a:xfrm>
          <a:prstGeom prst="roundRect">
            <a:avLst>
              <a:gd name="adj" fmla="val 5000"/>
            </a:avLst>
          </a:prstGeom>
          <a:solidFill>
            <a:srgbClr val="FFFFFF"/>
          </a:solidFill>
          <a:ln/>
          <a:effectLst>
            <a:outerShdw blurRad="127000" dist="38100" dir="5400000" algn="bl" rotWithShape="0">
              <a:srgbClr val="121358">
                <a:alpha val="7059"/>
              </a:srgbClr>
            </a:outerShdw>
          </a:effectLst>
        </p:spPr>
        <p:txBody>
          <a:bodyPr/>
          <a:lstStyle/>
          <a:p>
            <a:endParaRPr lang="en-US"/>
          </a:p>
        </p:txBody>
      </p:sp>
      <p:pic>
        <p:nvPicPr>
          <p:cNvPr id="8" name="Image 0" descr="https://kimi-img.moonshot.cn/pub/slides/okc/4ny4sattlqt5g/mnt/agents/output/capmas-presentation/images/sharepoint_list.png"/>
          <p:cNvPicPr>
            <a:picLocks noChangeAspect="1"/>
          </p:cNvPicPr>
          <p:nvPr/>
        </p:nvPicPr>
        <p:blipFill>
          <a:blip r:embed="rId3"/>
          <a:srcRect l="11123" r="11123"/>
          <a:stretch/>
        </p:blipFill>
        <p:spPr>
          <a:xfrm>
            <a:off x="535781" y="1138713"/>
            <a:ext cx="4643438" cy="3472364"/>
          </a:xfrm>
          <a:prstGeom prst="roundRect">
            <a:avLst>
              <a:gd name="adj" fmla="val 4000"/>
            </a:avLst>
          </a:prstGeom>
        </p:spPr>
      </p:pic>
      <p:sp>
        <p:nvSpPr>
          <p:cNvPr id="9" name="Shape 6"/>
          <p:cNvSpPr/>
          <p:nvPr/>
        </p:nvSpPr>
        <p:spPr>
          <a:xfrm>
            <a:off x="5500687" y="1031557"/>
            <a:ext cx="3214688" cy="3734753"/>
          </a:xfrm>
          <a:prstGeom prst="roundRect">
            <a:avLst>
              <a:gd name="adj" fmla="val 6000"/>
            </a:avLst>
          </a:prstGeom>
          <a:solidFill>
            <a:srgbClr val="FFFFFF"/>
          </a:solidFill>
          <a:ln/>
          <a:effectLst>
            <a:outerShdw blurRad="127000" dist="38100" dir="5400000" algn="bl" rotWithShape="0">
              <a:srgbClr val="121358">
                <a:alpha val="7059"/>
              </a:srgbClr>
            </a:outerShdw>
          </a:effectLst>
        </p:spPr>
        <p:txBody>
          <a:bodyPr/>
          <a:lstStyle/>
          <a:p>
            <a:endParaRPr lang="en-US"/>
          </a:p>
        </p:txBody>
      </p:sp>
      <p:sp>
        <p:nvSpPr>
          <p:cNvPr id="10" name="Text 7"/>
          <p:cNvSpPr/>
          <p:nvPr/>
        </p:nvSpPr>
        <p:spPr>
          <a:xfrm>
            <a:off x="5715000" y="1245870"/>
            <a:ext cx="2786063" cy="3286125"/>
          </a:xfrm>
          <a:prstGeom prst="rect">
            <a:avLst/>
          </a:prstGeom>
          <a:noFill/>
          <a:ln/>
        </p:spPr>
        <p:txBody>
          <a:bodyPr wrap="square" lIns="0" tIns="0" rIns="0" bIns="0" rtlCol="0" anchor="t"/>
          <a:lstStyle/>
          <a:p>
            <a:pPr>
              <a:lnSpc>
                <a:spcPct val="170000"/>
              </a:lnSpc>
            </a:pPr>
            <a:r>
              <a:rPr lang="en-US" sz="956" b="1" dirty="0">
                <a:solidFill>
                  <a:srgbClr val="36ADA3"/>
                </a:solidFill>
                <a:latin typeface="QuattrocentoSans" pitchFamily="34" charset="0"/>
                <a:ea typeface="QuattrocentoSans" pitchFamily="34" charset="-122"/>
                <a:cs typeface="QuattrocentoSans" pitchFamily="34" charset="-120"/>
              </a:rPr>
              <a:t>Site &amp; List Setup</a:t>
            </a:r>
            <a:endParaRPr lang="en-US" sz="1013" dirty="0"/>
          </a:p>
          <a:p>
            <a:pPr>
              <a:lnSpc>
                <a:spcPct val="170000"/>
              </a:lnSpc>
            </a:pPr>
            <a:r>
              <a:rPr lang="en-US" sz="1050" dirty="0">
                <a:solidFill>
                  <a:srgbClr val="08204F"/>
                </a:solidFill>
                <a:latin typeface="QuattrocentoSans" pitchFamily="34" charset="0"/>
                <a:ea typeface="QuattrocentoSans" pitchFamily="34" charset="-122"/>
                <a:cs typeface="QuattrocentoSans" pitchFamily="34" charset="-120"/>
              </a:rPr>
              <a:t>We created a new SharePoint site and list named </a:t>
            </a:r>
            <a:r>
              <a:rPr lang="en-US" sz="1050" b="1" dirty="0">
                <a:solidFill>
                  <a:srgbClr val="08204F"/>
                </a:solidFill>
                <a:latin typeface="QuattrocentoSans" pitchFamily="34" charset="0"/>
                <a:ea typeface="QuattrocentoSans" pitchFamily="34" charset="-122"/>
                <a:cs typeface="QuattrocentoSans" pitchFamily="34" charset="-120"/>
              </a:rPr>
              <a:t>"Labor_Force"</a:t>
            </a:r>
            <a:r>
              <a:rPr lang="en-US" sz="1050" dirty="0">
                <a:solidFill>
                  <a:srgbClr val="08204F"/>
                </a:solidFill>
                <a:latin typeface="QuattrocentoSans" pitchFamily="34" charset="0"/>
                <a:ea typeface="QuattrocentoSans" pitchFamily="34" charset="-122"/>
                <a:cs typeface="QuattrocentoSans" pitchFamily="34" charset="-120"/>
              </a:rPr>
              <a:t>.</a:t>
            </a:r>
            <a:endParaRPr lang="en-US" sz="1050" dirty="0">
              <a:solidFill>
                <a:srgbClr val="08204F"/>
              </a:solidFill>
            </a:endParaRPr>
          </a:p>
          <a:p>
            <a:pPr>
              <a:lnSpc>
                <a:spcPct val="170000"/>
              </a:lnSpc>
              <a:spcBef>
                <a:spcPts val="900"/>
              </a:spcBef>
            </a:pPr>
            <a:r>
              <a:rPr lang="en-US" sz="956" b="1" dirty="0">
                <a:solidFill>
                  <a:srgbClr val="36ADA3"/>
                </a:solidFill>
                <a:latin typeface="QuattrocentoSans" pitchFamily="34" charset="0"/>
                <a:ea typeface="QuattrocentoSans" pitchFamily="34" charset="-122"/>
                <a:cs typeface="QuattrocentoSans" pitchFamily="34" charset="-120"/>
              </a:rPr>
              <a:t>Column Mapping</a:t>
            </a:r>
            <a:endParaRPr lang="en-US" sz="1013" dirty="0"/>
          </a:p>
          <a:p>
            <a:pPr>
              <a:lnSpc>
                <a:spcPct val="170000"/>
              </a:lnSpc>
            </a:pPr>
            <a:r>
              <a:rPr lang="en-US" sz="1050" dirty="0">
                <a:solidFill>
                  <a:srgbClr val="08204F"/>
                </a:solidFill>
                <a:latin typeface="QuattrocentoSans" pitchFamily="34" charset="0"/>
                <a:ea typeface="QuattrocentoSans" pitchFamily="34" charset="-122"/>
                <a:cs typeface="QuattrocentoSans" pitchFamily="34" charset="-120"/>
              </a:rPr>
              <a:t>List columns were designed to match the SharePoint table structure from our SQL Server database</a:t>
            </a:r>
            <a:r>
              <a:rPr lang="en-US" sz="956" dirty="0">
                <a:solidFill>
                  <a:srgbClr val="1A1A2E"/>
                </a:solidFill>
                <a:latin typeface="QuattrocentoSans" pitchFamily="34" charset="0"/>
                <a:ea typeface="QuattrocentoSans" pitchFamily="34" charset="-122"/>
                <a:cs typeface="QuattrocentoSans" pitchFamily="34" charset="-120"/>
              </a:rPr>
              <a:t>.</a:t>
            </a:r>
            <a:endParaRPr lang="en-US" sz="1013" dirty="0"/>
          </a:p>
          <a:p>
            <a:pPr>
              <a:lnSpc>
                <a:spcPct val="170000"/>
              </a:lnSpc>
              <a:spcBef>
                <a:spcPts val="900"/>
              </a:spcBef>
            </a:pPr>
            <a:r>
              <a:rPr lang="en-US" sz="956" b="1" dirty="0">
                <a:solidFill>
                  <a:srgbClr val="36ADA3"/>
                </a:solidFill>
                <a:latin typeface="QuattrocentoSans" pitchFamily="34" charset="0"/>
                <a:ea typeface="QuattrocentoSans" pitchFamily="34" charset="-122"/>
                <a:cs typeface="QuattrocentoSans" pitchFamily="34" charset="-120"/>
              </a:rPr>
              <a:t>Data Pipeline Role</a:t>
            </a:r>
            <a:endParaRPr lang="en-US" sz="1013" dirty="0"/>
          </a:p>
          <a:p>
            <a:pPr>
              <a:lnSpc>
                <a:spcPct val="170000"/>
              </a:lnSpc>
            </a:pPr>
            <a:r>
              <a:rPr lang="en-US" sz="1050" dirty="0">
                <a:solidFill>
                  <a:srgbClr val="08204F"/>
                </a:solidFill>
                <a:latin typeface="QuattrocentoSans" pitchFamily="34" charset="0"/>
                <a:ea typeface="QuattrocentoSans" pitchFamily="34" charset="-122"/>
                <a:cs typeface="QuattrocentoSans" pitchFamily="34" charset="-120"/>
              </a:rPr>
              <a:t>This list acts as the intermediate cloud storage layer that receives data from Power Apps and feeds it to the database through Power Automate flows.</a:t>
            </a:r>
            <a:endParaRPr lang="en-US" sz="1050" dirty="0">
              <a:solidFill>
                <a:srgbClr val="08204F"/>
              </a:solidFill>
            </a:endParaRPr>
          </a:p>
        </p:txBody>
      </p:sp>
      <p:sp>
        <p:nvSpPr>
          <p:cNvPr id="11" name="Text 8"/>
          <p:cNvSpPr/>
          <p:nvPr/>
        </p:nvSpPr>
        <p:spPr>
          <a:xfrm>
            <a:off x="8429625" y="4857750"/>
            <a:ext cx="428625" cy="178594"/>
          </a:xfrm>
          <a:prstGeom prst="rect">
            <a:avLst/>
          </a:prstGeom>
          <a:noFill/>
          <a:ln/>
        </p:spPr>
        <p:txBody>
          <a:bodyPr wrap="none" lIns="0" tIns="0" rIns="0" bIns="0" rtlCol="0" anchor="ctr"/>
          <a:lstStyle/>
          <a:p>
            <a:pPr algn="r">
              <a:lnSpc>
                <a:spcPct val="140000"/>
              </a:lnSpc>
            </a:pPr>
            <a:r>
              <a:rPr lang="en-US" sz="788" dirty="0">
                <a:solidFill>
                  <a:srgbClr val="2F578A"/>
                </a:solidFill>
                <a:latin typeface="QuattrocentoSans" pitchFamily="34" charset="0"/>
                <a:ea typeface="QuattrocentoSans" pitchFamily="34" charset="-122"/>
                <a:cs typeface="QuattrocentoSans" pitchFamily="34" charset="-120"/>
              </a:rPr>
              <a:t>06</a:t>
            </a:r>
            <a:endParaRPr lang="en-US" sz="788" dirty="0"/>
          </a:p>
        </p:txBody>
      </p:sp>
      <p:sp>
        <p:nvSpPr>
          <p:cNvPr id="12" name="Shape 0">
            <a:extLst>
              <a:ext uri="{FF2B5EF4-FFF2-40B4-BE49-F238E27FC236}">
                <a16:creationId xmlns:a16="http://schemas.microsoft.com/office/drawing/2014/main" id="{12AA63A8-AA06-0F62-8B99-20D930ECE910}"/>
              </a:ext>
            </a:extLst>
          </p:cNvPr>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pic>
        <p:nvPicPr>
          <p:cNvPr id="13" name="Image 0" descr="preencoded.png">
            <a:extLst>
              <a:ext uri="{FF2B5EF4-FFF2-40B4-BE49-F238E27FC236}">
                <a16:creationId xmlns:a16="http://schemas.microsoft.com/office/drawing/2014/main" id="{CC1E7CB2-1475-10C2-CAB6-B917FB2BBB95}"/>
              </a:ext>
            </a:extLst>
          </p:cNvPr>
          <p:cNvPicPr>
            <a:picLocks noChangeAspect="1"/>
          </p:cNvPicPr>
          <p:nvPr/>
        </p:nvPicPr>
        <p:blipFill>
          <a:blip r:embed="rId4"/>
          <a:stretch>
            <a:fillRect/>
          </a:stretch>
        </p:blipFill>
        <p:spPr>
          <a:xfrm>
            <a:off x="8046720" y="45720"/>
            <a:ext cx="685800" cy="676656"/>
          </a:xfrm>
          <a:prstGeom prst="rect">
            <a:avLst/>
          </a:prstGeom>
        </p:spPr>
      </p:pic>
      <p:sp>
        <p:nvSpPr>
          <p:cNvPr id="14" name="Text 1">
            <a:extLst>
              <a:ext uri="{FF2B5EF4-FFF2-40B4-BE49-F238E27FC236}">
                <a16:creationId xmlns:a16="http://schemas.microsoft.com/office/drawing/2014/main" id="{8A2C74A8-A73E-3969-139F-AB8BEB29F1DB}"/>
              </a:ext>
            </a:extLst>
          </p:cNvPr>
          <p:cNvSpPr/>
          <p:nvPr/>
        </p:nvSpPr>
        <p:spPr>
          <a:xfrm>
            <a:off x="365760" y="91440"/>
            <a:ext cx="7772400" cy="594360"/>
          </a:xfrm>
          <a:prstGeom prst="rect">
            <a:avLst/>
          </a:prstGeom>
          <a:noFill/>
          <a:ln/>
        </p:spPr>
        <p:txBody>
          <a:bodyPr wrap="square" rtlCol="0" anchor="ctr"/>
          <a:lstStyle/>
          <a:p>
            <a:pPr>
              <a:lnSpc>
                <a:spcPct val="130000"/>
              </a:lnSpc>
            </a:pPr>
            <a:r>
              <a:rPr lang="en-US" sz="2400" b="1" dirty="0">
                <a:solidFill>
                  <a:schemeClr val="bg1"/>
                </a:solidFill>
                <a:latin typeface="QuattrocentoSans" pitchFamily="34" charset="0"/>
                <a:ea typeface="QuattrocentoSans" pitchFamily="34" charset="-122"/>
                <a:cs typeface="QuattrocentoSans" pitchFamily="34" charset="-120"/>
              </a:rPr>
              <a:t>SharePoint List Creation</a:t>
            </a:r>
            <a:endParaRPr lang="en-US" sz="2400" dirty="0">
              <a:solidFill>
                <a:schemeClr val="bg1"/>
              </a:solidFill>
            </a:endParaRP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a:extLst>
            <a:ext uri="{FF2B5EF4-FFF2-40B4-BE49-F238E27FC236}">
              <a16:creationId xmlns:a16="http://schemas.microsoft.com/office/drawing/2014/main" id="{21AF00CF-165F-BE77-7FA0-769D4A9BE9E9}"/>
            </a:ext>
          </a:extLst>
        </p:cNvPr>
        <p:cNvGrpSpPr/>
        <p:nvPr/>
      </p:nvGrpSpPr>
      <p:grpSpPr>
        <a:xfrm>
          <a:off x="0" y="0"/>
          <a:ext cx="0" cy="0"/>
          <a:chOff x="0" y="0"/>
          <a:chExt cx="0" cy="0"/>
        </a:xfrm>
      </p:grpSpPr>
      <p:sp>
        <p:nvSpPr>
          <p:cNvPr id="22" name="Shape 0">
            <a:extLst>
              <a:ext uri="{FF2B5EF4-FFF2-40B4-BE49-F238E27FC236}">
                <a16:creationId xmlns:a16="http://schemas.microsoft.com/office/drawing/2014/main" id="{7ACE57C6-23E9-0564-4837-26F35DA58775}"/>
              </a:ext>
            </a:extLst>
          </p:cNvPr>
          <p:cNvSpPr/>
          <p:nvPr/>
        </p:nvSpPr>
        <p:spPr>
          <a:xfrm>
            <a:off x="0" y="-2143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pic>
        <p:nvPicPr>
          <p:cNvPr id="23" name="Image 0" descr="preencoded.png">
            <a:extLst>
              <a:ext uri="{FF2B5EF4-FFF2-40B4-BE49-F238E27FC236}">
                <a16:creationId xmlns:a16="http://schemas.microsoft.com/office/drawing/2014/main" id="{B30672F6-A810-A901-1B39-115D073099E2}"/>
              </a:ext>
            </a:extLst>
          </p:cNvPr>
          <p:cNvPicPr>
            <a:picLocks noChangeAspect="1"/>
          </p:cNvPicPr>
          <p:nvPr/>
        </p:nvPicPr>
        <p:blipFill>
          <a:blip r:embed="rId3"/>
          <a:stretch>
            <a:fillRect/>
          </a:stretch>
        </p:blipFill>
        <p:spPr>
          <a:xfrm>
            <a:off x="8046720" y="45720"/>
            <a:ext cx="685800" cy="676656"/>
          </a:xfrm>
          <a:prstGeom prst="rect">
            <a:avLst/>
          </a:prstGeom>
        </p:spPr>
      </p:pic>
      <p:sp>
        <p:nvSpPr>
          <p:cNvPr id="5" name="Text 3">
            <a:extLst>
              <a:ext uri="{FF2B5EF4-FFF2-40B4-BE49-F238E27FC236}">
                <a16:creationId xmlns:a16="http://schemas.microsoft.com/office/drawing/2014/main" id="{C2F1D0F1-365E-466C-C2FB-087F2DB16CD2}"/>
              </a:ext>
            </a:extLst>
          </p:cNvPr>
          <p:cNvSpPr/>
          <p:nvPr/>
        </p:nvSpPr>
        <p:spPr>
          <a:xfrm>
            <a:off x="319209" y="28576"/>
            <a:ext cx="3571875" cy="748664"/>
          </a:xfrm>
          <a:prstGeom prst="rect">
            <a:avLst/>
          </a:prstGeom>
          <a:noFill/>
          <a:ln/>
        </p:spPr>
        <p:txBody>
          <a:bodyPr wrap="none" lIns="0" tIns="0" rIns="0" bIns="0" rtlCol="0" anchor="ctr"/>
          <a:lstStyle/>
          <a:p>
            <a:pPr>
              <a:lnSpc>
                <a:spcPct val="100000"/>
              </a:lnSpc>
            </a:pPr>
            <a:r>
              <a:rPr lang="en-US" b="1" dirty="0">
                <a:solidFill>
                  <a:schemeClr val="bg1"/>
                </a:solidFill>
                <a:ea typeface="QuattrocentoSans" pitchFamily="34" charset="-122"/>
                <a:cs typeface="Calibri" panose="020F0502020204030204" pitchFamily="34" charset="0"/>
              </a:rPr>
              <a:t>Home Screen</a:t>
            </a:r>
            <a:endParaRPr lang="en-US" dirty="0">
              <a:solidFill>
                <a:schemeClr val="bg1"/>
              </a:solidFill>
            </a:endParaRPr>
          </a:p>
        </p:txBody>
      </p:sp>
      <p:sp>
        <p:nvSpPr>
          <p:cNvPr id="7" name="Shape 5">
            <a:extLst>
              <a:ext uri="{FF2B5EF4-FFF2-40B4-BE49-F238E27FC236}">
                <a16:creationId xmlns:a16="http://schemas.microsoft.com/office/drawing/2014/main" id="{54FFD275-0C24-B6E6-2171-9788976E087F}"/>
              </a:ext>
            </a:extLst>
          </p:cNvPr>
          <p:cNvSpPr/>
          <p:nvPr/>
        </p:nvSpPr>
        <p:spPr>
          <a:xfrm>
            <a:off x="428625" y="1000125"/>
            <a:ext cx="4429125" cy="3786188"/>
          </a:xfrm>
          <a:prstGeom prst="roundRect">
            <a:avLst>
              <a:gd name="adj" fmla="val 6000"/>
            </a:avLst>
          </a:prstGeom>
          <a:solidFill>
            <a:srgbClr val="FFFFFF"/>
          </a:solidFill>
          <a:ln/>
          <a:effectLst>
            <a:outerShdw blurRad="127000" dist="38100" dir="5400000" algn="bl" rotWithShape="0">
              <a:srgbClr val="000000">
                <a:alpha val="3137"/>
              </a:srgbClr>
            </a:outerShdw>
          </a:effectLst>
        </p:spPr>
        <p:txBody>
          <a:bodyPr/>
          <a:lstStyle/>
          <a:p>
            <a:endParaRPr lang="en-US" sz="1013"/>
          </a:p>
        </p:txBody>
      </p:sp>
      <p:pic>
        <p:nvPicPr>
          <p:cNvPr id="8" name="Image 0" descr="https://kimi-img.moonshot.cn/pub/slides/okc/wxirrvn3lwsta/mnt/agents/output/capmas-new/images/home_screen.png">
            <a:extLst>
              <a:ext uri="{FF2B5EF4-FFF2-40B4-BE49-F238E27FC236}">
                <a16:creationId xmlns:a16="http://schemas.microsoft.com/office/drawing/2014/main" id="{7D28E562-85D5-B17B-6691-E4C02736A130}"/>
              </a:ext>
            </a:extLst>
          </p:cNvPr>
          <p:cNvPicPr>
            <a:picLocks noChangeAspect="1"/>
          </p:cNvPicPr>
          <p:nvPr/>
        </p:nvPicPr>
        <p:blipFill>
          <a:blip r:embed="rId4"/>
          <a:srcRect l="25185" r="25185"/>
          <a:stretch/>
        </p:blipFill>
        <p:spPr>
          <a:xfrm>
            <a:off x="535781" y="1107281"/>
            <a:ext cx="4214813" cy="3571875"/>
          </a:xfrm>
          <a:prstGeom prst="roundRect">
            <a:avLst>
              <a:gd name="adj" fmla="val 4000"/>
            </a:avLst>
          </a:prstGeom>
        </p:spPr>
      </p:pic>
      <p:sp>
        <p:nvSpPr>
          <p:cNvPr id="9" name="Shape 6">
            <a:extLst>
              <a:ext uri="{FF2B5EF4-FFF2-40B4-BE49-F238E27FC236}">
                <a16:creationId xmlns:a16="http://schemas.microsoft.com/office/drawing/2014/main" id="{30E91BF4-4F0C-A972-E3A8-872D303F8A62}"/>
              </a:ext>
            </a:extLst>
          </p:cNvPr>
          <p:cNvSpPr/>
          <p:nvPr/>
        </p:nvSpPr>
        <p:spPr>
          <a:xfrm>
            <a:off x="5072062" y="1000125"/>
            <a:ext cx="3643313" cy="1143000"/>
          </a:xfrm>
          <a:prstGeom prst="roundRect">
            <a:avLst>
              <a:gd name="adj" fmla="val 6000"/>
            </a:avLst>
          </a:prstGeom>
          <a:solidFill>
            <a:srgbClr val="08204F"/>
          </a:solidFill>
          <a:ln/>
          <a:effectLst>
            <a:outerShdw blurRad="127000" dist="38100" dir="5400000" algn="bl" rotWithShape="0">
              <a:srgbClr val="000000">
                <a:alpha val="3137"/>
              </a:srgbClr>
            </a:outerShdw>
          </a:effectLst>
        </p:spPr>
        <p:txBody>
          <a:bodyPr/>
          <a:lstStyle/>
          <a:p>
            <a:endParaRPr lang="en-US" sz="1013"/>
          </a:p>
        </p:txBody>
      </p:sp>
      <p:sp>
        <p:nvSpPr>
          <p:cNvPr id="10" name="Shape 7">
            <a:extLst>
              <a:ext uri="{FF2B5EF4-FFF2-40B4-BE49-F238E27FC236}">
                <a16:creationId xmlns:a16="http://schemas.microsoft.com/office/drawing/2014/main" id="{44A874EF-9CE3-37D2-B2C8-C9E7745B9F0D}"/>
              </a:ext>
            </a:extLst>
          </p:cNvPr>
          <p:cNvSpPr/>
          <p:nvPr/>
        </p:nvSpPr>
        <p:spPr>
          <a:xfrm>
            <a:off x="5264052" y="1128712"/>
            <a:ext cx="187523" cy="214313"/>
          </a:xfrm>
          <a:custGeom>
            <a:avLst/>
            <a:gdLst/>
            <a:ahLst/>
            <a:cxnLst/>
            <a:rect l="l" t="t" r="r" b="b"/>
            <a:pathLst>
              <a:path w="333375" h="381000">
                <a:moveTo>
                  <a:pt x="214313" y="47625"/>
                </a:moveTo>
                <a:lnTo>
                  <a:pt x="261938" y="47625"/>
                </a:lnTo>
                <a:lnTo>
                  <a:pt x="261938" y="357188"/>
                </a:lnTo>
                <a:cubicBezTo>
                  <a:pt x="261938" y="370359"/>
                  <a:pt x="272579" y="381000"/>
                  <a:pt x="285750" y="381000"/>
                </a:cubicBezTo>
                <a:lnTo>
                  <a:pt x="309563" y="381000"/>
                </a:lnTo>
                <a:cubicBezTo>
                  <a:pt x="322734" y="381000"/>
                  <a:pt x="333375" y="370359"/>
                  <a:pt x="333375" y="357188"/>
                </a:cubicBezTo>
                <a:cubicBezTo>
                  <a:pt x="333375" y="344016"/>
                  <a:pt x="322734" y="333375"/>
                  <a:pt x="309563" y="333375"/>
                </a:cubicBezTo>
                <a:lnTo>
                  <a:pt x="309563" y="47625"/>
                </a:lnTo>
                <a:cubicBezTo>
                  <a:pt x="309563" y="21357"/>
                  <a:pt x="288206" y="0"/>
                  <a:pt x="261938" y="0"/>
                </a:cubicBezTo>
                <a:lnTo>
                  <a:pt x="190500" y="0"/>
                </a:lnTo>
                <a:lnTo>
                  <a:pt x="190500" y="0"/>
                </a:lnTo>
                <a:lnTo>
                  <a:pt x="71438" y="0"/>
                </a:lnTo>
                <a:cubicBezTo>
                  <a:pt x="45169" y="0"/>
                  <a:pt x="23812" y="21357"/>
                  <a:pt x="23812" y="47625"/>
                </a:cubicBezTo>
                <a:lnTo>
                  <a:pt x="23812" y="333375"/>
                </a:lnTo>
                <a:cubicBezTo>
                  <a:pt x="10641" y="333375"/>
                  <a:pt x="0" y="344016"/>
                  <a:pt x="0" y="357188"/>
                </a:cubicBezTo>
                <a:cubicBezTo>
                  <a:pt x="0" y="370359"/>
                  <a:pt x="10641" y="381000"/>
                  <a:pt x="23812" y="381000"/>
                </a:cubicBezTo>
                <a:lnTo>
                  <a:pt x="190500" y="381000"/>
                </a:lnTo>
                <a:cubicBezTo>
                  <a:pt x="203671" y="381000"/>
                  <a:pt x="214313" y="370359"/>
                  <a:pt x="214313" y="357188"/>
                </a:cubicBezTo>
                <a:lnTo>
                  <a:pt x="214313" y="47625"/>
                </a:lnTo>
                <a:close/>
                <a:moveTo>
                  <a:pt x="119063" y="190500"/>
                </a:moveTo>
                <a:cubicBezTo>
                  <a:pt x="119063" y="177358"/>
                  <a:pt x="129733" y="166688"/>
                  <a:pt x="142875" y="166688"/>
                </a:cubicBezTo>
                <a:cubicBezTo>
                  <a:pt x="156017" y="166688"/>
                  <a:pt x="166688" y="177358"/>
                  <a:pt x="166688" y="190500"/>
                </a:cubicBezTo>
                <a:cubicBezTo>
                  <a:pt x="166688" y="203642"/>
                  <a:pt x="156017" y="214313"/>
                  <a:pt x="142875" y="214313"/>
                </a:cubicBezTo>
                <a:cubicBezTo>
                  <a:pt x="129733" y="214313"/>
                  <a:pt x="119063" y="203642"/>
                  <a:pt x="119063" y="190500"/>
                </a:cubicBezTo>
                <a:close/>
              </a:path>
            </a:pathLst>
          </a:custGeom>
          <a:solidFill>
            <a:srgbClr val="36ADA3"/>
          </a:solidFill>
          <a:ln/>
        </p:spPr>
        <p:txBody>
          <a:bodyPr/>
          <a:lstStyle/>
          <a:p>
            <a:endParaRPr lang="en-US" sz="1013"/>
          </a:p>
        </p:txBody>
      </p:sp>
      <p:sp>
        <p:nvSpPr>
          <p:cNvPr id="11" name="Text 8">
            <a:extLst>
              <a:ext uri="{FF2B5EF4-FFF2-40B4-BE49-F238E27FC236}">
                <a16:creationId xmlns:a16="http://schemas.microsoft.com/office/drawing/2014/main" id="{C53F5392-1013-E8F0-1E51-EE13CBD40C9E}"/>
              </a:ext>
            </a:extLst>
          </p:cNvPr>
          <p:cNvSpPr/>
          <p:nvPr/>
        </p:nvSpPr>
        <p:spPr>
          <a:xfrm>
            <a:off x="5557838" y="1107281"/>
            <a:ext cx="2857500" cy="228600"/>
          </a:xfrm>
          <a:prstGeom prst="rect">
            <a:avLst/>
          </a:prstGeom>
          <a:noFill/>
          <a:ln/>
        </p:spPr>
        <p:txBody>
          <a:bodyPr wrap="none" lIns="0" tIns="0" rIns="0" bIns="0" rtlCol="0" anchor="ctr"/>
          <a:lstStyle/>
          <a:p>
            <a:pPr>
              <a:lnSpc>
                <a:spcPct val="100000"/>
              </a:lnSpc>
            </a:pPr>
            <a:r>
              <a:rPr lang="en-US" sz="1125" b="1" dirty="0">
                <a:solidFill>
                  <a:srgbClr val="36ADA3"/>
                </a:solidFill>
                <a:ea typeface="Quattrocento Sans" pitchFamily="34" charset="-122"/>
                <a:cs typeface="Segoe UI" panose="020B0502040204020203" pitchFamily="34" charset="0"/>
              </a:rPr>
              <a:t>Application Entry Point</a:t>
            </a:r>
            <a:endParaRPr lang="en-US" sz="900" dirty="0"/>
          </a:p>
        </p:txBody>
      </p:sp>
      <p:sp>
        <p:nvSpPr>
          <p:cNvPr id="12" name="Text 9">
            <a:extLst>
              <a:ext uri="{FF2B5EF4-FFF2-40B4-BE49-F238E27FC236}">
                <a16:creationId xmlns:a16="http://schemas.microsoft.com/office/drawing/2014/main" id="{11F8EB3D-E165-C598-72D1-BEAC7B4FB3C3}"/>
              </a:ext>
            </a:extLst>
          </p:cNvPr>
          <p:cNvSpPr/>
          <p:nvPr/>
        </p:nvSpPr>
        <p:spPr>
          <a:xfrm>
            <a:off x="5250656" y="1393031"/>
            <a:ext cx="3286125" cy="607219"/>
          </a:xfrm>
          <a:prstGeom prst="rect">
            <a:avLst/>
          </a:prstGeom>
          <a:noFill/>
          <a:ln/>
        </p:spPr>
        <p:txBody>
          <a:bodyPr wrap="square" lIns="0" tIns="0" rIns="0" bIns="0" rtlCol="0" anchor="t"/>
          <a:lstStyle/>
          <a:p>
            <a:pPr>
              <a:lnSpc>
                <a:spcPct val="150000"/>
              </a:lnSpc>
            </a:pPr>
            <a:r>
              <a:rPr lang="en-US" sz="1050" dirty="0">
                <a:solidFill>
                  <a:schemeClr val="bg1"/>
                </a:solidFill>
                <a:ea typeface="Quattrocento Sans" pitchFamily="34" charset="-122"/>
                <a:cs typeface="Segoe UI" panose="020B0502040204020203" pitchFamily="34" charset="0"/>
              </a:rPr>
              <a:t>The Home Screen serves as the main landing page for the Labor Force Survey app.</a:t>
            </a:r>
            <a:endParaRPr lang="en-US" sz="1050" dirty="0">
              <a:solidFill>
                <a:schemeClr val="bg1"/>
              </a:solidFill>
            </a:endParaRPr>
          </a:p>
        </p:txBody>
      </p:sp>
      <p:sp>
        <p:nvSpPr>
          <p:cNvPr id="13" name="Shape 10">
            <a:extLst>
              <a:ext uri="{FF2B5EF4-FFF2-40B4-BE49-F238E27FC236}">
                <a16:creationId xmlns:a16="http://schemas.microsoft.com/office/drawing/2014/main" id="{51D08863-E906-5C4B-23FA-ECD80995C0B0}"/>
              </a:ext>
            </a:extLst>
          </p:cNvPr>
          <p:cNvSpPr/>
          <p:nvPr/>
        </p:nvSpPr>
        <p:spPr>
          <a:xfrm>
            <a:off x="5072062" y="2250281"/>
            <a:ext cx="3643313" cy="1143000"/>
          </a:xfrm>
          <a:prstGeom prst="roundRect">
            <a:avLst>
              <a:gd name="adj" fmla="val 6000"/>
            </a:avLst>
          </a:prstGeom>
          <a:solidFill>
            <a:srgbClr val="08204F"/>
          </a:solidFill>
          <a:ln/>
          <a:effectLst>
            <a:outerShdw blurRad="127000" dist="38100" dir="5400000" algn="bl" rotWithShape="0">
              <a:srgbClr val="000000">
                <a:alpha val="3137"/>
              </a:srgbClr>
            </a:outerShdw>
          </a:effectLst>
        </p:spPr>
        <p:txBody>
          <a:bodyPr/>
          <a:lstStyle/>
          <a:p>
            <a:endParaRPr lang="en-US" sz="1013"/>
          </a:p>
        </p:txBody>
      </p:sp>
      <p:sp>
        <p:nvSpPr>
          <p:cNvPr id="14" name="Shape 11">
            <a:extLst>
              <a:ext uri="{FF2B5EF4-FFF2-40B4-BE49-F238E27FC236}">
                <a16:creationId xmlns:a16="http://schemas.microsoft.com/office/drawing/2014/main" id="{01953DF3-FF15-8295-3598-DA778AB44A08}"/>
              </a:ext>
            </a:extLst>
          </p:cNvPr>
          <p:cNvSpPr/>
          <p:nvPr/>
        </p:nvSpPr>
        <p:spPr>
          <a:xfrm>
            <a:off x="5277446" y="2378869"/>
            <a:ext cx="160734" cy="214313"/>
          </a:xfrm>
          <a:custGeom>
            <a:avLst/>
            <a:gdLst/>
            <a:ahLst/>
            <a:cxnLst/>
            <a:rect l="l" t="t" r="r" b="b"/>
            <a:pathLst>
              <a:path w="285750" h="381000">
                <a:moveTo>
                  <a:pt x="47625" y="0"/>
                </a:moveTo>
                <a:cubicBezTo>
                  <a:pt x="21357" y="0"/>
                  <a:pt x="0" y="21357"/>
                  <a:pt x="0" y="47625"/>
                </a:cubicBezTo>
                <a:lnTo>
                  <a:pt x="0" y="333375"/>
                </a:lnTo>
                <a:cubicBezTo>
                  <a:pt x="0" y="359643"/>
                  <a:pt x="21357" y="381000"/>
                  <a:pt x="47625" y="381000"/>
                </a:cubicBezTo>
                <a:lnTo>
                  <a:pt x="238125" y="381000"/>
                </a:lnTo>
                <a:cubicBezTo>
                  <a:pt x="264393" y="381000"/>
                  <a:pt x="285750" y="359643"/>
                  <a:pt x="285750" y="333375"/>
                </a:cubicBezTo>
                <a:lnTo>
                  <a:pt x="285750" y="47625"/>
                </a:lnTo>
                <a:cubicBezTo>
                  <a:pt x="285750" y="21357"/>
                  <a:pt x="264393" y="0"/>
                  <a:pt x="238125" y="0"/>
                </a:cubicBezTo>
                <a:lnTo>
                  <a:pt x="47625" y="0"/>
                </a:lnTo>
                <a:close/>
                <a:moveTo>
                  <a:pt x="119063" y="261938"/>
                </a:moveTo>
                <a:lnTo>
                  <a:pt x="166688" y="261938"/>
                </a:lnTo>
                <a:cubicBezTo>
                  <a:pt x="199579" y="261938"/>
                  <a:pt x="226219" y="288578"/>
                  <a:pt x="226219" y="321469"/>
                </a:cubicBezTo>
                <a:cubicBezTo>
                  <a:pt x="226219" y="328017"/>
                  <a:pt x="220861" y="333375"/>
                  <a:pt x="214313" y="333375"/>
                </a:cubicBezTo>
                <a:lnTo>
                  <a:pt x="71438" y="333375"/>
                </a:lnTo>
                <a:cubicBezTo>
                  <a:pt x="64889" y="333375"/>
                  <a:pt x="59531" y="328017"/>
                  <a:pt x="59531" y="321469"/>
                </a:cubicBezTo>
                <a:cubicBezTo>
                  <a:pt x="59531" y="288578"/>
                  <a:pt x="86171" y="261938"/>
                  <a:pt x="119063" y="261938"/>
                </a:cubicBezTo>
                <a:close/>
                <a:moveTo>
                  <a:pt x="101203" y="190500"/>
                </a:moveTo>
                <a:cubicBezTo>
                  <a:pt x="101203" y="167501"/>
                  <a:pt x="119876" y="148828"/>
                  <a:pt x="142875" y="148828"/>
                </a:cubicBezTo>
                <a:cubicBezTo>
                  <a:pt x="165874" y="148828"/>
                  <a:pt x="184547" y="167501"/>
                  <a:pt x="184547" y="190500"/>
                </a:cubicBezTo>
                <a:cubicBezTo>
                  <a:pt x="184547" y="213499"/>
                  <a:pt x="165874" y="232172"/>
                  <a:pt x="142875" y="232172"/>
                </a:cubicBezTo>
                <a:cubicBezTo>
                  <a:pt x="119876" y="232172"/>
                  <a:pt x="101203" y="213499"/>
                  <a:pt x="101203" y="190500"/>
                </a:cubicBezTo>
                <a:close/>
                <a:moveTo>
                  <a:pt x="113109" y="47625"/>
                </a:moveTo>
                <a:lnTo>
                  <a:pt x="172641" y="47625"/>
                </a:lnTo>
                <a:cubicBezTo>
                  <a:pt x="182538" y="47625"/>
                  <a:pt x="190500" y="55587"/>
                  <a:pt x="190500" y="65484"/>
                </a:cubicBezTo>
                <a:cubicBezTo>
                  <a:pt x="190500" y="75381"/>
                  <a:pt x="182538" y="83344"/>
                  <a:pt x="172641" y="83344"/>
                </a:cubicBezTo>
                <a:lnTo>
                  <a:pt x="113109" y="83344"/>
                </a:lnTo>
                <a:cubicBezTo>
                  <a:pt x="103212" y="83344"/>
                  <a:pt x="95250" y="75381"/>
                  <a:pt x="95250" y="65484"/>
                </a:cubicBezTo>
                <a:cubicBezTo>
                  <a:pt x="95250" y="55587"/>
                  <a:pt x="103212" y="47625"/>
                  <a:pt x="113109" y="47625"/>
                </a:cubicBezTo>
                <a:close/>
              </a:path>
            </a:pathLst>
          </a:custGeom>
          <a:solidFill>
            <a:srgbClr val="36ADA3"/>
          </a:solidFill>
          <a:ln/>
        </p:spPr>
        <p:txBody>
          <a:bodyPr/>
          <a:lstStyle/>
          <a:p>
            <a:endParaRPr lang="en-US" sz="1013"/>
          </a:p>
        </p:txBody>
      </p:sp>
      <p:sp>
        <p:nvSpPr>
          <p:cNvPr id="15" name="Text 12">
            <a:extLst>
              <a:ext uri="{FF2B5EF4-FFF2-40B4-BE49-F238E27FC236}">
                <a16:creationId xmlns:a16="http://schemas.microsoft.com/office/drawing/2014/main" id="{FCF5DE74-8217-24E3-B3A3-6C1D5EB74FF7}"/>
              </a:ext>
            </a:extLst>
          </p:cNvPr>
          <p:cNvSpPr/>
          <p:nvPr/>
        </p:nvSpPr>
        <p:spPr>
          <a:xfrm>
            <a:off x="5557838" y="2357438"/>
            <a:ext cx="2857500" cy="228600"/>
          </a:xfrm>
          <a:prstGeom prst="rect">
            <a:avLst/>
          </a:prstGeom>
          <a:noFill/>
          <a:ln/>
        </p:spPr>
        <p:txBody>
          <a:bodyPr wrap="none" lIns="0" tIns="0" rIns="0" bIns="0" rtlCol="0" anchor="ctr"/>
          <a:lstStyle/>
          <a:p>
            <a:pPr>
              <a:lnSpc>
                <a:spcPct val="100000"/>
              </a:lnSpc>
            </a:pPr>
            <a:r>
              <a:rPr lang="en-US" sz="1125" b="1" dirty="0">
                <a:solidFill>
                  <a:srgbClr val="36ADA3"/>
                </a:solidFill>
                <a:ea typeface="Quattrocento Sans" pitchFamily="34" charset="-122"/>
                <a:cs typeface="Segoe UI" panose="020B0502040204020203" pitchFamily="34" charset="0"/>
              </a:rPr>
              <a:t>CAPMAS Branding</a:t>
            </a:r>
            <a:endParaRPr lang="en-US" sz="900" dirty="0"/>
          </a:p>
        </p:txBody>
      </p:sp>
      <p:sp>
        <p:nvSpPr>
          <p:cNvPr id="16" name="Text 13">
            <a:extLst>
              <a:ext uri="{FF2B5EF4-FFF2-40B4-BE49-F238E27FC236}">
                <a16:creationId xmlns:a16="http://schemas.microsoft.com/office/drawing/2014/main" id="{B4BA2AF9-4833-2A99-59CB-88F430DF2336}"/>
              </a:ext>
            </a:extLst>
          </p:cNvPr>
          <p:cNvSpPr/>
          <p:nvPr/>
        </p:nvSpPr>
        <p:spPr>
          <a:xfrm>
            <a:off x="5250656" y="2643187"/>
            <a:ext cx="3286125" cy="607219"/>
          </a:xfrm>
          <a:prstGeom prst="rect">
            <a:avLst/>
          </a:prstGeom>
          <a:noFill/>
          <a:ln/>
        </p:spPr>
        <p:txBody>
          <a:bodyPr wrap="square" lIns="0" tIns="0" rIns="0" bIns="0" rtlCol="0" anchor="t"/>
          <a:lstStyle/>
          <a:p>
            <a:pPr>
              <a:lnSpc>
                <a:spcPct val="150000"/>
              </a:lnSpc>
            </a:pPr>
            <a:r>
              <a:rPr lang="en-US" sz="1050" dirty="0">
                <a:solidFill>
                  <a:schemeClr val="bg1"/>
                </a:solidFill>
                <a:ea typeface="Quattrocento Sans" pitchFamily="34" charset="-122"/>
                <a:cs typeface="Segoe UI" panose="020B0502040204020203" pitchFamily="34" charset="0"/>
              </a:rPr>
              <a:t>Features the official </a:t>
            </a:r>
            <a:r>
              <a:rPr lang="en-US" sz="1050" b="1" dirty="0">
                <a:solidFill>
                  <a:schemeClr val="bg1"/>
                </a:solidFill>
                <a:ea typeface="Quattrocento Sans" pitchFamily="34" charset="-122"/>
                <a:cs typeface="Segoe UI" panose="020B0502040204020203" pitchFamily="34" charset="0"/>
              </a:rPr>
              <a:t>CAPMAS logo</a:t>
            </a:r>
            <a:r>
              <a:rPr lang="en-US" sz="1050" dirty="0">
                <a:solidFill>
                  <a:schemeClr val="bg1"/>
                </a:solidFill>
                <a:ea typeface="Quattrocento Sans" pitchFamily="34" charset="-122"/>
                <a:cs typeface="Segoe UI" panose="020B0502040204020203" pitchFamily="34" charset="0"/>
              </a:rPr>
              <a:t> and Arabic branding, maintaining government identity standards.</a:t>
            </a:r>
            <a:endParaRPr lang="en-US" sz="1050" dirty="0">
              <a:solidFill>
                <a:schemeClr val="bg1"/>
              </a:solidFill>
            </a:endParaRPr>
          </a:p>
        </p:txBody>
      </p:sp>
      <p:sp>
        <p:nvSpPr>
          <p:cNvPr id="17" name="Shape 14">
            <a:extLst>
              <a:ext uri="{FF2B5EF4-FFF2-40B4-BE49-F238E27FC236}">
                <a16:creationId xmlns:a16="http://schemas.microsoft.com/office/drawing/2014/main" id="{942DD49B-1E1A-B30F-870D-8BF74329180C}"/>
              </a:ext>
            </a:extLst>
          </p:cNvPr>
          <p:cNvSpPr/>
          <p:nvPr/>
        </p:nvSpPr>
        <p:spPr>
          <a:xfrm>
            <a:off x="5072062" y="3500438"/>
            <a:ext cx="3643313" cy="1285875"/>
          </a:xfrm>
          <a:prstGeom prst="roundRect">
            <a:avLst>
              <a:gd name="adj" fmla="val 6000"/>
            </a:avLst>
          </a:prstGeom>
          <a:solidFill>
            <a:srgbClr val="08204F"/>
          </a:solidFill>
          <a:ln/>
          <a:effectLst>
            <a:outerShdw blurRad="127000" dist="38100" dir="5400000" algn="bl" rotWithShape="0">
              <a:srgbClr val="000000">
                <a:alpha val="3137"/>
              </a:srgbClr>
            </a:outerShdw>
          </a:effectLst>
        </p:spPr>
        <p:txBody>
          <a:bodyPr/>
          <a:lstStyle/>
          <a:p>
            <a:endParaRPr lang="en-US" sz="1013"/>
          </a:p>
        </p:txBody>
      </p:sp>
      <p:sp>
        <p:nvSpPr>
          <p:cNvPr id="18" name="Shape 15">
            <a:extLst>
              <a:ext uri="{FF2B5EF4-FFF2-40B4-BE49-F238E27FC236}">
                <a16:creationId xmlns:a16="http://schemas.microsoft.com/office/drawing/2014/main" id="{F5AA4082-658F-1AF1-565D-3DF864DBEA52}"/>
              </a:ext>
            </a:extLst>
          </p:cNvPr>
          <p:cNvSpPr/>
          <p:nvPr/>
        </p:nvSpPr>
        <p:spPr>
          <a:xfrm>
            <a:off x="5250656" y="3629025"/>
            <a:ext cx="214313" cy="214313"/>
          </a:xfrm>
          <a:custGeom>
            <a:avLst/>
            <a:gdLst/>
            <a:ahLst/>
            <a:cxnLst/>
            <a:rect l="l" t="t" r="r" b="b"/>
            <a:pathLst>
              <a:path w="381000" h="381000">
                <a:moveTo>
                  <a:pt x="190500" y="381000"/>
                </a:moveTo>
                <a:cubicBezTo>
                  <a:pt x="295640" y="381000"/>
                  <a:pt x="381000" y="295640"/>
                  <a:pt x="381000" y="190500"/>
                </a:cubicBezTo>
                <a:cubicBezTo>
                  <a:pt x="381000" y="85360"/>
                  <a:pt x="295640" y="0"/>
                  <a:pt x="190500" y="0"/>
                </a:cubicBezTo>
                <a:cubicBezTo>
                  <a:pt x="85360" y="0"/>
                  <a:pt x="0" y="85360"/>
                  <a:pt x="0" y="190500"/>
                </a:cubicBezTo>
                <a:cubicBezTo>
                  <a:pt x="0" y="295640"/>
                  <a:pt x="85360" y="381000"/>
                  <a:pt x="190500" y="381000"/>
                </a:cubicBezTo>
                <a:close/>
                <a:moveTo>
                  <a:pt x="228228" y="241920"/>
                </a:moveTo>
                <a:lnTo>
                  <a:pt x="120848" y="283220"/>
                </a:lnTo>
                <a:cubicBezTo>
                  <a:pt x="106412" y="288801"/>
                  <a:pt x="92199" y="274588"/>
                  <a:pt x="97780" y="260152"/>
                </a:cubicBezTo>
                <a:lnTo>
                  <a:pt x="139080" y="152772"/>
                </a:lnTo>
                <a:cubicBezTo>
                  <a:pt x="141536" y="146447"/>
                  <a:pt x="146447" y="141536"/>
                  <a:pt x="152772" y="139080"/>
                </a:cubicBezTo>
                <a:lnTo>
                  <a:pt x="260152" y="97780"/>
                </a:lnTo>
                <a:cubicBezTo>
                  <a:pt x="274588" y="92199"/>
                  <a:pt x="288801" y="106412"/>
                  <a:pt x="283220" y="120848"/>
                </a:cubicBezTo>
                <a:lnTo>
                  <a:pt x="241920" y="228228"/>
                </a:lnTo>
                <a:cubicBezTo>
                  <a:pt x="239539" y="234553"/>
                  <a:pt x="234553" y="239464"/>
                  <a:pt x="228228" y="241920"/>
                </a:cubicBezTo>
                <a:close/>
                <a:moveTo>
                  <a:pt x="214313" y="190500"/>
                </a:moveTo>
                <a:cubicBezTo>
                  <a:pt x="214313" y="177358"/>
                  <a:pt x="203642" y="166688"/>
                  <a:pt x="190500" y="166688"/>
                </a:cubicBezTo>
                <a:cubicBezTo>
                  <a:pt x="177358" y="166688"/>
                  <a:pt x="166688" y="177358"/>
                  <a:pt x="166688" y="190500"/>
                </a:cubicBezTo>
                <a:cubicBezTo>
                  <a:pt x="166688" y="203642"/>
                  <a:pt x="177358" y="214313"/>
                  <a:pt x="190500" y="214313"/>
                </a:cubicBezTo>
                <a:cubicBezTo>
                  <a:pt x="203642" y="214313"/>
                  <a:pt x="214313" y="203642"/>
                  <a:pt x="214313" y="190500"/>
                </a:cubicBezTo>
                <a:close/>
              </a:path>
            </a:pathLst>
          </a:custGeom>
          <a:solidFill>
            <a:srgbClr val="36ADA3"/>
          </a:solidFill>
          <a:ln/>
        </p:spPr>
        <p:txBody>
          <a:bodyPr/>
          <a:lstStyle/>
          <a:p>
            <a:endParaRPr lang="en-US" sz="1013"/>
          </a:p>
        </p:txBody>
      </p:sp>
      <p:sp>
        <p:nvSpPr>
          <p:cNvPr id="19" name="Text 16">
            <a:extLst>
              <a:ext uri="{FF2B5EF4-FFF2-40B4-BE49-F238E27FC236}">
                <a16:creationId xmlns:a16="http://schemas.microsoft.com/office/drawing/2014/main" id="{6098FA0C-9D9A-272B-879D-2D0A2A7CDD31}"/>
              </a:ext>
            </a:extLst>
          </p:cNvPr>
          <p:cNvSpPr/>
          <p:nvPr/>
        </p:nvSpPr>
        <p:spPr>
          <a:xfrm>
            <a:off x="5557838" y="3607594"/>
            <a:ext cx="2857500" cy="228600"/>
          </a:xfrm>
          <a:prstGeom prst="rect">
            <a:avLst/>
          </a:prstGeom>
          <a:noFill/>
          <a:ln/>
        </p:spPr>
        <p:txBody>
          <a:bodyPr wrap="none" lIns="0" tIns="0" rIns="0" bIns="0" rtlCol="0" anchor="ctr"/>
          <a:lstStyle/>
          <a:p>
            <a:pPr>
              <a:lnSpc>
                <a:spcPct val="100000"/>
              </a:lnSpc>
            </a:pPr>
            <a:r>
              <a:rPr lang="en-US" sz="1125" b="1" dirty="0">
                <a:solidFill>
                  <a:srgbClr val="36ADA3"/>
                </a:solidFill>
                <a:ea typeface="Quattrocento Sans" pitchFamily="34" charset="-122"/>
                <a:cs typeface="Segoe UI" panose="020B0502040204020203" pitchFamily="34" charset="0"/>
              </a:rPr>
              <a:t>Navigation</a:t>
            </a:r>
            <a:endParaRPr lang="en-US" sz="900" dirty="0"/>
          </a:p>
        </p:txBody>
      </p:sp>
      <p:sp>
        <p:nvSpPr>
          <p:cNvPr id="20" name="Text 17">
            <a:extLst>
              <a:ext uri="{FF2B5EF4-FFF2-40B4-BE49-F238E27FC236}">
                <a16:creationId xmlns:a16="http://schemas.microsoft.com/office/drawing/2014/main" id="{620B85D0-7778-B6F3-3B19-722D1FC70D6C}"/>
              </a:ext>
            </a:extLst>
          </p:cNvPr>
          <p:cNvSpPr/>
          <p:nvPr/>
        </p:nvSpPr>
        <p:spPr>
          <a:xfrm>
            <a:off x="5250656" y="3893344"/>
            <a:ext cx="3286125" cy="750094"/>
          </a:xfrm>
          <a:prstGeom prst="rect">
            <a:avLst/>
          </a:prstGeom>
          <a:noFill/>
          <a:ln/>
        </p:spPr>
        <p:txBody>
          <a:bodyPr wrap="square" lIns="0" tIns="0" rIns="0" bIns="0" rtlCol="0" anchor="t"/>
          <a:lstStyle/>
          <a:p>
            <a:pPr>
              <a:lnSpc>
                <a:spcPct val="150000"/>
              </a:lnSpc>
            </a:pPr>
            <a:r>
              <a:rPr lang="en-US" sz="1050" dirty="0">
                <a:solidFill>
                  <a:schemeClr val="bg1"/>
                </a:solidFill>
                <a:ea typeface="Quattrocento Sans" pitchFamily="34" charset="-122"/>
                <a:cs typeface="Segoe UI" panose="020B0502040204020203" pitchFamily="34" charset="0"/>
              </a:rPr>
              <a:t>Users can initiate a new survey by clicking </a:t>
            </a:r>
            <a:r>
              <a:rPr lang="en-US" sz="1050" b="1" dirty="0">
                <a:solidFill>
                  <a:schemeClr val="bg1"/>
                </a:solidFill>
                <a:ea typeface="Quattrocento Sans" pitchFamily="34" charset="-122"/>
                <a:cs typeface="Segoe UI" panose="020B0502040204020203" pitchFamily="34" charset="0"/>
              </a:rPr>
              <a:t>"Add a New Survey"</a:t>
            </a:r>
            <a:r>
              <a:rPr lang="en-US" sz="1050" dirty="0">
                <a:solidFill>
                  <a:schemeClr val="bg1"/>
                </a:solidFill>
                <a:ea typeface="Quattrocento Sans" pitchFamily="34" charset="-122"/>
                <a:cs typeface="Segoe UI" panose="020B0502040204020203" pitchFamily="34" charset="0"/>
              </a:rPr>
              <a:t> button, which navigates to the data entry form.</a:t>
            </a:r>
            <a:endParaRPr lang="en-US" sz="1050" dirty="0">
              <a:solidFill>
                <a:schemeClr val="bg1"/>
              </a:solidFill>
            </a:endParaRPr>
          </a:p>
        </p:txBody>
      </p:sp>
      <p:sp>
        <p:nvSpPr>
          <p:cNvPr id="21" name="Text 18">
            <a:extLst>
              <a:ext uri="{FF2B5EF4-FFF2-40B4-BE49-F238E27FC236}">
                <a16:creationId xmlns:a16="http://schemas.microsoft.com/office/drawing/2014/main" id="{3F3D46B2-8050-834E-1408-5133DBB256AD}"/>
              </a:ext>
            </a:extLst>
          </p:cNvPr>
          <p:cNvSpPr/>
          <p:nvPr/>
        </p:nvSpPr>
        <p:spPr>
          <a:xfrm>
            <a:off x="8501062" y="4893469"/>
            <a:ext cx="357188" cy="178594"/>
          </a:xfrm>
          <a:prstGeom prst="rect">
            <a:avLst/>
          </a:prstGeom>
          <a:noFill/>
          <a:ln/>
        </p:spPr>
        <p:txBody>
          <a:bodyPr wrap="none" lIns="0" tIns="0" rIns="0" bIns="0" rtlCol="0" anchor="ctr"/>
          <a:lstStyle/>
          <a:p>
            <a:pPr algn="r">
              <a:lnSpc>
                <a:spcPct val="100000"/>
              </a:lnSpc>
            </a:pPr>
            <a:r>
              <a:rPr lang="en-US" sz="788" dirty="0">
                <a:solidFill>
                  <a:srgbClr val="2F578A"/>
                </a:solidFill>
                <a:ea typeface="Quattrocento Sans" pitchFamily="34" charset="-122"/>
                <a:cs typeface="Segoe UI" panose="020B0502040204020203" pitchFamily="34" charset="0"/>
              </a:rPr>
              <a:t>09</a:t>
            </a:r>
            <a:endParaRPr lang="en-US" sz="900" dirty="0"/>
          </a:p>
        </p:txBody>
      </p:sp>
    </p:spTree>
    <p:extLst>
      <p:ext uri="{BB962C8B-B14F-4D97-AF65-F5344CB8AC3E}">
        <p14:creationId xmlns:p14="http://schemas.microsoft.com/office/powerpoint/2010/main" val="3513081395"/>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a:extLst>
            <a:ext uri="{FF2B5EF4-FFF2-40B4-BE49-F238E27FC236}">
              <a16:creationId xmlns:a16="http://schemas.microsoft.com/office/drawing/2014/main" id="{5C637B3B-0B5D-E53A-3D91-13C0C5C881D6}"/>
            </a:ext>
          </a:extLst>
        </p:cNvPr>
        <p:cNvGrpSpPr/>
        <p:nvPr/>
      </p:nvGrpSpPr>
      <p:grpSpPr>
        <a:xfrm>
          <a:off x="0" y="0"/>
          <a:ext cx="0" cy="0"/>
          <a:chOff x="0" y="0"/>
          <a:chExt cx="0" cy="0"/>
        </a:xfrm>
      </p:grpSpPr>
      <p:sp>
        <p:nvSpPr>
          <p:cNvPr id="22" name="Shape 0">
            <a:extLst>
              <a:ext uri="{FF2B5EF4-FFF2-40B4-BE49-F238E27FC236}">
                <a16:creationId xmlns:a16="http://schemas.microsoft.com/office/drawing/2014/main" id="{1A7E81F2-565C-C888-9CFB-25190954F861}"/>
              </a:ext>
            </a:extLst>
          </p:cNvPr>
          <p:cNvSpPr/>
          <p:nvPr/>
        </p:nvSpPr>
        <p:spPr>
          <a:xfrm>
            <a:off x="0" y="-2143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pic>
        <p:nvPicPr>
          <p:cNvPr id="23" name="Image 0" descr="preencoded.png">
            <a:extLst>
              <a:ext uri="{FF2B5EF4-FFF2-40B4-BE49-F238E27FC236}">
                <a16:creationId xmlns:a16="http://schemas.microsoft.com/office/drawing/2014/main" id="{BB4EE245-37CC-F072-BE98-1AABDD431EF5}"/>
              </a:ext>
            </a:extLst>
          </p:cNvPr>
          <p:cNvPicPr>
            <a:picLocks noChangeAspect="1"/>
          </p:cNvPicPr>
          <p:nvPr/>
        </p:nvPicPr>
        <p:blipFill>
          <a:blip r:embed="rId3"/>
          <a:stretch>
            <a:fillRect/>
          </a:stretch>
        </p:blipFill>
        <p:spPr>
          <a:xfrm>
            <a:off x="8046720" y="45720"/>
            <a:ext cx="685800" cy="676656"/>
          </a:xfrm>
          <a:prstGeom prst="rect">
            <a:avLst/>
          </a:prstGeom>
        </p:spPr>
      </p:pic>
      <p:sp>
        <p:nvSpPr>
          <p:cNvPr id="5" name="Text 3">
            <a:extLst>
              <a:ext uri="{FF2B5EF4-FFF2-40B4-BE49-F238E27FC236}">
                <a16:creationId xmlns:a16="http://schemas.microsoft.com/office/drawing/2014/main" id="{F80AA902-C8D3-71CC-674A-8D8A9B33C15B}"/>
              </a:ext>
            </a:extLst>
          </p:cNvPr>
          <p:cNvSpPr/>
          <p:nvPr/>
        </p:nvSpPr>
        <p:spPr>
          <a:xfrm>
            <a:off x="428625" y="-21429"/>
            <a:ext cx="3571875" cy="777240"/>
          </a:xfrm>
          <a:prstGeom prst="rect">
            <a:avLst/>
          </a:prstGeom>
          <a:noFill/>
          <a:ln/>
        </p:spPr>
        <p:txBody>
          <a:bodyPr wrap="none" lIns="0" tIns="0" rIns="0" bIns="0" rtlCol="0" anchor="ctr"/>
          <a:lstStyle/>
          <a:p>
            <a:pPr>
              <a:lnSpc>
                <a:spcPct val="100000"/>
              </a:lnSpc>
            </a:pPr>
            <a:r>
              <a:rPr lang="en-US" b="1" dirty="0">
                <a:solidFill>
                  <a:schemeClr val="bg1"/>
                </a:solidFill>
                <a:ea typeface="QuattrocentoSans" pitchFamily="34" charset="-122"/>
                <a:cs typeface="Calibri" panose="020F0502020204030204" pitchFamily="34" charset="0"/>
              </a:rPr>
              <a:t> Submit Screen</a:t>
            </a:r>
            <a:endParaRPr lang="en-US" dirty="0">
              <a:solidFill>
                <a:schemeClr val="bg1"/>
              </a:solidFill>
            </a:endParaRPr>
          </a:p>
        </p:txBody>
      </p:sp>
      <p:sp>
        <p:nvSpPr>
          <p:cNvPr id="7" name="Shape 5">
            <a:extLst>
              <a:ext uri="{FF2B5EF4-FFF2-40B4-BE49-F238E27FC236}">
                <a16:creationId xmlns:a16="http://schemas.microsoft.com/office/drawing/2014/main" id="{8B6560B7-485E-D6E8-15A6-190F84C34EEC}"/>
              </a:ext>
            </a:extLst>
          </p:cNvPr>
          <p:cNvSpPr/>
          <p:nvPr/>
        </p:nvSpPr>
        <p:spPr>
          <a:xfrm>
            <a:off x="195385" y="1000125"/>
            <a:ext cx="4662365" cy="3786188"/>
          </a:xfrm>
          <a:prstGeom prst="roundRect">
            <a:avLst>
              <a:gd name="adj" fmla="val 6000"/>
            </a:avLst>
          </a:prstGeom>
          <a:solidFill>
            <a:srgbClr val="FFFFFF"/>
          </a:solidFill>
          <a:ln/>
          <a:effectLst>
            <a:outerShdw blurRad="127000" dist="38100" dir="5400000" algn="bl" rotWithShape="0">
              <a:srgbClr val="000000">
                <a:alpha val="3137"/>
              </a:srgbClr>
            </a:outerShdw>
          </a:effectLst>
        </p:spPr>
        <p:txBody>
          <a:bodyPr/>
          <a:lstStyle/>
          <a:p>
            <a:endParaRPr lang="en-US" sz="1013"/>
          </a:p>
        </p:txBody>
      </p:sp>
      <p:pic>
        <p:nvPicPr>
          <p:cNvPr id="8" name="Image 0" descr="https://kimi-img.moonshot.cn/pub/slides/okc/wxirrvn3lwsta/mnt/agents/output/capmas-new/images/submit_screen.png">
            <a:extLst>
              <a:ext uri="{FF2B5EF4-FFF2-40B4-BE49-F238E27FC236}">
                <a16:creationId xmlns:a16="http://schemas.microsoft.com/office/drawing/2014/main" id="{CA58692A-1B84-07DE-4A0A-2B4A4B032781}"/>
              </a:ext>
            </a:extLst>
          </p:cNvPr>
          <p:cNvPicPr>
            <a:picLocks noChangeAspect="1"/>
          </p:cNvPicPr>
          <p:nvPr/>
        </p:nvPicPr>
        <p:blipFill>
          <a:blip r:embed="rId4"/>
          <a:srcRect l="23516" t="13602" r="24525" b="12259"/>
          <a:stretch>
            <a:fillRect/>
          </a:stretch>
        </p:blipFill>
        <p:spPr>
          <a:xfrm>
            <a:off x="282982" y="1343025"/>
            <a:ext cx="4487169" cy="3127375"/>
          </a:xfrm>
          <a:prstGeom prst="roundRect">
            <a:avLst>
              <a:gd name="adj" fmla="val 4000"/>
            </a:avLst>
          </a:prstGeom>
        </p:spPr>
      </p:pic>
      <p:sp>
        <p:nvSpPr>
          <p:cNvPr id="9" name="Shape 6">
            <a:extLst>
              <a:ext uri="{FF2B5EF4-FFF2-40B4-BE49-F238E27FC236}">
                <a16:creationId xmlns:a16="http://schemas.microsoft.com/office/drawing/2014/main" id="{DD86DE12-206D-AEF8-3F73-FEF7C89C2347}"/>
              </a:ext>
            </a:extLst>
          </p:cNvPr>
          <p:cNvSpPr/>
          <p:nvPr/>
        </p:nvSpPr>
        <p:spPr>
          <a:xfrm>
            <a:off x="5072062" y="1000125"/>
            <a:ext cx="3643313" cy="1035844"/>
          </a:xfrm>
          <a:prstGeom prst="roundRect">
            <a:avLst>
              <a:gd name="adj" fmla="val 6000"/>
            </a:avLst>
          </a:prstGeom>
          <a:solidFill>
            <a:srgbClr val="08204F"/>
          </a:solidFill>
          <a:ln/>
          <a:effectLst>
            <a:outerShdw blurRad="127000" dist="38100" dir="5400000" algn="bl" rotWithShape="0">
              <a:srgbClr val="000000">
                <a:alpha val="3137"/>
              </a:srgbClr>
            </a:outerShdw>
          </a:effectLst>
        </p:spPr>
        <p:txBody>
          <a:bodyPr/>
          <a:lstStyle/>
          <a:p>
            <a:endParaRPr lang="en-US" sz="1013"/>
          </a:p>
        </p:txBody>
      </p:sp>
      <p:sp>
        <p:nvSpPr>
          <p:cNvPr id="10" name="Shape 7">
            <a:extLst>
              <a:ext uri="{FF2B5EF4-FFF2-40B4-BE49-F238E27FC236}">
                <a16:creationId xmlns:a16="http://schemas.microsoft.com/office/drawing/2014/main" id="{770EF1B9-698E-7154-F4FA-098AC98EA926}"/>
              </a:ext>
            </a:extLst>
          </p:cNvPr>
          <p:cNvSpPr/>
          <p:nvPr/>
        </p:nvSpPr>
        <p:spPr>
          <a:xfrm>
            <a:off x="5250656" y="1128712"/>
            <a:ext cx="214313" cy="214313"/>
          </a:xfrm>
          <a:custGeom>
            <a:avLst/>
            <a:gdLst/>
            <a:ahLst/>
            <a:cxnLst/>
            <a:rect l="l" t="t" r="r" b="b"/>
            <a:pathLst>
              <a:path w="381000" h="381000">
                <a:moveTo>
                  <a:pt x="350937" y="16148"/>
                </a:moveTo>
                <a:cubicBezTo>
                  <a:pt x="334640" y="-149"/>
                  <a:pt x="308297" y="-149"/>
                  <a:pt x="292001" y="16148"/>
                </a:cubicBezTo>
                <a:lnTo>
                  <a:pt x="273844" y="34305"/>
                </a:lnTo>
                <a:lnTo>
                  <a:pt x="346695" y="107156"/>
                </a:lnTo>
                <a:lnTo>
                  <a:pt x="364852" y="88999"/>
                </a:lnTo>
                <a:cubicBezTo>
                  <a:pt x="381149" y="72703"/>
                  <a:pt x="381149" y="46360"/>
                  <a:pt x="364852" y="30063"/>
                </a:cubicBezTo>
                <a:lnTo>
                  <a:pt x="350937" y="16148"/>
                </a:lnTo>
                <a:close/>
                <a:moveTo>
                  <a:pt x="128290" y="179859"/>
                </a:moveTo>
                <a:cubicBezTo>
                  <a:pt x="123751" y="184398"/>
                  <a:pt x="120253" y="189979"/>
                  <a:pt x="118244" y="196155"/>
                </a:cubicBezTo>
                <a:lnTo>
                  <a:pt x="96217" y="262235"/>
                </a:lnTo>
                <a:cubicBezTo>
                  <a:pt x="94059" y="268635"/>
                  <a:pt x="95771" y="275704"/>
                  <a:pt x="100533" y="280541"/>
                </a:cubicBezTo>
                <a:cubicBezTo>
                  <a:pt x="105296" y="285378"/>
                  <a:pt x="112365" y="287015"/>
                  <a:pt x="118839" y="284857"/>
                </a:cubicBezTo>
                <a:lnTo>
                  <a:pt x="184919" y="262830"/>
                </a:lnTo>
                <a:cubicBezTo>
                  <a:pt x="191021" y="260821"/>
                  <a:pt x="196602" y="257324"/>
                  <a:pt x="201216" y="252785"/>
                </a:cubicBezTo>
                <a:lnTo>
                  <a:pt x="321469" y="132383"/>
                </a:lnTo>
                <a:lnTo>
                  <a:pt x="248617" y="59531"/>
                </a:lnTo>
                <a:lnTo>
                  <a:pt x="128290" y="179859"/>
                </a:lnTo>
                <a:close/>
                <a:moveTo>
                  <a:pt x="71438" y="47625"/>
                </a:moveTo>
                <a:cubicBezTo>
                  <a:pt x="31998" y="47625"/>
                  <a:pt x="0" y="79623"/>
                  <a:pt x="0" y="119063"/>
                </a:cubicBezTo>
                <a:lnTo>
                  <a:pt x="0" y="309563"/>
                </a:lnTo>
                <a:cubicBezTo>
                  <a:pt x="0" y="349002"/>
                  <a:pt x="31998" y="381000"/>
                  <a:pt x="71438" y="381000"/>
                </a:cubicBezTo>
                <a:lnTo>
                  <a:pt x="261938" y="381000"/>
                </a:lnTo>
                <a:cubicBezTo>
                  <a:pt x="301377" y="381000"/>
                  <a:pt x="333375" y="349002"/>
                  <a:pt x="333375" y="309563"/>
                </a:cubicBezTo>
                <a:lnTo>
                  <a:pt x="333375" y="238125"/>
                </a:lnTo>
                <a:cubicBezTo>
                  <a:pt x="333375" y="224954"/>
                  <a:pt x="322734" y="214313"/>
                  <a:pt x="309563" y="214313"/>
                </a:cubicBezTo>
                <a:cubicBezTo>
                  <a:pt x="296391" y="214313"/>
                  <a:pt x="285750" y="224954"/>
                  <a:pt x="285750" y="238125"/>
                </a:cubicBezTo>
                <a:lnTo>
                  <a:pt x="285750" y="309563"/>
                </a:lnTo>
                <a:cubicBezTo>
                  <a:pt x="285750" y="322734"/>
                  <a:pt x="275109" y="333375"/>
                  <a:pt x="261938" y="333375"/>
                </a:cubicBezTo>
                <a:lnTo>
                  <a:pt x="71438" y="333375"/>
                </a:lnTo>
                <a:cubicBezTo>
                  <a:pt x="58266" y="333375"/>
                  <a:pt x="47625" y="322734"/>
                  <a:pt x="47625" y="309563"/>
                </a:cubicBezTo>
                <a:lnTo>
                  <a:pt x="47625" y="119063"/>
                </a:lnTo>
                <a:cubicBezTo>
                  <a:pt x="47625" y="105891"/>
                  <a:pt x="58266" y="95250"/>
                  <a:pt x="71438" y="95250"/>
                </a:cubicBezTo>
                <a:lnTo>
                  <a:pt x="142875" y="95250"/>
                </a:lnTo>
                <a:cubicBezTo>
                  <a:pt x="156046" y="95250"/>
                  <a:pt x="166688" y="84609"/>
                  <a:pt x="166688" y="71438"/>
                </a:cubicBezTo>
                <a:cubicBezTo>
                  <a:pt x="166688" y="58266"/>
                  <a:pt x="156046" y="47625"/>
                  <a:pt x="142875" y="47625"/>
                </a:cubicBezTo>
                <a:lnTo>
                  <a:pt x="71438" y="47625"/>
                </a:lnTo>
                <a:close/>
              </a:path>
            </a:pathLst>
          </a:custGeom>
          <a:solidFill>
            <a:srgbClr val="36ADA3"/>
          </a:solidFill>
          <a:ln/>
        </p:spPr>
        <p:txBody>
          <a:bodyPr/>
          <a:lstStyle/>
          <a:p>
            <a:endParaRPr lang="en-US" sz="1013"/>
          </a:p>
        </p:txBody>
      </p:sp>
      <p:sp>
        <p:nvSpPr>
          <p:cNvPr id="11" name="Text 8">
            <a:extLst>
              <a:ext uri="{FF2B5EF4-FFF2-40B4-BE49-F238E27FC236}">
                <a16:creationId xmlns:a16="http://schemas.microsoft.com/office/drawing/2014/main" id="{60243E80-1F53-7064-9484-DE669CE0C18B}"/>
              </a:ext>
            </a:extLst>
          </p:cNvPr>
          <p:cNvSpPr/>
          <p:nvPr/>
        </p:nvSpPr>
        <p:spPr>
          <a:xfrm>
            <a:off x="5557838" y="1107281"/>
            <a:ext cx="2857500" cy="228600"/>
          </a:xfrm>
          <a:prstGeom prst="rect">
            <a:avLst/>
          </a:prstGeom>
          <a:noFill/>
          <a:ln/>
        </p:spPr>
        <p:txBody>
          <a:bodyPr wrap="none" lIns="0" tIns="0" rIns="0" bIns="0" rtlCol="0" anchor="ctr"/>
          <a:lstStyle/>
          <a:p>
            <a:pPr>
              <a:lnSpc>
                <a:spcPct val="100000"/>
              </a:lnSpc>
            </a:pPr>
            <a:r>
              <a:rPr lang="en-US" sz="1125" b="1" dirty="0">
                <a:solidFill>
                  <a:srgbClr val="36ADA3"/>
                </a:solidFill>
                <a:ea typeface="Quattrocento Sans" pitchFamily="34" charset="-122"/>
                <a:cs typeface="Segoe UI" panose="020B0502040204020203" pitchFamily="34" charset="0"/>
              </a:rPr>
              <a:t>Core Data Entry</a:t>
            </a:r>
            <a:endParaRPr lang="en-US" sz="900" dirty="0"/>
          </a:p>
        </p:txBody>
      </p:sp>
      <p:sp>
        <p:nvSpPr>
          <p:cNvPr id="12" name="Text 9">
            <a:extLst>
              <a:ext uri="{FF2B5EF4-FFF2-40B4-BE49-F238E27FC236}">
                <a16:creationId xmlns:a16="http://schemas.microsoft.com/office/drawing/2014/main" id="{76895B24-36CF-F9F7-198E-5FFA600DB418}"/>
              </a:ext>
            </a:extLst>
          </p:cNvPr>
          <p:cNvSpPr/>
          <p:nvPr/>
        </p:nvSpPr>
        <p:spPr>
          <a:xfrm>
            <a:off x="5250656" y="1393031"/>
            <a:ext cx="3286125" cy="500063"/>
          </a:xfrm>
          <a:prstGeom prst="rect">
            <a:avLst/>
          </a:prstGeom>
          <a:noFill/>
          <a:ln/>
        </p:spPr>
        <p:txBody>
          <a:bodyPr wrap="square" lIns="0" tIns="0" rIns="0" bIns="0" rtlCol="0" anchor="t"/>
          <a:lstStyle/>
          <a:p>
            <a:pPr>
              <a:lnSpc>
                <a:spcPct val="150000"/>
              </a:lnSpc>
            </a:pPr>
            <a:r>
              <a:rPr lang="en-US" sz="1050" dirty="0">
                <a:solidFill>
                  <a:schemeClr val="bg1"/>
                </a:solidFill>
                <a:ea typeface="Quattrocento Sans" pitchFamily="34" charset="-122"/>
                <a:cs typeface="Segoe UI" panose="020B0502040204020203" pitchFamily="34" charset="0"/>
              </a:rPr>
              <a:t>The Submit Screen is the main data collection interface with all survey fields.</a:t>
            </a:r>
            <a:endParaRPr lang="en-US" sz="1050" dirty="0">
              <a:solidFill>
                <a:schemeClr val="bg1"/>
              </a:solidFill>
            </a:endParaRPr>
          </a:p>
        </p:txBody>
      </p:sp>
      <p:sp>
        <p:nvSpPr>
          <p:cNvPr id="13" name="Shape 10">
            <a:extLst>
              <a:ext uri="{FF2B5EF4-FFF2-40B4-BE49-F238E27FC236}">
                <a16:creationId xmlns:a16="http://schemas.microsoft.com/office/drawing/2014/main" id="{B19606BA-E0BB-433C-78A9-56F7BC74B9E8}"/>
              </a:ext>
            </a:extLst>
          </p:cNvPr>
          <p:cNvSpPr/>
          <p:nvPr/>
        </p:nvSpPr>
        <p:spPr>
          <a:xfrm>
            <a:off x="5072062" y="2143125"/>
            <a:ext cx="3643313" cy="1393031"/>
          </a:xfrm>
          <a:prstGeom prst="roundRect">
            <a:avLst>
              <a:gd name="adj" fmla="val 6000"/>
            </a:avLst>
          </a:prstGeom>
          <a:solidFill>
            <a:srgbClr val="08204F"/>
          </a:solidFill>
          <a:ln/>
          <a:effectLst>
            <a:outerShdw blurRad="127000" dist="38100" dir="5400000" algn="bl" rotWithShape="0">
              <a:srgbClr val="000000">
                <a:alpha val="3137"/>
              </a:srgbClr>
            </a:outerShdw>
          </a:effectLst>
        </p:spPr>
        <p:txBody>
          <a:bodyPr/>
          <a:lstStyle/>
          <a:p>
            <a:endParaRPr lang="en-US" sz="1013"/>
          </a:p>
        </p:txBody>
      </p:sp>
      <p:sp>
        <p:nvSpPr>
          <p:cNvPr id="14" name="Shape 11">
            <a:extLst>
              <a:ext uri="{FF2B5EF4-FFF2-40B4-BE49-F238E27FC236}">
                <a16:creationId xmlns:a16="http://schemas.microsoft.com/office/drawing/2014/main" id="{B8C061CE-5B87-7C27-45D3-B289E7415CF0}"/>
              </a:ext>
            </a:extLst>
          </p:cNvPr>
          <p:cNvSpPr/>
          <p:nvPr/>
        </p:nvSpPr>
        <p:spPr>
          <a:xfrm>
            <a:off x="5250656" y="2271712"/>
            <a:ext cx="214313" cy="214313"/>
          </a:xfrm>
          <a:custGeom>
            <a:avLst/>
            <a:gdLst/>
            <a:ahLst/>
            <a:cxnLst/>
            <a:rect l="l" t="t" r="r" b="b"/>
            <a:pathLst>
              <a:path w="381000" h="381000">
                <a:moveTo>
                  <a:pt x="99566" y="27012"/>
                </a:moveTo>
                <a:cubicBezTo>
                  <a:pt x="107677" y="32668"/>
                  <a:pt x="109612" y="43830"/>
                  <a:pt x="103956" y="51867"/>
                </a:cubicBezTo>
                <a:lnTo>
                  <a:pt x="62285" y="111398"/>
                </a:lnTo>
                <a:cubicBezTo>
                  <a:pt x="59234" y="115714"/>
                  <a:pt x="54471" y="118467"/>
                  <a:pt x="49188" y="118914"/>
                </a:cubicBezTo>
                <a:cubicBezTo>
                  <a:pt x="43904" y="119360"/>
                  <a:pt x="38695" y="117574"/>
                  <a:pt x="34975" y="113854"/>
                </a:cubicBezTo>
                <a:lnTo>
                  <a:pt x="5209" y="84088"/>
                </a:lnTo>
                <a:cubicBezTo>
                  <a:pt x="-1712" y="77093"/>
                  <a:pt x="-1712" y="65782"/>
                  <a:pt x="5209" y="58787"/>
                </a:cubicBezTo>
                <a:cubicBezTo>
                  <a:pt x="12129" y="51792"/>
                  <a:pt x="23515" y="51867"/>
                  <a:pt x="30510" y="58787"/>
                </a:cubicBezTo>
                <a:lnTo>
                  <a:pt x="45244" y="73521"/>
                </a:lnTo>
                <a:lnTo>
                  <a:pt x="74712" y="31403"/>
                </a:lnTo>
                <a:cubicBezTo>
                  <a:pt x="80367" y="23292"/>
                  <a:pt x="91529" y="21357"/>
                  <a:pt x="99566" y="27012"/>
                </a:cubicBezTo>
                <a:close/>
                <a:moveTo>
                  <a:pt x="99566" y="146075"/>
                </a:moveTo>
                <a:cubicBezTo>
                  <a:pt x="107677" y="151730"/>
                  <a:pt x="109612" y="162892"/>
                  <a:pt x="103956" y="170929"/>
                </a:cubicBezTo>
                <a:lnTo>
                  <a:pt x="62285" y="230460"/>
                </a:lnTo>
                <a:cubicBezTo>
                  <a:pt x="59234" y="234776"/>
                  <a:pt x="54471" y="237530"/>
                  <a:pt x="49188" y="237976"/>
                </a:cubicBezTo>
                <a:cubicBezTo>
                  <a:pt x="43904" y="238423"/>
                  <a:pt x="38695" y="236637"/>
                  <a:pt x="34975" y="232916"/>
                </a:cubicBezTo>
                <a:lnTo>
                  <a:pt x="5209" y="203150"/>
                </a:lnTo>
                <a:cubicBezTo>
                  <a:pt x="-1786" y="196155"/>
                  <a:pt x="-1786" y="184845"/>
                  <a:pt x="5209" y="177924"/>
                </a:cubicBezTo>
                <a:cubicBezTo>
                  <a:pt x="12204" y="171004"/>
                  <a:pt x="23515" y="170929"/>
                  <a:pt x="30435" y="177924"/>
                </a:cubicBezTo>
                <a:lnTo>
                  <a:pt x="45169" y="192658"/>
                </a:lnTo>
                <a:lnTo>
                  <a:pt x="74637" y="150540"/>
                </a:lnTo>
                <a:cubicBezTo>
                  <a:pt x="80293" y="142429"/>
                  <a:pt x="91455" y="140494"/>
                  <a:pt x="99492" y="146149"/>
                </a:cubicBezTo>
                <a:close/>
                <a:moveTo>
                  <a:pt x="166688" y="71438"/>
                </a:moveTo>
                <a:cubicBezTo>
                  <a:pt x="166688" y="58266"/>
                  <a:pt x="177329" y="47625"/>
                  <a:pt x="190500" y="47625"/>
                </a:cubicBezTo>
                <a:lnTo>
                  <a:pt x="357188" y="47625"/>
                </a:lnTo>
                <a:cubicBezTo>
                  <a:pt x="370359" y="47625"/>
                  <a:pt x="381000" y="58266"/>
                  <a:pt x="381000" y="71438"/>
                </a:cubicBezTo>
                <a:cubicBezTo>
                  <a:pt x="381000" y="84609"/>
                  <a:pt x="370359" y="95250"/>
                  <a:pt x="357188" y="95250"/>
                </a:cubicBezTo>
                <a:lnTo>
                  <a:pt x="190500" y="95250"/>
                </a:lnTo>
                <a:cubicBezTo>
                  <a:pt x="177329" y="95250"/>
                  <a:pt x="166688" y="84609"/>
                  <a:pt x="166688" y="71438"/>
                </a:cubicBezTo>
                <a:close/>
                <a:moveTo>
                  <a:pt x="166688" y="190500"/>
                </a:moveTo>
                <a:cubicBezTo>
                  <a:pt x="166688" y="177329"/>
                  <a:pt x="177329" y="166688"/>
                  <a:pt x="190500" y="166688"/>
                </a:cubicBezTo>
                <a:lnTo>
                  <a:pt x="357188" y="166688"/>
                </a:lnTo>
                <a:cubicBezTo>
                  <a:pt x="370359" y="166688"/>
                  <a:pt x="381000" y="177329"/>
                  <a:pt x="381000" y="190500"/>
                </a:cubicBezTo>
                <a:cubicBezTo>
                  <a:pt x="381000" y="203671"/>
                  <a:pt x="370359" y="214313"/>
                  <a:pt x="357188" y="214313"/>
                </a:cubicBezTo>
                <a:lnTo>
                  <a:pt x="190500" y="214313"/>
                </a:lnTo>
                <a:cubicBezTo>
                  <a:pt x="177329" y="214313"/>
                  <a:pt x="166688" y="203671"/>
                  <a:pt x="166688" y="190500"/>
                </a:cubicBezTo>
                <a:close/>
                <a:moveTo>
                  <a:pt x="119063" y="309563"/>
                </a:moveTo>
                <a:cubicBezTo>
                  <a:pt x="119063" y="296391"/>
                  <a:pt x="129704" y="285750"/>
                  <a:pt x="142875" y="285750"/>
                </a:cubicBezTo>
                <a:lnTo>
                  <a:pt x="357188" y="285750"/>
                </a:lnTo>
                <a:cubicBezTo>
                  <a:pt x="370359" y="285750"/>
                  <a:pt x="381000" y="296391"/>
                  <a:pt x="381000" y="309563"/>
                </a:cubicBezTo>
                <a:cubicBezTo>
                  <a:pt x="381000" y="322734"/>
                  <a:pt x="370359" y="333375"/>
                  <a:pt x="357188" y="333375"/>
                </a:cubicBezTo>
                <a:lnTo>
                  <a:pt x="142875" y="333375"/>
                </a:lnTo>
                <a:cubicBezTo>
                  <a:pt x="129704" y="333375"/>
                  <a:pt x="119063" y="322734"/>
                  <a:pt x="119063" y="309563"/>
                </a:cubicBezTo>
                <a:close/>
                <a:moveTo>
                  <a:pt x="47625" y="279797"/>
                </a:moveTo>
                <a:cubicBezTo>
                  <a:pt x="64053" y="279797"/>
                  <a:pt x="77391" y="293134"/>
                  <a:pt x="77391" y="309563"/>
                </a:cubicBezTo>
                <a:cubicBezTo>
                  <a:pt x="77391" y="325991"/>
                  <a:pt x="64053" y="339328"/>
                  <a:pt x="47625" y="339328"/>
                </a:cubicBezTo>
                <a:cubicBezTo>
                  <a:pt x="31197" y="339328"/>
                  <a:pt x="17859" y="325991"/>
                  <a:pt x="17859" y="309563"/>
                </a:cubicBezTo>
                <a:cubicBezTo>
                  <a:pt x="17859" y="293134"/>
                  <a:pt x="31197" y="279797"/>
                  <a:pt x="47625" y="279797"/>
                </a:cubicBezTo>
                <a:close/>
              </a:path>
            </a:pathLst>
          </a:custGeom>
          <a:solidFill>
            <a:srgbClr val="36ADA3"/>
          </a:solidFill>
          <a:ln/>
        </p:spPr>
        <p:txBody>
          <a:bodyPr/>
          <a:lstStyle/>
          <a:p>
            <a:endParaRPr lang="en-US" sz="1013"/>
          </a:p>
        </p:txBody>
      </p:sp>
      <p:sp>
        <p:nvSpPr>
          <p:cNvPr id="15" name="Text 12">
            <a:extLst>
              <a:ext uri="{FF2B5EF4-FFF2-40B4-BE49-F238E27FC236}">
                <a16:creationId xmlns:a16="http://schemas.microsoft.com/office/drawing/2014/main" id="{ED2148F0-2971-377E-DD2F-783FE882D414}"/>
              </a:ext>
            </a:extLst>
          </p:cNvPr>
          <p:cNvSpPr/>
          <p:nvPr/>
        </p:nvSpPr>
        <p:spPr>
          <a:xfrm>
            <a:off x="5557838" y="2250281"/>
            <a:ext cx="2857500" cy="228600"/>
          </a:xfrm>
          <a:prstGeom prst="rect">
            <a:avLst/>
          </a:prstGeom>
          <a:noFill/>
          <a:ln/>
        </p:spPr>
        <p:txBody>
          <a:bodyPr wrap="none" lIns="0" tIns="0" rIns="0" bIns="0" rtlCol="0" anchor="ctr"/>
          <a:lstStyle/>
          <a:p>
            <a:pPr>
              <a:lnSpc>
                <a:spcPct val="100000"/>
              </a:lnSpc>
            </a:pPr>
            <a:r>
              <a:rPr lang="en-US" sz="1125" b="1" dirty="0">
                <a:solidFill>
                  <a:srgbClr val="36ADA3"/>
                </a:solidFill>
                <a:ea typeface="Quattrocento Sans" pitchFamily="34" charset="-122"/>
                <a:cs typeface="Segoe UI" panose="020B0502040204020203" pitchFamily="34" charset="0"/>
              </a:rPr>
              <a:t>Survey Fields</a:t>
            </a:r>
            <a:endParaRPr lang="en-US" sz="900" dirty="0"/>
          </a:p>
        </p:txBody>
      </p:sp>
      <p:sp>
        <p:nvSpPr>
          <p:cNvPr id="16" name="Text 13">
            <a:extLst>
              <a:ext uri="{FF2B5EF4-FFF2-40B4-BE49-F238E27FC236}">
                <a16:creationId xmlns:a16="http://schemas.microsoft.com/office/drawing/2014/main" id="{FF3C88E3-24E4-CD3E-BA74-B36CF8A21203}"/>
              </a:ext>
            </a:extLst>
          </p:cNvPr>
          <p:cNvSpPr/>
          <p:nvPr/>
        </p:nvSpPr>
        <p:spPr>
          <a:xfrm>
            <a:off x="5250656" y="2536031"/>
            <a:ext cx="3286125" cy="857250"/>
          </a:xfrm>
          <a:prstGeom prst="rect">
            <a:avLst/>
          </a:prstGeom>
          <a:noFill/>
          <a:ln/>
        </p:spPr>
        <p:txBody>
          <a:bodyPr wrap="square" lIns="0" tIns="0" rIns="0" bIns="0" rtlCol="0" anchor="t"/>
          <a:lstStyle/>
          <a:p>
            <a:pPr>
              <a:lnSpc>
                <a:spcPct val="150000"/>
              </a:lnSpc>
            </a:pPr>
            <a:r>
              <a:rPr lang="en-US" sz="1050" dirty="0">
                <a:solidFill>
                  <a:schemeClr val="bg1"/>
                </a:solidFill>
                <a:ea typeface="Quattrocento Sans" pitchFamily="34" charset="-122"/>
                <a:cs typeface="Segoe UI" panose="020B0502040204020203" pitchFamily="34" charset="0"/>
              </a:rPr>
              <a:t>Individual ID, Age, Gender, Marital Status, Current Job, Weekly Hours, Total Monthly Salary, Governorate, Education Status, and more.</a:t>
            </a:r>
            <a:endParaRPr lang="en-US" sz="1050" dirty="0">
              <a:solidFill>
                <a:schemeClr val="bg1"/>
              </a:solidFill>
            </a:endParaRPr>
          </a:p>
        </p:txBody>
      </p:sp>
      <p:sp>
        <p:nvSpPr>
          <p:cNvPr id="17" name="Shape 14">
            <a:extLst>
              <a:ext uri="{FF2B5EF4-FFF2-40B4-BE49-F238E27FC236}">
                <a16:creationId xmlns:a16="http://schemas.microsoft.com/office/drawing/2014/main" id="{342B0674-1B87-5DA1-C5F5-C3CFDB2D9FB6}"/>
              </a:ext>
            </a:extLst>
          </p:cNvPr>
          <p:cNvSpPr/>
          <p:nvPr/>
        </p:nvSpPr>
        <p:spPr>
          <a:xfrm>
            <a:off x="5072062" y="3643313"/>
            <a:ext cx="3643313" cy="1143000"/>
          </a:xfrm>
          <a:prstGeom prst="roundRect">
            <a:avLst>
              <a:gd name="adj" fmla="val 6000"/>
            </a:avLst>
          </a:prstGeom>
          <a:solidFill>
            <a:srgbClr val="08204F"/>
          </a:solidFill>
          <a:ln/>
          <a:effectLst>
            <a:outerShdw blurRad="127000" dist="38100" dir="5400000" algn="bl" rotWithShape="0">
              <a:srgbClr val="000000">
                <a:alpha val="3137"/>
              </a:srgbClr>
            </a:outerShdw>
          </a:effectLst>
        </p:spPr>
        <p:txBody>
          <a:bodyPr/>
          <a:lstStyle/>
          <a:p>
            <a:endParaRPr lang="en-US" sz="1013"/>
          </a:p>
        </p:txBody>
      </p:sp>
      <p:sp>
        <p:nvSpPr>
          <p:cNvPr id="18" name="Shape 15">
            <a:extLst>
              <a:ext uri="{FF2B5EF4-FFF2-40B4-BE49-F238E27FC236}">
                <a16:creationId xmlns:a16="http://schemas.microsoft.com/office/drawing/2014/main" id="{D12A0656-D9C1-52F4-4458-4276456E9246}"/>
              </a:ext>
            </a:extLst>
          </p:cNvPr>
          <p:cNvSpPr/>
          <p:nvPr/>
        </p:nvSpPr>
        <p:spPr>
          <a:xfrm>
            <a:off x="5237262" y="3771900"/>
            <a:ext cx="241102" cy="214313"/>
          </a:xfrm>
          <a:custGeom>
            <a:avLst/>
            <a:gdLst/>
            <a:ahLst/>
            <a:cxnLst/>
            <a:rect l="l" t="t" r="r" b="b"/>
            <a:pathLst>
              <a:path w="428625" h="381000">
                <a:moveTo>
                  <a:pt x="399157" y="-19571"/>
                </a:moveTo>
                <a:cubicBezTo>
                  <a:pt x="406450" y="-22175"/>
                  <a:pt x="414486" y="-20315"/>
                  <a:pt x="419993" y="-14883"/>
                </a:cubicBezTo>
                <a:cubicBezTo>
                  <a:pt x="425500" y="-9451"/>
                  <a:pt x="427286" y="-1339"/>
                  <a:pt x="424681" y="5953"/>
                </a:cubicBezTo>
                <a:lnTo>
                  <a:pt x="292224" y="375717"/>
                </a:lnTo>
                <a:cubicBezTo>
                  <a:pt x="288503" y="386060"/>
                  <a:pt x="278755" y="392906"/>
                  <a:pt x="267816" y="392906"/>
                </a:cubicBezTo>
                <a:cubicBezTo>
                  <a:pt x="257249" y="392906"/>
                  <a:pt x="247724" y="386507"/>
                  <a:pt x="243780" y="376758"/>
                </a:cubicBezTo>
                <a:lnTo>
                  <a:pt x="196007" y="259184"/>
                </a:lnTo>
                <a:cubicBezTo>
                  <a:pt x="192658" y="250999"/>
                  <a:pt x="194146" y="241622"/>
                  <a:pt x="199876" y="234925"/>
                </a:cubicBezTo>
                <a:lnTo>
                  <a:pt x="270197" y="151284"/>
                </a:lnTo>
                <a:cubicBezTo>
                  <a:pt x="273993" y="146745"/>
                  <a:pt x="273695" y="140122"/>
                  <a:pt x="269528" y="135954"/>
                </a:cubicBezTo>
                <a:cubicBezTo>
                  <a:pt x="265361" y="131787"/>
                  <a:pt x="258663" y="131490"/>
                  <a:pt x="254198" y="135285"/>
                </a:cubicBezTo>
                <a:lnTo>
                  <a:pt x="170557" y="205457"/>
                </a:lnTo>
                <a:cubicBezTo>
                  <a:pt x="163785" y="211113"/>
                  <a:pt x="154484" y="212601"/>
                  <a:pt x="146298" y="209327"/>
                </a:cubicBezTo>
                <a:lnTo>
                  <a:pt x="28352" y="161330"/>
                </a:lnTo>
                <a:cubicBezTo>
                  <a:pt x="18604" y="157386"/>
                  <a:pt x="12204" y="147861"/>
                  <a:pt x="12204" y="137294"/>
                </a:cubicBezTo>
                <a:cubicBezTo>
                  <a:pt x="12204" y="126355"/>
                  <a:pt x="19050" y="116607"/>
                  <a:pt x="29394" y="112886"/>
                </a:cubicBezTo>
                <a:lnTo>
                  <a:pt x="399157" y="-19571"/>
                </a:lnTo>
                <a:close/>
              </a:path>
            </a:pathLst>
          </a:custGeom>
          <a:solidFill>
            <a:srgbClr val="36ADA3"/>
          </a:solidFill>
          <a:ln/>
        </p:spPr>
        <p:txBody>
          <a:bodyPr/>
          <a:lstStyle/>
          <a:p>
            <a:endParaRPr lang="en-US" sz="1013"/>
          </a:p>
        </p:txBody>
      </p:sp>
      <p:sp>
        <p:nvSpPr>
          <p:cNvPr id="19" name="Text 16">
            <a:extLst>
              <a:ext uri="{FF2B5EF4-FFF2-40B4-BE49-F238E27FC236}">
                <a16:creationId xmlns:a16="http://schemas.microsoft.com/office/drawing/2014/main" id="{2FFCE3EE-CDE7-D51D-62F6-12EF7F76FC34}"/>
              </a:ext>
            </a:extLst>
          </p:cNvPr>
          <p:cNvSpPr/>
          <p:nvPr/>
        </p:nvSpPr>
        <p:spPr>
          <a:xfrm>
            <a:off x="5557838" y="3750469"/>
            <a:ext cx="2857500" cy="228600"/>
          </a:xfrm>
          <a:prstGeom prst="rect">
            <a:avLst/>
          </a:prstGeom>
          <a:noFill/>
          <a:ln/>
        </p:spPr>
        <p:txBody>
          <a:bodyPr wrap="none" lIns="0" tIns="0" rIns="0" bIns="0" rtlCol="0" anchor="ctr"/>
          <a:lstStyle/>
          <a:p>
            <a:pPr>
              <a:lnSpc>
                <a:spcPct val="100000"/>
              </a:lnSpc>
            </a:pPr>
            <a:r>
              <a:rPr lang="en-US" sz="1125" b="1" dirty="0">
                <a:solidFill>
                  <a:srgbClr val="36ADA3"/>
                </a:solidFill>
                <a:ea typeface="Quattrocento Sans" pitchFamily="34" charset="-122"/>
                <a:cs typeface="Segoe UI" panose="020B0502040204020203" pitchFamily="34" charset="0"/>
              </a:rPr>
              <a:t>Actions</a:t>
            </a:r>
            <a:endParaRPr lang="en-US" sz="900" dirty="0"/>
          </a:p>
        </p:txBody>
      </p:sp>
      <p:sp>
        <p:nvSpPr>
          <p:cNvPr id="20" name="Text 17">
            <a:extLst>
              <a:ext uri="{FF2B5EF4-FFF2-40B4-BE49-F238E27FC236}">
                <a16:creationId xmlns:a16="http://schemas.microsoft.com/office/drawing/2014/main" id="{F4F5E161-A37B-377E-CDA0-7069078C3F1C}"/>
              </a:ext>
            </a:extLst>
          </p:cNvPr>
          <p:cNvSpPr/>
          <p:nvPr/>
        </p:nvSpPr>
        <p:spPr>
          <a:xfrm>
            <a:off x="5250656" y="4036219"/>
            <a:ext cx="3286125" cy="607219"/>
          </a:xfrm>
          <a:prstGeom prst="rect">
            <a:avLst/>
          </a:prstGeom>
          <a:noFill/>
          <a:ln/>
        </p:spPr>
        <p:txBody>
          <a:bodyPr wrap="square" lIns="0" tIns="0" rIns="0" bIns="0" rtlCol="0" anchor="t"/>
          <a:lstStyle/>
          <a:p>
            <a:pPr>
              <a:lnSpc>
                <a:spcPct val="150000"/>
              </a:lnSpc>
            </a:pPr>
            <a:r>
              <a:rPr lang="en-US" sz="1050" b="1" dirty="0">
                <a:solidFill>
                  <a:schemeClr val="bg1"/>
                </a:solidFill>
                <a:ea typeface="Quattrocento Sans" pitchFamily="34" charset="-122"/>
                <a:cs typeface="Segoe UI" panose="020B0502040204020203" pitchFamily="34" charset="0"/>
              </a:rPr>
              <a:t>Submit</a:t>
            </a:r>
            <a:r>
              <a:rPr lang="en-US" sz="1050" dirty="0">
                <a:solidFill>
                  <a:schemeClr val="bg1"/>
                </a:solidFill>
                <a:ea typeface="Quattrocento Sans" pitchFamily="34" charset="-122"/>
                <a:cs typeface="Segoe UI" panose="020B0502040204020203" pitchFamily="34" charset="0"/>
              </a:rPr>
              <a:t> sends data directly to SQL Server via the On-Premises Data Gateway. </a:t>
            </a:r>
            <a:r>
              <a:rPr lang="en-US" sz="1050" b="1" dirty="0">
                <a:solidFill>
                  <a:schemeClr val="bg1"/>
                </a:solidFill>
                <a:ea typeface="Quattrocento Sans" pitchFamily="34" charset="-122"/>
                <a:cs typeface="Segoe UI" panose="020B0502040204020203" pitchFamily="34" charset="0"/>
              </a:rPr>
              <a:t>Home</a:t>
            </a:r>
            <a:r>
              <a:rPr lang="en-US" sz="1050" dirty="0">
                <a:solidFill>
                  <a:schemeClr val="bg1"/>
                </a:solidFill>
                <a:ea typeface="Quattrocento Sans" pitchFamily="34" charset="-122"/>
                <a:cs typeface="Segoe UI" panose="020B0502040204020203" pitchFamily="34" charset="0"/>
              </a:rPr>
              <a:t> returns to the main screen.</a:t>
            </a:r>
            <a:endParaRPr lang="en-US" sz="1050" dirty="0">
              <a:solidFill>
                <a:schemeClr val="bg1"/>
              </a:solidFill>
            </a:endParaRPr>
          </a:p>
        </p:txBody>
      </p:sp>
      <p:sp>
        <p:nvSpPr>
          <p:cNvPr id="21" name="Text 18">
            <a:extLst>
              <a:ext uri="{FF2B5EF4-FFF2-40B4-BE49-F238E27FC236}">
                <a16:creationId xmlns:a16="http://schemas.microsoft.com/office/drawing/2014/main" id="{9D6BF918-024A-2C86-90B1-39423AFF4729}"/>
              </a:ext>
            </a:extLst>
          </p:cNvPr>
          <p:cNvSpPr/>
          <p:nvPr/>
        </p:nvSpPr>
        <p:spPr>
          <a:xfrm>
            <a:off x="8501062" y="4893469"/>
            <a:ext cx="357188" cy="178594"/>
          </a:xfrm>
          <a:prstGeom prst="rect">
            <a:avLst/>
          </a:prstGeom>
          <a:noFill/>
          <a:ln/>
        </p:spPr>
        <p:txBody>
          <a:bodyPr wrap="none" lIns="0" tIns="0" rIns="0" bIns="0" rtlCol="0" anchor="ctr"/>
          <a:lstStyle/>
          <a:p>
            <a:pPr algn="r">
              <a:lnSpc>
                <a:spcPct val="100000"/>
              </a:lnSpc>
            </a:pPr>
            <a:r>
              <a:rPr lang="en-US" sz="788" dirty="0">
                <a:solidFill>
                  <a:srgbClr val="2F578A"/>
                </a:solidFill>
                <a:ea typeface="Quattrocento Sans" pitchFamily="34" charset="-122"/>
                <a:cs typeface="Segoe UI" panose="020B0502040204020203" pitchFamily="34" charset="0"/>
              </a:rPr>
              <a:t>10</a:t>
            </a:r>
            <a:endParaRPr lang="en-US" sz="900" dirty="0"/>
          </a:p>
        </p:txBody>
      </p:sp>
    </p:spTree>
    <p:extLst>
      <p:ext uri="{BB962C8B-B14F-4D97-AF65-F5344CB8AC3E}">
        <p14:creationId xmlns:p14="http://schemas.microsoft.com/office/powerpoint/2010/main" val="3614378162"/>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a:extLst>
            <a:ext uri="{FF2B5EF4-FFF2-40B4-BE49-F238E27FC236}">
              <a16:creationId xmlns:a16="http://schemas.microsoft.com/office/drawing/2014/main" id="{3EFB2B30-4075-D6B3-D219-50DBF90D6256}"/>
            </a:ext>
          </a:extLst>
        </p:cNvPr>
        <p:cNvGrpSpPr/>
        <p:nvPr/>
      </p:nvGrpSpPr>
      <p:grpSpPr>
        <a:xfrm>
          <a:off x="0" y="0"/>
          <a:ext cx="0" cy="0"/>
          <a:chOff x="0" y="0"/>
          <a:chExt cx="0" cy="0"/>
        </a:xfrm>
      </p:grpSpPr>
      <p:sp>
        <p:nvSpPr>
          <p:cNvPr id="22" name="Shape 0">
            <a:extLst>
              <a:ext uri="{FF2B5EF4-FFF2-40B4-BE49-F238E27FC236}">
                <a16:creationId xmlns:a16="http://schemas.microsoft.com/office/drawing/2014/main" id="{8EA336C0-4838-2800-A43C-94EF2FEA7E31}"/>
              </a:ext>
            </a:extLst>
          </p:cNvPr>
          <p:cNvSpPr/>
          <p:nvPr/>
        </p:nvSpPr>
        <p:spPr>
          <a:xfrm>
            <a:off x="0" y="-2143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pic>
        <p:nvPicPr>
          <p:cNvPr id="23" name="Image 0" descr="preencoded.png">
            <a:extLst>
              <a:ext uri="{FF2B5EF4-FFF2-40B4-BE49-F238E27FC236}">
                <a16:creationId xmlns:a16="http://schemas.microsoft.com/office/drawing/2014/main" id="{8F16160B-4CDC-2157-FDFE-C5993C0EB23C}"/>
              </a:ext>
            </a:extLst>
          </p:cNvPr>
          <p:cNvPicPr>
            <a:picLocks noChangeAspect="1"/>
          </p:cNvPicPr>
          <p:nvPr/>
        </p:nvPicPr>
        <p:blipFill>
          <a:blip r:embed="rId3"/>
          <a:stretch>
            <a:fillRect/>
          </a:stretch>
        </p:blipFill>
        <p:spPr>
          <a:xfrm>
            <a:off x="8046720" y="45720"/>
            <a:ext cx="685800" cy="676656"/>
          </a:xfrm>
          <a:prstGeom prst="rect">
            <a:avLst/>
          </a:prstGeom>
        </p:spPr>
      </p:pic>
      <p:sp>
        <p:nvSpPr>
          <p:cNvPr id="5" name="Text 3">
            <a:extLst>
              <a:ext uri="{FF2B5EF4-FFF2-40B4-BE49-F238E27FC236}">
                <a16:creationId xmlns:a16="http://schemas.microsoft.com/office/drawing/2014/main" id="{A95EDFE7-0A57-F6EF-513F-9D8CFC59203E}"/>
              </a:ext>
            </a:extLst>
          </p:cNvPr>
          <p:cNvSpPr/>
          <p:nvPr/>
        </p:nvSpPr>
        <p:spPr>
          <a:xfrm>
            <a:off x="428625" y="1"/>
            <a:ext cx="3571875" cy="722376"/>
          </a:xfrm>
          <a:prstGeom prst="rect">
            <a:avLst/>
          </a:prstGeom>
          <a:noFill/>
          <a:ln/>
        </p:spPr>
        <p:txBody>
          <a:bodyPr wrap="none" lIns="0" tIns="0" rIns="0" bIns="0" rtlCol="0" anchor="ctr"/>
          <a:lstStyle/>
          <a:p>
            <a:pPr>
              <a:lnSpc>
                <a:spcPct val="100000"/>
              </a:lnSpc>
            </a:pPr>
            <a:r>
              <a:rPr lang="en-US" b="1" dirty="0">
                <a:solidFill>
                  <a:schemeClr val="bg1"/>
                </a:solidFill>
                <a:ea typeface="QuattrocentoSans" pitchFamily="34" charset="-122"/>
                <a:cs typeface="Calibri" panose="020F0502020204030204" pitchFamily="34" charset="0"/>
              </a:rPr>
              <a:t> Success Screen</a:t>
            </a:r>
            <a:endParaRPr lang="en-US" dirty="0">
              <a:solidFill>
                <a:schemeClr val="bg1"/>
              </a:solidFill>
            </a:endParaRPr>
          </a:p>
        </p:txBody>
      </p:sp>
      <p:sp>
        <p:nvSpPr>
          <p:cNvPr id="7" name="Shape 5">
            <a:extLst>
              <a:ext uri="{FF2B5EF4-FFF2-40B4-BE49-F238E27FC236}">
                <a16:creationId xmlns:a16="http://schemas.microsoft.com/office/drawing/2014/main" id="{DB9CB074-01E6-9431-E379-07651275EEC3}"/>
              </a:ext>
            </a:extLst>
          </p:cNvPr>
          <p:cNvSpPr/>
          <p:nvPr/>
        </p:nvSpPr>
        <p:spPr>
          <a:xfrm>
            <a:off x="428625" y="1000125"/>
            <a:ext cx="4429125" cy="3786188"/>
          </a:xfrm>
          <a:prstGeom prst="roundRect">
            <a:avLst>
              <a:gd name="adj" fmla="val 6000"/>
            </a:avLst>
          </a:prstGeom>
          <a:solidFill>
            <a:srgbClr val="FFFFFF"/>
          </a:solidFill>
          <a:ln/>
          <a:effectLst>
            <a:outerShdw blurRad="127000" dist="38100" dir="5400000" algn="bl" rotWithShape="0">
              <a:srgbClr val="000000">
                <a:alpha val="3137"/>
              </a:srgbClr>
            </a:outerShdw>
          </a:effectLst>
        </p:spPr>
        <p:txBody>
          <a:bodyPr/>
          <a:lstStyle/>
          <a:p>
            <a:endParaRPr lang="en-US" sz="1013"/>
          </a:p>
        </p:txBody>
      </p:sp>
      <p:pic>
        <p:nvPicPr>
          <p:cNvPr id="8" name="Image 0" descr="https://kimi-img.moonshot.cn/pub/slides/okc/wxirrvn3lwsta/mnt/agents/output/capmas-new/images/success_screen.png">
            <a:extLst>
              <a:ext uri="{FF2B5EF4-FFF2-40B4-BE49-F238E27FC236}">
                <a16:creationId xmlns:a16="http://schemas.microsoft.com/office/drawing/2014/main" id="{69F440BA-4554-CC7F-83CD-886E6C454AAC}"/>
              </a:ext>
            </a:extLst>
          </p:cNvPr>
          <p:cNvPicPr>
            <a:picLocks noChangeAspect="1"/>
          </p:cNvPicPr>
          <p:nvPr/>
        </p:nvPicPr>
        <p:blipFill>
          <a:blip r:embed="rId4"/>
          <a:srcRect l="26729" r="26729"/>
          <a:stretch/>
        </p:blipFill>
        <p:spPr>
          <a:xfrm>
            <a:off x="535781" y="1107281"/>
            <a:ext cx="4214813" cy="3571875"/>
          </a:xfrm>
          <a:prstGeom prst="roundRect">
            <a:avLst>
              <a:gd name="adj" fmla="val 4000"/>
            </a:avLst>
          </a:prstGeom>
        </p:spPr>
      </p:pic>
      <p:sp>
        <p:nvSpPr>
          <p:cNvPr id="9" name="Shape 6">
            <a:extLst>
              <a:ext uri="{FF2B5EF4-FFF2-40B4-BE49-F238E27FC236}">
                <a16:creationId xmlns:a16="http://schemas.microsoft.com/office/drawing/2014/main" id="{9B15F65B-C00D-D3E1-3224-0DBF0EAE0F5D}"/>
              </a:ext>
            </a:extLst>
          </p:cNvPr>
          <p:cNvSpPr/>
          <p:nvPr/>
        </p:nvSpPr>
        <p:spPr>
          <a:xfrm>
            <a:off x="5072062" y="1000125"/>
            <a:ext cx="3643313" cy="1143000"/>
          </a:xfrm>
          <a:prstGeom prst="roundRect">
            <a:avLst>
              <a:gd name="adj" fmla="val 6000"/>
            </a:avLst>
          </a:prstGeom>
          <a:solidFill>
            <a:srgbClr val="08204F"/>
          </a:solidFill>
          <a:ln/>
          <a:effectLst>
            <a:outerShdw blurRad="127000" dist="38100" dir="5400000" algn="bl" rotWithShape="0">
              <a:srgbClr val="000000">
                <a:alpha val="3137"/>
              </a:srgbClr>
            </a:outerShdw>
          </a:effectLst>
        </p:spPr>
        <p:txBody>
          <a:bodyPr/>
          <a:lstStyle/>
          <a:p>
            <a:endParaRPr lang="en-US" sz="1013"/>
          </a:p>
        </p:txBody>
      </p:sp>
      <p:sp>
        <p:nvSpPr>
          <p:cNvPr id="10" name="Shape 7">
            <a:extLst>
              <a:ext uri="{FF2B5EF4-FFF2-40B4-BE49-F238E27FC236}">
                <a16:creationId xmlns:a16="http://schemas.microsoft.com/office/drawing/2014/main" id="{E8A23EC5-6DEE-1ED1-A1AF-D70087CB9100}"/>
              </a:ext>
            </a:extLst>
          </p:cNvPr>
          <p:cNvSpPr/>
          <p:nvPr/>
        </p:nvSpPr>
        <p:spPr>
          <a:xfrm>
            <a:off x="5250656" y="1128712"/>
            <a:ext cx="214313" cy="214313"/>
          </a:xfrm>
          <a:custGeom>
            <a:avLst/>
            <a:gdLst/>
            <a:ahLst/>
            <a:cxnLst/>
            <a:rect l="l" t="t" r="r" b="b"/>
            <a:pathLst>
              <a:path w="381000" h="381000">
                <a:moveTo>
                  <a:pt x="190500" y="381000"/>
                </a:moveTo>
                <a:cubicBezTo>
                  <a:pt x="295640" y="381000"/>
                  <a:pt x="381000" y="295640"/>
                  <a:pt x="381000" y="190500"/>
                </a:cubicBezTo>
                <a:cubicBezTo>
                  <a:pt x="381000" y="85360"/>
                  <a:pt x="295640" y="0"/>
                  <a:pt x="190500" y="0"/>
                </a:cubicBezTo>
                <a:cubicBezTo>
                  <a:pt x="85360" y="0"/>
                  <a:pt x="0" y="85360"/>
                  <a:pt x="0" y="190500"/>
                </a:cubicBezTo>
                <a:cubicBezTo>
                  <a:pt x="0" y="295640"/>
                  <a:pt x="85360" y="381000"/>
                  <a:pt x="190500" y="381000"/>
                </a:cubicBezTo>
                <a:close/>
                <a:moveTo>
                  <a:pt x="253305" y="158279"/>
                </a:moveTo>
                <a:lnTo>
                  <a:pt x="193774" y="253529"/>
                </a:lnTo>
                <a:cubicBezTo>
                  <a:pt x="190649" y="258514"/>
                  <a:pt x="185291" y="261640"/>
                  <a:pt x="179412" y="261938"/>
                </a:cubicBezTo>
                <a:cubicBezTo>
                  <a:pt x="173534" y="262235"/>
                  <a:pt x="167878" y="259556"/>
                  <a:pt x="164381" y="254794"/>
                </a:cubicBezTo>
                <a:lnTo>
                  <a:pt x="128662" y="207169"/>
                </a:lnTo>
                <a:cubicBezTo>
                  <a:pt x="122709" y="199281"/>
                  <a:pt x="124346" y="188119"/>
                  <a:pt x="132234" y="182166"/>
                </a:cubicBezTo>
                <a:cubicBezTo>
                  <a:pt x="140122" y="176212"/>
                  <a:pt x="151284" y="177850"/>
                  <a:pt x="157237" y="185738"/>
                </a:cubicBezTo>
                <a:lnTo>
                  <a:pt x="177329" y="212527"/>
                </a:lnTo>
                <a:lnTo>
                  <a:pt x="223019" y="139378"/>
                </a:lnTo>
                <a:cubicBezTo>
                  <a:pt x="228228" y="131043"/>
                  <a:pt x="239241" y="128439"/>
                  <a:pt x="247650" y="133722"/>
                </a:cubicBezTo>
                <a:cubicBezTo>
                  <a:pt x="256059" y="139005"/>
                  <a:pt x="258589" y="149944"/>
                  <a:pt x="253305" y="158353"/>
                </a:cubicBezTo>
                <a:close/>
              </a:path>
            </a:pathLst>
          </a:custGeom>
          <a:solidFill>
            <a:srgbClr val="36ADA3"/>
          </a:solidFill>
          <a:ln/>
        </p:spPr>
        <p:txBody>
          <a:bodyPr/>
          <a:lstStyle/>
          <a:p>
            <a:endParaRPr lang="en-US" sz="1013"/>
          </a:p>
        </p:txBody>
      </p:sp>
      <p:sp>
        <p:nvSpPr>
          <p:cNvPr id="11" name="Text 8">
            <a:extLst>
              <a:ext uri="{FF2B5EF4-FFF2-40B4-BE49-F238E27FC236}">
                <a16:creationId xmlns:a16="http://schemas.microsoft.com/office/drawing/2014/main" id="{C07F2874-93B0-E7C9-4995-E6905692DC5B}"/>
              </a:ext>
            </a:extLst>
          </p:cNvPr>
          <p:cNvSpPr/>
          <p:nvPr/>
        </p:nvSpPr>
        <p:spPr>
          <a:xfrm>
            <a:off x="5557838" y="1107281"/>
            <a:ext cx="2857500" cy="228600"/>
          </a:xfrm>
          <a:prstGeom prst="rect">
            <a:avLst/>
          </a:prstGeom>
          <a:noFill/>
          <a:ln/>
        </p:spPr>
        <p:txBody>
          <a:bodyPr wrap="none" lIns="0" tIns="0" rIns="0" bIns="0" rtlCol="0" anchor="ctr"/>
          <a:lstStyle/>
          <a:p>
            <a:pPr>
              <a:lnSpc>
                <a:spcPct val="100000"/>
              </a:lnSpc>
            </a:pPr>
            <a:r>
              <a:rPr lang="en-US" sz="1125" b="1" dirty="0">
                <a:solidFill>
                  <a:srgbClr val="36ADA3"/>
                </a:solidFill>
                <a:ea typeface="Quattrocento Sans" pitchFamily="34" charset="-122"/>
                <a:cs typeface="Segoe UI" panose="020B0502040204020203" pitchFamily="34" charset="0"/>
              </a:rPr>
              <a:t>Submission Confirmation</a:t>
            </a:r>
            <a:endParaRPr lang="en-US" sz="900" dirty="0"/>
          </a:p>
        </p:txBody>
      </p:sp>
      <p:sp>
        <p:nvSpPr>
          <p:cNvPr id="12" name="Text 9">
            <a:extLst>
              <a:ext uri="{FF2B5EF4-FFF2-40B4-BE49-F238E27FC236}">
                <a16:creationId xmlns:a16="http://schemas.microsoft.com/office/drawing/2014/main" id="{D649B155-C9DC-FF8A-BCB0-A9832189D213}"/>
              </a:ext>
            </a:extLst>
          </p:cNvPr>
          <p:cNvSpPr/>
          <p:nvPr/>
        </p:nvSpPr>
        <p:spPr>
          <a:xfrm>
            <a:off x="5250656" y="1393031"/>
            <a:ext cx="3286125" cy="607219"/>
          </a:xfrm>
          <a:prstGeom prst="rect">
            <a:avLst/>
          </a:prstGeom>
          <a:noFill/>
          <a:ln/>
        </p:spPr>
        <p:txBody>
          <a:bodyPr wrap="square" lIns="0" tIns="0" rIns="0" bIns="0" rtlCol="0" anchor="t"/>
          <a:lstStyle/>
          <a:p>
            <a:pPr>
              <a:lnSpc>
                <a:spcPct val="150000"/>
              </a:lnSpc>
            </a:pPr>
            <a:r>
              <a:rPr lang="en-US" sz="1050" dirty="0">
                <a:solidFill>
                  <a:schemeClr val="bg1"/>
                </a:solidFill>
                <a:ea typeface="Quattrocento Sans" pitchFamily="34" charset="-122"/>
                <a:cs typeface="Segoe UI" panose="020B0502040204020203" pitchFamily="34" charset="0"/>
              </a:rPr>
              <a:t>After successful data submission, the Success Screen displays a confirmation checkmark with the message:</a:t>
            </a:r>
            <a:endParaRPr lang="en-US" sz="1050" dirty="0">
              <a:solidFill>
                <a:schemeClr val="bg1"/>
              </a:solidFill>
            </a:endParaRPr>
          </a:p>
        </p:txBody>
      </p:sp>
      <p:sp>
        <p:nvSpPr>
          <p:cNvPr id="13" name="Shape 10">
            <a:extLst>
              <a:ext uri="{FF2B5EF4-FFF2-40B4-BE49-F238E27FC236}">
                <a16:creationId xmlns:a16="http://schemas.microsoft.com/office/drawing/2014/main" id="{FA55517B-4ADF-ADB4-8350-19F4DF35BDBD}"/>
              </a:ext>
            </a:extLst>
          </p:cNvPr>
          <p:cNvSpPr/>
          <p:nvPr/>
        </p:nvSpPr>
        <p:spPr>
          <a:xfrm>
            <a:off x="5072062" y="2250281"/>
            <a:ext cx="3643313" cy="1143000"/>
          </a:xfrm>
          <a:prstGeom prst="roundRect">
            <a:avLst>
              <a:gd name="adj" fmla="val 6000"/>
            </a:avLst>
          </a:prstGeom>
          <a:solidFill>
            <a:srgbClr val="08204F"/>
          </a:solidFill>
          <a:ln/>
          <a:effectLst>
            <a:outerShdw blurRad="127000" dist="38100" dir="5400000" algn="bl" rotWithShape="0">
              <a:srgbClr val="000000">
                <a:alpha val="3137"/>
              </a:srgbClr>
            </a:outerShdw>
          </a:effectLst>
        </p:spPr>
        <p:txBody>
          <a:bodyPr/>
          <a:lstStyle/>
          <a:p>
            <a:endParaRPr lang="en-US" sz="1013"/>
          </a:p>
        </p:txBody>
      </p:sp>
      <p:sp>
        <p:nvSpPr>
          <p:cNvPr id="14" name="Shape 11">
            <a:extLst>
              <a:ext uri="{FF2B5EF4-FFF2-40B4-BE49-F238E27FC236}">
                <a16:creationId xmlns:a16="http://schemas.microsoft.com/office/drawing/2014/main" id="{478E7F94-5765-AA8A-D4E4-5A35B73AB510}"/>
              </a:ext>
            </a:extLst>
          </p:cNvPr>
          <p:cNvSpPr/>
          <p:nvPr/>
        </p:nvSpPr>
        <p:spPr>
          <a:xfrm>
            <a:off x="5250656" y="2378869"/>
            <a:ext cx="214313" cy="214313"/>
          </a:xfrm>
          <a:custGeom>
            <a:avLst/>
            <a:gdLst/>
            <a:ahLst/>
            <a:cxnLst/>
            <a:rect l="l" t="t" r="r" b="b"/>
            <a:pathLst>
              <a:path w="381000" h="381000">
                <a:moveTo>
                  <a:pt x="49039" y="170036"/>
                </a:moveTo>
                <a:cubicBezTo>
                  <a:pt x="58936" y="100831"/>
                  <a:pt x="118542" y="47625"/>
                  <a:pt x="190500" y="47625"/>
                </a:cubicBezTo>
                <a:cubicBezTo>
                  <a:pt x="229939" y="47625"/>
                  <a:pt x="265658" y="63624"/>
                  <a:pt x="291554" y="89446"/>
                </a:cubicBezTo>
                <a:cubicBezTo>
                  <a:pt x="291703" y="89595"/>
                  <a:pt x="291852" y="89743"/>
                  <a:pt x="292001" y="89892"/>
                </a:cubicBezTo>
                <a:lnTo>
                  <a:pt x="297656" y="95250"/>
                </a:lnTo>
                <a:lnTo>
                  <a:pt x="262012" y="95250"/>
                </a:lnTo>
                <a:cubicBezTo>
                  <a:pt x="248841" y="95250"/>
                  <a:pt x="238199" y="105891"/>
                  <a:pt x="238199" y="119063"/>
                </a:cubicBezTo>
                <a:cubicBezTo>
                  <a:pt x="238199" y="132234"/>
                  <a:pt x="248841" y="142875"/>
                  <a:pt x="262012" y="142875"/>
                </a:cubicBezTo>
                <a:lnTo>
                  <a:pt x="357262" y="142875"/>
                </a:lnTo>
                <a:cubicBezTo>
                  <a:pt x="370433" y="142875"/>
                  <a:pt x="381074" y="132234"/>
                  <a:pt x="381074" y="119063"/>
                </a:cubicBezTo>
                <a:lnTo>
                  <a:pt x="381074" y="23812"/>
                </a:lnTo>
                <a:cubicBezTo>
                  <a:pt x="381074" y="10641"/>
                  <a:pt x="370433" y="0"/>
                  <a:pt x="357262" y="0"/>
                </a:cubicBezTo>
                <a:cubicBezTo>
                  <a:pt x="344091" y="0"/>
                  <a:pt x="333449" y="10641"/>
                  <a:pt x="333449" y="23812"/>
                </a:cubicBezTo>
                <a:lnTo>
                  <a:pt x="333449" y="63550"/>
                </a:lnTo>
                <a:lnTo>
                  <a:pt x="325041" y="55587"/>
                </a:lnTo>
                <a:cubicBezTo>
                  <a:pt x="290587" y="21282"/>
                  <a:pt x="242962" y="0"/>
                  <a:pt x="190500" y="0"/>
                </a:cubicBezTo>
                <a:cubicBezTo>
                  <a:pt x="94506" y="0"/>
                  <a:pt x="15106" y="70991"/>
                  <a:pt x="1935" y="163339"/>
                </a:cubicBezTo>
                <a:cubicBezTo>
                  <a:pt x="74" y="176361"/>
                  <a:pt x="9079" y="188416"/>
                  <a:pt x="22101" y="190277"/>
                </a:cubicBezTo>
                <a:cubicBezTo>
                  <a:pt x="35123" y="192137"/>
                  <a:pt x="47179" y="183059"/>
                  <a:pt x="49039" y="170111"/>
                </a:cubicBezTo>
                <a:close/>
                <a:moveTo>
                  <a:pt x="379065" y="217661"/>
                </a:moveTo>
                <a:cubicBezTo>
                  <a:pt x="380926" y="204639"/>
                  <a:pt x="371847" y="192584"/>
                  <a:pt x="358899" y="190723"/>
                </a:cubicBezTo>
                <a:cubicBezTo>
                  <a:pt x="345951" y="188863"/>
                  <a:pt x="333821" y="197941"/>
                  <a:pt x="331961" y="210889"/>
                </a:cubicBezTo>
                <a:cubicBezTo>
                  <a:pt x="322064" y="280095"/>
                  <a:pt x="262458" y="333301"/>
                  <a:pt x="190500" y="333301"/>
                </a:cubicBezTo>
                <a:cubicBezTo>
                  <a:pt x="151061" y="333301"/>
                  <a:pt x="115342" y="317302"/>
                  <a:pt x="89446" y="291480"/>
                </a:cubicBezTo>
                <a:cubicBezTo>
                  <a:pt x="89297" y="291331"/>
                  <a:pt x="89148" y="291182"/>
                  <a:pt x="88999" y="291033"/>
                </a:cubicBezTo>
                <a:lnTo>
                  <a:pt x="83344" y="285676"/>
                </a:lnTo>
                <a:lnTo>
                  <a:pt x="118988" y="285676"/>
                </a:lnTo>
                <a:cubicBezTo>
                  <a:pt x="132159" y="285676"/>
                  <a:pt x="142801" y="275034"/>
                  <a:pt x="142801" y="261863"/>
                </a:cubicBezTo>
                <a:cubicBezTo>
                  <a:pt x="142801" y="248692"/>
                  <a:pt x="132159" y="238051"/>
                  <a:pt x="118988" y="238051"/>
                </a:cubicBezTo>
                <a:lnTo>
                  <a:pt x="23812" y="238125"/>
                </a:lnTo>
                <a:cubicBezTo>
                  <a:pt x="17487" y="238125"/>
                  <a:pt x="11385" y="240655"/>
                  <a:pt x="6921" y="245194"/>
                </a:cubicBezTo>
                <a:cubicBezTo>
                  <a:pt x="2456" y="249734"/>
                  <a:pt x="-74" y="255761"/>
                  <a:pt x="0" y="262161"/>
                </a:cubicBezTo>
                <a:lnTo>
                  <a:pt x="744" y="356667"/>
                </a:lnTo>
                <a:cubicBezTo>
                  <a:pt x="819" y="369838"/>
                  <a:pt x="11609" y="380405"/>
                  <a:pt x="24780" y="380256"/>
                </a:cubicBezTo>
                <a:cubicBezTo>
                  <a:pt x="37951" y="380107"/>
                  <a:pt x="48518" y="369391"/>
                  <a:pt x="48369" y="356220"/>
                </a:cubicBezTo>
                <a:lnTo>
                  <a:pt x="48071" y="317897"/>
                </a:lnTo>
                <a:lnTo>
                  <a:pt x="56034" y="325413"/>
                </a:lnTo>
                <a:cubicBezTo>
                  <a:pt x="90488" y="359718"/>
                  <a:pt x="138038" y="381000"/>
                  <a:pt x="190500" y="381000"/>
                </a:cubicBezTo>
                <a:cubicBezTo>
                  <a:pt x="286494" y="381000"/>
                  <a:pt x="365894" y="310009"/>
                  <a:pt x="379065" y="217661"/>
                </a:cubicBezTo>
                <a:close/>
              </a:path>
            </a:pathLst>
          </a:custGeom>
          <a:solidFill>
            <a:srgbClr val="36ADA3"/>
          </a:solidFill>
          <a:ln/>
        </p:spPr>
        <p:txBody>
          <a:bodyPr/>
          <a:lstStyle/>
          <a:p>
            <a:endParaRPr lang="en-US" sz="1013"/>
          </a:p>
        </p:txBody>
      </p:sp>
      <p:sp>
        <p:nvSpPr>
          <p:cNvPr id="15" name="Text 12">
            <a:extLst>
              <a:ext uri="{FF2B5EF4-FFF2-40B4-BE49-F238E27FC236}">
                <a16:creationId xmlns:a16="http://schemas.microsoft.com/office/drawing/2014/main" id="{96710884-9B89-A9E2-1664-6C4A9D8B155A}"/>
              </a:ext>
            </a:extLst>
          </p:cNvPr>
          <p:cNvSpPr/>
          <p:nvPr/>
        </p:nvSpPr>
        <p:spPr>
          <a:xfrm>
            <a:off x="5557838" y="2357438"/>
            <a:ext cx="2857500" cy="228600"/>
          </a:xfrm>
          <a:prstGeom prst="rect">
            <a:avLst/>
          </a:prstGeom>
          <a:noFill/>
          <a:ln/>
        </p:spPr>
        <p:txBody>
          <a:bodyPr wrap="none" lIns="0" tIns="0" rIns="0" bIns="0" rtlCol="0" anchor="ctr"/>
          <a:lstStyle/>
          <a:p>
            <a:pPr>
              <a:lnSpc>
                <a:spcPct val="100000"/>
              </a:lnSpc>
            </a:pPr>
            <a:r>
              <a:rPr lang="en-US" sz="1125" b="1" dirty="0">
                <a:solidFill>
                  <a:srgbClr val="36ADA3"/>
                </a:solidFill>
                <a:ea typeface="Quattrocento Sans" pitchFamily="34" charset="-122"/>
                <a:cs typeface="Segoe UI" panose="020B0502040204020203" pitchFamily="34" charset="0"/>
              </a:rPr>
              <a:t>User Options</a:t>
            </a:r>
            <a:endParaRPr lang="en-US" sz="900" dirty="0"/>
          </a:p>
        </p:txBody>
      </p:sp>
      <p:sp>
        <p:nvSpPr>
          <p:cNvPr id="16" name="Text 13">
            <a:extLst>
              <a:ext uri="{FF2B5EF4-FFF2-40B4-BE49-F238E27FC236}">
                <a16:creationId xmlns:a16="http://schemas.microsoft.com/office/drawing/2014/main" id="{5A43AEF9-190F-B8C5-90A8-8B7E16614C48}"/>
              </a:ext>
            </a:extLst>
          </p:cNvPr>
          <p:cNvSpPr/>
          <p:nvPr/>
        </p:nvSpPr>
        <p:spPr>
          <a:xfrm>
            <a:off x="5250656" y="2643187"/>
            <a:ext cx="3286125" cy="607219"/>
          </a:xfrm>
          <a:prstGeom prst="rect">
            <a:avLst/>
          </a:prstGeom>
          <a:noFill/>
          <a:ln/>
        </p:spPr>
        <p:txBody>
          <a:bodyPr wrap="square" lIns="0" tIns="0" rIns="0" bIns="0" rtlCol="0" anchor="t"/>
          <a:lstStyle/>
          <a:p>
            <a:pPr>
              <a:lnSpc>
                <a:spcPct val="150000"/>
              </a:lnSpc>
            </a:pPr>
            <a:r>
              <a:rPr lang="en-US" sz="1050" b="1" dirty="0">
                <a:solidFill>
                  <a:schemeClr val="bg1"/>
                </a:solidFill>
                <a:ea typeface="Quattrocento Sans" pitchFamily="34" charset="-122"/>
                <a:cs typeface="Segoe UI" panose="020B0502040204020203" pitchFamily="34" charset="0"/>
              </a:rPr>
              <a:t>Home</a:t>
            </a:r>
            <a:r>
              <a:rPr lang="en-US" sz="1050" dirty="0">
                <a:solidFill>
                  <a:schemeClr val="bg1"/>
                </a:solidFill>
                <a:ea typeface="Quattrocento Sans" pitchFamily="34" charset="-122"/>
                <a:cs typeface="Segoe UI" panose="020B0502040204020203" pitchFamily="34" charset="0"/>
              </a:rPr>
              <a:t> - Returns to the Home Screen</a:t>
            </a:r>
            <a:endParaRPr lang="en-US" sz="1050" dirty="0">
              <a:solidFill>
                <a:schemeClr val="bg1"/>
              </a:solidFill>
            </a:endParaRPr>
          </a:p>
          <a:p>
            <a:pPr>
              <a:lnSpc>
                <a:spcPct val="150000"/>
              </a:lnSpc>
              <a:spcBef>
                <a:spcPts val="338"/>
              </a:spcBef>
            </a:pPr>
            <a:r>
              <a:rPr lang="en-US" sz="1050" b="1" dirty="0">
                <a:solidFill>
                  <a:schemeClr val="bg1"/>
                </a:solidFill>
                <a:ea typeface="Quattrocento Sans" pitchFamily="34" charset="-122"/>
                <a:cs typeface="Segoe UI" panose="020B0502040204020203" pitchFamily="34" charset="0"/>
              </a:rPr>
              <a:t>New Survey</a:t>
            </a:r>
            <a:r>
              <a:rPr lang="en-US" sz="1050" dirty="0">
                <a:solidFill>
                  <a:schemeClr val="bg1"/>
                </a:solidFill>
                <a:ea typeface="Quattrocento Sans" pitchFamily="34" charset="-122"/>
                <a:cs typeface="Segoe UI" panose="020B0502040204020203" pitchFamily="34" charset="0"/>
              </a:rPr>
              <a:t> - Starts another data entry session</a:t>
            </a:r>
            <a:endParaRPr lang="en-US" sz="1050" dirty="0">
              <a:solidFill>
                <a:schemeClr val="bg1"/>
              </a:solidFill>
            </a:endParaRPr>
          </a:p>
        </p:txBody>
      </p:sp>
      <p:sp>
        <p:nvSpPr>
          <p:cNvPr id="17" name="Shape 14">
            <a:extLst>
              <a:ext uri="{FF2B5EF4-FFF2-40B4-BE49-F238E27FC236}">
                <a16:creationId xmlns:a16="http://schemas.microsoft.com/office/drawing/2014/main" id="{D1EAEE11-0543-6C47-D20C-A1CC3A5A6DFB}"/>
              </a:ext>
            </a:extLst>
          </p:cNvPr>
          <p:cNvSpPr/>
          <p:nvPr/>
        </p:nvSpPr>
        <p:spPr>
          <a:xfrm>
            <a:off x="5072062" y="3500438"/>
            <a:ext cx="3643313" cy="1285875"/>
          </a:xfrm>
          <a:prstGeom prst="roundRect">
            <a:avLst>
              <a:gd name="adj" fmla="val 6000"/>
            </a:avLst>
          </a:prstGeom>
          <a:solidFill>
            <a:srgbClr val="08204F"/>
          </a:solidFill>
          <a:ln/>
          <a:effectLst>
            <a:outerShdw blurRad="127000" dist="38100" dir="5400000" algn="bl" rotWithShape="0">
              <a:srgbClr val="000000">
                <a:alpha val="3137"/>
              </a:srgbClr>
            </a:outerShdw>
          </a:effectLst>
        </p:spPr>
        <p:txBody>
          <a:bodyPr/>
          <a:lstStyle/>
          <a:p>
            <a:endParaRPr lang="en-US" sz="1013"/>
          </a:p>
        </p:txBody>
      </p:sp>
      <p:sp>
        <p:nvSpPr>
          <p:cNvPr id="18" name="Shape 15">
            <a:extLst>
              <a:ext uri="{FF2B5EF4-FFF2-40B4-BE49-F238E27FC236}">
                <a16:creationId xmlns:a16="http://schemas.microsoft.com/office/drawing/2014/main" id="{99F96988-1113-058D-48C6-ADF845CF9AFA}"/>
              </a:ext>
            </a:extLst>
          </p:cNvPr>
          <p:cNvSpPr/>
          <p:nvPr/>
        </p:nvSpPr>
        <p:spPr>
          <a:xfrm>
            <a:off x="5237262" y="3629025"/>
            <a:ext cx="241102" cy="214313"/>
          </a:xfrm>
          <a:custGeom>
            <a:avLst/>
            <a:gdLst/>
            <a:ahLst/>
            <a:cxnLst/>
            <a:rect l="l" t="t" r="r" b="b"/>
            <a:pathLst>
              <a:path w="428625" h="381000">
                <a:moveTo>
                  <a:pt x="196007" y="-20092"/>
                </a:moveTo>
                <a:lnTo>
                  <a:pt x="207020" y="7293"/>
                </a:lnTo>
                <a:lnTo>
                  <a:pt x="234404" y="18306"/>
                </a:lnTo>
                <a:cubicBezTo>
                  <a:pt x="236637" y="19199"/>
                  <a:pt x="238125" y="21431"/>
                  <a:pt x="238125" y="23812"/>
                </a:cubicBezTo>
                <a:cubicBezTo>
                  <a:pt x="238125" y="26194"/>
                  <a:pt x="236637" y="28426"/>
                  <a:pt x="234404" y="29319"/>
                </a:cubicBezTo>
                <a:lnTo>
                  <a:pt x="207020" y="40332"/>
                </a:lnTo>
                <a:lnTo>
                  <a:pt x="196007" y="67717"/>
                </a:lnTo>
                <a:cubicBezTo>
                  <a:pt x="195114" y="69949"/>
                  <a:pt x="192881" y="71438"/>
                  <a:pt x="190500" y="71438"/>
                </a:cubicBezTo>
                <a:cubicBezTo>
                  <a:pt x="188119" y="71438"/>
                  <a:pt x="185886" y="69949"/>
                  <a:pt x="184993" y="67717"/>
                </a:cubicBezTo>
                <a:lnTo>
                  <a:pt x="173980" y="40332"/>
                </a:lnTo>
                <a:lnTo>
                  <a:pt x="146596" y="29319"/>
                </a:lnTo>
                <a:cubicBezTo>
                  <a:pt x="144363" y="28426"/>
                  <a:pt x="142875" y="26194"/>
                  <a:pt x="142875" y="23812"/>
                </a:cubicBezTo>
                <a:cubicBezTo>
                  <a:pt x="142875" y="21431"/>
                  <a:pt x="144363" y="19199"/>
                  <a:pt x="146596" y="18306"/>
                </a:cubicBezTo>
                <a:lnTo>
                  <a:pt x="173980" y="7293"/>
                </a:lnTo>
                <a:lnTo>
                  <a:pt x="184993" y="-20092"/>
                </a:lnTo>
                <a:cubicBezTo>
                  <a:pt x="185886" y="-22324"/>
                  <a:pt x="188119" y="-23812"/>
                  <a:pt x="190500" y="-23812"/>
                </a:cubicBezTo>
                <a:cubicBezTo>
                  <a:pt x="192881" y="-23812"/>
                  <a:pt x="195114" y="-22324"/>
                  <a:pt x="196007" y="-20092"/>
                </a:cubicBezTo>
                <a:close/>
                <a:moveTo>
                  <a:pt x="82376" y="31031"/>
                </a:moveTo>
                <a:lnTo>
                  <a:pt x="98375" y="68312"/>
                </a:lnTo>
                <a:lnTo>
                  <a:pt x="135657" y="84311"/>
                </a:lnTo>
                <a:cubicBezTo>
                  <a:pt x="140047" y="86171"/>
                  <a:pt x="142875" y="90488"/>
                  <a:pt x="142875" y="95250"/>
                </a:cubicBezTo>
                <a:cubicBezTo>
                  <a:pt x="142875" y="100012"/>
                  <a:pt x="140047" y="104329"/>
                  <a:pt x="135657" y="106189"/>
                </a:cubicBezTo>
                <a:lnTo>
                  <a:pt x="98375" y="122188"/>
                </a:lnTo>
                <a:lnTo>
                  <a:pt x="82376" y="159469"/>
                </a:lnTo>
                <a:cubicBezTo>
                  <a:pt x="80516" y="163860"/>
                  <a:pt x="76200" y="166687"/>
                  <a:pt x="71437" y="166687"/>
                </a:cubicBezTo>
                <a:cubicBezTo>
                  <a:pt x="66675" y="166687"/>
                  <a:pt x="62359" y="163860"/>
                  <a:pt x="60499" y="159469"/>
                </a:cubicBezTo>
                <a:lnTo>
                  <a:pt x="44500" y="122188"/>
                </a:lnTo>
                <a:lnTo>
                  <a:pt x="7218" y="106189"/>
                </a:lnTo>
                <a:cubicBezTo>
                  <a:pt x="2828" y="104329"/>
                  <a:pt x="0" y="100013"/>
                  <a:pt x="0" y="95250"/>
                </a:cubicBezTo>
                <a:cubicBezTo>
                  <a:pt x="0" y="90488"/>
                  <a:pt x="2828" y="86171"/>
                  <a:pt x="7218" y="84311"/>
                </a:cubicBezTo>
                <a:lnTo>
                  <a:pt x="44500" y="68312"/>
                </a:lnTo>
                <a:lnTo>
                  <a:pt x="60499" y="31031"/>
                </a:lnTo>
                <a:cubicBezTo>
                  <a:pt x="62359" y="26640"/>
                  <a:pt x="66675" y="23812"/>
                  <a:pt x="71438" y="23812"/>
                </a:cubicBezTo>
                <a:cubicBezTo>
                  <a:pt x="76200" y="23812"/>
                  <a:pt x="80516" y="26640"/>
                  <a:pt x="82376" y="31031"/>
                </a:cubicBezTo>
                <a:close/>
                <a:moveTo>
                  <a:pt x="345281" y="226219"/>
                </a:moveTo>
                <a:cubicBezTo>
                  <a:pt x="350044" y="226219"/>
                  <a:pt x="354360" y="229046"/>
                  <a:pt x="356220" y="233437"/>
                </a:cubicBezTo>
                <a:lnTo>
                  <a:pt x="372219" y="270718"/>
                </a:lnTo>
                <a:lnTo>
                  <a:pt x="409501" y="286717"/>
                </a:lnTo>
                <a:cubicBezTo>
                  <a:pt x="413891" y="288578"/>
                  <a:pt x="416719" y="292894"/>
                  <a:pt x="416719" y="297656"/>
                </a:cubicBezTo>
                <a:cubicBezTo>
                  <a:pt x="416719" y="302419"/>
                  <a:pt x="413891" y="306735"/>
                  <a:pt x="409501" y="308595"/>
                </a:cubicBezTo>
                <a:lnTo>
                  <a:pt x="372219" y="324594"/>
                </a:lnTo>
                <a:lnTo>
                  <a:pt x="356220" y="361876"/>
                </a:lnTo>
                <a:cubicBezTo>
                  <a:pt x="354360" y="366266"/>
                  <a:pt x="350044" y="369094"/>
                  <a:pt x="345281" y="369094"/>
                </a:cubicBezTo>
                <a:cubicBezTo>
                  <a:pt x="340519" y="369094"/>
                  <a:pt x="336203" y="366266"/>
                  <a:pt x="334342" y="361876"/>
                </a:cubicBezTo>
                <a:lnTo>
                  <a:pt x="318343" y="324594"/>
                </a:lnTo>
                <a:lnTo>
                  <a:pt x="281062" y="308595"/>
                </a:lnTo>
                <a:cubicBezTo>
                  <a:pt x="276671" y="306735"/>
                  <a:pt x="273844" y="302419"/>
                  <a:pt x="273844" y="297656"/>
                </a:cubicBezTo>
                <a:cubicBezTo>
                  <a:pt x="273844" y="292894"/>
                  <a:pt x="276671" y="288578"/>
                  <a:pt x="281062" y="286717"/>
                </a:cubicBezTo>
                <a:lnTo>
                  <a:pt x="318343" y="270718"/>
                </a:lnTo>
                <a:lnTo>
                  <a:pt x="334342" y="233437"/>
                </a:lnTo>
                <a:cubicBezTo>
                  <a:pt x="336203" y="229046"/>
                  <a:pt x="340519" y="226219"/>
                  <a:pt x="345281" y="226219"/>
                </a:cubicBezTo>
                <a:close/>
                <a:moveTo>
                  <a:pt x="342305" y="0"/>
                </a:moveTo>
                <a:cubicBezTo>
                  <a:pt x="350490" y="0"/>
                  <a:pt x="358378" y="3274"/>
                  <a:pt x="364257" y="9079"/>
                </a:cubicBezTo>
                <a:lnTo>
                  <a:pt x="395734" y="40556"/>
                </a:lnTo>
                <a:cubicBezTo>
                  <a:pt x="401538" y="46434"/>
                  <a:pt x="404813" y="54322"/>
                  <a:pt x="404813" y="62508"/>
                </a:cubicBezTo>
                <a:cubicBezTo>
                  <a:pt x="404813" y="70693"/>
                  <a:pt x="401538" y="78581"/>
                  <a:pt x="395734" y="84460"/>
                </a:cubicBezTo>
                <a:lnTo>
                  <a:pt x="330101" y="150093"/>
                </a:lnTo>
                <a:lnTo>
                  <a:pt x="254719" y="74712"/>
                </a:lnTo>
                <a:lnTo>
                  <a:pt x="320353" y="9079"/>
                </a:lnTo>
                <a:cubicBezTo>
                  <a:pt x="326231" y="3274"/>
                  <a:pt x="334119" y="0"/>
                  <a:pt x="342305" y="0"/>
                </a:cubicBezTo>
                <a:close/>
                <a:moveTo>
                  <a:pt x="32891" y="296540"/>
                </a:moveTo>
                <a:lnTo>
                  <a:pt x="229493" y="99938"/>
                </a:lnTo>
                <a:lnTo>
                  <a:pt x="304874" y="175320"/>
                </a:lnTo>
                <a:lnTo>
                  <a:pt x="108272" y="371921"/>
                </a:lnTo>
                <a:cubicBezTo>
                  <a:pt x="102394" y="377726"/>
                  <a:pt x="94506" y="381000"/>
                  <a:pt x="86320" y="381000"/>
                </a:cubicBezTo>
                <a:cubicBezTo>
                  <a:pt x="78135" y="381000"/>
                  <a:pt x="70247" y="377726"/>
                  <a:pt x="64368" y="371921"/>
                </a:cubicBezTo>
                <a:lnTo>
                  <a:pt x="32891" y="340444"/>
                </a:lnTo>
                <a:cubicBezTo>
                  <a:pt x="27087" y="334566"/>
                  <a:pt x="23812" y="326678"/>
                  <a:pt x="23812" y="318492"/>
                </a:cubicBezTo>
                <a:cubicBezTo>
                  <a:pt x="23812" y="310307"/>
                  <a:pt x="27087" y="302419"/>
                  <a:pt x="32891" y="296540"/>
                </a:cubicBezTo>
                <a:close/>
              </a:path>
            </a:pathLst>
          </a:custGeom>
          <a:solidFill>
            <a:srgbClr val="36ADA3"/>
          </a:solidFill>
          <a:ln/>
        </p:spPr>
        <p:txBody>
          <a:bodyPr/>
          <a:lstStyle/>
          <a:p>
            <a:endParaRPr lang="en-US" sz="1013"/>
          </a:p>
        </p:txBody>
      </p:sp>
      <p:sp>
        <p:nvSpPr>
          <p:cNvPr id="19" name="Text 16">
            <a:extLst>
              <a:ext uri="{FF2B5EF4-FFF2-40B4-BE49-F238E27FC236}">
                <a16:creationId xmlns:a16="http://schemas.microsoft.com/office/drawing/2014/main" id="{25E55D0F-FA05-5A8E-0EE1-872C1B8709ED}"/>
              </a:ext>
            </a:extLst>
          </p:cNvPr>
          <p:cNvSpPr/>
          <p:nvPr/>
        </p:nvSpPr>
        <p:spPr>
          <a:xfrm>
            <a:off x="5557838" y="3607594"/>
            <a:ext cx="2857500" cy="228600"/>
          </a:xfrm>
          <a:prstGeom prst="rect">
            <a:avLst/>
          </a:prstGeom>
          <a:noFill/>
          <a:ln/>
        </p:spPr>
        <p:txBody>
          <a:bodyPr wrap="none" lIns="0" tIns="0" rIns="0" bIns="0" rtlCol="0" anchor="ctr"/>
          <a:lstStyle/>
          <a:p>
            <a:pPr>
              <a:lnSpc>
                <a:spcPct val="100000"/>
              </a:lnSpc>
            </a:pPr>
            <a:r>
              <a:rPr lang="en-US" sz="1125" b="1" dirty="0">
                <a:solidFill>
                  <a:srgbClr val="36ADA3"/>
                </a:solidFill>
                <a:ea typeface="Quattrocento Sans" pitchFamily="34" charset="-122"/>
                <a:cs typeface="Segoe UI" panose="020B0502040204020203" pitchFamily="34" charset="0"/>
              </a:rPr>
              <a:t>UX Design</a:t>
            </a:r>
            <a:endParaRPr lang="en-US" sz="900" dirty="0"/>
          </a:p>
        </p:txBody>
      </p:sp>
      <p:sp>
        <p:nvSpPr>
          <p:cNvPr id="20" name="Text 17">
            <a:extLst>
              <a:ext uri="{FF2B5EF4-FFF2-40B4-BE49-F238E27FC236}">
                <a16:creationId xmlns:a16="http://schemas.microsoft.com/office/drawing/2014/main" id="{A6D2D14C-7DCE-87F3-AC02-4BB8618F21FB}"/>
              </a:ext>
            </a:extLst>
          </p:cNvPr>
          <p:cNvSpPr/>
          <p:nvPr/>
        </p:nvSpPr>
        <p:spPr>
          <a:xfrm>
            <a:off x="5250656" y="3893344"/>
            <a:ext cx="3286125" cy="750094"/>
          </a:xfrm>
          <a:prstGeom prst="rect">
            <a:avLst/>
          </a:prstGeom>
          <a:noFill/>
          <a:ln/>
        </p:spPr>
        <p:txBody>
          <a:bodyPr wrap="square" lIns="0" tIns="0" rIns="0" bIns="0" rtlCol="0" anchor="t"/>
          <a:lstStyle/>
          <a:p>
            <a:pPr>
              <a:lnSpc>
                <a:spcPct val="150000"/>
              </a:lnSpc>
            </a:pPr>
            <a:r>
              <a:rPr lang="en-US" sz="1050" dirty="0">
                <a:solidFill>
                  <a:schemeClr val="bg1"/>
                </a:solidFill>
                <a:ea typeface="Quattrocento Sans" pitchFamily="34" charset="-122"/>
                <a:cs typeface="Segoe UI" panose="020B0502040204020203" pitchFamily="34" charset="0"/>
              </a:rPr>
              <a:t>Provides clear feedback and smooth navigation for survey operators. Data is stored directly in SQL Server, confirming the end-to-end pipeline works correctly.</a:t>
            </a:r>
            <a:endParaRPr lang="en-US" sz="1050" dirty="0">
              <a:solidFill>
                <a:schemeClr val="bg1"/>
              </a:solidFill>
            </a:endParaRPr>
          </a:p>
        </p:txBody>
      </p:sp>
      <p:sp>
        <p:nvSpPr>
          <p:cNvPr id="21" name="Text 18">
            <a:extLst>
              <a:ext uri="{FF2B5EF4-FFF2-40B4-BE49-F238E27FC236}">
                <a16:creationId xmlns:a16="http://schemas.microsoft.com/office/drawing/2014/main" id="{9B259AF2-E0A7-AB5F-5F0A-36B65BE297FF}"/>
              </a:ext>
            </a:extLst>
          </p:cNvPr>
          <p:cNvSpPr/>
          <p:nvPr/>
        </p:nvSpPr>
        <p:spPr>
          <a:xfrm>
            <a:off x="8501062" y="4893469"/>
            <a:ext cx="357188" cy="178594"/>
          </a:xfrm>
          <a:prstGeom prst="rect">
            <a:avLst/>
          </a:prstGeom>
          <a:noFill/>
          <a:ln/>
        </p:spPr>
        <p:txBody>
          <a:bodyPr wrap="none" lIns="0" tIns="0" rIns="0" bIns="0" rtlCol="0" anchor="ctr"/>
          <a:lstStyle/>
          <a:p>
            <a:pPr algn="r">
              <a:lnSpc>
                <a:spcPct val="100000"/>
              </a:lnSpc>
            </a:pPr>
            <a:r>
              <a:rPr lang="en-US" sz="788" dirty="0">
                <a:solidFill>
                  <a:srgbClr val="2F578A"/>
                </a:solidFill>
                <a:ea typeface="Quattrocento Sans" pitchFamily="34" charset="-122"/>
                <a:cs typeface="Segoe UI" panose="020B0502040204020203" pitchFamily="34" charset="0"/>
              </a:rPr>
              <a:t>12</a:t>
            </a:r>
            <a:endParaRPr lang="en-US" sz="900" dirty="0"/>
          </a:p>
        </p:txBody>
      </p:sp>
    </p:spTree>
    <p:extLst>
      <p:ext uri="{BB962C8B-B14F-4D97-AF65-F5344CB8AC3E}">
        <p14:creationId xmlns:p14="http://schemas.microsoft.com/office/powerpoint/2010/main" val="3397059910"/>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12" name="Shape 0">
            <a:extLst>
              <a:ext uri="{FF2B5EF4-FFF2-40B4-BE49-F238E27FC236}">
                <a16:creationId xmlns:a16="http://schemas.microsoft.com/office/drawing/2014/main" id="{5A28ECB1-9886-A615-D3D7-B0842FAB50AA}"/>
              </a:ext>
            </a:extLst>
          </p:cNvPr>
          <p:cNvSpPr/>
          <p:nvPr/>
        </p:nvSpPr>
        <p:spPr>
          <a:xfrm>
            <a:off x="0" y="-2143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pic>
        <p:nvPicPr>
          <p:cNvPr id="13" name="Image 0" descr="preencoded.png">
            <a:extLst>
              <a:ext uri="{FF2B5EF4-FFF2-40B4-BE49-F238E27FC236}">
                <a16:creationId xmlns:a16="http://schemas.microsoft.com/office/drawing/2014/main" id="{CB4C1164-A5B3-E263-8622-9237F2DBE9C4}"/>
              </a:ext>
            </a:extLst>
          </p:cNvPr>
          <p:cNvPicPr>
            <a:picLocks noChangeAspect="1"/>
          </p:cNvPicPr>
          <p:nvPr/>
        </p:nvPicPr>
        <p:blipFill>
          <a:blip r:embed="rId3"/>
          <a:stretch>
            <a:fillRect/>
          </a:stretch>
        </p:blipFill>
        <p:spPr>
          <a:xfrm>
            <a:off x="8046720" y="45720"/>
            <a:ext cx="685800" cy="676656"/>
          </a:xfrm>
          <a:prstGeom prst="rect">
            <a:avLst/>
          </a:prstGeom>
        </p:spPr>
      </p:pic>
      <p:sp>
        <p:nvSpPr>
          <p:cNvPr id="5" name="Text 3"/>
          <p:cNvSpPr/>
          <p:nvPr/>
        </p:nvSpPr>
        <p:spPr>
          <a:xfrm>
            <a:off x="342656" y="0"/>
            <a:ext cx="4286250" cy="753116"/>
          </a:xfrm>
          <a:prstGeom prst="rect">
            <a:avLst/>
          </a:prstGeom>
          <a:noFill/>
          <a:ln/>
        </p:spPr>
        <p:txBody>
          <a:bodyPr wrap="none" lIns="0" tIns="0" rIns="0" bIns="0" rtlCol="0" anchor="ctr"/>
          <a:lstStyle/>
          <a:p>
            <a:pPr>
              <a:lnSpc>
                <a:spcPct val="130000"/>
              </a:lnSpc>
            </a:pPr>
            <a:r>
              <a:rPr lang="en-US" b="1" dirty="0">
                <a:solidFill>
                  <a:schemeClr val="bg1"/>
                </a:solidFill>
                <a:latin typeface="QuattrocentoSans" pitchFamily="34" charset="0"/>
                <a:ea typeface="QuattrocentoSans" pitchFamily="34" charset="-122"/>
                <a:cs typeface="QuattrocentoSans" pitchFamily="34" charset="-120"/>
              </a:rPr>
              <a:t>Power Automate Flow</a:t>
            </a:r>
            <a:endParaRPr lang="en-US" dirty="0">
              <a:solidFill>
                <a:schemeClr val="bg1"/>
              </a:solidFill>
            </a:endParaRPr>
          </a:p>
        </p:txBody>
      </p:sp>
      <p:sp>
        <p:nvSpPr>
          <p:cNvPr id="7" name="Shape 5"/>
          <p:cNvSpPr/>
          <p:nvPr/>
        </p:nvSpPr>
        <p:spPr>
          <a:xfrm>
            <a:off x="428625" y="1000125"/>
            <a:ext cx="3214688" cy="3571875"/>
          </a:xfrm>
          <a:prstGeom prst="roundRect">
            <a:avLst>
              <a:gd name="adj" fmla="val 6000"/>
            </a:avLst>
          </a:prstGeom>
          <a:solidFill>
            <a:srgbClr val="FFFFFF"/>
          </a:solidFill>
          <a:ln/>
          <a:effectLst>
            <a:outerShdw blurRad="127000" dist="38100" dir="5400000" algn="bl" rotWithShape="0">
              <a:srgbClr val="121358">
                <a:alpha val="7059"/>
              </a:srgbClr>
            </a:outerShdw>
          </a:effectLst>
        </p:spPr>
        <p:txBody>
          <a:bodyPr/>
          <a:lstStyle/>
          <a:p>
            <a:endParaRPr lang="en-US"/>
          </a:p>
        </p:txBody>
      </p:sp>
      <p:sp>
        <p:nvSpPr>
          <p:cNvPr id="8" name="Text 6"/>
          <p:cNvSpPr/>
          <p:nvPr/>
        </p:nvSpPr>
        <p:spPr>
          <a:xfrm>
            <a:off x="642937" y="1214438"/>
            <a:ext cx="2786063" cy="3143250"/>
          </a:xfrm>
          <a:prstGeom prst="rect">
            <a:avLst/>
          </a:prstGeom>
          <a:noFill/>
          <a:ln/>
        </p:spPr>
        <p:txBody>
          <a:bodyPr wrap="square" lIns="0" tIns="0" rIns="0" bIns="0" rtlCol="0" anchor="t"/>
          <a:lstStyle/>
          <a:p>
            <a:pPr>
              <a:lnSpc>
                <a:spcPct val="170000"/>
              </a:lnSpc>
            </a:pPr>
            <a:r>
              <a:rPr lang="en-US" sz="956" b="1" dirty="0">
                <a:solidFill>
                  <a:srgbClr val="36ADA3"/>
                </a:solidFill>
                <a:latin typeface="QuattrocentoSans" pitchFamily="34" charset="0"/>
                <a:ea typeface="QuattrocentoSans" pitchFamily="34" charset="-122"/>
                <a:cs typeface="QuattrocentoSans" pitchFamily="34" charset="-120"/>
              </a:rPr>
              <a:t>Flow Name</a:t>
            </a:r>
            <a:endParaRPr lang="en-US" sz="1013" dirty="0"/>
          </a:p>
          <a:p>
            <a:pPr>
              <a:lnSpc>
                <a:spcPct val="170000"/>
              </a:lnSpc>
            </a:pPr>
            <a:r>
              <a:rPr lang="en-US" sz="956" b="1" dirty="0">
                <a:solidFill>
                  <a:srgbClr val="1A1A2E"/>
                </a:solidFill>
                <a:latin typeface="QuattrocentoSans" pitchFamily="34" charset="0"/>
                <a:ea typeface="QuattrocentoSans" pitchFamily="34" charset="-122"/>
                <a:cs typeface="QuattrocentoSans" pitchFamily="34" charset="-120"/>
              </a:rPr>
              <a:t>"SharePoint_To_SQL"</a:t>
            </a:r>
            <a:endParaRPr lang="en-US" sz="1013" dirty="0"/>
          </a:p>
          <a:p>
            <a:pPr>
              <a:lnSpc>
                <a:spcPct val="170000"/>
              </a:lnSpc>
              <a:spcBef>
                <a:spcPts val="900"/>
              </a:spcBef>
            </a:pPr>
            <a:r>
              <a:rPr lang="en-US" sz="956" b="1" dirty="0">
                <a:solidFill>
                  <a:srgbClr val="36ADA3"/>
                </a:solidFill>
                <a:latin typeface="QuattrocentoSans" pitchFamily="34" charset="0"/>
                <a:ea typeface="QuattrocentoSans" pitchFamily="34" charset="-122"/>
                <a:cs typeface="QuattrocentoSans" pitchFamily="34" charset="-120"/>
              </a:rPr>
              <a:t>Trigger</a:t>
            </a:r>
            <a:endParaRPr lang="en-US" sz="1013" dirty="0"/>
          </a:p>
          <a:p>
            <a:pPr>
              <a:lnSpc>
                <a:spcPct val="170000"/>
              </a:lnSpc>
            </a:pPr>
            <a:r>
              <a:rPr lang="en-US" sz="956" b="1" dirty="0">
                <a:solidFill>
                  <a:srgbClr val="1A1A2E"/>
                </a:solidFill>
                <a:latin typeface="QuattrocentoSans" pitchFamily="34" charset="0"/>
                <a:ea typeface="QuattrocentoSans" pitchFamily="34" charset="-122"/>
                <a:cs typeface="QuattrocentoSans" pitchFamily="34" charset="-120"/>
              </a:rPr>
              <a:t>"When an item is created"</a:t>
            </a:r>
            <a:r>
              <a:rPr lang="en-US" sz="956" dirty="0">
                <a:solidFill>
                  <a:srgbClr val="1A1A2E"/>
                </a:solidFill>
                <a:latin typeface="QuattrocentoSans" pitchFamily="34" charset="0"/>
                <a:ea typeface="QuattrocentoSans" pitchFamily="34" charset="-122"/>
                <a:cs typeface="QuattrocentoSans" pitchFamily="34" charset="-120"/>
              </a:rPr>
              <a:t> in the SharePoint List — activates automatically on new submissions.</a:t>
            </a:r>
            <a:endParaRPr lang="en-US" sz="1013" dirty="0"/>
          </a:p>
          <a:p>
            <a:pPr>
              <a:lnSpc>
                <a:spcPct val="170000"/>
              </a:lnSpc>
              <a:spcBef>
                <a:spcPts val="900"/>
              </a:spcBef>
            </a:pPr>
            <a:r>
              <a:rPr lang="en-US" sz="956" b="1" dirty="0">
                <a:solidFill>
                  <a:srgbClr val="36ADA3"/>
                </a:solidFill>
                <a:latin typeface="QuattrocentoSans" pitchFamily="34" charset="0"/>
                <a:ea typeface="QuattrocentoSans" pitchFamily="34" charset="-122"/>
                <a:cs typeface="QuattrocentoSans" pitchFamily="34" charset="-120"/>
              </a:rPr>
              <a:t>Action</a:t>
            </a:r>
            <a:endParaRPr lang="en-US" sz="1013" dirty="0"/>
          </a:p>
          <a:p>
            <a:pPr>
              <a:lnSpc>
                <a:spcPct val="170000"/>
              </a:lnSpc>
            </a:pPr>
            <a:r>
              <a:rPr lang="en-US" sz="956" b="1" dirty="0">
                <a:solidFill>
                  <a:srgbClr val="1A1A2E"/>
                </a:solidFill>
                <a:latin typeface="QuattrocentoSans" pitchFamily="34" charset="0"/>
                <a:ea typeface="QuattrocentoSans" pitchFamily="34" charset="-122"/>
                <a:cs typeface="QuattrocentoSans" pitchFamily="34" charset="-120"/>
              </a:rPr>
              <a:t>"Insert row (V2)"</a:t>
            </a:r>
            <a:r>
              <a:rPr lang="en-US" sz="956" dirty="0">
                <a:solidFill>
                  <a:srgbClr val="1A1A2E"/>
                </a:solidFill>
                <a:latin typeface="QuattrocentoSans" pitchFamily="34" charset="0"/>
                <a:ea typeface="QuattrocentoSans" pitchFamily="34" charset="-122"/>
                <a:cs typeface="QuattrocentoSans" pitchFamily="34" charset="-120"/>
              </a:rPr>
              <a:t> pushes data into the SQL Server database table.</a:t>
            </a:r>
            <a:endParaRPr lang="en-US" sz="1013" dirty="0"/>
          </a:p>
          <a:p>
            <a:pPr>
              <a:lnSpc>
                <a:spcPct val="170000"/>
              </a:lnSpc>
              <a:spcBef>
                <a:spcPts val="900"/>
              </a:spcBef>
            </a:pPr>
            <a:r>
              <a:rPr lang="en-US" sz="956" b="1" dirty="0">
                <a:solidFill>
                  <a:srgbClr val="36ADA3"/>
                </a:solidFill>
                <a:latin typeface="QuattrocentoSans" pitchFamily="34" charset="0"/>
                <a:ea typeface="QuattrocentoSans" pitchFamily="34" charset="-122"/>
                <a:cs typeface="QuattrocentoSans" pitchFamily="34" charset="-120"/>
              </a:rPr>
              <a:t>Pipeline</a:t>
            </a:r>
            <a:endParaRPr lang="en-US" sz="1013" dirty="0"/>
          </a:p>
          <a:p>
            <a:pPr>
              <a:lnSpc>
                <a:spcPct val="170000"/>
              </a:lnSpc>
            </a:pPr>
            <a:r>
              <a:rPr lang="en-US" sz="956" dirty="0">
                <a:solidFill>
                  <a:srgbClr val="1A1A2E"/>
                </a:solidFill>
                <a:latin typeface="QuattrocentoSans" pitchFamily="34" charset="0"/>
                <a:ea typeface="QuattrocentoSans" pitchFamily="34" charset="-122"/>
                <a:cs typeface="QuattrocentoSans" pitchFamily="34" charset="-120"/>
              </a:rPr>
              <a:t>Completes the automated data flow from Power Apps → SharePoint → SQL Server.</a:t>
            </a:r>
            <a:endParaRPr lang="en-US" sz="1013" dirty="0"/>
          </a:p>
        </p:txBody>
      </p:sp>
      <p:sp>
        <p:nvSpPr>
          <p:cNvPr id="9" name="Shape 7"/>
          <p:cNvSpPr/>
          <p:nvPr/>
        </p:nvSpPr>
        <p:spPr>
          <a:xfrm>
            <a:off x="3857625" y="1000125"/>
            <a:ext cx="4857750" cy="3571875"/>
          </a:xfrm>
          <a:prstGeom prst="roundRect">
            <a:avLst>
              <a:gd name="adj" fmla="val 5000"/>
            </a:avLst>
          </a:prstGeom>
          <a:solidFill>
            <a:srgbClr val="FFFFFF"/>
          </a:solidFill>
          <a:ln/>
          <a:effectLst>
            <a:outerShdw blurRad="127000" dist="38100" dir="5400000" algn="bl" rotWithShape="0">
              <a:srgbClr val="121358">
                <a:alpha val="7059"/>
              </a:srgbClr>
            </a:outerShdw>
          </a:effectLst>
        </p:spPr>
        <p:txBody>
          <a:bodyPr/>
          <a:lstStyle/>
          <a:p>
            <a:endParaRPr lang="en-US"/>
          </a:p>
        </p:txBody>
      </p:sp>
      <p:pic>
        <p:nvPicPr>
          <p:cNvPr id="10" name="Image 0" descr="https://kimi-img.moonshot.cn/pub/slides/okc/4ny4sattlqt5g/mnt/agents/output/capmas-presentation/images/power_automate.png"/>
          <p:cNvPicPr>
            <a:picLocks noChangeAspect="1"/>
          </p:cNvPicPr>
          <p:nvPr/>
        </p:nvPicPr>
        <p:blipFill>
          <a:blip r:embed="rId4"/>
          <a:srcRect l="20386" r="20386"/>
          <a:stretch/>
        </p:blipFill>
        <p:spPr>
          <a:xfrm>
            <a:off x="3964781" y="1107281"/>
            <a:ext cx="4643438" cy="3357563"/>
          </a:xfrm>
          <a:prstGeom prst="roundRect">
            <a:avLst>
              <a:gd name="adj" fmla="val 4000"/>
            </a:avLst>
          </a:prstGeom>
        </p:spPr>
      </p:pic>
      <p:sp>
        <p:nvSpPr>
          <p:cNvPr id="11" name="Text 8"/>
          <p:cNvSpPr/>
          <p:nvPr/>
        </p:nvSpPr>
        <p:spPr>
          <a:xfrm>
            <a:off x="8429625" y="4857750"/>
            <a:ext cx="428625" cy="178594"/>
          </a:xfrm>
          <a:prstGeom prst="rect">
            <a:avLst/>
          </a:prstGeom>
          <a:noFill/>
          <a:ln/>
        </p:spPr>
        <p:txBody>
          <a:bodyPr wrap="none" lIns="0" tIns="0" rIns="0" bIns="0" rtlCol="0" anchor="ctr"/>
          <a:lstStyle/>
          <a:p>
            <a:pPr algn="r">
              <a:lnSpc>
                <a:spcPct val="140000"/>
              </a:lnSpc>
            </a:pPr>
            <a:r>
              <a:rPr lang="en-US" sz="788" dirty="0">
                <a:solidFill>
                  <a:srgbClr val="2F578A"/>
                </a:solidFill>
                <a:latin typeface="QuattrocentoSans" pitchFamily="34" charset="0"/>
                <a:ea typeface="QuattrocentoSans" pitchFamily="34" charset="-122"/>
                <a:cs typeface="QuattrocentoSans" pitchFamily="34" charset="-120"/>
              </a:rPr>
              <a:t>13</a:t>
            </a:r>
            <a:endParaRPr lang="en-US" sz="788" dirty="0"/>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 0">
            <a:extLst>
              <a:ext uri="{FF2B5EF4-FFF2-40B4-BE49-F238E27FC236}">
                <a16:creationId xmlns:a16="http://schemas.microsoft.com/office/drawing/2014/main" id="{83C8C229-64A6-8BF3-D916-D7CE7EA8B33A}"/>
              </a:ext>
            </a:extLst>
          </p:cNvPr>
          <p:cNvSpPr/>
          <p:nvPr/>
        </p:nvSpPr>
        <p:spPr>
          <a:xfrm>
            <a:off x="0" y="-2143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pic>
        <p:nvPicPr>
          <p:cNvPr id="19" name="Image 0" descr="preencoded.png">
            <a:extLst>
              <a:ext uri="{FF2B5EF4-FFF2-40B4-BE49-F238E27FC236}">
                <a16:creationId xmlns:a16="http://schemas.microsoft.com/office/drawing/2014/main" id="{B22E3B0F-0F84-BDDC-F110-169095C1FDC0}"/>
              </a:ext>
            </a:extLst>
          </p:cNvPr>
          <p:cNvPicPr>
            <a:picLocks noChangeAspect="1"/>
          </p:cNvPicPr>
          <p:nvPr/>
        </p:nvPicPr>
        <p:blipFill>
          <a:blip r:embed="rId3"/>
          <a:stretch>
            <a:fillRect/>
          </a:stretch>
        </p:blipFill>
        <p:spPr>
          <a:xfrm>
            <a:off x="8046720" y="45720"/>
            <a:ext cx="685800" cy="676656"/>
          </a:xfrm>
          <a:prstGeom prst="rect">
            <a:avLst/>
          </a:prstGeom>
        </p:spPr>
      </p:pic>
      <p:sp>
        <p:nvSpPr>
          <p:cNvPr id="5" name="Text 3"/>
          <p:cNvSpPr/>
          <p:nvPr/>
        </p:nvSpPr>
        <p:spPr>
          <a:xfrm>
            <a:off x="428625" y="1"/>
            <a:ext cx="5715000" cy="785812"/>
          </a:xfrm>
          <a:prstGeom prst="rect">
            <a:avLst/>
          </a:prstGeom>
          <a:noFill/>
          <a:ln/>
        </p:spPr>
        <p:txBody>
          <a:bodyPr wrap="none" lIns="0" tIns="0" rIns="0" bIns="0" rtlCol="0" anchor="ctr"/>
          <a:lstStyle/>
          <a:p>
            <a:pPr>
              <a:lnSpc>
                <a:spcPct val="130000"/>
              </a:lnSpc>
            </a:pPr>
            <a:r>
              <a:rPr lang="en-US" b="1" dirty="0">
                <a:solidFill>
                  <a:schemeClr val="bg1"/>
                </a:solidFill>
                <a:ea typeface="QuattrocentoSans" pitchFamily="34" charset="-122"/>
                <a:cs typeface="QuattrocentoSans" pitchFamily="34" charset="-120"/>
              </a:rPr>
              <a:t>The Challenge: DLP Policy Restriction</a:t>
            </a:r>
            <a:endParaRPr lang="en-US" dirty="0">
              <a:solidFill>
                <a:schemeClr val="bg1"/>
              </a:solidFill>
            </a:endParaRPr>
          </a:p>
        </p:txBody>
      </p:sp>
      <p:sp>
        <p:nvSpPr>
          <p:cNvPr id="7" name="Shape 5"/>
          <p:cNvSpPr/>
          <p:nvPr/>
        </p:nvSpPr>
        <p:spPr>
          <a:xfrm>
            <a:off x="428625" y="1000125"/>
            <a:ext cx="8286750" cy="1143000"/>
          </a:xfrm>
          <a:prstGeom prst="roundRect">
            <a:avLst>
              <a:gd name="adj" fmla="val 6000"/>
            </a:avLst>
          </a:prstGeom>
          <a:solidFill>
            <a:srgbClr val="FFF3F3"/>
          </a:solidFill>
          <a:ln w="12700">
            <a:solidFill>
              <a:srgbClr val="E74C3C"/>
            </a:solidFill>
            <a:prstDash val="solid"/>
          </a:ln>
        </p:spPr>
        <p:txBody>
          <a:bodyPr/>
          <a:lstStyle/>
          <a:p>
            <a:endParaRPr lang="en-US"/>
          </a:p>
        </p:txBody>
      </p:sp>
      <p:sp>
        <p:nvSpPr>
          <p:cNvPr id="8" name="Shape 6"/>
          <p:cNvSpPr/>
          <p:nvPr/>
        </p:nvSpPr>
        <p:spPr>
          <a:xfrm>
            <a:off x="642938" y="1214438"/>
            <a:ext cx="257175" cy="257175"/>
          </a:xfrm>
          <a:custGeom>
            <a:avLst/>
            <a:gdLst/>
            <a:ahLst/>
            <a:cxnLst/>
            <a:rect l="l" t="t" r="r" b="b"/>
            <a:pathLst>
              <a:path w="457200" h="457200">
                <a:moveTo>
                  <a:pt x="228600" y="0"/>
                </a:moveTo>
                <a:cubicBezTo>
                  <a:pt x="241727" y="0"/>
                  <a:pt x="253782" y="7233"/>
                  <a:pt x="260033" y="18752"/>
                </a:cubicBezTo>
                <a:lnTo>
                  <a:pt x="452914" y="375940"/>
                </a:lnTo>
                <a:cubicBezTo>
                  <a:pt x="458897" y="387013"/>
                  <a:pt x="458629" y="400407"/>
                  <a:pt x="452199" y="411212"/>
                </a:cubicBezTo>
                <a:cubicBezTo>
                  <a:pt x="445770" y="422017"/>
                  <a:pt x="434072" y="428625"/>
                  <a:pt x="421481" y="428625"/>
                </a:cubicBezTo>
                <a:lnTo>
                  <a:pt x="35719" y="428625"/>
                </a:lnTo>
                <a:cubicBezTo>
                  <a:pt x="23128" y="428625"/>
                  <a:pt x="11519" y="422017"/>
                  <a:pt x="5001" y="411212"/>
                </a:cubicBezTo>
                <a:cubicBezTo>
                  <a:pt x="-1518" y="400407"/>
                  <a:pt x="-1697" y="387013"/>
                  <a:pt x="4286" y="375940"/>
                </a:cubicBezTo>
                <a:lnTo>
                  <a:pt x="197168" y="18752"/>
                </a:lnTo>
                <a:cubicBezTo>
                  <a:pt x="203418" y="7233"/>
                  <a:pt x="215473" y="0"/>
                  <a:pt x="228600" y="0"/>
                </a:cubicBezTo>
                <a:close/>
                <a:moveTo>
                  <a:pt x="228600" y="150019"/>
                </a:moveTo>
                <a:cubicBezTo>
                  <a:pt x="216724" y="150019"/>
                  <a:pt x="207169" y="159574"/>
                  <a:pt x="207169" y="171450"/>
                </a:cubicBezTo>
                <a:lnTo>
                  <a:pt x="207169" y="271463"/>
                </a:lnTo>
                <a:cubicBezTo>
                  <a:pt x="207169" y="283339"/>
                  <a:pt x="216724" y="292894"/>
                  <a:pt x="228600" y="292894"/>
                </a:cubicBezTo>
                <a:cubicBezTo>
                  <a:pt x="240476" y="292894"/>
                  <a:pt x="250031" y="283339"/>
                  <a:pt x="250031" y="271463"/>
                </a:cubicBezTo>
                <a:lnTo>
                  <a:pt x="250031" y="171450"/>
                </a:lnTo>
                <a:cubicBezTo>
                  <a:pt x="250031" y="159574"/>
                  <a:pt x="240476" y="150019"/>
                  <a:pt x="228600" y="150019"/>
                </a:cubicBezTo>
                <a:close/>
                <a:moveTo>
                  <a:pt x="252442" y="342900"/>
                </a:moveTo>
                <a:cubicBezTo>
                  <a:pt x="252985" y="334050"/>
                  <a:pt x="248571" y="325630"/>
                  <a:pt x="240985" y="321041"/>
                </a:cubicBezTo>
                <a:cubicBezTo>
                  <a:pt x="233398" y="316452"/>
                  <a:pt x="223891" y="316452"/>
                  <a:pt x="216305" y="321041"/>
                </a:cubicBezTo>
                <a:cubicBezTo>
                  <a:pt x="208718" y="325630"/>
                  <a:pt x="204305" y="334050"/>
                  <a:pt x="204847" y="342900"/>
                </a:cubicBezTo>
                <a:cubicBezTo>
                  <a:pt x="204305" y="351750"/>
                  <a:pt x="208718" y="360170"/>
                  <a:pt x="216305" y="364759"/>
                </a:cubicBezTo>
                <a:cubicBezTo>
                  <a:pt x="223891" y="369348"/>
                  <a:pt x="233398" y="369348"/>
                  <a:pt x="240985" y="364759"/>
                </a:cubicBezTo>
                <a:cubicBezTo>
                  <a:pt x="248571" y="360170"/>
                  <a:pt x="252985" y="351750"/>
                  <a:pt x="252442" y="342900"/>
                </a:cubicBezTo>
                <a:close/>
              </a:path>
            </a:pathLst>
          </a:custGeom>
          <a:solidFill>
            <a:srgbClr val="E74C3C"/>
          </a:solidFill>
          <a:ln/>
        </p:spPr>
        <p:txBody>
          <a:bodyPr/>
          <a:lstStyle/>
          <a:p>
            <a:endParaRPr lang="en-US"/>
          </a:p>
        </p:txBody>
      </p:sp>
      <p:sp>
        <p:nvSpPr>
          <p:cNvPr id="9" name="Text 7"/>
          <p:cNvSpPr/>
          <p:nvPr/>
        </p:nvSpPr>
        <p:spPr>
          <a:xfrm>
            <a:off x="1000125" y="1178719"/>
            <a:ext cx="3571875" cy="257175"/>
          </a:xfrm>
          <a:prstGeom prst="rect">
            <a:avLst/>
          </a:prstGeom>
          <a:noFill/>
          <a:ln/>
        </p:spPr>
        <p:txBody>
          <a:bodyPr wrap="none" lIns="0" tIns="0" rIns="0" bIns="0" rtlCol="0" anchor="ctr"/>
          <a:lstStyle/>
          <a:p>
            <a:pPr>
              <a:lnSpc>
                <a:spcPct val="100000"/>
              </a:lnSpc>
            </a:pPr>
            <a:r>
              <a:rPr lang="en-US" sz="1125" b="1" dirty="0">
                <a:solidFill>
                  <a:srgbClr val="E74C3C"/>
                </a:solidFill>
                <a:latin typeface="Quattrocento Sans" pitchFamily="34" charset="0"/>
                <a:ea typeface="Quattrocento Sans" pitchFamily="34" charset="-122"/>
                <a:cs typeface="Quattrocento Sans" pitchFamily="34" charset="-120"/>
              </a:rPr>
              <a:t>Flow Execution Failed</a:t>
            </a:r>
            <a:endParaRPr lang="en-US" sz="900" dirty="0"/>
          </a:p>
        </p:txBody>
      </p:sp>
      <p:sp>
        <p:nvSpPr>
          <p:cNvPr id="10" name="Text 8"/>
          <p:cNvSpPr/>
          <p:nvPr/>
        </p:nvSpPr>
        <p:spPr>
          <a:xfrm>
            <a:off x="642938" y="1535906"/>
            <a:ext cx="7858125" cy="500063"/>
          </a:xfrm>
          <a:prstGeom prst="rect">
            <a:avLst/>
          </a:prstGeom>
          <a:noFill/>
          <a:ln/>
        </p:spPr>
        <p:txBody>
          <a:bodyPr wrap="square" lIns="0" tIns="0" rIns="0" bIns="0" rtlCol="0" anchor="t"/>
          <a:lstStyle/>
          <a:p>
            <a:pPr>
              <a:lnSpc>
                <a:spcPct val="160000"/>
              </a:lnSpc>
            </a:pPr>
            <a:r>
              <a:rPr lang="en-US" sz="900" dirty="0">
                <a:solidFill>
                  <a:srgbClr val="1A1A2E"/>
                </a:solidFill>
                <a:latin typeface="QuattrocentoSans" pitchFamily="34" charset="0"/>
                <a:ea typeface="QuattrocentoSans" pitchFamily="34" charset="-122"/>
                <a:cs typeface="QuattrocentoSans" pitchFamily="34" charset="-120"/>
              </a:rPr>
              <a:t>Despite correct trigger and action configurations, the flow failed due to the university account's </a:t>
            </a:r>
            <a:r>
              <a:rPr lang="en-US" sz="900" b="1" dirty="0">
                <a:solidFill>
                  <a:srgbClr val="1A1A2E"/>
                </a:solidFill>
                <a:latin typeface="QuattrocentoSans" pitchFamily="34" charset="0"/>
                <a:ea typeface="QuattrocentoSans" pitchFamily="34" charset="-122"/>
                <a:cs typeface="QuattrocentoSans" pitchFamily="34" charset="-120"/>
              </a:rPr>
              <a:t>Data Loss Prevention (DLP) policy</a:t>
            </a:r>
            <a:r>
              <a:rPr lang="en-US" sz="900" dirty="0">
                <a:solidFill>
                  <a:srgbClr val="1A1A2E"/>
                </a:solidFill>
                <a:latin typeface="QuattrocentoSans" pitchFamily="34" charset="0"/>
                <a:ea typeface="QuattrocentoSans" pitchFamily="34" charset="-122"/>
                <a:cs typeface="QuattrocentoSans" pitchFamily="34" charset="-120"/>
              </a:rPr>
              <a:t>. The policy restricts data transfer between business connectors (SharePoint Online) and non-business connectors (SQL Server).</a:t>
            </a:r>
            <a:endParaRPr lang="en-US" sz="1013" dirty="0"/>
          </a:p>
        </p:txBody>
      </p:sp>
      <p:sp>
        <p:nvSpPr>
          <p:cNvPr id="11" name="Shape 9"/>
          <p:cNvSpPr/>
          <p:nvPr/>
        </p:nvSpPr>
        <p:spPr>
          <a:xfrm>
            <a:off x="428625" y="2357437"/>
            <a:ext cx="4000500" cy="2214563"/>
          </a:xfrm>
          <a:prstGeom prst="roundRect">
            <a:avLst>
              <a:gd name="adj" fmla="val 6000"/>
            </a:avLst>
          </a:prstGeom>
          <a:solidFill>
            <a:srgbClr val="FFFFFF"/>
          </a:solidFill>
          <a:ln/>
          <a:effectLst>
            <a:outerShdw blurRad="127000" dist="38100" dir="5400000" algn="bl" rotWithShape="0">
              <a:srgbClr val="121358">
                <a:alpha val="7059"/>
              </a:srgbClr>
            </a:outerShdw>
          </a:effectLst>
        </p:spPr>
        <p:txBody>
          <a:bodyPr/>
          <a:lstStyle/>
          <a:p>
            <a:endParaRPr lang="en-US"/>
          </a:p>
        </p:txBody>
      </p:sp>
      <p:sp>
        <p:nvSpPr>
          <p:cNvPr id="12" name="Text 10"/>
          <p:cNvSpPr/>
          <p:nvPr/>
        </p:nvSpPr>
        <p:spPr>
          <a:xfrm>
            <a:off x="642938" y="2500312"/>
            <a:ext cx="3571875" cy="214313"/>
          </a:xfrm>
          <a:prstGeom prst="rect">
            <a:avLst/>
          </a:prstGeom>
          <a:noFill/>
          <a:ln/>
        </p:spPr>
        <p:txBody>
          <a:bodyPr wrap="none" lIns="0" tIns="0" rIns="0" bIns="0" rtlCol="0" anchor="ctr"/>
          <a:lstStyle/>
          <a:p>
            <a:pPr>
              <a:lnSpc>
                <a:spcPct val="100000"/>
              </a:lnSpc>
            </a:pPr>
            <a:r>
              <a:rPr lang="en-US" sz="1125" b="1" dirty="0">
                <a:solidFill>
                  <a:srgbClr val="121358"/>
                </a:solidFill>
                <a:latin typeface="Quattrocento Sans" pitchFamily="34" charset="0"/>
                <a:ea typeface="Quattrocento Sans" pitchFamily="34" charset="-122"/>
                <a:cs typeface="Quattrocento Sans" pitchFamily="34" charset="-120"/>
              </a:rPr>
              <a:t>Error Details</a:t>
            </a:r>
            <a:endParaRPr lang="en-US" sz="900" dirty="0"/>
          </a:p>
        </p:txBody>
      </p:sp>
      <p:sp>
        <p:nvSpPr>
          <p:cNvPr id="13" name="Text 11"/>
          <p:cNvSpPr/>
          <p:nvPr/>
        </p:nvSpPr>
        <p:spPr>
          <a:xfrm>
            <a:off x="642938" y="2786062"/>
            <a:ext cx="3571875" cy="1643063"/>
          </a:xfrm>
          <a:prstGeom prst="rect">
            <a:avLst/>
          </a:prstGeom>
          <a:noFill/>
          <a:ln/>
        </p:spPr>
        <p:txBody>
          <a:bodyPr wrap="square" lIns="0" tIns="0" rIns="0" bIns="0" rtlCol="0" anchor="t"/>
          <a:lstStyle/>
          <a:p>
            <a:pPr>
              <a:lnSpc>
                <a:spcPct val="170000"/>
              </a:lnSpc>
            </a:pPr>
            <a:r>
              <a:rPr lang="en-US" sz="900" dirty="0">
                <a:solidFill>
                  <a:srgbClr val="36ADA3"/>
                </a:solidFill>
                <a:latin typeface="QuattrocentoSans" pitchFamily="34" charset="0"/>
                <a:ea typeface="QuattrocentoSans" pitchFamily="34" charset="-122"/>
                <a:cs typeface="QuattrocentoSans" pitchFamily="34" charset="-120"/>
              </a:rPr>
              <a:t>Policy:</a:t>
            </a:r>
            <a:r>
              <a:rPr lang="en-US" sz="900" dirty="0">
                <a:solidFill>
                  <a:srgbClr val="1A1A2E"/>
                </a:solidFill>
                <a:latin typeface="QuattrocentoSans" pitchFamily="34" charset="0"/>
                <a:ea typeface="QuattrocentoSans" pitchFamily="34" charset="-122"/>
                <a:cs typeface="QuattrocentoSans" pitchFamily="34" charset="-120"/>
              </a:rPr>
              <a:t> Admin data policy restricting connector usage</a:t>
            </a:r>
            <a:endParaRPr lang="en-US" sz="1013" dirty="0"/>
          </a:p>
          <a:p>
            <a:pPr>
              <a:lnSpc>
                <a:spcPct val="170000"/>
              </a:lnSpc>
              <a:spcBef>
                <a:spcPts val="563"/>
              </a:spcBef>
            </a:pPr>
            <a:r>
              <a:rPr lang="en-US" sz="900" dirty="0">
                <a:solidFill>
                  <a:srgbClr val="36ADA3"/>
                </a:solidFill>
                <a:latin typeface="QuattrocentoSans" pitchFamily="34" charset="0"/>
                <a:ea typeface="QuattrocentoSans" pitchFamily="34" charset="-122"/>
                <a:cs typeface="QuattrocentoSans" pitchFamily="34" charset="-120"/>
              </a:rPr>
              <a:t>Business Connector:</a:t>
            </a:r>
            <a:r>
              <a:rPr lang="en-US" sz="900" dirty="0">
                <a:solidFill>
                  <a:srgbClr val="1A1A2E"/>
                </a:solidFill>
                <a:latin typeface="QuattrocentoSans" pitchFamily="34" charset="0"/>
                <a:ea typeface="QuattrocentoSans" pitchFamily="34" charset="-122"/>
                <a:cs typeface="QuattrocentoSans" pitchFamily="34" charset="-120"/>
              </a:rPr>
              <a:t> shared_sharepointonline</a:t>
            </a:r>
            <a:endParaRPr lang="en-US" sz="1013" dirty="0"/>
          </a:p>
          <a:p>
            <a:pPr>
              <a:lnSpc>
                <a:spcPct val="170000"/>
              </a:lnSpc>
              <a:spcBef>
                <a:spcPts val="563"/>
              </a:spcBef>
            </a:pPr>
            <a:r>
              <a:rPr lang="en-US" sz="900" dirty="0">
                <a:solidFill>
                  <a:srgbClr val="36ADA3"/>
                </a:solidFill>
                <a:latin typeface="QuattrocentoSans" pitchFamily="34" charset="0"/>
                <a:ea typeface="QuattrocentoSans" pitchFamily="34" charset="-122"/>
                <a:cs typeface="QuattrocentoSans" pitchFamily="34" charset="-120"/>
              </a:rPr>
              <a:t>Non-Business:</a:t>
            </a:r>
            <a:r>
              <a:rPr lang="en-US" sz="900" dirty="0">
                <a:solidFill>
                  <a:srgbClr val="1A1A2E"/>
                </a:solidFill>
                <a:latin typeface="QuattrocentoSans" pitchFamily="34" charset="0"/>
                <a:ea typeface="QuattrocentoSans" pitchFamily="34" charset="-122"/>
                <a:cs typeface="QuattrocentoSans" pitchFamily="34" charset="-120"/>
              </a:rPr>
              <a:t> shared_sql</a:t>
            </a:r>
            <a:endParaRPr lang="en-US" sz="1013" dirty="0"/>
          </a:p>
          <a:p>
            <a:pPr>
              <a:lnSpc>
                <a:spcPct val="170000"/>
              </a:lnSpc>
              <a:spcBef>
                <a:spcPts val="563"/>
              </a:spcBef>
            </a:pPr>
            <a:r>
              <a:rPr lang="en-US" sz="900" dirty="0">
                <a:solidFill>
                  <a:srgbClr val="36ADA3"/>
                </a:solidFill>
                <a:latin typeface="QuattrocentoSans" pitchFamily="34" charset="0"/>
                <a:ea typeface="QuattrocentoSans" pitchFamily="34" charset="-122"/>
                <a:cs typeface="QuattrocentoSans" pitchFamily="34" charset="-120"/>
              </a:rPr>
              <a:t>Impact:</a:t>
            </a:r>
            <a:r>
              <a:rPr lang="en-US" sz="900" dirty="0">
                <a:solidFill>
                  <a:srgbClr val="1A1A2E"/>
                </a:solidFill>
                <a:latin typeface="QuattrocentoSans" pitchFamily="34" charset="0"/>
                <a:ea typeface="QuattrocentoSans" pitchFamily="34" charset="-122"/>
                <a:cs typeface="QuattrocentoSans" pitchFamily="34" charset="-120"/>
              </a:rPr>
              <a:t> Prevents automated data pipeline completion</a:t>
            </a:r>
            <a:endParaRPr lang="en-US" sz="1013" dirty="0"/>
          </a:p>
        </p:txBody>
      </p:sp>
      <p:sp>
        <p:nvSpPr>
          <p:cNvPr id="14" name="Shape 12"/>
          <p:cNvSpPr/>
          <p:nvPr/>
        </p:nvSpPr>
        <p:spPr>
          <a:xfrm>
            <a:off x="4714875" y="2357437"/>
            <a:ext cx="4000500" cy="2214563"/>
          </a:xfrm>
          <a:prstGeom prst="roundRect">
            <a:avLst>
              <a:gd name="adj" fmla="val 6000"/>
            </a:avLst>
          </a:prstGeom>
          <a:solidFill>
            <a:srgbClr val="FFFFFF"/>
          </a:solidFill>
          <a:ln/>
          <a:effectLst>
            <a:outerShdw blurRad="127000" dist="38100" dir="5400000" algn="bl" rotWithShape="0">
              <a:srgbClr val="121358">
                <a:alpha val="7059"/>
              </a:srgbClr>
            </a:outerShdw>
          </a:effectLst>
        </p:spPr>
        <p:txBody>
          <a:bodyPr/>
          <a:lstStyle/>
          <a:p>
            <a:endParaRPr lang="en-US"/>
          </a:p>
        </p:txBody>
      </p:sp>
      <p:sp>
        <p:nvSpPr>
          <p:cNvPr id="15" name="Text 13"/>
          <p:cNvSpPr/>
          <p:nvPr/>
        </p:nvSpPr>
        <p:spPr>
          <a:xfrm>
            <a:off x="4929188" y="2500312"/>
            <a:ext cx="3571875" cy="214313"/>
          </a:xfrm>
          <a:prstGeom prst="rect">
            <a:avLst/>
          </a:prstGeom>
          <a:noFill/>
          <a:ln/>
        </p:spPr>
        <p:txBody>
          <a:bodyPr wrap="none" lIns="0" tIns="0" rIns="0" bIns="0" rtlCol="0" anchor="ctr"/>
          <a:lstStyle/>
          <a:p>
            <a:pPr>
              <a:lnSpc>
                <a:spcPct val="100000"/>
              </a:lnSpc>
            </a:pPr>
            <a:r>
              <a:rPr lang="en-US" sz="1125" b="1" dirty="0">
                <a:solidFill>
                  <a:srgbClr val="121358"/>
                </a:solidFill>
                <a:latin typeface="Quattrocento Sans" pitchFamily="34" charset="0"/>
                <a:ea typeface="Quattrocento Sans" pitchFamily="34" charset="-122"/>
                <a:cs typeface="Quattrocento Sans" pitchFamily="34" charset="-120"/>
              </a:rPr>
              <a:t>Why This Happens</a:t>
            </a:r>
            <a:endParaRPr lang="en-US" sz="900" dirty="0"/>
          </a:p>
        </p:txBody>
      </p:sp>
      <p:sp>
        <p:nvSpPr>
          <p:cNvPr id="16" name="Text 14"/>
          <p:cNvSpPr/>
          <p:nvPr/>
        </p:nvSpPr>
        <p:spPr>
          <a:xfrm>
            <a:off x="4929188" y="2786062"/>
            <a:ext cx="3571875" cy="1643063"/>
          </a:xfrm>
          <a:prstGeom prst="rect">
            <a:avLst/>
          </a:prstGeom>
          <a:noFill/>
          <a:ln/>
        </p:spPr>
        <p:txBody>
          <a:bodyPr wrap="square" lIns="0" tIns="0" rIns="0" bIns="0" rtlCol="0" anchor="t"/>
          <a:lstStyle/>
          <a:p>
            <a:pPr>
              <a:lnSpc>
                <a:spcPct val="170000"/>
              </a:lnSpc>
            </a:pPr>
            <a:r>
              <a:rPr lang="en-US" sz="900" dirty="0">
                <a:solidFill>
                  <a:srgbClr val="1A1A2E"/>
                </a:solidFill>
                <a:latin typeface="QuattrocentoSans" pitchFamily="34" charset="0"/>
                <a:ea typeface="QuattrocentoSans" pitchFamily="34" charset="-122"/>
                <a:cs typeface="QuattrocentoSans" pitchFamily="34" charset="-120"/>
              </a:rPr>
              <a:t>Educational institutions implement strict DLP policies to protect sensitive data and prevent unauthorized transfers between cloud and on-premises systems.</a:t>
            </a:r>
            <a:endParaRPr lang="en-US" sz="1013" dirty="0"/>
          </a:p>
          <a:p>
            <a:pPr>
              <a:lnSpc>
                <a:spcPct val="170000"/>
              </a:lnSpc>
              <a:spcBef>
                <a:spcPts val="675"/>
              </a:spcBef>
            </a:pPr>
            <a:r>
              <a:rPr lang="en-US" sz="900" dirty="0">
                <a:solidFill>
                  <a:srgbClr val="1A1A2E"/>
                </a:solidFill>
                <a:latin typeface="QuattrocentoSans" pitchFamily="34" charset="0"/>
                <a:ea typeface="QuattrocentoSans" pitchFamily="34" charset="-122"/>
                <a:cs typeface="QuattrocentoSans" pitchFamily="34" charset="-120"/>
              </a:rPr>
              <a:t>This is a </a:t>
            </a:r>
            <a:r>
              <a:rPr lang="en-US" sz="900" b="1" dirty="0">
                <a:solidFill>
                  <a:srgbClr val="1A1A2E"/>
                </a:solidFill>
                <a:latin typeface="QuattrocentoSans" pitchFamily="34" charset="0"/>
                <a:ea typeface="QuattrocentoSans" pitchFamily="34" charset="-122"/>
                <a:cs typeface="QuattrocentoSans" pitchFamily="34" charset="-120"/>
              </a:rPr>
              <a:t>common organizational security constraint</a:t>
            </a:r>
            <a:r>
              <a:rPr lang="en-US" sz="900" dirty="0">
                <a:solidFill>
                  <a:srgbClr val="1A1A2E"/>
                </a:solidFill>
                <a:latin typeface="QuattrocentoSans" pitchFamily="34" charset="0"/>
                <a:ea typeface="QuattrocentoSans" pitchFamily="34" charset="-122"/>
                <a:cs typeface="QuattrocentoSans" pitchFamily="34" charset="-120"/>
              </a:rPr>
              <a:t> in university environments, not a technical failure in our implementation.</a:t>
            </a:r>
            <a:endParaRPr lang="en-US" sz="1013" dirty="0"/>
          </a:p>
        </p:txBody>
      </p:sp>
      <p:sp>
        <p:nvSpPr>
          <p:cNvPr id="17" name="Text 15"/>
          <p:cNvSpPr/>
          <p:nvPr/>
        </p:nvSpPr>
        <p:spPr>
          <a:xfrm>
            <a:off x="8429625" y="4857750"/>
            <a:ext cx="428625" cy="178594"/>
          </a:xfrm>
          <a:prstGeom prst="rect">
            <a:avLst/>
          </a:prstGeom>
          <a:noFill/>
          <a:ln/>
        </p:spPr>
        <p:txBody>
          <a:bodyPr wrap="none" lIns="0" tIns="0" rIns="0" bIns="0" rtlCol="0" anchor="ctr"/>
          <a:lstStyle/>
          <a:p>
            <a:pPr algn="r">
              <a:lnSpc>
                <a:spcPct val="140000"/>
              </a:lnSpc>
            </a:pPr>
            <a:r>
              <a:rPr lang="en-US" sz="788" dirty="0">
                <a:solidFill>
                  <a:srgbClr val="2F578A"/>
                </a:solidFill>
                <a:latin typeface="QuattrocentoSans" pitchFamily="34" charset="0"/>
                <a:ea typeface="QuattrocentoSans" pitchFamily="34" charset="-122"/>
                <a:cs typeface="QuattrocentoSans" pitchFamily="34" charset="-120"/>
              </a:rPr>
              <a:t>14</a:t>
            </a:r>
            <a:endParaRPr lang="en-US" sz="788" dirty="0"/>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12" name="Shape 0">
            <a:extLst>
              <a:ext uri="{FF2B5EF4-FFF2-40B4-BE49-F238E27FC236}">
                <a16:creationId xmlns:a16="http://schemas.microsoft.com/office/drawing/2014/main" id="{76DDC45F-1C6D-FFEE-B8A6-AF8AC2BD65CD}"/>
              </a:ext>
            </a:extLst>
          </p:cNvPr>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pic>
        <p:nvPicPr>
          <p:cNvPr id="13" name="Image 0" descr="preencoded.png">
            <a:extLst>
              <a:ext uri="{FF2B5EF4-FFF2-40B4-BE49-F238E27FC236}">
                <a16:creationId xmlns:a16="http://schemas.microsoft.com/office/drawing/2014/main" id="{5DC3259E-182A-26F7-990E-367DE7E6E914}"/>
              </a:ext>
            </a:extLst>
          </p:cNvPr>
          <p:cNvPicPr>
            <a:picLocks noChangeAspect="1"/>
          </p:cNvPicPr>
          <p:nvPr/>
        </p:nvPicPr>
        <p:blipFill>
          <a:blip r:embed="rId3"/>
          <a:stretch>
            <a:fillRect/>
          </a:stretch>
        </p:blipFill>
        <p:spPr>
          <a:xfrm>
            <a:off x="8046720" y="45720"/>
            <a:ext cx="685800" cy="676656"/>
          </a:xfrm>
          <a:prstGeom prst="rect">
            <a:avLst/>
          </a:prstGeom>
        </p:spPr>
      </p:pic>
      <p:sp>
        <p:nvSpPr>
          <p:cNvPr id="14" name="Text 1">
            <a:extLst>
              <a:ext uri="{FF2B5EF4-FFF2-40B4-BE49-F238E27FC236}">
                <a16:creationId xmlns:a16="http://schemas.microsoft.com/office/drawing/2014/main" id="{4DC240C5-022C-F1AA-6B11-DFF862A9F66E}"/>
              </a:ext>
            </a:extLst>
          </p:cNvPr>
          <p:cNvSpPr/>
          <p:nvPr/>
        </p:nvSpPr>
        <p:spPr>
          <a:xfrm>
            <a:off x="365760" y="91440"/>
            <a:ext cx="7772400" cy="594360"/>
          </a:xfrm>
          <a:prstGeom prst="rect">
            <a:avLst/>
          </a:prstGeom>
          <a:noFill/>
          <a:ln/>
        </p:spPr>
        <p:txBody>
          <a:bodyPr wrap="square" rtlCol="0" anchor="ctr"/>
          <a:lstStyle/>
          <a:p>
            <a:pPr>
              <a:lnSpc>
                <a:spcPct val="130000"/>
              </a:lnSpc>
            </a:pPr>
            <a:r>
              <a:rPr lang="en-US" b="1" dirty="0">
                <a:solidFill>
                  <a:schemeClr val="bg1"/>
                </a:solidFill>
                <a:ea typeface="QuattrocentoSans" pitchFamily="34" charset="-122"/>
                <a:cs typeface="Calibri" panose="020F0502020204030204" pitchFamily="34" charset="0"/>
              </a:rPr>
              <a:t>Solution: </a:t>
            </a:r>
            <a:r>
              <a:rPr lang="en-US" b="1" dirty="0">
                <a:solidFill>
                  <a:schemeClr val="bg1"/>
                </a:solidFill>
                <a:ea typeface="QuattrocentoSans" pitchFamily="34" charset="-122"/>
                <a:cs typeface="QuattrocentoSans" pitchFamily="34" charset="-120"/>
              </a:rPr>
              <a:t>On-Premises Data Gateway</a:t>
            </a:r>
            <a:endParaRPr lang="en-US" dirty="0">
              <a:solidFill>
                <a:schemeClr val="bg1"/>
              </a:solidFill>
            </a:endParaRPr>
          </a:p>
        </p:txBody>
      </p:sp>
      <p:pic>
        <p:nvPicPr>
          <p:cNvPr id="17" name="Image 0" descr="https://kimi-img.moonshot.cn/pub/slides/okc/wxirrvn3lwsta/mnt/agents/output/capmas-new/images/gateway.png">
            <a:extLst>
              <a:ext uri="{FF2B5EF4-FFF2-40B4-BE49-F238E27FC236}">
                <a16:creationId xmlns:a16="http://schemas.microsoft.com/office/drawing/2014/main" id="{89BBE9BC-D61B-AB71-D4BD-E25019297EEB}"/>
              </a:ext>
            </a:extLst>
          </p:cNvPr>
          <p:cNvPicPr>
            <a:picLocks noChangeAspect="1"/>
          </p:cNvPicPr>
          <p:nvPr/>
        </p:nvPicPr>
        <p:blipFill>
          <a:blip r:embed="rId4"/>
          <a:srcRect t="16776" b="16776"/>
          <a:stretch/>
        </p:blipFill>
        <p:spPr>
          <a:xfrm>
            <a:off x="535781" y="1107281"/>
            <a:ext cx="4071938" cy="2571750"/>
          </a:xfrm>
          <a:prstGeom prst="roundRect">
            <a:avLst>
              <a:gd name="adj" fmla="val 4000"/>
            </a:avLst>
          </a:prstGeom>
        </p:spPr>
      </p:pic>
      <p:sp>
        <p:nvSpPr>
          <p:cNvPr id="18" name="Text 6">
            <a:extLst>
              <a:ext uri="{FF2B5EF4-FFF2-40B4-BE49-F238E27FC236}">
                <a16:creationId xmlns:a16="http://schemas.microsoft.com/office/drawing/2014/main" id="{680B436A-F72D-AA3D-78AE-CDEF44C48213}"/>
              </a:ext>
            </a:extLst>
          </p:cNvPr>
          <p:cNvSpPr/>
          <p:nvPr/>
        </p:nvSpPr>
        <p:spPr>
          <a:xfrm>
            <a:off x="535781" y="3750469"/>
            <a:ext cx="4071938" cy="178594"/>
          </a:xfrm>
          <a:prstGeom prst="rect">
            <a:avLst/>
          </a:prstGeom>
          <a:noFill/>
          <a:ln/>
        </p:spPr>
        <p:txBody>
          <a:bodyPr wrap="none" lIns="0" tIns="0" rIns="0" bIns="0" rtlCol="0" anchor="ctr"/>
          <a:lstStyle/>
          <a:p>
            <a:pPr algn="ctr">
              <a:lnSpc>
                <a:spcPct val="100000"/>
              </a:lnSpc>
            </a:pPr>
            <a:r>
              <a:rPr lang="en-US" sz="788" dirty="0">
                <a:solidFill>
                  <a:srgbClr val="2F578A"/>
                </a:solidFill>
                <a:ea typeface="QuattrocentoSans" pitchFamily="34" charset="-122"/>
                <a:cs typeface="Calibri" panose="020F0502020204030204" pitchFamily="34" charset="0"/>
              </a:rPr>
              <a:t>On-Premises Data Gateway - LaborForceGateway Status</a:t>
            </a:r>
            <a:endParaRPr lang="en-US" sz="788" dirty="0"/>
          </a:p>
        </p:txBody>
      </p:sp>
      <p:sp>
        <p:nvSpPr>
          <p:cNvPr id="19" name="Shape 7">
            <a:extLst>
              <a:ext uri="{FF2B5EF4-FFF2-40B4-BE49-F238E27FC236}">
                <a16:creationId xmlns:a16="http://schemas.microsoft.com/office/drawing/2014/main" id="{551E426E-B824-9A33-7DA5-3CF9F495BA0A}"/>
              </a:ext>
            </a:extLst>
          </p:cNvPr>
          <p:cNvSpPr/>
          <p:nvPr/>
        </p:nvSpPr>
        <p:spPr>
          <a:xfrm>
            <a:off x="535781" y="4000500"/>
            <a:ext cx="4071938" cy="285750"/>
          </a:xfrm>
          <a:prstGeom prst="roundRect">
            <a:avLst>
              <a:gd name="adj" fmla="val 8000"/>
            </a:avLst>
          </a:prstGeom>
          <a:solidFill>
            <a:srgbClr val="E8F5F4"/>
          </a:solidFill>
          <a:ln/>
        </p:spPr>
        <p:txBody>
          <a:bodyPr/>
          <a:lstStyle/>
          <a:p>
            <a:endParaRPr lang="en-US" sz="1013"/>
          </a:p>
        </p:txBody>
      </p:sp>
      <p:sp>
        <p:nvSpPr>
          <p:cNvPr id="20" name="Text 8">
            <a:extLst>
              <a:ext uri="{FF2B5EF4-FFF2-40B4-BE49-F238E27FC236}">
                <a16:creationId xmlns:a16="http://schemas.microsoft.com/office/drawing/2014/main" id="{2E99D7F4-6C70-27DB-7F82-99D032A56CED}"/>
              </a:ext>
            </a:extLst>
          </p:cNvPr>
          <p:cNvSpPr/>
          <p:nvPr/>
        </p:nvSpPr>
        <p:spPr>
          <a:xfrm>
            <a:off x="535781" y="4000500"/>
            <a:ext cx="4071938" cy="285750"/>
          </a:xfrm>
          <a:prstGeom prst="rect">
            <a:avLst/>
          </a:prstGeom>
          <a:noFill/>
          <a:ln/>
        </p:spPr>
        <p:txBody>
          <a:bodyPr wrap="none" lIns="0" tIns="0" rIns="0" bIns="0" rtlCol="0" anchor="ctr"/>
          <a:lstStyle/>
          <a:p>
            <a:pPr algn="ctr">
              <a:lnSpc>
                <a:spcPct val="100000"/>
              </a:lnSpc>
            </a:pPr>
            <a:r>
              <a:rPr lang="en-US" sz="900" b="1" dirty="0">
                <a:solidFill>
                  <a:srgbClr val="36ADA3"/>
                </a:solidFill>
                <a:ea typeface="Quattrocento Sans" pitchFamily="34" charset="-122"/>
                <a:cs typeface="Segoe UI" panose="020B0502040204020203" pitchFamily="34" charset="0"/>
              </a:rPr>
              <a:t>Gateway Status: Online &amp; Ready</a:t>
            </a:r>
            <a:endParaRPr lang="en-US" sz="900" dirty="0"/>
          </a:p>
        </p:txBody>
      </p:sp>
      <p:sp>
        <p:nvSpPr>
          <p:cNvPr id="21" name="Shape 9">
            <a:extLst>
              <a:ext uri="{FF2B5EF4-FFF2-40B4-BE49-F238E27FC236}">
                <a16:creationId xmlns:a16="http://schemas.microsoft.com/office/drawing/2014/main" id="{58976483-5460-B72D-7214-51615F840B8D}"/>
              </a:ext>
            </a:extLst>
          </p:cNvPr>
          <p:cNvSpPr/>
          <p:nvPr/>
        </p:nvSpPr>
        <p:spPr>
          <a:xfrm>
            <a:off x="4929187" y="1000125"/>
            <a:ext cx="3786188" cy="1214436"/>
          </a:xfrm>
          <a:prstGeom prst="roundRect">
            <a:avLst>
              <a:gd name="adj" fmla="val 6000"/>
            </a:avLst>
          </a:prstGeom>
          <a:solidFill>
            <a:srgbClr val="FFFFFF"/>
          </a:solidFill>
          <a:ln/>
          <a:effectLst>
            <a:outerShdw blurRad="127000" dist="38100" dir="5400000" algn="bl" rotWithShape="0">
              <a:srgbClr val="000000">
                <a:alpha val="3137"/>
              </a:srgbClr>
            </a:outerShdw>
          </a:effectLst>
        </p:spPr>
        <p:txBody>
          <a:bodyPr/>
          <a:lstStyle/>
          <a:p>
            <a:endParaRPr lang="en-US" sz="1013"/>
          </a:p>
        </p:txBody>
      </p:sp>
      <p:sp>
        <p:nvSpPr>
          <p:cNvPr id="22" name="Shape 10">
            <a:extLst>
              <a:ext uri="{FF2B5EF4-FFF2-40B4-BE49-F238E27FC236}">
                <a16:creationId xmlns:a16="http://schemas.microsoft.com/office/drawing/2014/main" id="{BB3DD341-669A-958D-A70C-FDBF7E684419}"/>
              </a:ext>
            </a:extLst>
          </p:cNvPr>
          <p:cNvSpPr/>
          <p:nvPr/>
        </p:nvSpPr>
        <p:spPr>
          <a:xfrm>
            <a:off x="5107781" y="1128712"/>
            <a:ext cx="214313" cy="214313"/>
          </a:xfrm>
          <a:custGeom>
            <a:avLst/>
            <a:gdLst/>
            <a:ahLst/>
            <a:cxnLst/>
            <a:rect l="l" t="t" r="r" b="b"/>
            <a:pathLst>
              <a:path w="381000" h="381000">
                <a:moveTo>
                  <a:pt x="333375" y="190500"/>
                </a:moveTo>
                <a:cubicBezTo>
                  <a:pt x="333375" y="111645"/>
                  <a:pt x="269355" y="47625"/>
                  <a:pt x="190500" y="47625"/>
                </a:cubicBezTo>
                <a:cubicBezTo>
                  <a:pt x="111645" y="47625"/>
                  <a:pt x="47625" y="111645"/>
                  <a:pt x="47625" y="190500"/>
                </a:cubicBezTo>
                <a:cubicBezTo>
                  <a:pt x="47625" y="269355"/>
                  <a:pt x="111645" y="333375"/>
                  <a:pt x="190500" y="333375"/>
                </a:cubicBezTo>
                <a:cubicBezTo>
                  <a:pt x="269355" y="333375"/>
                  <a:pt x="333375" y="269355"/>
                  <a:pt x="333375" y="190500"/>
                </a:cubicBezTo>
                <a:close/>
                <a:moveTo>
                  <a:pt x="0" y="190500"/>
                </a:moveTo>
                <a:cubicBezTo>
                  <a:pt x="0" y="85360"/>
                  <a:pt x="85360" y="0"/>
                  <a:pt x="190500" y="0"/>
                </a:cubicBezTo>
                <a:cubicBezTo>
                  <a:pt x="295640" y="0"/>
                  <a:pt x="381000" y="85360"/>
                  <a:pt x="381000" y="190500"/>
                </a:cubicBezTo>
                <a:cubicBezTo>
                  <a:pt x="381000" y="295640"/>
                  <a:pt x="295640" y="381000"/>
                  <a:pt x="190500" y="381000"/>
                </a:cubicBezTo>
                <a:cubicBezTo>
                  <a:pt x="85360" y="381000"/>
                  <a:pt x="0" y="295640"/>
                  <a:pt x="0" y="190500"/>
                </a:cubicBezTo>
                <a:close/>
                <a:moveTo>
                  <a:pt x="190500" y="250031"/>
                </a:moveTo>
                <a:cubicBezTo>
                  <a:pt x="223356" y="250031"/>
                  <a:pt x="250031" y="223356"/>
                  <a:pt x="250031" y="190500"/>
                </a:cubicBezTo>
                <a:cubicBezTo>
                  <a:pt x="250031" y="157644"/>
                  <a:pt x="223356" y="130969"/>
                  <a:pt x="190500" y="130969"/>
                </a:cubicBezTo>
                <a:cubicBezTo>
                  <a:pt x="157644" y="130969"/>
                  <a:pt x="130969" y="157644"/>
                  <a:pt x="130969" y="190500"/>
                </a:cubicBezTo>
                <a:cubicBezTo>
                  <a:pt x="130969" y="223356"/>
                  <a:pt x="157644" y="250031"/>
                  <a:pt x="190500" y="250031"/>
                </a:cubicBezTo>
                <a:close/>
                <a:moveTo>
                  <a:pt x="190500" y="83344"/>
                </a:moveTo>
                <a:cubicBezTo>
                  <a:pt x="249641" y="83344"/>
                  <a:pt x="297656" y="131359"/>
                  <a:pt x="297656" y="190500"/>
                </a:cubicBezTo>
                <a:cubicBezTo>
                  <a:pt x="297656" y="249641"/>
                  <a:pt x="249641" y="297656"/>
                  <a:pt x="190500" y="297656"/>
                </a:cubicBezTo>
                <a:cubicBezTo>
                  <a:pt x="131359" y="297656"/>
                  <a:pt x="83344" y="249641"/>
                  <a:pt x="83344" y="190500"/>
                </a:cubicBezTo>
                <a:cubicBezTo>
                  <a:pt x="83344" y="131359"/>
                  <a:pt x="131359" y="83344"/>
                  <a:pt x="190500" y="83344"/>
                </a:cubicBezTo>
                <a:close/>
                <a:moveTo>
                  <a:pt x="166688" y="190500"/>
                </a:moveTo>
                <a:cubicBezTo>
                  <a:pt x="166688" y="177358"/>
                  <a:pt x="177358" y="166688"/>
                  <a:pt x="190500" y="166688"/>
                </a:cubicBezTo>
                <a:cubicBezTo>
                  <a:pt x="203642" y="166688"/>
                  <a:pt x="214313" y="177358"/>
                  <a:pt x="214313" y="190500"/>
                </a:cubicBezTo>
                <a:cubicBezTo>
                  <a:pt x="214313" y="203642"/>
                  <a:pt x="203642" y="214313"/>
                  <a:pt x="190500" y="214313"/>
                </a:cubicBezTo>
                <a:cubicBezTo>
                  <a:pt x="177358" y="214313"/>
                  <a:pt x="166688" y="203642"/>
                  <a:pt x="166688" y="190500"/>
                </a:cubicBezTo>
                <a:close/>
              </a:path>
            </a:pathLst>
          </a:custGeom>
          <a:solidFill>
            <a:srgbClr val="36ADA3"/>
          </a:solidFill>
          <a:ln/>
        </p:spPr>
        <p:txBody>
          <a:bodyPr/>
          <a:lstStyle/>
          <a:p>
            <a:endParaRPr lang="en-US" sz="1013"/>
          </a:p>
        </p:txBody>
      </p:sp>
      <p:sp>
        <p:nvSpPr>
          <p:cNvPr id="23" name="Text 11">
            <a:extLst>
              <a:ext uri="{FF2B5EF4-FFF2-40B4-BE49-F238E27FC236}">
                <a16:creationId xmlns:a16="http://schemas.microsoft.com/office/drawing/2014/main" id="{CECD07DE-A8F7-F505-40BE-3A69311C53AB}"/>
              </a:ext>
            </a:extLst>
          </p:cNvPr>
          <p:cNvSpPr/>
          <p:nvPr/>
        </p:nvSpPr>
        <p:spPr>
          <a:xfrm>
            <a:off x="5414962" y="1107281"/>
            <a:ext cx="3071813" cy="228600"/>
          </a:xfrm>
          <a:prstGeom prst="rect">
            <a:avLst/>
          </a:prstGeom>
          <a:noFill/>
          <a:ln/>
        </p:spPr>
        <p:txBody>
          <a:bodyPr wrap="none" lIns="0" tIns="0" rIns="0" bIns="0" rtlCol="0" anchor="ctr"/>
          <a:lstStyle/>
          <a:p>
            <a:pPr>
              <a:lnSpc>
                <a:spcPct val="100000"/>
              </a:lnSpc>
            </a:pPr>
            <a:r>
              <a:rPr lang="en-US" sz="1125" b="1" dirty="0">
                <a:solidFill>
                  <a:srgbClr val="121358"/>
                </a:solidFill>
                <a:ea typeface="Quattrocento Sans" pitchFamily="34" charset="-122"/>
                <a:cs typeface="Segoe UI" panose="020B0502040204020203" pitchFamily="34" charset="0"/>
              </a:rPr>
              <a:t>Purpose</a:t>
            </a:r>
            <a:endParaRPr lang="en-US" sz="900" dirty="0"/>
          </a:p>
        </p:txBody>
      </p:sp>
      <p:sp>
        <p:nvSpPr>
          <p:cNvPr id="24" name="Text 12">
            <a:extLst>
              <a:ext uri="{FF2B5EF4-FFF2-40B4-BE49-F238E27FC236}">
                <a16:creationId xmlns:a16="http://schemas.microsoft.com/office/drawing/2014/main" id="{75D151BF-5ED8-327B-463D-7EE5C7265DDA}"/>
              </a:ext>
            </a:extLst>
          </p:cNvPr>
          <p:cNvSpPr/>
          <p:nvPr/>
        </p:nvSpPr>
        <p:spPr>
          <a:xfrm>
            <a:off x="5107781" y="1393032"/>
            <a:ext cx="3429000" cy="615522"/>
          </a:xfrm>
          <a:prstGeom prst="rect">
            <a:avLst/>
          </a:prstGeom>
          <a:noFill/>
          <a:ln/>
        </p:spPr>
        <p:txBody>
          <a:bodyPr wrap="square" lIns="0" tIns="0" rIns="0" bIns="0" rtlCol="0" anchor="t"/>
          <a:lstStyle/>
          <a:p>
            <a:pPr>
              <a:lnSpc>
                <a:spcPct val="150000"/>
              </a:lnSpc>
            </a:pPr>
            <a:r>
              <a:rPr lang="en-US" sz="1050" dirty="0">
                <a:solidFill>
                  <a:srgbClr val="08204F"/>
                </a:solidFill>
                <a:ea typeface="Quattrocento Sans" pitchFamily="34" charset="-122"/>
                <a:cs typeface="Segoe UI" panose="020B0502040204020203" pitchFamily="34" charset="0"/>
              </a:rPr>
              <a:t>Installed and configured the On-Premises Data Gateway to establish a secure bridge between local SQL Server and Microsoft cloud services.</a:t>
            </a:r>
            <a:endParaRPr lang="en-US" sz="1050" dirty="0">
              <a:solidFill>
                <a:srgbClr val="08204F"/>
              </a:solidFill>
            </a:endParaRPr>
          </a:p>
        </p:txBody>
      </p:sp>
      <p:sp>
        <p:nvSpPr>
          <p:cNvPr id="25" name="Shape 13">
            <a:extLst>
              <a:ext uri="{FF2B5EF4-FFF2-40B4-BE49-F238E27FC236}">
                <a16:creationId xmlns:a16="http://schemas.microsoft.com/office/drawing/2014/main" id="{7F615AB8-E4AE-35BB-DFAB-C115B5E044A1}"/>
              </a:ext>
            </a:extLst>
          </p:cNvPr>
          <p:cNvSpPr/>
          <p:nvPr/>
        </p:nvSpPr>
        <p:spPr>
          <a:xfrm>
            <a:off x="4929187" y="2321718"/>
            <a:ext cx="3786188" cy="1107281"/>
          </a:xfrm>
          <a:prstGeom prst="roundRect">
            <a:avLst>
              <a:gd name="adj" fmla="val 6000"/>
            </a:avLst>
          </a:prstGeom>
          <a:solidFill>
            <a:srgbClr val="FFFFFF"/>
          </a:solidFill>
          <a:ln/>
          <a:effectLst>
            <a:outerShdw blurRad="127000" dist="38100" dir="5400000" algn="bl" rotWithShape="0">
              <a:srgbClr val="000000">
                <a:alpha val="3137"/>
              </a:srgbClr>
            </a:outerShdw>
          </a:effectLst>
        </p:spPr>
        <p:txBody>
          <a:bodyPr/>
          <a:lstStyle/>
          <a:p>
            <a:endParaRPr lang="en-US" sz="1013"/>
          </a:p>
        </p:txBody>
      </p:sp>
      <p:sp>
        <p:nvSpPr>
          <p:cNvPr id="26" name="Shape 14">
            <a:extLst>
              <a:ext uri="{FF2B5EF4-FFF2-40B4-BE49-F238E27FC236}">
                <a16:creationId xmlns:a16="http://schemas.microsoft.com/office/drawing/2014/main" id="{47E274AC-E201-41A4-0BA1-89CE95EFEF45}"/>
              </a:ext>
            </a:extLst>
          </p:cNvPr>
          <p:cNvSpPr/>
          <p:nvPr/>
        </p:nvSpPr>
        <p:spPr>
          <a:xfrm>
            <a:off x="5107781" y="2450305"/>
            <a:ext cx="214313" cy="214313"/>
          </a:xfrm>
          <a:custGeom>
            <a:avLst/>
            <a:gdLst/>
            <a:ahLst/>
            <a:cxnLst/>
            <a:rect l="l" t="t" r="r" b="b"/>
            <a:pathLst>
              <a:path w="381000" h="381000">
                <a:moveTo>
                  <a:pt x="261863" y="208359"/>
                </a:moveTo>
                <a:lnTo>
                  <a:pt x="119807" y="208359"/>
                </a:lnTo>
                <a:cubicBezTo>
                  <a:pt x="121965" y="256356"/>
                  <a:pt x="132606" y="300558"/>
                  <a:pt x="147712" y="332929"/>
                </a:cubicBezTo>
                <a:cubicBezTo>
                  <a:pt x="156195" y="351160"/>
                  <a:pt x="165348" y="364034"/>
                  <a:pt x="173831" y="371921"/>
                </a:cubicBezTo>
                <a:cubicBezTo>
                  <a:pt x="182166" y="379735"/>
                  <a:pt x="187896" y="381000"/>
                  <a:pt x="190872" y="381000"/>
                </a:cubicBezTo>
                <a:cubicBezTo>
                  <a:pt x="193849" y="381000"/>
                  <a:pt x="199579" y="379735"/>
                  <a:pt x="207913" y="371921"/>
                </a:cubicBezTo>
                <a:cubicBezTo>
                  <a:pt x="216396" y="364034"/>
                  <a:pt x="225549" y="351086"/>
                  <a:pt x="234032" y="332929"/>
                </a:cubicBezTo>
                <a:cubicBezTo>
                  <a:pt x="249138" y="300558"/>
                  <a:pt x="259779" y="256356"/>
                  <a:pt x="261937" y="208359"/>
                </a:cubicBezTo>
                <a:close/>
                <a:moveTo>
                  <a:pt x="119732" y="172641"/>
                </a:moveTo>
                <a:lnTo>
                  <a:pt x="261789" y="172641"/>
                </a:lnTo>
                <a:cubicBezTo>
                  <a:pt x="259705" y="124644"/>
                  <a:pt x="249064" y="80442"/>
                  <a:pt x="233958" y="48071"/>
                </a:cubicBezTo>
                <a:cubicBezTo>
                  <a:pt x="225475" y="29914"/>
                  <a:pt x="216322" y="16966"/>
                  <a:pt x="207838" y="9079"/>
                </a:cubicBezTo>
                <a:cubicBezTo>
                  <a:pt x="199504" y="1265"/>
                  <a:pt x="193774" y="0"/>
                  <a:pt x="190798" y="0"/>
                </a:cubicBezTo>
                <a:cubicBezTo>
                  <a:pt x="187821" y="0"/>
                  <a:pt x="182091" y="1265"/>
                  <a:pt x="173757" y="9079"/>
                </a:cubicBezTo>
                <a:cubicBezTo>
                  <a:pt x="165274" y="16966"/>
                  <a:pt x="156121" y="29914"/>
                  <a:pt x="147637" y="48071"/>
                </a:cubicBezTo>
                <a:cubicBezTo>
                  <a:pt x="132531" y="80442"/>
                  <a:pt x="121890" y="124644"/>
                  <a:pt x="119732" y="172641"/>
                </a:cubicBezTo>
                <a:close/>
                <a:moveTo>
                  <a:pt x="84013" y="172641"/>
                </a:moveTo>
                <a:cubicBezTo>
                  <a:pt x="86618" y="108942"/>
                  <a:pt x="103063" y="49783"/>
                  <a:pt x="127099" y="10939"/>
                </a:cubicBezTo>
                <a:cubicBezTo>
                  <a:pt x="58564" y="35198"/>
                  <a:pt x="8111" y="97631"/>
                  <a:pt x="1116" y="172641"/>
                </a:cubicBezTo>
                <a:lnTo>
                  <a:pt x="84013" y="172641"/>
                </a:lnTo>
                <a:close/>
                <a:moveTo>
                  <a:pt x="1116" y="208359"/>
                </a:moveTo>
                <a:cubicBezTo>
                  <a:pt x="8111" y="283369"/>
                  <a:pt x="58564" y="345802"/>
                  <a:pt x="127099" y="370061"/>
                </a:cubicBezTo>
                <a:cubicBezTo>
                  <a:pt x="103063" y="331217"/>
                  <a:pt x="86618" y="272058"/>
                  <a:pt x="84013" y="208359"/>
                </a:cubicBezTo>
                <a:lnTo>
                  <a:pt x="1116" y="208359"/>
                </a:lnTo>
                <a:close/>
                <a:moveTo>
                  <a:pt x="297582" y="208359"/>
                </a:moveTo>
                <a:cubicBezTo>
                  <a:pt x="294977" y="272058"/>
                  <a:pt x="278532" y="331217"/>
                  <a:pt x="254496" y="370061"/>
                </a:cubicBezTo>
                <a:cubicBezTo>
                  <a:pt x="323031" y="345728"/>
                  <a:pt x="373484" y="283369"/>
                  <a:pt x="380479" y="208359"/>
                </a:cubicBezTo>
                <a:lnTo>
                  <a:pt x="297582" y="208359"/>
                </a:lnTo>
                <a:close/>
                <a:moveTo>
                  <a:pt x="380479" y="172641"/>
                </a:moveTo>
                <a:cubicBezTo>
                  <a:pt x="373484" y="97631"/>
                  <a:pt x="323031" y="35198"/>
                  <a:pt x="254496" y="10939"/>
                </a:cubicBezTo>
                <a:cubicBezTo>
                  <a:pt x="278532" y="49783"/>
                  <a:pt x="294977" y="108942"/>
                  <a:pt x="297582" y="172641"/>
                </a:cubicBezTo>
                <a:lnTo>
                  <a:pt x="380479" y="172641"/>
                </a:lnTo>
                <a:close/>
              </a:path>
            </a:pathLst>
          </a:custGeom>
          <a:solidFill>
            <a:srgbClr val="36ADA3"/>
          </a:solidFill>
          <a:ln/>
        </p:spPr>
        <p:txBody>
          <a:bodyPr/>
          <a:lstStyle/>
          <a:p>
            <a:endParaRPr lang="en-US" sz="1013"/>
          </a:p>
        </p:txBody>
      </p:sp>
      <p:sp>
        <p:nvSpPr>
          <p:cNvPr id="27" name="Text 15">
            <a:extLst>
              <a:ext uri="{FF2B5EF4-FFF2-40B4-BE49-F238E27FC236}">
                <a16:creationId xmlns:a16="http://schemas.microsoft.com/office/drawing/2014/main" id="{9B2C2AB4-8E7E-5612-4AF1-A0D077B6CD6B}"/>
              </a:ext>
            </a:extLst>
          </p:cNvPr>
          <p:cNvSpPr/>
          <p:nvPr/>
        </p:nvSpPr>
        <p:spPr>
          <a:xfrm>
            <a:off x="5414962" y="2428874"/>
            <a:ext cx="3071813" cy="228600"/>
          </a:xfrm>
          <a:prstGeom prst="rect">
            <a:avLst/>
          </a:prstGeom>
          <a:noFill/>
          <a:ln/>
        </p:spPr>
        <p:txBody>
          <a:bodyPr wrap="none" lIns="0" tIns="0" rIns="0" bIns="0" rtlCol="0" anchor="ctr"/>
          <a:lstStyle/>
          <a:p>
            <a:pPr>
              <a:lnSpc>
                <a:spcPct val="100000"/>
              </a:lnSpc>
            </a:pPr>
            <a:r>
              <a:rPr lang="en-US" sz="1125" b="1" dirty="0">
                <a:solidFill>
                  <a:srgbClr val="121358"/>
                </a:solidFill>
                <a:ea typeface="Quattrocento Sans" pitchFamily="34" charset="-122"/>
                <a:cs typeface="Segoe UI" panose="020B0502040204020203" pitchFamily="34" charset="0"/>
              </a:rPr>
              <a:t>Region &amp; Services</a:t>
            </a:r>
            <a:endParaRPr lang="en-US" sz="900" dirty="0"/>
          </a:p>
        </p:txBody>
      </p:sp>
      <p:sp>
        <p:nvSpPr>
          <p:cNvPr id="28" name="Text 16">
            <a:extLst>
              <a:ext uri="{FF2B5EF4-FFF2-40B4-BE49-F238E27FC236}">
                <a16:creationId xmlns:a16="http://schemas.microsoft.com/office/drawing/2014/main" id="{8EF514C1-D214-ED78-CA5E-EB01F77C6032}"/>
              </a:ext>
            </a:extLst>
          </p:cNvPr>
          <p:cNvSpPr/>
          <p:nvPr/>
        </p:nvSpPr>
        <p:spPr>
          <a:xfrm>
            <a:off x="5107781" y="2714624"/>
            <a:ext cx="3429000" cy="607219"/>
          </a:xfrm>
          <a:prstGeom prst="rect">
            <a:avLst/>
          </a:prstGeom>
          <a:noFill/>
          <a:ln/>
        </p:spPr>
        <p:txBody>
          <a:bodyPr wrap="square" lIns="0" tIns="0" rIns="0" bIns="0" rtlCol="0" anchor="t"/>
          <a:lstStyle/>
          <a:p>
            <a:pPr>
              <a:lnSpc>
                <a:spcPct val="150000"/>
              </a:lnSpc>
            </a:pPr>
            <a:r>
              <a:rPr lang="en-US" sz="1050" dirty="0">
                <a:solidFill>
                  <a:srgbClr val="08204F"/>
                </a:solidFill>
                <a:ea typeface="Quattrocento Sans" pitchFamily="34" charset="-122"/>
                <a:cs typeface="Segoe UI" panose="020B0502040204020203" pitchFamily="34" charset="0"/>
              </a:rPr>
              <a:t>Configured for </a:t>
            </a:r>
            <a:r>
              <a:rPr lang="en-US" sz="1050" b="1" dirty="0">
                <a:solidFill>
                  <a:srgbClr val="08204F"/>
                </a:solidFill>
                <a:ea typeface="Quattrocento Sans" pitchFamily="34" charset="-122"/>
                <a:cs typeface="Segoe UI" panose="020B0502040204020203" pitchFamily="34" charset="0"/>
              </a:rPr>
              <a:t>North Europe</a:t>
            </a:r>
            <a:r>
              <a:rPr lang="en-US" sz="1050" dirty="0">
                <a:solidFill>
                  <a:srgbClr val="08204F"/>
                </a:solidFill>
                <a:ea typeface="Quattrocento Sans" pitchFamily="34" charset="-122"/>
                <a:cs typeface="Segoe UI" panose="020B0502040204020203" pitchFamily="34" charset="0"/>
              </a:rPr>
              <a:t> region, supporting Power Apps, Power Automate, and Logic Apps.</a:t>
            </a:r>
            <a:endParaRPr lang="en-US" sz="1050" dirty="0">
              <a:solidFill>
                <a:srgbClr val="08204F"/>
              </a:solidFill>
            </a:endParaRPr>
          </a:p>
        </p:txBody>
      </p:sp>
      <p:sp>
        <p:nvSpPr>
          <p:cNvPr id="29" name="Shape 17">
            <a:extLst>
              <a:ext uri="{FF2B5EF4-FFF2-40B4-BE49-F238E27FC236}">
                <a16:creationId xmlns:a16="http://schemas.microsoft.com/office/drawing/2014/main" id="{BD288C72-E53A-CB35-2D40-95350DA3123C}"/>
              </a:ext>
            </a:extLst>
          </p:cNvPr>
          <p:cNvSpPr/>
          <p:nvPr/>
        </p:nvSpPr>
        <p:spPr>
          <a:xfrm>
            <a:off x="4929187" y="3536156"/>
            <a:ext cx="3786188" cy="1357313"/>
          </a:xfrm>
          <a:prstGeom prst="roundRect">
            <a:avLst>
              <a:gd name="adj" fmla="val 6000"/>
            </a:avLst>
          </a:prstGeom>
          <a:solidFill>
            <a:srgbClr val="FFFFFF"/>
          </a:solidFill>
          <a:ln/>
          <a:effectLst>
            <a:outerShdw blurRad="127000" dist="38100" dir="5400000" algn="bl" rotWithShape="0">
              <a:srgbClr val="000000">
                <a:alpha val="3137"/>
              </a:srgbClr>
            </a:outerShdw>
          </a:effectLst>
        </p:spPr>
        <p:txBody>
          <a:bodyPr/>
          <a:lstStyle/>
          <a:p>
            <a:endParaRPr lang="en-US" sz="1013"/>
          </a:p>
        </p:txBody>
      </p:sp>
      <p:sp>
        <p:nvSpPr>
          <p:cNvPr id="30" name="Shape 18">
            <a:extLst>
              <a:ext uri="{FF2B5EF4-FFF2-40B4-BE49-F238E27FC236}">
                <a16:creationId xmlns:a16="http://schemas.microsoft.com/office/drawing/2014/main" id="{A6EDB342-5D93-1176-8E83-64925BB783AF}"/>
              </a:ext>
            </a:extLst>
          </p:cNvPr>
          <p:cNvSpPr/>
          <p:nvPr/>
        </p:nvSpPr>
        <p:spPr>
          <a:xfrm>
            <a:off x="5107781" y="3664743"/>
            <a:ext cx="214313" cy="214313"/>
          </a:xfrm>
          <a:custGeom>
            <a:avLst/>
            <a:gdLst/>
            <a:ahLst/>
            <a:cxnLst/>
            <a:rect l="l" t="t" r="r" b="b"/>
            <a:pathLst>
              <a:path w="381000" h="381000">
                <a:moveTo>
                  <a:pt x="190500" y="381000"/>
                </a:moveTo>
                <a:cubicBezTo>
                  <a:pt x="295640" y="381000"/>
                  <a:pt x="381000" y="295640"/>
                  <a:pt x="381000" y="190500"/>
                </a:cubicBezTo>
                <a:cubicBezTo>
                  <a:pt x="381000" y="85360"/>
                  <a:pt x="295640" y="0"/>
                  <a:pt x="190500" y="0"/>
                </a:cubicBezTo>
                <a:cubicBezTo>
                  <a:pt x="85360" y="0"/>
                  <a:pt x="0" y="85360"/>
                  <a:pt x="0" y="190500"/>
                </a:cubicBezTo>
                <a:cubicBezTo>
                  <a:pt x="0" y="295640"/>
                  <a:pt x="85360" y="381000"/>
                  <a:pt x="190500" y="381000"/>
                </a:cubicBezTo>
                <a:close/>
                <a:moveTo>
                  <a:pt x="253305" y="158279"/>
                </a:moveTo>
                <a:lnTo>
                  <a:pt x="193774" y="253529"/>
                </a:lnTo>
                <a:cubicBezTo>
                  <a:pt x="190649" y="258514"/>
                  <a:pt x="185291" y="261640"/>
                  <a:pt x="179412" y="261938"/>
                </a:cubicBezTo>
                <a:cubicBezTo>
                  <a:pt x="173534" y="262235"/>
                  <a:pt x="167878" y="259556"/>
                  <a:pt x="164381" y="254794"/>
                </a:cubicBezTo>
                <a:lnTo>
                  <a:pt x="128662" y="207169"/>
                </a:lnTo>
                <a:cubicBezTo>
                  <a:pt x="122709" y="199281"/>
                  <a:pt x="124346" y="188119"/>
                  <a:pt x="132234" y="182166"/>
                </a:cubicBezTo>
                <a:cubicBezTo>
                  <a:pt x="140122" y="176212"/>
                  <a:pt x="151284" y="177850"/>
                  <a:pt x="157237" y="185738"/>
                </a:cubicBezTo>
                <a:lnTo>
                  <a:pt x="177329" y="212527"/>
                </a:lnTo>
                <a:lnTo>
                  <a:pt x="223019" y="139378"/>
                </a:lnTo>
                <a:cubicBezTo>
                  <a:pt x="228228" y="131043"/>
                  <a:pt x="239241" y="128439"/>
                  <a:pt x="247650" y="133722"/>
                </a:cubicBezTo>
                <a:cubicBezTo>
                  <a:pt x="256059" y="139005"/>
                  <a:pt x="258589" y="149944"/>
                  <a:pt x="253305" y="158353"/>
                </a:cubicBezTo>
                <a:close/>
              </a:path>
            </a:pathLst>
          </a:custGeom>
          <a:solidFill>
            <a:srgbClr val="36ADA3"/>
          </a:solidFill>
          <a:ln/>
        </p:spPr>
        <p:txBody>
          <a:bodyPr/>
          <a:lstStyle/>
          <a:p>
            <a:endParaRPr lang="en-US" sz="1013"/>
          </a:p>
        </p:txBody>
      </p:sp>
      <p:sp>
        <p:nvSpPr>
          <p:cNvPr id="31" name="Text 19">
            <a:extLst>
              <a:ext uri="{FF2B5EF4-FFF2-40B4-BE49-F238E27FC236}">
                <a16:creationId xmlns:a16="http://schemas.microsoft.com/office/drawing/2014/main" id="{47E28A62-0F47-8629-6699-98AC81E4AA21}"/>
              </a:ext>
            </a:extLst>
          </p:cNvPr>
          <p:cNvSpPr/>
          <p:nvPr/>
        </p:nvSpPr>
        <p:spPr>
          <a:xfrm>
            <a:off x="5414962" y="3643312"/>
            <a:ext cx="3071813" cy="228600"/>
          </a:xfrm>
          <a:prstGeom prst="rect">
            <a:avLst/>
          </a:prstGeom>
          <a:noFill/>
          <a:ln/>
        </p:spPr>
        <p:txBody>
          <a:bodyPr wrap="none" lIns="0" tIns="0" rIns="0" bIns="0" rtlCol="0" anchor="ctr"/>
          <a:lstStyle/>
          <a:p>
            <a:pPr>
              <a:lnSpc>
                <a:spcPct val="100000"/>
              </a:lnSpc>
            </a:pPr>
            <a:r>
              <a:rPr lang="en-US" sz="1125" b="1" dirty="0">
                <a:solidFill>
                  <a:srgbClr val="121358"/>
                </a:solidFill>
                <a:ea typeface="Quattrocento Sans" pitchFamily="34" charset="-122"/>
                <a:cs typeface="Segoe UI" panose="020B0502040204020203" pitchFamily="34" charset="0"/>
              </a:rPr>
              <a:t>Result</a:t>
            </a:r>
            <a:endParaRPr lang="en-US" sz="900" dirty="0"/>
          </a:p>
        </p:txBody>
      </p:sp>
      <p:sp>
        <p:nvSpPr>
          <p:cNvPr id="32" name="Text 20">
            <a:extLst>
              <a:ext uri="{FF2B5EF4-FFF2-40B4-BE49-F238E27FC236}">
                <a16:creationId xmlns:a16="http://schemas.microsoft.com/office/drawing/2014/main" id="{DAFB5453-13C3-50F6-A6B0-CA9140A0A90E}"/>
              </a:ext>
            </a:extLst>
          </p:cNvPr>
          <p:cNvSpPr/>
          <p:nvPr/>
        </p:nvSpPr>
        <p:spPr>
          <a:xfrm>
            <a:off x="5107781" y="3929062"/>
            <a:ext cx="3429000" cy="857250"/>
          </a:xfrm>
          <a:prstGeom prst="rect">
            <a:avLst/>
          </a:prstGeom>
          <a:noFill/>
          <a:ln/>
        </p:spPr>
        <p:txBody>
          <a:bodyPr wrap="square" lIns="0" tIns="0" rIns="0" bIns="0" rtlCol="0" anchor="t"/>
          <a:lstStyle/>
          <a:p>
            <a:pPr>
              <a:lnSpc>
                <a:spcPct val="150000"/>
              </a:lnSpc>
            </a:pPr>
            <a:r>
              <a:rPr lang="en-US" sz="1050" dirty="0">
                <a:solidFill>
                  <a:srgbClr val="08204F"/>
                </a:solidFill>
                <a:ea typeface="Quattrocento Sans" pitchFamily="34" charset="-122"/>
                <a:cs typeface="Segoe UI" panose="020B0502040204020203" pitchFamily="34" charset="0"/>
              </a:rPr>
              <a:t>Successfully resolved the DLP policy challenge by establishing </a:t>
            </a:r>
            <a:r>
              <a:rPr lang="en-US" sz="1050" b="1" dirty="0">
                <a:solidFill>
                  <a:srgbClr val="08204F"/>
                </a:solidFill>
                <a:ea typeface="Quattrocento Sans" pitchFamily="34" charset="-122"/>
                <a:cs typeface="Segoe UI" panose="020B0502040204020203" pitchFamily="34" charset="0"/>
              </a:rPr>
              <a:t>direct connectivity</a:t>
            </a:r>
            <a:r>
              <a:rPr lang="en-US" sz="1050" dirty="0">
                <a:solidFill>
                  <a:srgbClr val="08204F"/>
                </a:solidFill>
                <a:ea typeface="Quattrocento Sans" pitchFamily="34" charset="-122"/>
                <a:cs typeface="Segoe UI" panose="020B0502040204020203" pitchFamily="34" charset="0"/>
              </a:rPr>
              <a:t> between Power Apps and SQL Server through the gateway.</a:t>
            </a:r>
            <a:endParaRPr lang="en-US" sz="1050" dirty="0">
              <a:solidFill>
                <a:srgbClr val="08204F"/>
              </a:solidFill>
            </a:endParaRP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18" name="Shape 0">
            <a:extLst>
              <a:ext uri="{FF2B5EF4-FFF2-40B4-BE49-F238E27FC236}">
                <a16:creationId xmlns:a16="http://schemas.microsoft.com/office/drawing/2014/main" id="{C2D1BA8D-0182-7E97-2FDF-C3F8ACD94A1B}"/>
              </a:ext>
            </a:extLst>
          </p:cNvPr>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pic>
        <p:nvPicPr>
          <p:cNvPr id="19" name="Image 0" descr="preencoded.png">
            <a:extLst>
              <a:ext uri="{FF2B5EF4-FFF2-40B4-BE49-F238E27FC236}">
                <a16:creationId xmlns:a16="http://schemas.microsoft.com/office/drawing/2014/main" id="{70C0D80E-4AAF-17EB-34EF-BA58643448F2}"/>
              </a:ext>
            </a:extLst>
          </p:cNvPr>
          <p:cNvPicPr>
            <a:picLocks noChangeAspect="1"/>
          </p:cNvPicPr>
          <p:nvPr/>
        </p:nvPicPr>
        <p:blipFill>
          <a:blip r:embed="rId3"/>
          <a:stretch>
            <a:fillRect/>
          </a:stretch>
        </p:blipFill>
        <p:spPr>
          <a:xfrm>
            <a:off x="8046720" y="45720"/>
            <a:ext cx="685800" cy="676656"/>
          </a:xfrm>
          <a:prstGeom prst="rect">
            <a:avLst/>
          </a:prstGeom>
        </p:spPr>
      </p:pic>
      <p:sp>
        <p:nvSpPr>
          <p:cNvPr id="5" name="Text 3"/>
          <p:cNvSpPr/>
          <p:nvPr/>
        </p:nvSpPr>
        <p:spPr>
          <a:xfrm>
            <a:off x="428625" y="1"/>
            <a:ext cx="3571875" cy="777240"/>
          </a:xfrm>
          <a:prstGeom prst="rect">
            <a:avLst/>
          </a:prstGeom>
          <a:noFill/>
          <a:ln/>
        </p:spPr>
        <p:txBody>
          <a:bodyPr wrap="none" lIns="0" tIns="0" rIns="0" bIns="0" rtlCol="0" anchor="ctr"/>
          <a:lstStyle/>
          <a:p>
            <a:pPr>
              <a:lnSpc>
                <a:spcPct val="100000"/>
              </a:lnSpc>
            </a:pPr>
            <a:r>
              <a:rPr lang="en-US" b="1" dirty="0">
                <a:solidFill>
                  <a:schemeClr val="bg1"/>
                </a:solidFill>
                <a:ea typeface="QuattrocentoSans" pitchFamily="34" charset="-122"/>
                <a:cs typeface="Calibri" panose="020F0502020204030204" pitchFamily="34" charset="0"/>
              </a:rPr>
              <a:t>Submitted Data Preview</a:t>
            </a:r>
            <a:endParaRPr lang="en-US" dirty="0">
              <a:solidFill>
                <a:schemeClr val="bg1"/>
              </a:solidFill>
            </a:endParaRPr>
          </a:p>
        </p:txBody>
      </p:sp>
      <p:sp>
        <p:nvSpPr>
          <p:cNvPr id="7" name="Shape 5"/>
          <p:cNvSpPr/>
          <p:nvPr/>
        </p:nvSpPr>
        <p:spPr>
          <a:xfrm>
            <a:off x="203201" y="1000125"/>
            <a:ext cx="5226050" cy="3786188"/>
          </a:xfrm>
          <a:prstGeom prst="roundRect">
            <a:avLst>
              <a:gd name="adj" fmla="val 6000"/>
            </a:avLst>
          </a:prstGeom>
          <a:solidFill>
            <a:srgbClr val="FFFFFF"/>
          </a:solidFill>
          <a:ln/>
          <a:effectLst>
            <a:outerShdw blurRad="127000" dist="38100" dir="5400000" algn="bl" rotWithShape="0">
              <a:srgbClr val="000000">
                <a:alpha val="3137"/>
              </a:srgbClr>
            </a:outerShdw>
          </a:effectLst>
        </p:spPr>
        <p:txBody>
          <a:bodyPr/>
          <a:lstStyle/>
          <a:p>
            <a:endParaRPr lang="en-US" sz="1013"/>
          </a:p>
        </p:txBody>
      </p:sp>
      <p:pic>
        <p:nvPicPr>
          <p:cNvPr id="8" name="Image 0" descr="https://kimi-img.moonshot.cn/pub/slides/okc/wxirrvn3lwsta/mnt/agents/output/capmas-new/images/submitted_values.png"/>
          <p:cNvPicPr>
            <a:picLocks noChangeAspect="1"/>
          </p:cNvPicPr>
          <p:nvPr/>
        </p:nvPicPr>
        <p:blipFill>
          <a:blip r:embed="rId4"/>
          <a:srcRect l="20007" t="-614" r="20177" b="614"/>
          <a:stretch>
            <a:fillRect/>
          </a:stretch>
        </p:blipFill>
        <p:spPr>
          <a:xfrm>
            <a:off x="428625" y="1187938"/>
            <a:ext cx="4834618" cy="3263351"/>
          </a:xfrm>
          <a:prstGeom prst="roundRect">
            <a:avLst>
              <a:gd name="adj" fmla="val 4000"/>
            </a:avLst>
          </a:prstGeom>
        </p:spPr>
      </p:pic>
      <p:sp>
        <p:nvSpPr>
          <p:cNvPr id="9" name="Shape 6"/>
          <p:cNvSpPr/>
          <p:nvPr/>
        </p:nvSpPr>
        <p:spPr>
          <a:xfrm>
            <a:off x="5643562" y="1000125"/>
            <a:ext cx="3071813" cy="1143000"/>
          </a:xfrm>
          <a:prstGeom prst="roundRect">
            <a:avLst>
              <a:gd name="adj" fmla="val 6000"/>
            </a:avLst>
          </a:prstGeom>
          <a:solidFill>
            <a:srgbClr val="FFFFFF"/>
          </a:solidFill>
          <a:ln/>
          <a:effectLst>
            <a:outerShdw blurRad="127000" dist="38100" dir="5400000" algn="bl" rotWithShape="0">
              <a:srgbClr val="000000">
                <a:alpha val="3137"/>
              </a:srgbClr>
            </a:outerShdw>
          </a:effectLst>
        </p:spPr>
        <p:txBody>
          <a:bodyPr/>
          <a:lstStyle/>
          <a:p>
            <a:endParaRPr lang="en-US" sz="1013"/>
          </a:p>
        </p:txBody>
      </p:sp>
      <p:sp>
        <p:nvSpPr>
          <p:cNvPr id="10" name="Shape 7"/>
          <p:cNvSpPr/>
          <p:nvPr/>
        </p:nvSpPr>
        <p:spPr>
          <a:xfrm>
            <a:off x="5808762" y="1128712"/>
            <a:ext cx="241102" cy="214313"/>
          </a:xfrm>
          <a:custGeom>
            <a:avLst/>
            <a:gdLst/>
            <a:ahLst/>
            <a:cxnLst/>
            <a:rect l="l" t="t" r="r" b="b"/>
            <a:pathLst>
              <a:path w="428625" h="381000">
                <a:moveTo>
                  <a:pt x="214313" y="23812"/>
                </a:moveTo>
                <a:cubicBezTo>
                  <a:pt x="154186" y="23812"/>
                  <a:pt x="106040" y="51197"/>
                  <a:pt x="70991" y="83790"/>
                </a:cubicBezTo>
                <a:cubicBezTo>
                  <a:pt x="36165" y="116160"/>
                  <a:pt x="12874" y="154781"/>
                  <a:pt x="1786" y="181347"/>
                </a:cubicBezTo>
                <a:cubicBezTo>
                  <a:pt x="-670" y="187226"/>
                  <a:pt x="-670" y="193774"/>
                  <a:pt x="1786" y="199653"/>
                </a:cubicBezTo>
                <a:cubicBezTo>
                  <a:pt x="12874" y="226219"/>
                  <a:pt x="36165" y="264914"/>
                  <a:pt x="70991" y="297210"/>
                </a:cubicBezTo>
                <a:cubicBezTo>
                  <a:pt x="106040" y="329729"/>
                  <a:pt x="154186" y="357188"/>
                  <a:pt x="214313" y="357188"/>
                </a:cubicBezTo>
                <a:cubicBezTo>
                  <a:pt x="274439" y="357188"/>
                  <a:pt x="322585" y="329803"/>
                  <a:pt x="357634" y="297210"/>
                </a:cubicBezTo>
                <a:cubicBezTo>
                  <a:pt x="392460" y="264840"/>
                  <a:pt x="415751" y="226219"/>
                  <a:pt x="426839" y="199653"/>
                </a:cubicBezTo>
                <a:cubicBezTo>
                  <a:pt x="429295" y="193774"/>
                  <a:pt x="429295" y="187226"/>
                  <a:pt x="426839" y="181347"/>
                </a:cubicBezTo>
                <a:cubicBezTo>
                  <a:pt x="415751" y="154781"/>
                  <a:pt x="392460" y="116086"/>
                  <a:pt x="357634" y="83790"/>
                </a:cubicBezTo>
                <a:cubicBezTo>
                  <a:pt x="322585" y="51271"/>
                  <a:pt x="274439" y="23812"/>
                  <a:pt x="214313" y="23812"/>
                </a:cubicBezTo>
                <a:close/>
                <a:moveTo>
                  <a:pt x="107156" y="190500"/>
                </a:moveTo>
                <a:cubicBezTo>
                  <a:pt x="107156" y="131359"/>
                  <a:pt x="155171" y="83344"/>
                  <a:pt x="214313" y="83344"/>
                </a:cubicBezTo>
                <a:cubicBezTo>
                  <a:pt x="273454" y="83344"/>
                  <a:pt x="321469" y="131359"/>
                  <a:pt x="321469" y="190500"/>
                </a:cubicBezTo>
                <a:cubicBezTo>
                  <a:pt x="321469" y="249641"/>
                  <a:pt x="273454" y="297656"/>
                  <a:pt x="214313" y="297656"/>
                </a:cubicBezTo>
                <a:cubicBezTo>
                  <a:pt x="155171" y="297656"/>
                  <a:pt x="107156" y="249641"/>
                  <a:pt x="107156" y="190500"/>
                </a:cubicBezTo>
                <a:close/>
                <a:moveTo>
                  <a:pt x="214313" y="142875"/>
                </a:moveTo>
                <a:cubicBezTo>
                  <a:pt x="214313" y="169143"/>
                  <a:pt x="192956" y="190500"/>
                  <a:pt x="166688" y="190500"/>
                </a:cubicBezTo>
                <a:cubicBezTo>
                  <a:pt x="158130" y="190500"/>
                  <a:pt x="150093" y="188268"/>
                  <a:pt x="143098" y="184249"/>
                </a:cubicBezTo>
                <a:cubicBezTo>
                  <a:pt x="142354" y="192360"/>
                  <a:pt x="143024" y="200695"/>
                  <a:pt x="145256" y="208955"/>
                </a:cubicBezTo>
                <a:cubicBezTo>
                  <a:pt x="155451" y="247055"/>
                  <a:pt x="194667" y="269677"/>
                  <a:pt x="232767" y="259482"/>
                </a:cubicBezTo>
                <a:cubicBezTo>
                  <a:pt x="270867" y="249287"/>
                  <a:pt x="293489" y="210071"/>
                  <a:pt x="283294" y="171971"/>
                </a:cubicBezTo>
                <a:cubicBezTo>
                  <a:pt x="274216" y="137964"/>
                  <a:pt x="241995" y="116309"/>
                  <a:pt x="208062" y="119286"/>
                </a:cubicBezTo>
                <a:cubicBezTo>
                  <a:pt x="212006" y="126206"/>
                  <a:pt x="214313" y="134243"/>
                  <a:pt x="214313" y="142875"/>
                </a:cubicBezTo>
                <a:close/>
              </a:path>
            </a:pathLst>
          </a:custGeom>
          <a:solidFill>
            <a:srgbClr val="36ADA3"/>
          </a:solidFill>
          <a:ln/>
        </p:spPr>
        <p:txBody>
          <a:bodyPr/>
          <a:lstStyle/>
          <a:p>
            <a:endParaRPr lang="en-US" sz="1013"/>
          </a:p>
        </p:txBody>
      </p:sp>
      <p:sp>
        <p:nvSpPr>
          <p:cNvPr id="11" name="Text 8"/>
          <p:cNvSpPr/>
          <p:nvPr/>
        </p:nvSpPr>
        <p:spPr>
          <a:xfrm>
            <a:off x="6129337" y="1107281"/>
            <a:ext cx="2357438" cy="228600"/>
          </a:xfrm>
          <a:prstGeom prst="rect">
            <a:avLst/>
          </a:prstGeom>
          <a:noFill/>
          <a:ln/>
        </p:spPr>
        <p:txBody>
          <a:bodyPr wrap="none" lIns="0" tIns="0" rIns="0" bIns="0" rtlCol="0" anchor="ctr"/>
          <a:lstStyle/>
          <a:p>
            <a:pPr>
              <a:lnSpc>
                <a:spcPct val="100000"/>
              </a:lnSpc>
            </a:pPr>
            <a:r>
              <a:rPr lang="en-US" sz="1125" b="1" dirty="0">
                <a:solidFill>
                  <a:srgbClr val="36ADA3"/>
                </a:solidFill>
                <a:ea typeface="Quattrocento Sans" pitchFamily="34" charset="-122"/>
                <a:cs typeface="Segoe UI" panose="020B0502040204020203" pitchFamily="34" charset="0"/>
              </a:rPr>
              <a:t>Live Data Preview</a:t>
            </a:r>
            <a:endParaRPr lang="en-US" sz="900" dirty="0"/>
          </a:p>
        </p:txBody>
      </p:sp>
      <p:sp>
        <p:nvSpPr>
          <p:cNvPr id="12" name="Text 9"/>
          <p:cNvSpPr/>
          <p:nvPr/>
        </p:nvSpPr>
        <p:spPr>
          <a:xfrm>
            <a:off x="5822156" y="1393031"/>
            <a:ext cx="2714625" cy="607219"/>
          </a:xfrm>
          <a:prstGeom prst="rect">
            <a:avLst/>
          </a:prstGeom>
          <a:noFill/>
          <a:ln/>
        </p:spPr>
        <p:txBody>
          <a:bodyPr wrap="square" lIns="0" tIns="0" rIns="0" bIns="0" rtlCol="0" anchor="t"/>
          <a:lstStyle/>
          <a:p>
            <a:pPr>
              <a:lnSpc>
                <a:spcPct val="150000"/>
              </a:lnSpc>
            </a:pPr>
            <a:r>
              <a:rPr lang="en-US" sz="1050" dirty="0">
                <a:solidFill>
                  <a:srgbClr val="08204F"/>
                </a:solidFill>
                <a:ea typeface="Quattrocento Sans" pitchFamily="34" charset="-122"/>
                <a:cs typeface="Segoe UI" panose="020B0502040204020203" pitchFamily="34" charset="0"/>
              </a:rPr>
              <a:t>This screen shows the actual data being entered in the Submit Screen before submission.</a:t>
            </a:r>
            <a:endParaRPr lang="en-US" sz="1050" dirty="0">
              <a:solidFill>
                <a:srgbClr val="08204F"/>
              </a:solidFill>
            </a:endParaRPr>
          </a:p>
        </p:txBody>
      </p:sp>
      <p:sp>
        <p:nvSpPr>
          <p:cNvPr id="13" name="Shape 10"/>
          <p:cNvSpPr/>
          <p:nvPr/>
        </p:nvSpPr>
        <p:spPr>
          <a:xfrm>
            <a:off x="5643562" y="2250281"/>
            <a:ext cx="3071813" cy="2536031"/>
          </a:xfrm>
          <a:prstGeom prst="roundRect">
            <a:avLst>
              <a:gd name="adj" fmla="val 6000"/>
            </a:avLst>
          </a:prstGeom>
          <a:solidFill>
            <a:srgbClr val="FFFFFF"/>
          </a:solidFill>
          <a:ln/>
          <a:effectLst>
            <a:outerShdw blurRad="127000" dist="38100" dir="5400000" algn="bl" rotWithShape="0">
              <a:srgbClr val="000000">
                <a:alpha val="3137"/>
              </a:srgbClr>
            </a:outerShdw>
          </a:effectLst>
        </p:spPr>
        <p:txBody>
          <a:bodyPr/>
          <a:lstStyle/>
          <a:p>
            <a:endParaRPr lang="en-US" sz="1013"/>
          </a:p>
        </p:txBody>
      </p:sp>
      <p:sp>
        <p:nvSpPr>
          <p:cNvPr id="14" name="Shape 11"/>
          <p:cNvSpPr/>
          <p:nvPr/>
        </p:nvSpPr>
        <p:spPr>
          <a:xfrm>
            <a:off x="5848946" y="2378869"/>
            <a:ext cx="160734" cy="214313"/>
          </a:xfrm>
          <a:custGeom>
            <a:avLst/>
            <a:gdLst/>
            <a:ahLst/>
            <a:cxnLst/>
            <a:rect l="l" t="t" r="r" b="b"/>
            <a:pathLst>
              <a:path w="285750" h="381000">
                <a:moveTo>
                  <a:pt x="0" y="47625"/>
                </a:moveTo>
                <a:cubicBezTo>
                  <a:pt x="0" y="21357"/>
                  <a:pt x="21357" y="0"/>
                  <a:pt x="47625" y="0"/>
                </a:cubicBezTo>
                <a:lnTo>
                  <a:pt x="158874" y="0"/>
                </a:lnTo>
                <a:cubicBezTo>
                  <a:pt x="171524" y="0"/>
                  <a:pt x="183654" y="4986"/>
                  <a:pt x="192584" y="13915"/>
                </a:cubicBezTo>
                <a:lnTo>
                  <a:pt x="271835" y="93241"/>
                </a:lnTo>
                <a:cubicBezTo>
                  <a:pt x="280764" y="102171"/>
                  <a:pt x="285750" y="114300"/>
                  <a:pt x="285750" y="126950"/>
                </a:cubicBezTo>
                <a:lnTo>
                  <a:pt x="285750" y="333375"/>
                </a:lnTo>
                <a:cubicBezTo>
                  <a:pt x="285750" y="359643"/>
                  <a:pt x="264393" y="381000"/>
                  <a:pt x="238125" y="381000"/>
                </a:cubicBezTo>
                <a:lnTo>
                  <a:pt x="47625" y="381000"/>
                </a:lnTo>
                <a:cubicBezTo>
                  <a:pt x="21357" y="381000"/>
                  <a:pt x="0" y="359643"/>
                  <a:pt x="0" y="333375"/>
                </a:cubicBezTo>
                <a:lnTo>
                  <a:pt x="0" y="47625"/>
                </a:lnTo>
                <a:close/>
                <a:moveTo>
                  <a:pt x="154781" y="43532"/>
                </a:moveTo>
                <a:lnTo>
                  <a:pt x="154781" y="113109"/>
                </a:lnTo>
                <a:cubicBezTo>
                  <a:pt x="154781" y="123006"/>
                  <a:pt x="162744" y="130969"/>
                  <a:pt x="172641" y="130969"/>
                </a:cubicBezTo>
                <a:lnTo>
                  <a:pt x="242218" y="130969"/>
                </a:lnTo>
                <a:lnTo>
                  <a:pt x="154781" y="43532"/>
                </a:lnTo>
                <a:close/>
                <a:moveTo>
                  <a:pt x="89297" y="190500"/>
                </a:moveTo>
                <a:cubicBezTo>
                  <a:pt x="79400" y="190500"/>
                  <a:pt x="71438" y="198462"/>
                  <a:pt x="71438" y="208359"/>
                </a:cubicBezTo>
                <a:cubicBezTo>
                  <a:pt x="71438" y="218256"/>
                  <a:pt x="79400" y="226219"/>
                  <a:pt x="89297" y="226219"/>
                </a:cubicBezTo>
                <a:lnTo>
                  <a:pt x="196453" y="226219"/>
                </a:lnTo>
                <a:cubicBezTo>
                  <a:pt x="206350" y="226219"/>
                  <a:pt x="214313" y="218256"/>
                  <a:pt x="214313" y="208359"/>
                </a:cubicBezTo>
                <a:cubicBezTo>
                  <a:pt x="214313" y="198462"/>
                  <a:pt x="206350" y="190500"/>
                  <a:pt x="196453" y="190500"/>
                </a:cubicBezTo>
                <a:lnTo>
                  <a:pt x="89297" y="190500"/>
                </a:lnTo>
                <a:close/>
                <a:moveTo>
                  <a:pt x="89297" y="261938"/>
                </a:moveTo>
                <a:cubicBezTo>
                  <a:pt x="79400" y="261938"/>
                  <a:pt x="71438" y="269900"/>
                  <a:pt x="71438" y="279797"/>
                </a:cubicBezTo>
                <a:cubicBezTo>
                  <a:pt x="71438" y="289694"/>
                  <a:pt x="79400" y="297656"/>
                  <a:pt x="89297" y="297656"/>
                </a:cubicBezTo>
                <a:lnTo>
                  <a:pt x="196453" y="297656"/>
                </a:lnTo>
                <a:cubicBezTo>
                  <a:pt x="206350" y="297656"/>
                  <a:pt x="214313" y="289694"/>
                  <a:pt x="214313" y="279797"/>
                </a:cubicBezTo>
                <a:cubicBezTo>
                  <a:pt x="214313" y="269900"/>
                  <a:pt x="206350" y="261938"/>
                  <a:pt x="196453" y="261938"/>
                </a:cubicBezTo>
                <a:lnTo>
                  <a:pt x="89297" y="261938"/>
                </a:lnTo>
                <a:close/>
              </a:path>
            </a:pathLst>
          </a:custGeom>
          <a:solidFill>
            <a:srgbClr val="36ADA3"/>
          </a:solidFill>
          <a:ln/>
        </p:spPr>
        <p:txBody>
          <a:bodyPr/>
          <a:lstStyle/>
          <a:p>
            <a:endParaRPr lang="en-US" sz="1013"/>
          </a:p>
        </p:txBody>
      </p:sp>
      <p:sp>
        <p:nvSpPr>
          <p:cNvPr id="15" name="Text 12"/>
          <p:cNvSpPr/>
          <p:nvPr/>
        </p:nvSpPr>
        <p:spPr>
          <a:xfrm>
            <a:off x="6129337" y="2357438"/>
            <a:ext cx="2357438" cy="228600"/>
          </a:xfrm>
          <a:prstGeom prst="rect">
            <a:avLst/>
          </a:prstGeom>
          <a:noFill/>
          <a:ln/>
        </p:spPr>
        <p:txBody>
          <a:bodyPr wrap="none" lIns="0" tIns="0" rIns="0" bIns="0" rtlCol="0" anchor="ctr"/>
          <a:lstStyle/>
          <a:p>
            <a:pPr>
              <a:lnSpc>
                <a:spcPct val="100000"/>
              </a:lnSpc>
            </a:pPr>
            <a:r>
              <a:rPr lang="en-US" sz="1125" b="1" dirty="0">
                <a:solidFill>
                  <a:srgbClr val="36ADA3"/>
                </a:solidFill>
                <a:ea typeface="Quattrocento Sans" pitchFamily="34" charset="-122"/>
                <a:cs typeface="Segoe UI" panose="020B0502040204020203" pitchFamily="34" charset="0"/>
              </a:rPr>
              <a:t>Sample Record</a:t>
            </a:r>
            <a:endParaRPr lang="en-US" sz="900" dirty="0"/>
          </a:p>
        </p:txBody>
      </p:sp>
      <p:sp>
        <p:nvSpPr>
          <p:cNvPr id="16" name="Text 13"/>
          <p:cNvSpPr/>
          <p:nvPr/>
        </p:nvSpPr>
        <p:spPr>
          <a:xfrm>
            <a:off x="5822156" y="2643188"/>
            <a:ext cx="2714625" cy="2000250"/>
          </a:xfrm>
          <a:prstGeom prst="rect">
            <a:avLst/>
          </a:prstGeom>
          <a:noFill/>
          <a:ln/>
        </p:spPr>
        <p:txBody>
          <a:bodyPr wrap="square" lIns="0" tIns="0" rIns="0" bIns="0" rtlCol="0" anchor="t"/>
          <a:lstStyle/>
          <a:p>
            <a:pPr>
              <a:lnSpc>
                <a:spcPct val="155000"/>
              </a:lnSpc>
            </a:pPr>
            <a:r>
              <a:rPr lang="en-US" sz="1050" b="1" dirty="0">
                <a:solidFill>
                  <a:srgbClr val="08204F"/>
                </a:solidFill>
                <a:ea typeface="Quattrocento Sans" pitchFamily="34" charset="-122"/>
                <a:cs typeface="Segoe UI" panose="020B0502040204020203" pitchFamily="34" charset="0"/>
              </a:rPr>
              <a:t>Individual_ID:</a:t>
            </a:r>
            <a:r>
              <a:rPr lang="en-US" sz="1050" dirty="0">
                <a:solidFill>
                  <a:srgbClr val="08204F"/>
                </a:solidFill>
                <a:ea typeface="Quattrocento Sans" pitchFamily="34" charset="-122"/>
                <a:cs typeface="Segoe UI" panose="020B0502040204020203" pitchFamily="34" charset="0"/>
              </a:rPr>
              <a:t> 8</a:t>
            </a:r>
            <a:endParaRPr lang="en-US" sz="1050" dirty="0">
              <a:solidFill>
                <a:srgbClr val="08204F"/>
              </a:solidFill>
            </a:endParaRPr>
          </a:p>
          <a:p>
            <a:pPr>
              <a:lnSpc>
                <a:spcPct val="155000"/>
              </a:lnSpc>
            </a:pPr>
            <a:r>
              <a:rPr lang="en-US" sz="1050" b="1" dirty="0">
                <a:solidFill>
                  <a:srgbClr val="08204F"/>
                </a:solidFill>
                <a:ea typeface="Quattrocento Sans" pitchFamily="34" charset="-122"/>
                <a:cs typeface="Segoe UI" panose="020B0502040204020203" pitchFamily="34" charset="0"/>
              </a:rPr>
              <a:t>Age:</a:t>
            </a:r>
            <a:r>
              <a:rPr lang="en-US" sz="1050" dirty="0">
                <a:solidFill>
                  <a:srgbClr val="08204F"/>
                </a:solidFill>
                <a:ea typeface="Quattrocento Sans" pitchFamily="34" charset="-122"/>
                <a:cs typeface="Segoe UI" panose="020B0502040204020203" pitchFamily="34" charset="0"/>
              </a:rPr>
              <a:t> 35 | </a:t>
            </a:r>
            <a:r>
              <a:rPr lang="en-US" sz="1050" b="1" dirty="0">
                <a:solidFill>
                  <a:srgbClr val="08204F"/>
                </a:solidFill>
                <a:ea typeface="Quattrocento Sans" pitchFamily="34" charset="-122"/>
                <a:cs typeface="Segoe UI" panose="020B0502040204020203" pitchFamily="34" charset="0"/>
              </a:rPr>
              <a:t>Gender:</a:t>
            </a:r>
            <a:r>
              <a:rPr lang="en-US" sz="1050" dirty="0">
                <a:solidFill>
                  <a:srgbClr val="08204F"/>
                </a:solidFill>
                <a:ea typeface="Quattrocento Sans" pitchFamily="34" charset="-122"/>
                <a:cs typeface="Segoe UI" panose="020B0502040204020203" pitchFamily="34" charset="0"/>
              </a:rPr>
              <a:t> ذكر</a:t>
            </a:r>
            <a:endParaRPr lang="en-US" sz="1050" dirty="0">
              <a:solidFill>
                <a:srgbClr val="08204F"/>
              </a:solidFill>
            </a:endParaRPr>
          </a:p>
          <a:p>
            <a:pPr>
              <a:lnSpc>
                <a:spcPct val="155000"/>
              </a:lnSpc>
            </a:pPr>
            <a:r>
              <a:rPr lang="en-US" sz="1050" b="1" dirty="0">
                <a:solidFill>
                  <a:srgbClr val="08204F"/>
                </a:solidFill>
                <a:ea typeface="Quattrocento Sans" pitchFamily="34" charset="-122"/>
                <a:cs typeface="Segoe UI" panose="020B0502040204020203" pitchFamily="34" charset="0"/>
              </a:rPr>
              <a:t>Governorate:</a:t>
            </a:r>
            <a:r>
              <a:rPr lang="en-US" sz="1050" dirty="0">
                <a:solidFill>
                  <a:srgbClr val="08204F"/>
                </a:solidFill>
                <a:ea typeface="Quattrocento Sans" pitchFamily="34" charset="-122"/>
                <a:cs typeface="Segoe UI" panose="020B0502040204020203" pitchFamily="34" charset="0"/>
              </a:rPr>
              <a:t> الجيزة</a:t>
            </a:r>
            <a:endParaRPr lang="en-US" sz="1050" dirty="0">
              <a:solidFill>
                <a:srgbClr val="08204F"/>
              </a:solidFill>
            </a:endParaRPr>
          </a:p>
          <a:p>
            <a:pPr>
              <a:lnSpc>
                <a:spcPct val="155000"/>
              </a:lnSpc>
            </a:pPr>
            <a:r>
              <a:rPr lang="en-US" sz="1050" b="1" dirty="0">
                <a:solidFill>
                  <a:srgbClr val="08204F"/>
                </a:solidFill>
                <a:ea typeface="Quattrocento Sans" pitchFamily="34" charset="-122"/>
                <a:cs typeface="Segoe UI" panose="020B0502040204020203" pitchFamily="34" charset="0"/>
              </a:rPr>
              <a:t>Current_Job:</a:t>
            </a:r>
            <a:r>
              <a:rPr lang="en-US" sz="1050" dirty="0">
                <a:solidFill>
                  <a:srgbClr val="08204F"/>
                </a:solidFill>
                <a:ea typeface="Quattrocento Sans" pitchFamily="34" charset="-122"/>
                <a:cs typeface="Segoe UI" panose="020B0502040204020203" pitchFamily="34" charset="0"/>
              </a:rPr>
              <a:t> نجار مسلح</a:t>
            </a:r>
            <a:endParaRPr lang="en-US" sz="1050" dirty="0">
              <a:solidFill>
                <a:srgbClr val="08204F"/>
              </a:solidFill>
            </a:endParaRPr>
          </a:p>
          <a:p>
            <a:pPr>
              <a:lnSpc>
                <a:spcPct val="155000"/>
              </a:lnSpc>
            </a:pPr>
            <a:r>
              <a:rPr lang="en-US" sz="1050" b="1" dirty="0">
                <a:solidFill>
                  <a:srgbClr val="08204F"/>
                </a:solidFill>
                <a:ea typeface="Quattrocento Sans" pitchFamily="34" charset="-122"/>
                <a:cs typeface="Segoe UI" panose="020B0502040204020203" pitchFamily="34" charset="0"/>
              </a:rPr>
              <a:t>Education:</a:t>
            </a:r>
            <a:r>
              <a:rPr lang="en-US" sz="1050" dirty="0">
                <a:solidFill>
                  <a:srgbClr val="08204F"/>
                </a:solidFill>
                <a:ea typeface="Quattrocento Sans" pitchFamily="34" charset="-122"/>
                <a:cs typeface="Segoe UI" panose="020B0502040204020203" pitchFamily="34" charset="0"/>
              </a:rPr>
              <a:t> مؤهل إعدادي</a:t>
            </a:r>
            <a:endParaRPr lang="en-US" sz="1050" dirty="0">
              <a:solidFill>
                <a:srgbClr val="08204F"/>
              </a:solidFill>
            </a:endParaRPr>
          </a:p>
          <a:p>
            <a:pPr>
              <a:lnSpc>
                <a:spcPct val="155000"/>
              </a:lnSpc>
            </a:pPr>
            <a:r>
              <a:rPr lang="en-US" sz="1050" b="1" dirty="0">
                <a:solidFill>
                  <a:srgbClr val="08204F"/>
                </a:solidFill>
                <a:ea typeface="Quattrocento Sans" pitchFamily="34" charset="-122"/>
                <a:cs typeface="Segoe UI" panose="020B0502040204020203" pitchFamily="34" charset="0"/>
              </a:rPr>
              <a:t>Marital_Status:</a:t>
            </a:r>
            <a:r>
              <a:rPr lang="en-US" sz="1050" dirty="0">
                <a:solidFill>
                  <a:srgbClr val="08204F"/>
                </a:solidFill>
                <a:ea typeface="Quattrocento Sans" pitchFamily="34" charset="-122"/>
                <a:cs typeface="Segoe UI" panose="020B0502040204020203" pitchFamily="34" charset="0"/>
              </a:rPr>
              <a:t> متزوج</a:t>
            </a:r>
            <a:endParaRPr lang="en-US" sz="1050" dirty="0">
              <a:solidFill>
                <a:srgbClr val="08204F"/>
              </a:solidFill>
            </a:endParaRPr>
          </a:p>
          <a:p>
            <a:pPr>
              <a:lnSpc>
                <a:spcPct val="155000"/>
              </a:lnSpc>
            </a:pPr>
            <a:r>
              <a:rPr lang="en-US" sz="1050" b="1" dirty="0">
                <a:solidFill>
                  <a:srgbClr val="08204F"/>
                </a:solidFill>
                <a:ea typeface="Quattrocento Sans" pitchFamily="34" charset="-122"/>
                <a:cs typeface="Segoe UI" panose="020B0502040204020203" pitchFamily="34" charset="0"/>
              </a:rPr>
              <a:t>Salary:</a:t>
            </a:r>
            <a:r>
              <a:rPr lang="en-US" sz="1050" dirty="0">
                <a:solidFill>
                  <a:srgbClr val="08204F"/>
                </a:solidFill>
                <a:ea typeface="Quattrocento Sans" pitchFamily="34" charset="-122"/>
                <a:cs typeface="Segoe UI" panose="020B0502040204020203" pitchFamily="34" charset="0"/>
              </a:rPr>
              <a:t> 8,000 EGP</a:t>
            </a:r>
            <a:endParaRPr lang="en-US" sz="1050" dirty="0">
              <a:solidFill>
                <a:srgbClr val="08204F"/>
              </a:solidFill>
            </a:endParaRPr>
          </a:p>
          <a:p>
            <a:pPr>
              <a:lnSpc>
                <a:spcPct val="155000"/>
              </a:lnSpc>
            </a:pPr>
            <a:r>
              <a:rPr lang="en-US" sz="1050" b="1" dirty="0">
                <a:solidFill>
                  <a:srgbClr val="08204F"/>
                </a:solidFill>
                <a:ea typeface="Quattrocento Sans" pitchFamily="34" charset="-122"/>
                <a:cs typeface="Segoe UI" panose="020B0502040204020203" pitchFamily="34" charset="0"/>
              </a:rPr>
              <a:t>Weekly_Hours:</a:t>
            </a:r>
            <a:r>
              <a:rPr lang="en-US" sz="1050" dirty="0">
                <a:solidFill>
                  <a:srgbClr val="08204F"/>
                </a:solidFill>
                <a:ea typeface="Quattrocento Sans" pitchFamily="34" charset="-122"/>
                <a:cs typeface="Segoe UI" panose="020B0502040204020203" pitchFamily="34" charset="0"/>
              </a:rPr>
              <a:t> 40</a:t>
            </a:r>
            <a:endParaRPr lang="en-US" sz="1050" dirty="0">
              <a:solidFill>
                <a:srgbClr val="08204F"/>
              </a:solidFill>
            </a:endParaRPr>
          </a:p>
        </p:txBody>
      </p:sp>
      <p:sp>
        <p:nvSpPr>
          <p:cNvPr id="17" name="Text 14"/>
          <p:cNvSpPr/>
          <p:nvPr/>
        </p:nvSpPr>
        <p:spPr>
          <a:xfrm>
            <a:off x="8501062" y="4893469"/>
            <a:ext cx="357188" cy="178594"/>
          </a:xfrm>
          <a:prstGeom prst="rect">
            <a:avLst/>
          </a:prstGeom>
          <a:noFill/>
          <a:ln/>
        </p:spPr>
        <p:txBody>
          <a:bodyPr wrap="none" lIns="0" tIns="0" rIns="0" bIns="0" rtlCol="0" anchor="ctr"/>
          <a:lstStyle/>
          <a:p>
            <a:pPr algn="r">
              <a:lnSpc>
                <a:spcPct val="100000"/>
              </a:lnSpc>
            </a:pPr>
            <a:r>
              <a:rPr lang="en-US" sz="788" dirty="0">
                <a:solidFill>
                  <a:srgbClr val="2F578A"/>
                </a:solidFill>
                <a:ea typeface="Quattrocento Sans" pitchFamily="34" charset="-122"/>
                <a:cs typeface="Segoe UI" panose="020B0502040204020203" pitchFamily="34" charset="0"/>
              </a:rPr>
              <a:t>11</a:t>
            </a:r>
            <a:endParaRPr lang="en-US" sz="900" dirty="0"/>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4" name="Shape 0">
            <a:extLst>
              <a:ext uri="{FF2B5EF4-FFF2-40B4-BE49-F238E27FC236}">
                <a16:creationId xmlns:a16="http://schemas.microsoft.com/office/drawing/2014/main" id="{B217E450-69BB-1313-B641-F928386FEE23}"/>
              </a:ext>
            </a:extLst>
          </p:cNvPr>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pic>
        <p:nvPicPr>
          <p:cNvPr id="25" name="Image 0" descr="preencoded.png">
            <a:extLst>
              <a:ext uri="{FF2B5EF4-FFF2-40B4-BE49-F238E27FC236}">
                <a16:creationId xmlns:a16="http://schemas.microsoft.com/office/drawing/2014/main" id="{DE9A027B-FEA6-A3BC-8C10-68889E712C25}"/>
              </a:ext>
            </a:extLst>
          </p:cNvPr>
          <p:cNvPicPr>
            <a:picLocks noChangeAspect="1"/>
          </p:cNvPicPr>
          <p:nvPr/>
        </p:nvPicPr>
        <p:blipFill>
          <a:blip r:embed="rId3"/>
          <a:stretch>
            <a:fillRect/>
          </a:stretch>
        </p:blipFill>
        <p:spPr>
          <a:xfrm>
            <a:off x="8046720" y="45720"/>
            <a:ext cx="685800" cy="676656"/>
          </a:xfrm>
          <a:prstGeom prst="rect">
            <a:avLst/>
          </a:prstGeom>
        </p:spPr>
      </p:pic>
      <p:sp>
        <p:nvSpPr>
          <p:cNvPr id="5" name="Text 3"/>
          <p:cNvSpPr/>
          <p:nvPr/>
        </p:nvSpPr>
        <p:spPr>
          <a:xfrm>
            <a:off x="428625" y="1"/>
            <a:ext cx="5000625" cy="777240"/>
          </a:xfrm>
          <a:prstGeom prst="rect">
            <a:avLst/>
          </a:prstGeom>
          <a:noFill/>
          <a:ln/>
        </p:spPr>
        <p:txBody>
          <a:bodyPr wrap="none" lIns="0" tIns="0" rIns="0" bIns="0" rtlCol="0" anchor="ctr"/>
          <a:lstStyle/>
          <a:p>
            <a:pPr>
              <a:lnSpc>
                <a:spcPct val="100000"/>
              </a:lnSpc>
            </a:pPr>
            <a:r>
              <a:rPr lang="en-US" b="1" dirty="0">
                <a:solidFill>
                  <a:schemeClr val="bg1"/>
                </a:solidFill>
                <a:ea typeface="QuattrocentoSans" pitchFamily="34" charset="-122"/>
                <a:cs typeface="Calibri" panose="020F0502020204030204" pitchFamily="34" charset="0"/>
              </a:rPr>
              <a:t>SQL Server SSMS Verification</a:t>
            </a:r>
            <a:endParaRPr lang="en-US" dirty="0">
              <a:solidFill>
                <a:schemeClr val="bg1"/>
              </a:solidFill>
            </a:endParaRPr>
          </a:p>
        </p:txBody>
      </p:sp>
      <p:sp>
        <p:nvSpPr>
          <p:cNvPr id="7" name="Shape 5"/>
          <p:cNvSpPr/>
          <p:nvPr/>
        </p:nvSpPr>
        <p:spPr>
          <a:xfrm>
            <a:off x="428625" y="1000125"/>
            <a:ext cx="5000625" cy="3786188"/>
          </a:xfrm>
          <a:prstGeom prst="roundRect">
            <a:avLst>
              <a:gd name="adj" fmla="val 6000"/>
            </a:avLst>
          </a:prstGeom>
          <a:solidFill>
            <a:srgbClr val="FFFFFF"/>
          </a:solidFill>
          <a:ln/>
          <a:effectLst>
            <a:outerShdw blurRad="127000" dist="38100" dir="5400000" algn="bl" rotWithShape="0">
              <a:srgbClr val="000000">
                <a:alpha val="3137"/>
              </a:srgbClr>
            </a:outerShdw>
          </a:effectLst>
        </p:spPr>
        <p:txBody>
          <a:bodyPr/>
          <a:lstStyle/>
          <a:p>
            <a:endParaRPr lang="en-US" sz="1013"/>
          </a:p>
        </p:txBody>
      </p:sp>
      <p:pic>
        <p:nvPicPr>
          <p:cNvPr id="8" name="Image 0" descr="https://kimi-img.moonshot.cn/pub/slides/okc/wxirrvn3lwsta/mnt/agents/output/capmas-new/images/ssms.png"/>
          <p:cNvPicPr>
            <a:picLocks noChangeAspect="1"/>
          </p:cNvPicPr>
          <p:nvPr/>
        </p:nvPicPr>
        <p:blipFill>
          <a:blip r:embed="rId4"/>
          <a:srcRect l="14142" r="14142"/>
          <a:stretch/>
        </p:blipFill>
        <p:spPr>
          <a:xfrm>
            <a:off x="535781" y="1107281"/>
            <a:ext cx="4786313" cy="3571875"/>
          </a:xfrm>
          <a:prstGeom prst="roundRect">
            <a:avLst>
              <a:gd name="adj" fmla="val 4000"/>
            </a:avLst>
          </a:prstGeom>
        </p:spPr>
      </p:pic>
      <p:sp>
        <p:nvSpPr>
          <p:cNvPr id="9" name="Shape 6"/>
          <p:cNvSpPr/>
          <p:nvPr/>
        </p:nvSpPr>
        <p:spPr>
          <a:xfrm>
            <a:off x="5643562" y="1000125"/>
            <a:ext cx="3071813" cy="857250"/>
          </a:xfrm>
          <a:prstGeom prst="roundRect">
            <a:avLst>
              <a:gd name="adj" fmla="val 6000"/>
            </a:avLst>
          </a:prstGeom>
          <a:solidFill>
            <a:srgbClr val="FFFFFF"/>
          </a:solidFill>
          <a:ln/>
          <a:effectLst>
            <a:outerShdw blurRad="127000" dist="38100" dir="5400000" algn="bl" rotWithShape="0">
              <a:srgbClr val="000000">
                <a:alpha val="3137"/>
              </a:srgbClr>
            </a:outerShdw>
          </a:effectLst>
        </p:spPr>
        <p:txBody>
          <a:bodyPr/>
          <a:lstStyle/>
          <a:p>
            <a:endParaRPr lang="en-US" sz="1013"/>
          </a:p>
        </p:txBody>
      </p:sp>
      <p:sp>
        <p:nvSpPr>
          <p:cNvPr id="10" name="Shape 7"/>
          <p:cNvSpPr/>
          <p:nvPr/>
        </p:nvSpPr>
        <p:spPr>
          <a:xfrm>
            <a:off x="5835552" y="1128712"/>
            <a:ext cx="187523" cy="214313"/>
          </a:xfrm>
          <a:custGeom>
            <a:avLst/>
            <a:gdLst/>
            <a:ahLst/>
            <a:cxnLst/>
            <a:rect l="l" t="t" r="r" b="b"/>
            <a:pathLst>
              <a:path w="333375" h="381000">
                <a:moveTo>
                  <a:pt x="333375" y="153144"/>
                </a:moveTo>
                <a:cubicBezTo>
                  <a:pt x="322362" y="160437"/>
                  <a:pt x="309711" y="166315"/>
                  <a:pt x="296540" y="171004"/>
                </a:cubicBezTo>
                <a:cubicBezTo>
                  <a:pt x="261565" y="183505"/>
                  <a:pt x="215652" y="190500"/>
                  <a:pt x="166688" y="190500"/>
                </a:cubicBezTo>
                <a:cubicBezTo>
                  <a:pt x="117723" y="190500"/>
                  <a:pt x="71735" y="183431"/>
                  <a:pt x="36835" y="171004"/>
                </a:cubicBezTo>
                <a:cubicBezTo>
                  <a:pt x="23738" y="166315"/>
                  <a:pt x="11013" y="160437"/>
                  <a:pt x="0" y="153144"/>
                </a:cubicBezTo>
                <a:lnTo>
                  <a:pt x="0" y="214313"/>
                </a:lnTo>
                <a:cubicBezTo>
                  <a:pt x="0" y="247204"/>
                  <a:pt x="74637" y="273844"/>
                  <a:pt x="166688" y="273844"/>
                </a:cubicBezTo>
                <a:cubicBezTo>
                  <a:pt x="258738" y="273844"/>
                  <a:pt x="333375" y="247204"/>
                  <a:pt x="333375" y="214313"/>
                </a:cubicBezTo>
                <a:lnTo>
                  <a:pt x="333375" y="153144"/>
                </a:lnTo>
                <a:close/>
                <a:moveTo>
                  <a:pt x="333375" y="95250"/>
                </a:moveTo>
                <a:lnTo>
                  <a:pt x="333375" y="59531"/>
                </a:lnTo>
                <a:cubicBezTo>
                  <a:pt x="333375" y="26640"/>
                  <a:pt x="258738" y="0"/>
                  <a:pt x="166688" y="0"/>
                </a:cubicBezTo>
                <a:cubicBezTo>
                  <a:pt x="74637" y="0"/>
                  <a:pt x="0" y="26640"/>
                  <a:pt x="0" y="59531"/>
                </a:cubicBezTo>
                <a:lnTo>
                  <a:pt x="0" y="95250"/>
                </a:lnTo>
                <a:cubicBezTo>
                  <a:pt x="0" y="128141"/>
                  <a:pt x="74637" y="154781"/>
                  <a:pt x="166688" y="154781"/>
                </a:cubicBezTo>
                <a:cubicBezTo>
                  <a:pt x="258738" y="154781"/>
                  <a:pt x="333375" y="128141"/>
                  <a:pt x="333375" y="95250"/>
                </a:cubicBezTo>
                <a:close/>
                <a:moveTo>
                  <a:pt x="296540" y="290066"/>
                </a:moveTo>
                <a:cubicBezTo>
                  <a:pt x="261640" y="302493"/>
                  <a:pt x="215726" y="309563"/>
                  <a:pt x="166688" y="309563"/>
                </a:cubicBezTo>
                <a:cubicBezTo>
                  <a:pt x="117649" y="309563"/>
                  <a:pt x="71735" y="302493"/>
                  <a:pt x="36835" y="290066"/>
                </a:cubicBezTo>
                <a:cubicBezTo>
                  <a:pt x="23738" y="285378"/>
                  <a:pt x="11013" y="279499"/>
                  <a:pt x="0" y="272207"/>
                </a:cubicBezTo>
                <a:lnTo>
                  <a:pt x="0" y="321469"/>
                </a:lnTo>
                <a:cubicBezTo>
                  <a:pt x="0" y="354360"/>
                  <a:pt x="74637" y="381000"/>
                  <a:pt x="166688" y="381000"/>
                </a:cubicBezTo>
                <a:cubicBezTo>
                  <a:pt x="258738" y="381000"/>
                  <a:pt x="333375" y="354360"/>
                  <a:pt x="333375" y="321469"/>
                </a:cubicBezTo>
                <a:lnTo>
                  <a:pt x="333375" y="272207"/>
                </a:lnTo>
                <a:cubicBezTo>
                  <a:pt x="322362" y="279499"/>
                  <a:pt x="309711" y="285378"/>
                  <a:pt x="296540" y="290066"/>
                </a:cubicBezTo>
                <a:close/>
              </a:path>
            </a:pathLst>
          </a:custGeom>
          <a:solidFill>
            <a:srgbClr val="36ADA3"/>
          </a:solidFill>
          <a:ln/>
        </p:spPr>
        <p:txBody>
          <a:bodyPr/>
          <a:lstStyle/>
          <a:p>
            <a:endParaRPr lang="en-US" sz="1013"/>
          </a:p>
        </p:txBody>
      </p:sp>
      <p:sp>
        <p:nvSpPr>
          <p:cNvPr id="11" name="Text 8"/>
          <p:cNvSpPr/>
          <p:nvPr/>
        </p:nvSpPr>
        <p:spPr>
          <a:xfrm>
            <a:off x="6129337" y="1107281"/>
            <a:ext cx="2357438" cy="228600"/>
          </a:xfrm>
          <a:prstGeom prst="rect">
            <a:avLst/>
          </a:prstGeom>
          <a:noFill/>
          <a:ln/>
        </p:spPr>
        <p:txBody>
          <a:bodyPr wrap="none" lIns="0" tIns="0" rIns="0" bIns="0" rtlCol="0" anchor="ctr"/>
          <a:lstStyle/>
          <a:p>
            <a:pPr>
              <a:lnSpc>
                <a:spcPct val="100000"/>
              </a:lnSpc>
            </a:pPr>
            <a:r>
              <a:rPr lang="en-US" sz="1125" b="1" dirty="0">
                <a:solidFill>
                  <a:srgbClr val="36ADA3"/>
                </a:solidFill>
                <a:ea typeface="Quattrocento Sans" pitchFamily="34" charset="-122"/>
                <a:cs typeface="Segoe UI" panose="020B0502040204020203" pitchFamily="34" charset="0"/>
              </a:rPr>
              <a:t>Database: Labour_ForceDB</a:t>
            </a:r>
            <a:endParaRPr lang="en-US" sz="900" dirty="0"/>
          </a:p>
        </p:txBody>
      </p:sp>
      <p:sp>
        <p:nvSpPr>
          <p:cNvPr id="12" name="Text 9"/>
          <p:cNvSpPr/>
          <p:nvPr/>
        </p:nvSpPr>
        <p:spPr>
          <a:xfrm>
            <a:off x="5822156" y="1393031"/>
            <a:ext cx="2714625" cy="428625"/>
          </a:xfrm>
          <a:prstGeom prst="rect">
            <a:avLst/>
          </a:prstGeom>
          <a:noFill/>
          <a:ln/>
        </p:spPr>
        <p:txBody>
          <a:bodyPr wrap="square" lIns="0" tIns="0" rIns="0" bIns="0" rtlCol="0" anchor="t"/>
          <a:lstStyle/>
          <a:p>
            <a:pPr>
              <a:lnSpc>
                <a:spcPct val="150000"/>
              </a:lnSpc>
            </a:pPr>
            <a:r>
              <a:rPr lang="en-US" sz="900" dirty="0">
                <a:solidFill>
                  <a:srgbClr val="1A1A2E"/>
                </a:solidFill>
                <a:ea typeface="Quattrocento Sans" pitchFamily="34" charset="-122"/>
                <a:cs typeface="Segoe UI" panose="020B0502040204020203" pitchFamily="34" charset="0"/>
              </a:rPr>
              <a:t>The data has been successfully stored in the SQL Server database.</a:t>
            </a:r>
            <a:endParaRPr lang="en-US" sz="900" dirty="0"/>
          </a:p>
        </p:txBody>
      </p:sp>
      <p:sp>
        <p:nvSpPr>
          <p:cNvPr id="13" name="Shape 10"/>
          <p:cNvSpPr/>
          <p:nvPr/>
        </p:nvSpPr>
        <p:spPr>
          <a:xfrm>
            <a:off x="5643562" y="1964531"/>
            <a:ext cx="3071813" cy="1035844"/>
          </a:xfrm>
          <a:prstGeom prst="roundRect">
            <a:avLst>
              <a:gd name="adj" fmla="val 6000"/>
            </a:avLst>
          </a:prstGeom>
          <a:solidFill>
            <a:srgbClr val="FFFFFF"/>
          </a:solidFill>
          <a:ln/>
          <a:effectLst>
            <a:outerShdw blurRad="127000" dist="38100" dir="5400000" algn="bl" rotWithShape="0">
              <a:srgbClr val="000000">
                <a:alpha val="3137"/>
              </a:srgbClr>
            </a:outerShdw>
          </a:effectLst>
        </p:spPr>
        <p:txBody>
          <a:bodyPr/>
          <a:lstStyle/>
          <a:p>
            <a:endParaRPr lang="en-US" sz="1013"/>
          </a:p>
        </p:txBody>
      </p:sp>
      <p:sp>
        <p:nvSpPr>
          <p:cNvPr id="14" name="Shape 11"/>
          <p:cNvSpPr/>
          <p:nvPr/>
        </p:nvSpPr>
        <p:spPr>
          <a:xfrm>
            <a:off x="5822156" y="2093119"/>
            <a:ext cx="214313" cy="214313"/>
          </a:xfrm>
          <a:custGeom>
            <a:avLst/>
            <a:gdLst/>
            <a:ahLst/>
            <a:cxnLst/>
            <a:rect l="l" t="t" r="r" b="b"/>
            <a:pathLst>
              <a:path w="381000" h="381000">
                <a:moveTo>
                  <a:pt x="309563" y="154781"/>
                </a:moveTo>
                <a:cubicBezTo>
                  <a:pt x="309563" y="188937"/>
                  <a:pt x="298475" y="220489"/>
                  <a:pt x="279797" y="246087"/>
                </a:cubicBezTo>
                <a:lnTo>
                  <a:pt x="374005" y="340370"/>
                </a:lnTo>
                <a:cubicBezTo>
                  <a:pt x="383307" y="349672"/>
                  <a:pt x="383307" y="364778"/>
                  <a:pt x="374005" y="374079"/>
                </a:cubicBezTo>
                <a:cubicBezTo>
                  <a:pt x="364703" y="383381"/>
                  <a:pt x="349597" y="383381"/>
                  <a:pt x="340296" y="374079"/>
                </a:cubicBezTo>
                <a:lnTo>
                  <a:pt x="246087" y="279797"/>
                </a:lnTo>
                <a:cubicBezTo>
                  <a:pt x="220489" y="298475"/>
                  <a:pt x="188937" y="309563"/>
                  <a:pt x="154781" y="309563"/>
                </a:cubicBezTo>
                <a:cubicBezTo>
                  <a:pt x="69279" y="309563"/>
                  <a:pt x="0" y="240283"/>
                  <a:pt x="0" y="154781"/>
                </a:cubicBezTo>
                <a:cubicBezTo>
                  <a:pt x="0" y="69279"/>
                  <a:pt x="69279" y="0"/>
                  <a:pt x="154781" y="0"/>
                </a:cubicBezTo>
                <a:cubicBezTo>
                  <a:pt x="240283" y="0"/>
                  <a:pt x="309563" y="69279"/>
                  <a:pt x="309563" y="154781"/>
                </a:cubicBezTo>
                <a:close/>
                <a:moveTo>
                  <a:pt x="77391" y="160734"/>
                </a:moveTo>
                <a:lnTo>
                  <a:pt x="77391" y="208359"/>
                </a:lnTo>
                <a:cubicBezTo>
                  <a:pt x="77391" y="218256"/>
                  <a:pt x="85353" y="226219"/>
                  <a:pt x="95250" y="226219"/>
                </a:cubicBezTo>
                <a:cubicBezTo>
                  <a:pt x="105147" y="226219"/>
                  <a:pt x="113109" y="218256"/>
                  <a:pt x="113109" y="208359"/>
                </a:cubicBezTo>
                <a:lnTo>
                  <a:pt x="113109" y="160734"/>
                </a:lnTo>
                <a:cubicBezTo>
                  <a:pt x="113109" y="150837"/>
                  <a:pt x="105147" y="142875"/>
                  <a:pt x="95250" y="142875"/>
                </a:cubicBezTo>
                <a:cubicBezTo>
                  <a:pt x="85353" y="142875"/>
                  <a:pt x="77391" y="150837"/>
                  <a:pt x="77391" y="160734"/>
                </a:cubicBezTo>
                <a:close/>
                <a:moveTo>
                  <a:pt x="136922" y="89297"/>
                </a:moveTo>
                <a:lnTo>
                  <a:pt x="136922" y="208359"/>
                </a:lnTo>
                <a:cubicBezTo>
                  <a:pt x="136922" y="218256"/>
                  <a:pt x="144884" y="226219"/>
                  <a:pt x="154781" y="226219"/>
                </a:cubicBezTo>
                <a:cubicBezTo>
                  <a:pt x="164678" y="226219"/>
                  <a:pt x="172641" y="218256"/>
                  <a:pt x="172641" y="208359"/>
                </a:cubicBezTo>
                <a:lnTo>
                  <a:pt x="172641" y="89297"/>
                </a:lnTo>
                <a:cubicBezTo>
                  <a:pt x="172641" y="79400"/>
                  <a:pt x="164678" y="71438"/>
                  <a:pt x="154781" y="71438"/>
                </a:cubicBezTo>
                <a:cubicBezTo>
                  <a:pt x="144884" y="71438"/>
                  <a:pt x="136922" y="79400"/>
                  <a:pt x="136922" y="89297"/>
                </a:cubicBezTo>
                <a:close/>
                <a:moveTo>
                  <a:pt x="196453" y="136922"/>
                </a:moveTo>
                <a:lnTo>
                  <a:pt x="196453" y="208359"/>
                </a:lnTo>
                <a:cubicBezTo>
                  <a:pt x="196453" y="218256"/>
                  <a:pt x="204415" y="226219"/>
                  <a:pt x="214313" y="226219"/>
                </a:cubicBezTo>
                <a:cubicBezTo>
                  <a:pt x="224210" y="226219"/>
                  <a:pt x="232172" y="218256"/>
                  <a:pt x="232172" y="208359"/>
                </a:cubicBezTo>
                <a:lnTo>
                  <a:pt x="232172" y="136922"/>
                </a:lnTo>
                <a:cubicBezTo>
                  <a:pt x="232172" y="127025"/>
                  <a:pt x="224210" y="119063"/>
                  <a:pt x="214313" y="119063"/>
                </a:cubicBezTo>
                <a:cubicBezTo>
                  <a:pt x="204415" y="119063"/>
                  <a:pt x="196453" y="127025"/>
                  <a:pt x="196453" y="136922"/>
                </a:cubicBezTo>
                <a:close/>
              </a:path>
            </a:pathLst>
          </a:custGeom>
          <a:solidFill>
            <a:srgbClr val="36ADA3"/>
          </a:solidFill>
          <a:ln/>
        </p:spPr>
        <p:txBody>
          <a:bodyPr/>
          <a:lstStyle/>
          <a:p>
            <a:endParaRPr lang="en-US" sz="1013"/>
          </a:p>
        </p:txBody>
      </p:sp>
      <p:sp>
        <p:nvSpPr>
          <p:cNvPr id="15" name="Text 12"/>
          <p:cNvSpPr/>
          <p:nvPr/>
        </p:nvSpPr>
        <p:spPr>
          <a:xfrm>
            <a:off x="6129337" y="2071688"/>
            <a:ext cx="2357438" cy="228600"/>
          </a:xfrm>
          <a:prstGeom prst="rect">
            <a:avLst/>
          </a:prstGeom>
          <a:noFill/>
          <a:ln/>
        </p:spPr>
        <p:txBody>
          <a:bodyPr wrap="none" lIns="0" tIns="0" rIns="0" bIns="0" rtlCol="0" anchor="ctr"/>
          <a:lstStyle/>
          <a:p>
            <a:pPr>
              <a:lnSpc>
                <a:spcPct val="100000"/>
              </a:lnSpc>
            </a:pPr>
            <a:r>
              <a:rPr lang="en-US" sz="1125" b="1" dirty="0">
                <a:solidFill>
                  <a:srgbClr val="36ADA3"/>
                </a:solidFill>
                <a:ea typeface="Quattrocento Sans" pitchFamily="34" charset="-122"/>
                <a:cs typeface="Segoe UI" panose="020B0502040204020203" pitchFamily="34" charset="0"/>
              </a:rPr>
              <a:t>Query Results</a:t>
            </a:r>
            <a:endParaRPr lang="en-US" sz="900" dirty="0"/>
          </a:p>
        </p:txBody>
      </p:sp>
      <p:sp>
        <p:nvSpPr>
          <p:cNvPr id="16" name="Text 13"/>
          <p:cNvSpPr/>
          <p:nvPr/>
        </p:nvSpPr>
        <p:spPr>
          <a:xfrm>
            <a:off x="5822156" y="2357437"/>
            <a:ext cx="2714625" cy="500063"/>
          </a:xfrm>
          <a:prstGeom prst="rect">
            <a:avLst/>
          </a:prstGeom>
          <a:noFill/>
          <a:ln/>
        </p:spPr>
        <p:txBody>
          <a:bodyPr wrap="square" lIns="0" tIns="0" rIns="0" bIns="0" rtlCol="0" anchor="t"/>
          <a:lstStyle/>
          <a:p>
            <a:pPr>
              <a:lnSpc>
                <a:spcPct val="150000"/>
              </a:lnSpc>
            </a:pPr>
            <a:r>
              <a:rPr lang="en-US" sz="900" dirty="0">
                <a:solidFill>
                  <a:srgbClr val="1A1A2E"/>
                </a:solidFill>
                <a:ea typeface="Quattrocento Sans" pitchFamily="34" charset="-122"/>
                <a:cs typeface="Segoe UI" panose="020B0502040204020203" pitchFamily="34" charset="0"/>
              </a:rPr>
              <a:t>SELECT TOP 1000 query returned </a:t>
            </a:r>
            <a:r>
              <a:rPr lang="en-US" sz="900" b="1" dirty="0">
                <a:solidFill>
                  <a:srgbClr val="1A1A2E"/>
                </a:solidFill>
                <a:ea typeface="Quattrocento Sans" pitchFamily="34" charset="-122"/>
                <a:cs typeface="Segoe UI" panose="020B0502040204020203" pitchFamily="34" charset="0"/>
              </a:rPr>
              <a:t>7 rows</a:t>
            </a:r>
            <a:r>
              <a:rPr lang="en-US" sz="900" dirty="0">
                <a:solidFill>
                  <a:srgbClr val="1A1A2E"/>
                </a:solidFill>
                <a:ea typeface="Quattrocento Sans" pitchFamily="34" charset="-122"/>
                <a:cs typeface="Segoe UI" panose="020B0502040204020203" pitchFamily="34" charset="0"/>
              </a:rPr>
              <a:t> of data, confirming successful insertion.</a:t>
            </a:r>
            <a:endParaRPr lang="en-US" sz="900" dirty="0"/>
          </a:p>
        </p:txBody>
      </p:sp>
      <p:sp>
        <p:nvSpPr>
          <p:cNvPr id="17" name="Shape 14"/>
          <p:cNvSpPr/>
          <p:nvPr/>
        </p:nvSpPr>
        <p:spPr>
          <a:xfrm>
            <a:off x="5643562" y="3107531"/>
            <a:ext cx="3071813" cy="857250"/>
          </a:xfrm>
          <a:prstGeom prst="roundRect">
            <a:avLst>
              <a:gd name="adj" fmla="val 6000"/>
            </a:avLst>
          </a:prstGeom>
          <a:solidFill>
            <a:srgbClr val="FFFFFF"/>
          </a:solidFill>
          <a:ln/>
          <a:effectLst>
            <a:outerShdw blurRad="127000" dist="38100" dir="5400000" algn="bl" rotWithShape="0">
              <a:srgbClr val="000000">
                <a:alpha val="3137"/>
              </a:srgbClr>
            </a:outerShdw>
          </a:effectLst>
        </p:spPr>
        <p:txBody>
          <a:bodyPr/>
          <a:lstStyle/>
          <a:p>
            <a:endParaRPr lang="en-US" sz="1013"/>
          </a:p>
        </p:txBody>
      </p:sp>
      <p:sp>
        <p:nvSpPr>
          <p:cNvPr id="18" name="Shape 15"/>
          <p:cNvSpPr/>
          <p:nvPr/>
        </p:nvSpPr>
        <p:spPr>
          <a:xfrm>
            <a:off x="5822156" y="3236119"/>
            <a:ext cx="214313" cy="214313"/>
          </a:xfrm>
          <a:custGeom>
            <a:avLst/>
            <a:gdLst/>
            <a:ahLst/>
            <a:cxnLst/>
            <a:rect l="l" t="t" r="r" b="b"/>
            <a:pathLst>
              <a:path w="381000" h="381000">
                <a:moveTo>
                  <a:pt x="99566" y="27012"/>
                </a:moveTo>
                <a:cubicBezTo>
                  <a:pt x="107677" y="32668"/>
                  <a:pt x="109612" y="43830"/>
                  <a:pt x="103956" y="51867"/>
                </a:cubicBezTo>
                <a:lnTo>
                  <a:pt x="62285" y="111398"/>
                </a:lnTo>
                <a:cubicBezTo>
                  <a:pt x="59234" y="115714"/>
                  <a:pt x="54471" y="118467"/>
                  <a:pt x="49188" y="118914"/>
                </a:cubicBezTo>
                <a:cubicBezTo>
                  <a:pt x="43904" y="119360"/>
                  <a:pt x="38695" y="117574"/>
                  <a:pt x="34975" y="113854"/>
                </a:cubicBezTo>
                <a:lnTo>
                  <a:pt x="5209" y="84088"/>
                </a:lnTo>
                <a:cubicBezTo>
                  <a:pt x="-1712" y="77093"/>
                  <a:pt x="-1712" y="65782"/>
                  <a:pt x="5209" y="58787"/>
                </a:cubicBezTo>
                <a:cubicBezTo>
                  <a:pt x="12129" y="51792"/>
                  <a:pt x="23515" y="51867"/>
                  <a:pt x="30510" y="58787"/>
                </a:cubicBezTo>
                <a:lnTo>
                  <a:pt x="45244" y="73521"/>
                </a:lnTo>
                <a:lnTo>
                  <a:pt x="74712" y="31403"/>
                </a:lnTo>
                <a:cubicBezTo>
                  <a:pt x="80367" y="23292"/>
                  <a:pt x="91529" y="21357"/>
                  <a:pt x="99566" y="27012"/>
                </a:cubicBezTo>
                <a:close/>
                <a:moveTo>
                  <a:pt x="99566" y="146075"/>
                </a:moveTo>
                <a:cubicBezTo>
                  <a:pt x="107677" y="151730"/>
                  <a:pt x="109612" y="162892"/>
                  <a:pt x="103956" y="170929"/>
                </a:cubicBezTo>
                <a:lnTo>
                  <a:pt x="62285" y="230460"/>
                </a:lnTo>
                <a:cubicBezTo>
                  <a:pt x="59234" y="234776"/>
                  <a:pt x="54471" y="237530"/>
                  <a:pt x="49188" y="237976"/>
                </a:cubicBezTo>
                <a:cubicBezTo>
                  <a:pt x="43904" y="238423"/>
                  <a:pt x="38695" y="236637"/>
                  <a:pt x="34975" y="232916"/>
                </a:cubicBezTo>
                <a:lnTo>
                  <a:pt x="5209" y="203150"/>
                </a:lnTo>
                <a:cubicBezTo>
                  <a:pt x="-1786" y="196155"/>
                  <a:pt x="-1786" y="184845"/>
                  <a:pt x="5209" y="177924"/>
                </a:cubicBezTo>
                <a:cubicBezTo>
                  <a:pt x="12204" y="171004"/>
                  <a:pt x="23515" y="170929"/>
                  <a:pt x="30435" y="177924"/>
                </a:cubicBezTo>
                <a:lnTo>
                  <a:pt x="45169" y="192658"/>
                </a:lnTo>
                <a:lnTo>
                  <a:pt x="74637" y="150540"/>
                </a:lnTo>
                <a:cubicBezTo>
                  <a:pt x="80293" y="142429"/>
                  <a:pt x="91455" y="140494"/>
                  <a:pt x="99492" y="146149"/>
                </a:cubicBezTo>
                <a:close/>
                <a:moveTo>
                  <a:pt x="166688" y="71438"/>
                </a:moveTo>
                <a:cubicBezTo>
                  <a:pt x="166688" y="58266"/>
                  <a:pt x="177329" y="47625"/>
                  <a:pt x="190500" y="47625"/>
                </a:cubicBezTo>
                <a:lnTo>
                  <a:pt x="357188" y="47625"/>
                </a:lnTo>
                <a:cubicBezTo>
                  <a:pt x="370359" y="47625"/>
                  <a:pt x="381000" y="58266"/>
                  <a:pt x="381000" y="71438"/>
                </a:cubicBezTo>
                <a:cubicBezTo>
                  <a:pt x="381000" y="84609"/>
                  <a:pt x="370359" y="95250"/>
                  <a:pt x="357188" y="95250"/>
                </a:cubicBezTo>
                <a:lnTo>
                  <a:pt x="190500" y="95250"/>
                </a:lnTo>
                <a:cubicBezTo>
                  <a:pt x="177329" y="95250"/>
                  <a:pt x="166688" y="84609"/>
                  <a:pt x="166688" y="71438"/>
                </a:cubicBezTo>
                <a:close/>
                <a:moveTo>
                  <a:pt x="166688" y="190500"/>
                </a:moveTo>
                <a:cubicBezTo>
                  <a:pt x="166688" y="177329"/>
                  <a:pt x="177329" y="166688"/>
                  <a:pt x="190500" y="166688"/>
                </a:cubicBezTo>
                <a:lnTo>
                  <a:pt x="357188" y="166688"/>
                </a:lnTo>
                <a:cubicBezTo>
                  <a:pt x="370359" y="166688"/>
                  <a:pt x="381000" y="177329"/>
                  <a:pt x="381000" y="190500"/>
                </a:cubicBezTo>
                <a:cubicBezTo>
                  <a:pt x="381000" y="203671"/>
                  <a:pt x="370359" y="214313"/>
                  <a:pt x="357188" y="214313"/>
                </a:cubicBezTo>
                <a:lnTo>
                  <a:pt x="190500" y="214313"/>
                </a:lnTo>
                <a:cubicBezTo>
                  <a:pt x="177329" y="214313"/>
                  <a:pt x="166688" y="203671"/>
                  <a:pt x="166688" y="190500"/>
                </a:cubicBezTo>
                <a:close/>
                <a:moveTo>
                  <a:pt x="119063" y="309563"/>
                </a:moveTo>
                <a:cubicBezTo>
                  <a:pt x="119063" y="296391"/>
                  <a:pt x="129704" y="285750"/>
                  <a:pt x="142875" y="285750"/>
                </a:cubicBezTo>
                <a:lnTo>
                  <a:pt x="357188" y="285750"/>
                </a:lnTo>
                <a:cubicBezTo>
                  <a:pt x="370359" y="285750"/>
                  <a:pt x="381000" y="296391"/>
                  <a:pt x="381000" y="309563"/>
                </a:cubicBezTo>
                <a:cubicBezTo>
                  <a:pt x="381000" y="322734"/>
                  <a:pt x="370359" y="333375"/>
                  <a:pt x="357188" y="333375"/>
                </a:cubicBezTo>
                <a:lnTo>
                  <a:pt x="142875" y="333375"/>
                </a:lnTo>
                <a:cubicBezTo>
                  <a:pt x="129704" y="333375"/>
                  <a:pt x="119063" y="322734"/>
                  <a:pt x="119063" y="309563"/>
                </a:cubicBezTo>
                <a:close/>
                <a:moveTo>
                  <a:pt x="47625" y="279797"/>
                </a:moveTo>
                <a:cubicBezTo>
                  <a:pt x="64053" y="279797"/>
                  <a:pt x="77391" y="293134"/>
                  <a:pt x="77391" y="309563"/>
                </a:cubicBezTo>
                <a:cubicBezTo>
                  <a:pt x="77391" y="325991"/>
                  <a:pt x="64053" y="339328"/>
                  <a:pt x="47625" y="339328"/>
                </a:cubicBezTo>
                <a:cubicBezTo>
                  <a:pt x="31197" y="339328"/>
                  <a:pt x="17859" y="325991"/>
                  <a:pt x="17859" y="309563"/>
                </a:cubicBezTo>
                <a:cubicBezTo>
                  <a:pt x="17859" y="293134"/>
                  <a:pt x="31197" y="279797"/>
                  <a:pt x="47625" y="279797"/>
                </a:cubicBezTo>
                <a:close/>
              </a:path>
            </a:pathLst>
          </a:custGeom>
          <a:solidFill>
            <a:srgbClr val="36ADA3"/>
          </a:solidFill>
          <a:ln/>
        </p:spPr>
        <p:txBody>
          <a:bodyPr/>
          <a:lstStyle/>
          <a:p>
            <a:endParaRPr lang="en-US" sz="1013"/>
          </a:p>
        </p:txBody>
      </p:sp>
      <p:sp>
        <p:nvSpPr>
          <p:cNvPr id="19" name="Text 16"/>
          <p:cNvSpPr/>
          <p:nvPr/>
        </p:nvSpPr>
        <p:spPr>
          <a:xfrm>
            <a:off x="6129337" y="3214688"/>
            <a:ext cx="2357438" cy="228600"/>
          </a:xfrm>
          <a:prstGeom prst="rect">
            <a:avLst/>
          </a:prstGeom>
          <a:noFill/>
          <a:ln/>
        </p:spPr>
        <p:txBody>
          <a:bodyPr wrap="none" lIns="0" tIns="0" rIns="0" bIns="0" rtlCol="0" anchor="ctr"/>
          <a:lstStyle/>
          <a:p>
            <a:pPr>
              <a:lnSpc>
                <a:spcPct val="100000"/>
              </a:lnSpc>
            </a:pPr>
            <a:r>
              <a:rPr lang="en-US" sz="1125" b="1" dirty="0">
                <a:solidFill>
                  <a:srgbClr val="36ADA3"/>
                </a:solidFill>
                <a:ea typeface="Quattrocento Sans" pitchFamily="34" charset="-122"/>
                <a:cs typeface="Segoe UI" panose="020B0502040204020203" pitchFamily="34" charset="0"/>
              </a:rPr>
              <a:t>Verified Fields</a:t>
            </a:r>
            <a:endParaRPr lang="en-US" sz="900" dirty="0"/>
          </a:p>
        </p:txBody>
      </p:sp>
      <p:sp>
        <p:nvSpPr>
          <p:cNvPr id="20" name="Text 17"/>
          <p:cNvSpPr/>
          <p:nvPr/>
        </p:nvSpPr>
        <p:spPr>
          <a:xfrm>
            <a:off x="5822156" y="3500437"/>
            <a:ext cx="2714625" cy="321469"/>
          </a:xfrm>
          <a:prstGeom prst="rect">
            <a:avLst/>
          </a:prstGeom>
          <a:noFill/>
          <a:ln/>
        </p:spPr>
        <p:txBody>
          <a:bodyPr wrap="square" lIns="0" tIns="0" rIns="0" bIns="0" rtlCol="0" anchor="t"/>
          <a:lstStyle/>
          <a:p>
            <a:pPr>
              <a:lnSpc>
                <a:spcPct val="150000"/>
              </a:lnSpc>
            </a:pPr>
            <a:r>
              <a:rPr lang="en-US" sz="900" dirty="0">
                <a:solidFill>
                  <a:srgbClr val="1A1A2E"/>
                </a:solidFill>
                <a:ea typeface="Quattrocento Sans" pitchFamily="34" charset="-122"/>
                <a:cs typeface="Segoe UI" panose="020B0502040204020203" pitchFamily="34" charset="0"/>
              </a:rPr>
              <a:t>All survey fields properly stored and validated.</a:t>
            </a:r>
            <a:endParaRPr lang="en-US" sz="900" dirty="0"/>
          </a:p>
        </p:txBody>
      </p:sp>
      <p:sp>
        <p:nvSpPr>
          <p:cNvPr id="21" name="Shape 18"/>
          <p:cNvSpPr/>
          <p:nvPr/>
        </p:nvSpPr>
        <p:spPr>
          <a:xfrm>
            <a:off x="5643562" y="4107656"/>
            <a:ext cx="3071813" cy="357188"/>
          </a:xfrm>
          <a:prstGeom prst="roundRect">
            <a:avLst>
              <a:gd name="adj" fmla="val 8000"/>
            </a:avLst>
          </a:prstGeom>
          <a:solidFill>
            <a:srgbClr val="E8F5F4"/>
          </a:solidFill>
          <a:ln/>
        </p:spPr>
        <p:txBody>
          <a:bodyPr/>
          <a:lstStyle/>
          <a:p>
            <a:endParaRPr lang="en-US" sz="1013"/>
          </a:p>
        </p:txBody>
      </p:sp>
      <p:sp>
        <p:nvSpPr>
          <p:cNvPr id="22" name="Text 19"/>
          <p:cNvSpPr/>
          <p:nvPr/>
        </p:nvSpPr>
        <p:spPr>
          <a:xfrm>
            <a:off x="5643562" y="4107656"/>
            <a:ext cx="3071813" cy="357188"/>
          </a:xfrm>
          <a:prstGeom prst="rect">
            <a:avLst/>
          </a:prstGeom>
          <a:noFill/>
          <a:ln/>
        </p:spPr>
        <p:txBody>
          <a:bodyPr wrap="none" lIns="0" tIns="0" rIns="0" bIns="0" rtlCol="0" anchor="ctr"/>
          <a:lstStyle/>
          <a:p>
            <a:pPr algn="ctr">
              <a:lnSpc>
                <a:spcPct val="100000"/>
              </a:lnSpc>
            </a:pPr>
            <a:r>
              <a:rPr lang="en-US" sz="900" b="1" dirty="0">
                <a:solidFill>
                  <a:srgbClr val="36ADA3"/>
                </a:solidFill>
                <a:ea typeface="Quattrocento Sans" pitchFamily="34" charset="-122"/>
                <a:cs typeface="Segoe UI" panose="020B0502040204020203" pitchFamily="34" charset="0"/>
              </a:rPr>
              <a:t>Proof of Success: End-to-End Pipeline Works!</a:t>
            </a:r>
            <a:endParaRPr lang="en-US" sz="900" dirty="0"/>
          </a:p>
        </p:txBody>
      </p:sp>
      <p:sp>
        <p:nvSpPr>
          <p:cNvPr id="23" name="Text 20"/>
          <p:cNvSpPr/>
          <p:nvPr/>
        </p:nvSpPr>
        <p:spPr>
          <a:xfrm>
            <a:off x="8501062" y="4893469"/>
            <a:ext cx="357188" cy="178594"/>
          </a:xfrm>
          <a:prstGeom prst="rect">
            <a:avLst/>
          </a:prstGeom>
          <a:noFill/>
          <a:ln/>
        </p:spPr>
        <p:txBody>
          <a:bodyPr wrap="none" lIns="0" tIns="0" rIns="0" bIns="0" rtlCol="0" anchor="ctr"/>
          <a:lstStyle/>
          <a:p>
            <a:pPr algn="r">
              <a:lnSpc>
                <a:spcPct val="100000"/>
              </a:lnSpc>
            </a:pPr>
            <a:r>
              <a:rPr lang="en-US" sz="788" dirty="0">
                <a:solidFill>
                  <a:srgbClr val="2F578A"/>
                </a:solidFill>
                <a:ea typeface="Quattrocento Sans" pitchFamily="34" charset="-122"/>
                <a:cs typeface="Segoe UI" panose="020B0502040204020203" pitchFamily="34" charset="0"/>
              </a:rPr>
              <a:t>14</a:t>
            </a:r>
            <a:endParaRPr lang="en-US" sz="900" dirty="0"/>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8204F"/>
        </a:solidFill>
        <a:effectLst/>
      </p:bgPr>
    </p:bg>
    <p:spTree>
      <p:nvGrpSpPr>
        <p:cNvPr id="1" name=""/>
        <p:cNvGrpSpPr/>
        <p:nvPr/>
      </p:nvGrpSpPr>
      <p:grpSpPr>
        <a:xfrm>
          <a:off x="0" y="0"/>
          <a:ext cx="0" cy="0"/>
          <a:chOff x="0" y="0"/>
          <a:chExt cx="0" cy="0"/>
        </a:xfrm>
      </p:grpSpPr>
      <p:sp>
        <p:nvSpPr>
          <p:cNvPr id="2" name="Shape 0"/>
          <p:cNvSpPr/>
          <p:nvPr/>
        </p:nvSpPr>
        <p:spPr>
          <a:xfrm>
            <a:off x="0" y="0"/>
            <a:ext cx="9144000" cy="85725"/>
          </a:xfrm>
          <a:prstGeom prst="rect">
            <a:avLst/>
          </a:prstGeom>
          <a:solidFill>
            <a:srgbClr val="2EAF8B"/>
          </a:solidFill>
          <a:ln/>
        </p:spPr>
        <p:txBody>
          <a:bodyPr/>
          <a:lstStyle/>
          <a:p>
            <a:endParaRPr lang="en-US"/>
          </a:p>
        </p:txBody>
      </p:sp>
      <p:sp>
        <p:nvSpPr>
          <p:cNvPr id="3" name="Shape 1"/>
          <p:cNvSpPr/>
          <p:nvPr/>
        </p:nvSpPr>
        <p:spPr>
          <a:xfrm>
            <a:off x="0" y="5057775"/>
            <a:ext cx="9144000" cy="85725"/>
          </a:xfrm>
          <a:prstGeom prst="rect">
            <a:avLst/>
          </a:prstGeom>
          <a:solidFill>
            <a:srgbClr val="2EAF8B"/>
          </a:solidFill>
          <a:ln/>
        </p:spPr>
        <p:txBody>
          <a:bodyPr/>
          <a:lstStyle/>
          <a:p>
            <a:endParaRPr lang="en-US"/>
          </a:p>
        </p:txBody>
      </p:sp>
      <p:sp>
        <p:nvSpPr>
          <p:cNvPr id="4" name="Text 2"/>
          <p:cNvSpPr/>
          <p:nvPr/>
        </p:nvSpPr>
        <p:spPr>
          <a:xfrm>
            <a:off x="0" y="1428750"/>
            <a:ext cx="9144000" cy="571500"/>
          </a:xfrm>
          <a:prstGeom prst="rect">
            <a:avLst/>
          </a:prstGeom>
          <a:noFill/>
          <a:ln/>
        </p:spPr>
        <p:txBody>
          <a:bodyPr wrap="none" lIns="0" tIns="0" rIns="0" bIns="0" rtlCol="0" anchor="ctr"/>
          <a:lstStyle/>
          <a:p>
            <a:pPr algn="ctr">
              <a:lnSpc>
                <a:spcPct val="100000"/>
              </a:lnSpc>
            </a:pPr>
            <a:r>
              <a:rPr lang="en-US" sz="4050" b="1" dirty="0">
                <a:solidFill>
                  <a:srgbClr val="2EAF8B"/>
                </a:solidFill>
                <a:latin typeface="Liter" pitchFamily="34" charset="0"/>
                <a:ea typeface="Liter" pitchFamily="34" charset="-122"/>
                <a:cs typeface="Liter" pitchFamily="34" charset="-120"/>
              </a:rPr>
              <a:t>07</a:t>
            </a:r>
            <a:endParaRPr lang="en-US" sz="900" dirty="0"/>
          </a:p>
        </p:txBody>
      </p:sp>
      <p:sp>
        <p:nvSpPr>
          <p:cNvPr id="5" name="Text 3"/>
          <p:cNvSpPr/>
          <p:nvPr/>
        </p:nvSpPr>
        <p:spPr>
          <a:xfrm>
            <a:off x="0" y="2143125"/>
            <a:ext cx="9144000" cy="571500"/>
          </a:xfrm>
          <a:prstGeom prst="rect">
            <a:avLst/>
          </a:prstGeom>
          <a:noFill/>
          <a:ln/>
        </p:spPr>
        <p:txBody>
          <a:bodyPr wrap="none" lIns="0" tIns="0" rIns="0" bIns="0" rtlCol="0" anchor="ctr"/>
          <a:lstStyle/>
          <a:p>
            <a:pPr algn="ctr">
              <a:lnSpc>
                <a:spcPct val="100000"/>
              </a:lnSpc>
            </a:pPr>
            <a:r>
              <a:rPr lang="en-US" sz="2475" b="1" dirty="0">
                <a:solidFill>
                  <a:srgbClr val="FFFFFF"/>
                </a:solidFill>
                <a:latin typeface="Liter" pitchFamily="34" charset="0"/>
                <a:ea typeface="Liter" pitchFamily="34" charset="-122"/>
                <a:cs typeface="Liter" pitchFamily="34" charset="-120"/>
              </a:rPr>
              <a:t>Understanding RAG</a:t>
            </a:r>
            <a:endParaRPr lang="en-US" sz="900" dirty="0"/>
          </a:p>
        </p:txBody>
      </p:sp>
      <p:sp>
        <p:nvSpPr>
          <p:cNvPr id="6" name="Text 4"/>
          <p:cNvSpPr/>
          <p:nvPr/>
        </p:nvSpPr>
        <p:spPr>
          <a:xfrm>
            <a:off x="0" y="2857500"/>
            <a:ext cx="9144000" cy="357188"/>
          </a:xfrm>
          <a:prstGeom prst="rect">
            <a:avLst/>
          </a:prstGeom>
          <a:noFill/>
          <a:ln/>
        </p:spPr>
        <p:txBody>
          <a:bodyPr wrap="none" lIns="0" tIns="0" rIns="0" bIns="0" rtlCol="0" anchor="ctr"/>
          <a:lstStyle/>
          <a:p>
            <a:pPr algn="ctr">
              <a:lnSpc>
                <a:spcPct val="100000"/>
              </a:lnSpc>
            </a:pPr>
            <a:r>
              <a:rPr lang="en-US" sz="1125" dirty="0">
                <a:solidFill>
                  <a:srgbClr val="2EAF8B"/>
                </a:solidFill>
                <a:latin typeface="Liter" pitchFamily="34" charset="0"/>
                <a:ea typeface="Liter" pitchFamily="34" charset="-122"/>
                <a:cs typeface="Liter" pitchFamily="34" charset="-120"/>
              </a:rPr>
              <a:t>What is RAG and why it matters</a:t>
            </a:r>
            <a:endParaRPr lang="en-US" sz="900" dirty="0"/>
          </a:p>
        </p:txBody>
      </p: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029ED585-C2FB-E014-602D-7269E805D8BC}"/>
              </a:ext>
            </a:extLst>
          </p:cNvPr>
          <p:cNvGrpSpPr/>
          <p:nvPr/>
        </p:nvGrpSpPr>
        <p:grpSpPr>
          <a:xfrm>
            <a:off x="285750" y="928687"/>
            <a:ext cx="4186238" cy="1931011"/>
            <a:chOff x="508000" y="1393092"/>
            <a:chExt cx="7442200" cy="3432908"/>
          </a:xfrm>
        </p:grpSpPr>
        <p:sp>
          <p:nvSpPr>
            <p:cNvPr id="4" name="Shape 2"/>
            <p:cNvSpPr/>
            <p:nvPr/>
          </p:nvSpPr>
          <p:spPr>
            <a:xfrm>
              <a:off x="584200" y="1393092"/>
              <a:ext cx="7366000" cy="3429000"/>
            </a:xfrm>
            <a:prstGeom prst="rect">
              <a:avLst/>
            </a:prstGeom>
            <a:solidFill>
              <a:srgbClr val="1B2A4A"/>
            </a:solidFill>
            <a:ln/>
            <a:effectLst>
              <a:outerShdw blurRad="101600" dist="38100" dir="5400000" algn="bl" rotWithShape="0">
                <a:srgbClr val="000000">
                  <a:alpha val="12549"/>
                </a:srgbClr>
              </a:outerShdw>
            </a:effectLst>
          </p:spPr>
          <p:txBody>
            <a:bodyPr/>
            <a:lstStyle/>
            <a:p>
              <a:endParaRPr lang="en-US"/>
            </a:p>
          </p:txBody>
        </p:sp>
        <p:sp>
          <p:nvSpPr>
            <p:cNvPr id="5" name="Shape 3"/>
            <p:cNvSpPr/>
            <p:nvPr/>
          </p:nvSpPr>
          <p:spPr>
            <a:xfrm>
              <a:off x="508000" y="1397000"/>
              <a:ext cx="76200" cy="3429000"/>
            </a:xfrm>
            <a:prstGeom prst="rect">
              <a:avLst/>
            </a:prstGeom>
            <a:solidFill>
              <a:srgbClr val="2EAF8B"/>
            </a:solidFill>
            <a:ln/>
          </p:spPr>
          <p:txBody>
            <a:bodyPr/>
            <a:lstStyle/>
            <a:p>
              <a:endParaRPr lang="en-US"/>
            </a:p>
          </p:txBody>
        </p:sp>
        <p:sp>
          <p:nvSpPr>
            <p:cNvPr id="6" name="Shape 4"/>
            <p:cNvSpPr/>
            <p:nvPr/>
          </p:nvSpPr>
          <p:spPr>
            <a:xfrm>
              <a:off x="831850" y="1651000"/>
              <a:ext cx="571500" cy="457200"/>
            </a:xfrm>
            <a:custGeom>
              <a:avLst/>
              <a:gdLst/>
              <a:ahLst/>
              <a:cxnLst/>
              <a:rect l="l" t="t" r="r" b="b"/>
              <a:pathLst>
                <a:path w="571500" h="457200">
                  <a:moveTo>
                    <a:pt x="314325" y="0"/>
                  </a:moveTo>
                  <a:cubicBezTo>
                    <a:pt x="314325" y="-15806"/>
                    <a:pt x="301556" y="-28575"/>
                    <a:pt x="285750" y="-28575"/>
                  </a:cubicBezTo>
                  <a:cubicBezTo>
                    <a:pt x="269944" y="-28575"/>
                    <a:pt x="257175" y="-15806"/>
                    <a:pt x="257175" y="0"/>
                  </a:cubicBezTo>
                  <a:lnTo>
                    <a:pt x="257175" y="57150"/>
                  </a:lnTo>
                  <a:lnTo>
                    <a:pt x="171450" y="57150"/>
                  </a:lnTo>
                  <a:cubicBezTo>
                    <a:pt x="124123" y="57150"/>
                    <a:pt x="85725" y="95548"/>
                    <a:pt x="85725" y="142875"/>
                  </a:cubicBezTo>
                  <a:lnTo>
                    <a:pt x="85725" y="342900"/>
                  </a:lnTo>
                  <a:cubicBezTo>
                    <a:pt x="85725" y="390227"/>
                    <a:pt x="124123" y="428625"/>
                    <a:pt x="171450" y="428625"/>
                  </a:cubicBezTo>
                  <a:lnTo>
                    <a:pt x="400050" y="428625"/>
                  </a:lnTo>
                  <a:cubicBezTo>
                    <a:pt x="447377" y="428625"/>
                    <a:pt x="485775" y="390227"/>
                    <a:pt x="485775" y="342900"/>
                  </a:cubicBezTo>
                  <a:lnTo>
                    <a:pt x="485775" y="142875"/>
                  </a:lnTo>
                  <a:cubicBezTo>
                    <a:pt x="485775" y="95548"/>
                    <a:pt x="447377" y="57150"/>
                    <a:pt x="400050" y="57150"/>
                  </a:cubicBezTo>
                  <a:lnTo>
                    <a:pt x="314325" y="57150"/>
                  </a:lnTo>
                  <a:lnTo>
                    <a:pt x="314325" y="0"/>
                  </a:lnTo>
                  <a:close/>
                  <a:moveTo>
                    <a:pt x="142875" y="328613"/>
                  </a:moveTo>
                  <a:cubicBezTo>
                    <a:pt x="142875" y="316736"/>
                    <a:pt x="152430" y="307181"/>
                    <a:pt x="164306" y="307181"/>
                  </a:cubicBezTo>
                  <a:lnTo>
                    <a:pt x="192881" y="307181"/>
                  </a:lnTo>
                  <a:cubicBezTo>
                    <a:pt x="204758" y="307181"/>
                    <a:pt x="214313" y="316736"/>
                    <a:pt x="214313" y="328613"/>
                  </a:cubicBezTo>
                  <a:cubicBezTo>
                    <a:pt x="214313" y="340489"/>
                    <a:pt x="204758" y="350044"/>
                    <a:pt x="192881" y="350044"/>
                  </a:cubicBezTo>
                  <a:lnTo>
                    <a:pt x="164306" y="350044"/>
                  </a:lnTo>
                  <a:cubicBezTo>
                    <a:pt x="152430" y="350044"/>
                    <a:pt x="142875" y="340489"/>
                    <a:pt x="142875" y="328613"/>
                  </a:cubicBezTo>
                  <a:close/>
                  <a:moveTo>
                    <a:pt x="250031" y="328613"/>
                  </a:moveTo>
                  <a:cubicBezTo>
                    <a:pt x="250031" y="316736"/>
                    <a:pt x="259586" y="307181"/>
                    <a:pt x="271463" y="307181"/>
                  </a:cubicBezTo>
                  <a:lnTo>
                    <a:pt x="300038" y="307181"/>
                  </a:lnTo>
                  <a:cubicBezTo>
                    <a:pt x="311914" y="307181"/>
                    <a:pt x="321469" y="316736"/>
                    <a:pt x="321469" y="328613"/>
                  </a:cubicBezTo>
                  <a:cubicBezTo>
                    <a:pt x="321469" y="340489"/>
                    <a:pt x="311914" y="350044"/>
                    <a:pt x="300038" y="350044"/>
                  </a:cubicBezTo>
                  <a:lnTo>
                    <a:pt x="271463" y="350044"/>
                  </a:lnTo>
                  <a:cubicBezTo>
                    <a:pt x="259586" y="350044"/>
                    <a:pt x="250031" y="340489"/>
                    <a:pt x="250031" y="328613"/>
                  </a:cubicBezTo>
                  <a:close/>
                  <a:moveTo>
                    <a:pt x="357188" y="328613"/>
                  </a:moveTo>
                  <a:cubicBezTo>
                    <a:pt x="357188" y="316736"/>
                    <a:pt x="366742" y="307181"/>
                    <a:pt x="378619" y="307181"/>
                  </a:cubicBezTo>
                  <a:lnTo>
                    <a:pt x="407194" y="307181"/>
                  </a:lnTo>
                  <a:cubicBezTo>
                    <a:pt x="419070" y="307181"/>
                    <a:pt x="428625" y="316736"/>
                    <a:pt x="428625" y="328613"/>
                  </a:cubicBezTo>
                  <a:cubicBezTo>
                    <a:pt x="428625" y="340489"/>
                    <a:pt x="419070" y="350044"/>
                    <a:pt x="407194" y="350044"/>
                  </a:cubicBezTo>
                  <a:lnTo>
                    <a:pt x="378619" y="350044"/>
                  </a:lnTo>
                  <a:cubicBezTo>
                    <a:pt x="366742" y="350044"/>
                    <a:pt x="357188" y="340489"/>
                    <a:pt x="357188" y="328613"/>
                  </a:cubicBezTo>
                  <a:close/>
                  <a:moveTo>
                    <a:pt x="200025" y="157163"/>
                  </a:moveTo>
                  <a:cubicBezTo>
                    <a:pt x="223681" y="157163"/>
                    <a:pt x="242888" y="176369"/>
                    <a:pt x="242888" y="200025"/>
                  </a:cubicBezTo>
                  <a:cubicBezTo>
                    <a:pt x="242888" y="223681"/>
                    <a:pt x="223681" y="242888"/>
                    <a:pt x="200025" y="242888"/>
                  </a:cubicBezTo>
                  <a:cubicBezTo>
                    <a:pt x="176369" y="242888"/>
                    <a:pt x="157163" y="223681"/>
                    <a:pt x="157163" y="200025"/>
                  </a:cubicBezTo>
                  <a:cubicBezTo>
                    <a:pt x="157163" y="176369"/>
                    <a:pt x="176369" y="157163"/>
                    <a:pt x="200025" y="157163"/>
                  </a:cubicBezTo>
                  <a:close/>
                  <a:moveTo>
                    <a:pt x="328613" y="200025"/>
                  </a:moveTo>
                  <a:cubicBezTo>
                    <a:pt x="328613" y="176369"/>
                    <a:pt x="347819" y="157163"/>
                    <a:pt x="371475" y="157163"/>
                  </a:cubicBezTo>
                  <a:cubicBezTo>
                    <a:pt x="395131" y="157163"/>
                    <a:pt x="414338" y="176369"/>
                    <a:pt x="414338" y="200025"/>
                  </a:cubicBezTo>
                  <a:cubicBezTo>
                    <a:pt x="414338" y="223681"/>
                    <a:pt x="395131" y="242888"/>
                    <a:pt x="371475" y="242888"/>
                  </a:cubicBezTo>
                  <a:cubicBezTo>
                    <a:pt x="347819" y="242888"/>
                    <a:pt x="328613" y="223681"/>
                    <a:pt x="328613" y="200025"/>
                  </a:cubicBezTo>
                  <a:close/>
                  <a:moveTo>
                    <a:pt x="57150" y="200025"/>
                  </a:moveTo>
                  <a:cubicBezTo>
                    <a:pt x="57150" y="184219"/>
                    <a:pt x="44381" y="171450"/>
                    <a:pt x="28575" y="171450"/>
                  </a:cubicBezTo>
                  <a:cubicBezTo>
                    <a:pt x="12769" y="171450"/>
                    <a:pt x="0" y="184219"/>
                    <a:pt x="0" y="200025"/>
                  </a:cubicBezTo>
                  <a:lnTo>
                    <a:pt x="0" y="285750"/>
                  </a:lnTo>
                  <a:cubicBezTo>
                    <a:pt x="0" y="301556"/>
                    <a:pt x="12769" y="314325"/>
                    <a:pt x="28575" y="314325"/>
                  </a:cubicBezTo>
                  <a:cubicBezTo>
                    <a:pt x="44381" y="314325"/>
                    <a:pt x="57150" y="301556"/>
                    <a:pt x="57150" y="285750"/>
                  </a:cubicBezTo>
                  <a:lnTo>
                    <a:pt x="57150" y="200025"/>
                  </a:lnTo>
                  <a:close/>
                  <a:moveTo>
                    <a:pt x="542925" y="171450"/>
                  </a:moveTo>
                  <a:cubicBezTo>
                    <a:pt x="527119" y="171450"/>
                    <a:pt x="514350" y="184219"/>
                    <a:pt x="514350" y="200025"/>
                  </a:cubicBezTo>
                  <a:lnTo>
                    <a:pt x="514350" y="285750"/>
                  </a:lnTo>
                  <a:cubicBezTo>
                    <a:pt x="514350" y="301556"/>
                    <a:pt x="527119" y="314325"/>
                    <a:pt x="542925" y="314325"/>
                  </a:cubicBezTo>
                  <a:cubicBezTo>
                    <a:pt x="558731" y="314325"/>
                    <a:pt x="571500" y="301556"/>
                    <a:pt x="571500" y="285750"/>
                  </a:cubicBezTo>
                  <a:lnTo>
                    <a:pt x="571500" y="200025"/>
                  </a:lnTo>
                  <a:cubicBezTo>
                    <a:pt x="571500" y="184219"/>
                    <a:pt x="558731" y="171450"/>
                    <a:pt x="542925" y="171450"/>
                  </a:cubicBezTo>
                  <a:close/>
                </a:path>
              </a:pathLst>
            </a:custGeom>
            <a:solidFill>
              <a:srgbClr val="2EAF8B"/>
            </a:solidFill>
            <a:ln/>
          </p:spPr>
          <p:txBody>
            <a:bodyPr/>
            <a:lstStyle/>
            <a:p>
              <a:endParaRPr lang="en-US"/>
            </a:p>
          </p:txBody>
        </p:sp>
        <p:sp>
          <p:nvSpPr>
            <p:cNvPr id="7" name="Text 5"/>
            <p:cNvSpPr/>
            <p:nvPr/>
          </p:nvSpPr>
          <p:spPr>
            <a:xfrm>
              <a:off x="1524000" y="1651000"/>
              <a:ext cx="5842000" cy="457200"/>
            </a:xfrm>
            <a:prstGeom prst="rect">
              <a:avLst/>
            </a:prstGeom>
            <a:noFill/>
            <a:ln/>
          </p:spPr>
          <p:txBody>
            <a:bodyPr wrap="none" lIns="0" tIns="0" rIns="0" bIns="0" rtlCol="0" anchor="ctr"/>
            <a:lstStyle/>
            <a:p>
              <a:pPr>
                <a:lnSpc>
                  <a:spcPct val="100000"/>
                </a:lnSpc>
              </a:pPr>
              <a:r>
                <a:rPr lang="en-US" sz="1238" b="1" dirty="0">
                  <a:solidFill>
                    <a:srgbClr val="FFFFFF"/>
                  </a:solidFill>
                  <a:latin typeface="Liter" pitchFamily="34" charset="0"/>
                  <a:ea typeface="Liter" pitchFamily="34" charset="-122"/>
                  <a:cs typeface="Liter" pitchFamily="34" charset="-120"/>
                </a:rPr>
                <a:t>What is RAG?</a:t>
              </a:r>
              <a:endParaRPr lang="en-US" sz="1238" dirty="0"/>
            </a:p>
          </p:txBody>
        </p:sp>
        <p:sp>
          <p:nvSpPr>
            <p:cNvPr id="8" name="Text 6"/>
            <p:cNvSpPr/>
            <p:nvPr/>
          </p:nvSpPr>
          <p:spPr>
            <a:xfrm>
              <a:off x="889000" y="2286000"/>
              <a:ext cx="6731000" cy="2413000"/>
            </a:xfrm>
            <a:prstGeom prst="rect">
              <a:avLst/>
            </a:prstGeom>
            <a:noFill/>
            <a:ln/>
          </p:spPr>
          <p:txBody>
            <a:bodyPr wrap="square" lIns="0" tIns="0" rIns="0" bIns="0" rtlCol="0" anchor="t"/>
            <a:lstStyle/>
            <a:p>
              <a:pPr>
                <a:lnSpc>
                  <a:spcPct val="150000"/>
                </a:lnSpc>
              </a:pPr>
              <a:r>
                <a:rPr lang="en-US" sz="1013" dirty="0">
                  <a:solidFill>
                    <a:srgbClr val="FFFFFF"/>
                  </a:solidFill>
                  <a:latin typeface="Liter" pitchFamily="34" charset="0"/>
                  <a:ea typeface="Liter" pitchFamily="34" charset="-122"/>
                  <a:cs typeface="Liter" pitchFamily="34" charset="-120"/>
                </a:rPr>
                <a:t>RAG is an AI architecture that combines information retrieval with Large Language Models (LLMs).</a:t>
              </a:r>
              <a:endParaRPr lang="en-US" sz="900" dirty="0"/>
            </a:p>
            <a:p>
              <a:pPr>
                <a:lnSpc>
                  <a:spcPct val="150000"/>
                </a:lnSpc>
                <a:spcBef>
                  <a:spcPts val="338"/>
                </a:spcBef>
              </a:pPr>
              <a:r>
                <a:rPr lang="en-US" sz="1013" dirty="0">
                  <a:solidFill>
                    <a:srgbClr val="FFFFFF"/>
                  </a:solidFill>
                  <a:latin typeface="Liter" pitchFamily="34" charset="0"/>
                  <a:ea typeface="Liter" pitchFamily="34" charset="-122"/>
                  <a:cs typeface="Liter" pitchFamily="34" charset="-120"/>
                </a:rPr>
                <a:t>Instead of relying only on pre-trained knowledge, the system retrieves relevant information from external data sources to generate accurate, context-aware responses.</a:t>
              </a:r>
              <a:endParaRPr lang="en-US" sz="900" dirty="0"/>
            </a:p>
          </p:txBody>
        </p:sp>
      </p:grpSp>
      <p:grpSp>
        <p:nvGrpSpPr>
          <p:cNvPr id="27" name="Group 26">
            <a:extLst>
              <a:ext uri="{FF2B5EF4-FFF2-40B4-BE49-F238E27FC236}">
                <a16:creationId xmlns:a16="http://schemas.microsoft.com/office/drawing/2014/main" id="{F7F6DB3C-C4A9-8F2A-6CAB-BA1A9C1E1AC8}"/>
              </a:ext>
            </a:extLst>
          </p:cNvPr>
          <p:cNvGrpSpPr/>
          <p:nvPr/>
        </p:nvGrpSpPr>
        <p:grpSpPr>
          <a:xfrm>
            <a:off x="285750" y="3074010"/>
            <a:ext cx="4143375" cy="1931011"/>
            <a:chOff x="8382000" y="1397000"/>
            <a:chExt cx="7366000" cy="3432908"/>
          </a:xfrm>
        </p:grpSpPr>
        <p:sp>
          <p:nvSpPr>
            <p:cNvPr id="9" name="Shape 7"/>
            <p:cNvSpPr/>
            <p:nvPr/>
          </p:nvSpPr>
          <p:spPr>
            <a:xfrm>
              <a:off x="8382000" y="1400908"/>
              <a:ext cx="7366000" cy="3429000"/>
            </a:xfrm>
            <a:prstGeom prst="rect">
              <a:avLst/>
            </a:prstGeom>
            <a:solidFill>
              <a:srgbClr val="1B2A4A"/>
            </a:solidFill>
            <a:ln/>
            <a:effectLst>
              <a:outerShdw blurRad="101600" dist="38100" dir="5400000" algn="bl" rotWithShape="0">
                <a:srgbClr val="000000">
                  <a:alpha val="12549"/>
                </a:srgbClr>
              </a:outerShdw>
            </a:effectLst>
          </p:spPr>
          <p:txBody>
            <a:bodyPr/>
            <a:lstStyle/>
            <a:p>
              <a:endParaRPr lang="en-US"/>
            </a:p>
          </p:txBody>
        </p:sp>
        <p:sp>
          <p:nvSpPr>
            <p:cNvPr id="10" name="Shape 8"/>
            <p:cNvSpPr/>
            <p:nvPr/>
          </p:nvSpPr>
          <p:spPr>
            <a:xfrm>
              <a:off x="8382000" y="1397000"/>
              <a:ext cx="76200" cy="3429000"/>
            </a:xfrm>
            <a:prstGeom prst="rect">
              <a:avLst/>
            </a:prstGeom>
            <a:solidFill>
              <a:srgbClr val="2EAF8B"/>
            </a:solidFill>
            <a:ln/>
          </p:spPr>
          <p:txBody>
            <a:bodyPr/>
            <a:lstStyle/>
            <a:p>
              <a:endParaRPr lang="en-US"/>
            </a:p>
          </p:txBody>
        </p:sp>
        <p:sp>
          <p:nvSpPr>
            <p:cNvPr id="11" name="Shape 9"/>
            <p:cNvSpPr/>
            <p:nvPr/>
          </p:nvSpPr>
          <p:spPr>
            <a:xfrm>
              <a:off x="8763000" y="1651000"/>
              <a:ext cx="457200" cy="457200"/>
            </a:xfrm>
            <a:custGeom>
              <a:avLst/>
              <a:gdLst/>
              <a:ahLst/>
              <a:cxnLst/>
              <a:rect l="l" t="t" r="r" b="b"/>
              <a:pathLst>
                <a:path w="457200" h="457200">
                  <a:moveTo>
                    <a:pt x="228600" y="0"/>
                  </a:moveTo>
                  <a:cubicBezTo>
                    <a:pt x="241727" y="0"/>
                    <a:pt x="253782" y="7233"/>
                    <a:pt x="260033" y="18752"/>
                  </a:cubicBezTo>
                  <a:lnTo>
                    <a:pt x="452914" y="375940"/>
                  </a:lnTo>
                  <a:cubicBezTo>
                    <a:pt x="458897" y="387013"/>
                    <a:pt x="458629" y="400407"/>
                    <a:pt x="452199" y="411212"/>
                  </a:cubicBezTo>
                  <a:cubicBezTo>
                    <a:pt x="445770" y="422017"/>
                    <a:pt x="434072" y="428625"/>
                    <a:pt x="421481" y="428625"/>
                  </a:cubicBezTo>
                  <a:lnTo>
                    <a:pt x="35719" y="428625"/>
                  </a:lnTo>
                  <a:cubicBezTo>
                    <a:pt x="23128" y="428625"/>
                    <a:pt x="11519" y="422017"/>
                    <a:pt x="5001" y="411212"/>
                  </a:cubicBezTo>
                  <a:cubicBezTo>
                    <a:pt x="-1518" y="400407"/>
                    <a:pt x="-1697" y="387013"/>
                    <a:pt x="4286" y="375940"/>
                  </a:cubicBezTo>
                  <a:lnTo>
                    <a:pt x="197168" y="18752"/>
                  </a:lnTo>
                  <a:cubicBezTo>
                    <a:pt x="203418" y="7233"/>
                    <a:pt x="215473" y="0"/>
                    <a:pt x="228600" y="0"/>
                  </a:cubicBezTo>
                  <a:close/>
                  <a:moveTo>
                    <a:pt x="228600" y="150019"/>
                  </a:moveTo>
                  <a:cubicBezTo>
                    <a:pt x="216724" y="150019"/>
                    <a:pt x="207169" y="159574"/>
                    <a:pt x="207169" y="171450"/>
                  </a:cubicBezTo>
                  <a:lnTo>
                    <a:pt x="207169" y="271463"/>
                  </a:lnTo>
                  <a:cubicBezTo>
                    <a:pt x="207169" y="283339"/>
                    <a:pt x="216724" y="292894"/>
                    <a:pt x="228600" y="292894"/>
                  </a:cubicBezTo>
                  <a:cubicBezTo>
                    <a:pt x="240476" y="292894"/>
                    <a:pt x="250031" y="283339"/>
                    <a:pt x="250031" y="271463"/>
                  </a:cubicBezTo>
                  <a:lnTo>
                    <a:pt x="250031" y="171450"/>
                  </a:lnTo>
                  <a:cubicBezTo>
                    <a:pt x="250031" y="159574"/>
                    <a:pt x="240476" y="150019"/>
                    <a:pt x="228600" y="150019"/>
                  </a:cubicBezTo>
                  <a:close/>
                  <a:moveTo>
                    <a:pt x="252442" y="342900"/>
                  </a:moveTo>
                  <a:cubicBezTo>
                    <a:pt x="252985" y="334050"/>
                    <a:pt x="248571" y="325630"/>
                    <a:pt x="240985" y="321041"/>
                  </a:cubicBezTo>
                  <a:cubicBezTo>
                    <a:pt x="233398" y="316452"/>
                    <a:pt x="223891" y="316452"/>
                    <a:pt x="216305" y="321041"/>
                  </a:cubicBezTo>
                  <a:cubicBezTo>
                    <a:pt x="208718" y="325630"/>
                    <a:pt x="204305" y="334050"/>
                    <a:pt x="204847" y="342900"/>
                  </a:cubicBezTo>
                  <a:cubicBezTo>
                    <a:pt x="204305" y="351750"/>
                    <a:pt x="208718" y="360170"/>
                    <a:pt x="216305" y="364759"/>
                  </a:cubicBezTo>
                  <a:cubicBezTo>
                    <a:pt x="223891" y="369348"/>
                    <a:pt x="233398" y="369348"/>
                    <a:pt x="240985" y="364759"/>
                  </a:cubicBezTo>
                  <a:cubicBezTo>
                    <a:pt x="248571" y="360170"/>
                    <a:pt x="252985" y="351750"/>
                    <a:pt x="252442" y="342900"/>
                  </a:cubicBezTo>
                  <a:close/>
                </a:path>
              </a:pathLst>
            </a:custGeom>
            <a:solidFill>
              <a:srgbClr val="2EAF8B"/>
            </a:solidFill>
            <a:ln/>
          </p:spPr>
          <p:txBody>
            <a:bodyPr/>
            <a:lstStyle/>
            <a:p>
              <a:endParaRPr lang="en-US"/>
            </a:p>
          </p:txBody>
        </p:sp>
        <p:sp>
          <p:nvSpPr>
            <p:cNvPr id="12" name="Text 10"/>
            <p:cNvSpPr/>
            <p:nvPr/>
          </p:nvSpPr>
          <p:spPr>
            <a:xfrm>
              <a:off x="9398000" y="1651000"/>
              <a:ext cx="5842000" cy="457200"/>
            </a:xfrm>
            <a:prstGeom prst="rect">
              <a:avLst/>
            </a:prstGeom>
            <a:noFill/>
            <a:ln/>
          </p:spPr>
          <p:txBody>
            <a:bodyPr wrap="none" lIns="0" tIns="0" rIns="0" bIns="0" rtlCol="0" anchor="ctr"/>
            <a:lstStyle/>
            <a:p>
              <a:pPr>
                <a:lnSpc>
                  <a:spcPct val="100000"/>
                </a:lnSpc>
              </a:pPr>
              <a:r>
                <a:rPr lang="en-US" sz="1238" b="1" dirty="0">
                  <a:solidFill>
                    <a:srgbClr val="FFFFFF"/>
                  </a:solidFill>
                  <a:latin typeface="Liter" pitchFamily="34" charset="0"/>
                  <a:ea typeface="Liter" pitchFamily="34" charset="-122"/>
                  <a:cs typeface="Liter" pitchFamily="34" charset="-120"/>
                </a:rPr>
                <a:t>Why RAG?</a:t>
              </a:r>
              <a:endParaRPr lang="en-US" sz="1238" dirty="0"/>
            </a:p>
          </p:txBody>
        </p:sp>
        <p:sp>
          <p:nvSpPr>
            <p:cNvPr id="13" name="Text 11"/>
            <p:cNvSpPr/>
            <p:nvPr/>
          </p:nvSpPr>
          <p:spPr>
            <a:xfrm>
              <a:off x="8763000" y="2286000"/>
              <a:ext cx="6731000" cy="2413000"/>
            </a:xfrm>
            <a:prstGeom prst="rect">
              <a:avLst/>
            </a:prstGeom>
            <a:noFill/>
            <a:ln/>
          </p:spPr>
          <p:txBody>
            <a:bodyPr wrap="square" lIns="0" tIns="0" rIns="0" bIns="0" rtlCol="0" anchor="t"/>
            <a:lstStyle/>
            <a:p>
              <a:pPr>
                <a:lnSpc>
                  <a:spcPct val="150000"/>
                </a:lnSpc>
              </a:pPr>
              <a:r>
                <a:rPr lang="en-US" sz="1013" dirty="0">
                  <a:solidFill>
                    <a:srgbClr val="FFFFFF"/>
                  </a:solidFill>
                  <a:latin typeface="Liter" pitchFamily="34" charset="0"/>
                  <a:ea typeface="Liter" pitchFamily="34" charset="-122"/>
                  <a:cs typeface="Liter" pitchFamily="34" charset="-120"/>
                </a:rPr>
                <a:t>Traditional LLMs face two major limitations:</a:t>
              </a:r>
              <a:endParaRPr lang="en-US" sz="900" dirty="0"/>
            </a:p>
            <a:p>
              <a:pPr>
                <a:lnSpc>
                  <a:spcPct val="150000"/>
                </a:lnSpc>
                <a:spcBef>
                  <a:spcPts val="338"/>
                </a:spcBef>
              </a:pPr>
              <a:r>
                <a:rPr lang="en-US" sz="1013" dirty="0">
                  <a:solidFill>
                    <a:srgbClr val="FFFFFF"/>
                  </a:solidFill>
                  <a:latin typeface="Liter" pitchFamily="34" charset="0"/>
                  <a:ea typeface="Liter" pitchFamily="34" charset="-122"/>
                  <a:cs typeface="Liter" pitchFamily="34" charset="-120"/>
                </a:rPr>
                <a:t>• Limited access to organization-specific data</a:t>
              </a:r>
              <a:endParaRPr lang="en-US" sz="900" dirty="0"/>
            </a:p>
            <a:p>
              <a:pPr>
                <a:lnSpc>
                  <a:spcPct val="150000"/>
                </a:lnSpc>
              </a:pPr>
              <a:r>
                <a:rPr lang="en-US" sz="1013" dirty="0">
                  <a:solidFill>
                    <a:srgbClr val="FFFFFF"/>
                  </a:solidFill>
                  <a:latin typeface="Liter" pitchFamily="34" charset="0"/>
                  <a:ea typeface="Liter" pitchFamily="34" charset="-122"/>
                  <a:cs typeface="Liter" pitchFamily="34" charset="-120"/>
                </a:rPr>
                <a:t>• Possibility of generating inaccurate or hallucinated information</a:t>
              </a:r>
              <a:endParaRPr lang="en-US" sz="900" dirty="0"/>
            </a:p>
            <a:p>
              <a:pPr>
                <a:lnSpc>
                  <a:spcPct val="150000"/>
                </a:lnSpc>
                <a:spcBef>
                  <a:spcPts val="338"/>
                </a:spcBef>
              </a:pPr>
              <a:r>
                <a:rPr lang="en-US" sz="1013" dirty="0">
                  <a:solidFill>
                    <a:srgbClr val="FFFFFF"/>
                  </a:solidFill>
                  <a:latin typeface="Liter" pitchFamily="34" charset="0"/>
                  <a:ea typeface="Liter" pitchFamily="34" charset="-122"/>
                  <a:cs typeface="Liter" pitchFamily="34" charset="-120"/>
                </a:rPr>
                <a:t>RAG addresses these by retrieving relevant info from trusted data sources before generating a response.</a:t>
              </a:r>
              <a:endParaRPr lang="en-US" sz="900" dirty="0"/>
            </a:p>
          </p:txBody>
        </p:sp>
      </p:grpSp>
      <p:pic>
        <p:nvPicPr>
          <p:cNvPr id="20" name="Picture 19">
            <a:extLst>
              <a:ext uri="{FF2B5EF4-FFF2-40B4-BE49-F238E27FC236}">
                <a16:creationId xmlns:a16="http://schemas.microsoft.com/office/drawing/2014/main" id="{B5307403-3936-D56A-8D5D-7DA7FFA65ACB}"/>
              </a:ext>
            </a:extLst>
          </p:cNvPr>
          <p:cNvPicPr>
            <a:picLocks noChangeAspect="1"/>
          </p:cNvPicPr>
          <p:nvPr/>
        </p:nvPicPr>
        <p:blipFill>
          <a:blip r:embed="rId3"/>
          <a:stretch>
            <a:fillRect/>
          </a:stretch>
        </p:blipFill>
        <p:spPr>
          <a:xfrm>
            <a:off x="4611291" y="930886"/>
            <a:ext cx="4429124" cy="4076334"/>
          </a:xfrm>
          <a:prstGeom prst="rect">
            <a:avLst/>
          </a:prstGeom>
        </p:spPr>
      </p:pic>
      <p:sp>
        <p:nvSpPr>
          <p:cNvPr id="14" name="Shape 0">
            <a:extLst>
              <a:ext uri="{FF2B5EF4-FFF2-40B4-BE49-F238E27FC236}">
                <a16:creationId xmlns:a16="http://schemas.microsoft.com/office/drawing/2014/main" id="{855969CC-0AAE-5EB2-B092-E6336CE08C43}"/>
              </a:ext>
            </a:extLst>
          </p:cNvPr>
          <p:cNvSpPr/>
          <p:nvPr/>
        </p:nvSpPr>
        <p:spPr>
          <a:xfrm>
            <a:off x="0" y="0"/>
            <a:ext cx="9144000" cy="777240"/>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15" name="Text 1">
            <a:extLst>
              <a:ext uri="{FF2B5EF4-FFF2-40B4-BE49-F238E27FC236}">
                <a16:creationId xmlns:a16="http://schemas.microsoft.com/office/drawing/2014/main" id="{96A0DDB6-8BD9-83CF-0A4A-F93C90FFC776}"/>
              </a:ext>
            </a:extLst>
          </p:cNvPr>
          <p:cNvSpPr/>
          <p:nvPr/>
        </p:nvSpPr>
        <p:spPr>
          <a:xfrm>
            <a:off x="365760" y="91440"/>
            <a:ext cx="7772400" cy="594360"/>
          </a:xfrm>
          <a:prstGeom prst="rect">
            <a:avLst/>
          </a:prstGeom>
          <a:noFill/>
          <a:ln/>
        </p:spPr>
        <p:txBody>
          <a:bodyPr wrap="square" rtlCol="0" anchor="ctr"/>
          <a:lstStyle/>
          <a:p>
            <a:r>
              <a:rPr lang="en-US" sz="2200" b="1" dirty="0">
                <a:solidFill>
                  <a:srgbClr val="FFFFFF"/>
                </a:solidFill>
                <a:ea typeface="Quattrocento Sans" pitchFamily="34" charset="-122"/>
                <a:cs typeface="Quattrocento Sans" pitchFamily="34" charset="-120"/>
              </a:rPr>
              <a:t>Step 8: </a:t>
            </a:r>
            <a:r>
              <a:rPr lang="en-US" sz="2200" b="1" dirty="0">
                <a:solidFill>
                  <a:srgbClr val="FFFFFF"/>
                </a:solidFill>
              </a:rPr>
              <a:t>Retrieval-Augmented</a:t>
            </a:r>
            <a:r>
              <a:rPr lang="en-US" sz="2400" b="1" dirty="0">
                <a:solidFill>
                  <a:srgbClr val="FFFFFF"/>
                </a:solidFill>
                <a:latin typeface="Liter" pitchFamily="34" charset="0"/>
                <a:ea typeface="Liter" pitchFamily="34" charset="-122"/>
                <a:cs typeface="Liter" pitchFamily="34" charset="-120"/>
              </a:rPr>
              <a:t> </a:t>
            </a:r>
            <a:r>
              <a:rPr lang="en-US" sz="2200" b="1" dirty="0">
                <a:solidFill>
                  <a:srgbClr val="FFFFFF"/>
                </a:solidFill>
              </a:rPr>
              <a:t>Generation</a:t>
            </a:r>
            <a:r>
              <a:rPr lang="en-US" sz="2400" b="1" dirty="0">
                <a:solidFill>
                  <a:srgbClr val="FFFFFF"/>
                </a:solidFill>
                <a:latin typeface="Liter" pitchFamily="34" charset="0"/>
                <a:ea typeface="Liter" pitchFamily="34" charset="-122"/>
                <a:cs typeface="Liter" pitchFamily="34" charset="-120"/>
              </a:rPr>
              <a:t> (</a:t>
            </a:r>
            <a:r>
              <a:rPr lang="en-US" sz="2200" b="1" dirty="0">
                <a:solidFill>
                  <a:srgbClr val="FFFFFF"/>
                </a:solidFill>
              </a:rPr>
              <a:t>RAG</a:t>
            </a:r>
            <a:r>
              <a:rPr lang="en-US" sz="2400" b="1" dirty="0">
                <a:solidFill>
                  <a:srgbClr val="FFFFFF"/>
                </a:solidFill>
                <a:latin typeface="Liter" pitchFamily="34" charset="0"/>
                <a:ea typeface="Liter" pitchFamily="34" charset="-122"/>
                <a:cs typeface="Liter" pitchFamily="34" charset="-120"/>
              </a:rPr>
              <a:t>)</a:t>
            </a:r>
            <a:endParaRPr lang="en-US" sz="2200" dirty="0"/>
          </a:p>
        </p:txBody>
      </p:sp>
      <p:pic>
        <p:nvPicPr>
          <p:cNvPr id="16" name="Image 0" descr="preencoded.png">
            <a:extLst>
              <a:ext uri="{FF2B5EF4-FFF2-40B4-BE49-F238E27FC236}">
                <a16:creationId xmlns:a16="http://schemas.microsoft.com/office/drawing/2014/main" id="{804D9516-FDF8-044D-8488-062923353F07}"/>
              </a:ext>
            </a:extLst>
          </p:cNvPr>
          <p:cNvPicPr>
            <a:picLocks noChangeAspect="1"/>
          </p:cNvPicPr>
          <p:nvPr/>
        </p:nvPicPr>
        <p:blipFill>
          <a:blip r:embed="rId4"/>
          <a:stretch>
            <a:fillRect/>
          </a:stretch>
        </p:blipFill>
        <p:spPr>
          <a:xfrm>
            <a:off x="8046720" y="45720"/>
            <a:ext cx="685800" cy="676656"/>
          </a:xfrm>
          <a:prstGeom prst="rect">
            <a:avLst/>
          </a:prstGeom>
        </p:spPr>
      </p:pic>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22376"/>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285750" y="0"/>
            <a:ext cx="5000625" cy="722376"/>
          </a:xfrm>
          <a:prstGeom prst="rect">
            <a:avLst/>
          </a:prstGeom>
          <a:noFill/>
          <a:ln/>
        </p:spPr>
        <p:txBody>
          <a:bodyPr wrap="none" lIns="0" tIns="0" rIns="0" bIns="0" rtlCol="0" anchor="ctr"/>
          <a:lstStyle/>
          <a:p>
            <a:pPr>
              <a:lnSpc>
                <a:spcPct val="100000"/>
              </a:lnSpc>
            </a:pPr>
            <a:r>
              <a:rPr lang="en-US" b="1" dirty="0">
                <a:solidFill>
                  <a:srgbClr val="FFFFFF"/>
                </a:solidFill>
                <a:latin typeface="Liter" pitchFamily="34" charset="0"/>
                <a:ea typeface="Liter" pitchFamily="34" charset="-122"/>
                <a:cs typeface="Liter" pitchFamily="34" charset="-120"/>
              </a:rPr>
              <a:t>Qdrant Vector Database</a:t>
            </a:r>
            <a:endParaRPr lang="en-US" dirty="0"/>
          </a:p>
        </p:txBody>
      </p:sp>
      <p:sp>
        <p:nvSpPr>
          <p:cNvPr id="4" name="Shape 2"/>
          <p:cNvSpPr/>
          <p:nvPr/>
        </p:nvSpPr>
        <p:spPr>
          <a:xfrm>
            <a:off x="285750" y="1000124"/>
            <a:ext cx="4143375" cy="1928813"/>
          </a:xfrm>
          <a:prstGeom prst="rect">
            <a:avLst/>
          </a:prstGeom>
          <a:solidFill>
            <a:srgbClr val="1B2A4A"/>
          </a:solidFill>
          <a:ln/>
          <a:effectLst>
            <a:outerShdw blurRad="101600" dist="38100" dir="5400000" algn="bl" rotWithShape="0">
              <a:srgbClr val="000000">
                <a:alpha val="12549"/>
              </a:srgbClr>
            </a:outerShdw>
          </a:effectLst>
        </p:spPr>
        <p:txBody>
          <a:bodyPr/>
          <a:lstStyle/>
          <a:p>
            <a:endParaRPr lang="en-US"/>
          </a:p>
        </p:txBody>
      </p:sp>
      <p:sp>
        <p:nvSpPr>
          <p:cNvPr id="5" name="Shape 3"/>
          <p:cNvSpPr/>
          <p:nvPr/>
        </p:nvSpPr>
        <p:spPr>
          <a:xfrm>
            <a:off x="285750" y="1000124"/>
            <a:ext cx="42863" cy="1928813"/>
          </a:xfrm>
          <a:prstGeom prst="rect">
            <a:avLst/>
          </a:prstGeom>
          <a:solidFill>
            <a:srgbClr val="2EAF8B"/>
          </a:solidFill>
          <a:ln/>
        </p:spPr>
        <p:txBody>
          <a:bodyPr/>
          <a:lstStyle/>
          <a:p>
            <a:endParaRPr lang="en-US"/>
          </a:p>
        </p:txBody>
      </p:sp>
      <p:sp>
        <p:nvSpPr>
          <p:cNvPr id="6" name="Shape 4"/>
          <p:cNvSpPr/>
          <p:nvPr/>
        </p:nvSpPr>
        <p:spPr>
          <a:xfrm>
            <a:off x="516136" y="1143000"/>
            <a:ext cx="225028" cy="257175"/>
          </a:xfrm>
          <a:custGeom>
            <a:avLst/>
            <a:gdLst/>
            <a:ahLst/>
            <a:cxnLst/>
            <a:rect l="l" t="t" r="r" b="b"/>
            <a:pathLst>
              <a:path w="400050" h="457200">
                <a:moveTo>
                  <a:pt x="400050" y="183773"/>
                </a:moveTo>
                <a:cubicBezTo>
                  <a:pt x="386834" y="192524"/>
                  <a:pt x="371654" y="199579"/>
                  <a:pt x="355848" y="205204"/>
                </a:cubicBezTo>
                <a:cubicBezTo>
                  <a:pt x="313879" y="220206"/>
                  <a:pt x="258782" y="228600"/>
                  <a:pt x="200025" y="228600"/>
                </a:cubicBezTo>
                <a:cubicBezTo>
                  <a:pt x="141268" y="228600"/>
                  <a:pt x="86082" y="220117"/>
                  <a:pt x="44202" y="205204"/>
                </a:cubicBezTo>
                <a:cubicBezTo>
                  <a:pt x="28486" y="199579"/>
                  <a:pt x="13216" y="192524"/>
                  <a:pt x="0" y="183773"/>
                </a:cubicBezTo>
                <a:lnTo>
                  <a:pt x="0" y="257175"/>
                </a:lnTo>
                <a:cubicBezTo>
                  <a:pt x="0" y="296644"/>
                  <a:pt x="89565" y="328613"/>
                  <a:pt x="200025" y="328613"/>
                </a:cubicBezTo>
                <a:cubicBezTo>
                  <a:pt x="310485" y="328613"/>
                  <a:pt x="400050" y="296644"/>
                  <a:pt x="400050" y="257175"/>
                </a:cubicBezTo>
                <a:lnTo>
                  <a:pt x="400050" y="183773"/>
                </a:lnTo>
                <a:close/>
                <a:moveTo>
                  <a:pt x="400050" y="114300"/>
                </a:moveTo>
                <a:lnTo>
                  <a:pt x="400050" y="71438"/>
                </a:lnTo>
                <a:cubicBezTo>
                  <a:pt x="400050" y="31968"/>
                  <a:pt x="310485" y="0"/>
                  <a:pt x="200025" y="0"/>
                </a:cubicBezTo>
                <a:cubicBezTo>
                  <a:pt x="89565" y="0"/>
                  <a:pt x="0" y="31968"/>
                  <a:pt x="0" y="71438"/>
                </a:cubicBezTo>
                <a:lnTo>
                  <a:pt x="0" y="114300"/>
                </a:lnTo>
                <a:cubicBezTo>
                  <a:pt x="0" y="153769"/>
                  <a:pt x="89565" y="185738"/>
                  <a:pt x="200025" y="185738"/>
                </a:cubicBezTo>
                <a:cubicBezTo>
                  <a:pt x="310485" y="185738"/>
                  <a:pt x="400050" y="153769"/>
                  <a:pt x="400050" y="114300"/>
                </a:cubicBezTo>
                <a:close/>
                <a:moveTo>
                  <a:pt x="355848" y="348079"/>
                </a:moveTo>
                <a:cubicBezTo>
                  <a:pt x="313968" y="362992"/>
                  <a:pt x="258872" y="371475"/>
                  <a:pt x="200025" y="371475"/>
                </a:cubicBezTo>
                <a:cubicBezTo>
                  <a:pt x="141178" y="371475"/>
                  <a:pt x="86082" y="362992"/>
                  <a:pt x="44202" y="348079"/>
                </a:cubicBezTo>
                <a:cubicBezTo>
                  <a:pt x="28486" y="342454"/>
                  <a:pt x="13216" y="335399"/>
                  <a:pt x="0" y="326648"/>
                </a:cubicBezTo>
                <a:lnTo>
                  <a:pt x="0" y="385763"/>
                </a:lnTo>
                <a:cubicBezTo>
                  <a:pt x="0" y="425232"/>
                  <a:pt x="89565" y="457200"/>
                  <a:pt x="200025" y="457200"/>
                </a:cubicBezTo>
                <a:cubicBezTo>
                  <a:pt x="310485" y="457200"/>
                  <a:pt x="400050" y="425232"/>
                  <a:pt x="400050" y="385763"/>
                </a:cubicBezTo>
                <a:lnTo>
                  <a:pt x="400050" y="326648"/>
                </a:lnTo>
                <a:cubicBezTo>
                  <a:pt x="386834" y="335399"/>
                  <a:pt x="371654" y="342454"/>
                  <a:pt x="355848" y="348079"/>
                </a:cubicBezTo>
                <a:close/>
              </a:path>
            </a:pathLst>
          </a:custGeom>
          <a:solidFill>
            <a:srgbClr val="2EAF8B"/>
          </a:solidFill>
          <a:ln/>
        </p:spPr>
        <p:txBody>
          <a:bodyPr/>
          <a:lstStyle/>
          <a:p>
            <a:endParaRPr lang="en-US"/>
          </a:p>
        </p:txBody>
      </p:sp>
      <p:sp>
        <p:nvSpPr>
          <p:cNvPr id="7" name="Text 5"/>
          <p:cNvSpPr/>
          <p:nvPr/>
        </p:nvSpPr>
        <p:spPr>
          <a:xfrm>
            <a:off x="857250" y="1143000"/>
            <a:ext cx="3286125" cy="257175"/>
          </a:xfrm>
          <a:prstGeom prst="rect">
            <a:avLst/>
          </a:prstGeom>
          <a:noFill/>
          <a:ln/>
        </p:spPr>
        <p:txBody>
          <a:bodyPr wrap="none" lIns="0" tIns="0" rIns="0" bIns="0" rtlCol="0" anchor="ctr"/>
          <a:lstStyle/>
          <a:p>
            <a:pPr>
              <a:lnSpc>
                <a:spcPct val="100000"/>
              </a:lnSpc>
            </a:pPr>
            <a:r>
              <a:rPr lang="en-US" sz="1238" b="1" dirty="0">
                <a:solidFill>
                  <a:srgbClr val="FFFFFF"/>
                </a:solidFill>
                <a:latin typeface="Liter" pitchFamily="34" charset="0"/>
                <a:ea typeface="Liter" pitchFamily="34" charset="-122"/>
                <a:cs typeface="Liter" pitchFamily="34" charset="-120"/>
              </a:rPr>
              <a:t>Qdrant Overview</a:t>
            </a:r>
            <a:endParaRPr lang="en-US" sz="1238" dirty="0"/>
          </a:p>
        </p:txBody>
      </p:sp>
      <p:sp>
        <p:nvSpPr>
          <p:cNvPr id="8" name="Text 6"/>
          <p:cNvSpPr/>
          <p:nvPr/>
        </p:nvSpPr>
        <p:spPr>
          <a:xfrm>
            <a:off x="500062" y="1500187"/>
            <a:ext cx="3786188" cy="1285875"/>
          </a:xfrm>
          <a:prstGeom prst="rect">
            <a:avLst/>
          </a:prstGeom>
          <a:noFill/>
          <a:ln/>
        </p:spPr>
        <p:txBody>
          <a:bodyPr wrap="square" lIns="0" tIns="0" rIns="0" bIns="0" rtlCol="0" anchor="t"/>
          <a:lstStyle/>
          <a:p>
            <a:pPr>
              <a:lnSpc>
                <a:spcPct val="160000"/>
              </a:lnSpc>
            </a:pPr>
            <a:r>
              <a:rPr lang="en-US" sz="1013" dirty="0">
                <a:solidFill>
                  <a:srgbClr val="FFFFFF"/>
                </a:solidFill>
                <a:latin typeface="Liter" pitchFamily="34" charset="0"/>
                <a:ea typeface="Liter" pitchFamily="34" charset="-122"/>
                <a:cs typeface="Liter" pitchFamily="34" charset="-120"/>
              </a:rPr>
              <a:t>Qdrant is a vector database designed to store and search high-dimensional embeddings (vectors).</a:t>
            </a:r>
            <a:endParaRPr lang="en-US" sz="900" dirty="0"/>
          </a:p>
          <a:p>
            <a:pPr>
              <a:lnSpc>
                <a:spcPct val="160000"/>
              </a:lnSpc>
              <a:spcBef>
                <a:spcPts val="450"/>
              </a:spcBef>
            </a:pPr>
            <a:r>
              <a:rPr lang="en-US" sz="1013" dirty="0">
                <a:solidFill>
                  <a:srgbClr val="FFFFFF"/>
                </a:solidFill>
                <a:latin typeface="Liter" pitchFamily="34" charset="0"/>
                <a:ea typeface="Liter" pitchFamily="34" charset="-122"/>
                <a:cs typeface="Liter" pitchFamily="34" charset="-120"/>
              </a:rPr>
              <a:t>Unlike traditional SQL databases that rely on exact keyword matching, Qdrant performs </a:t>
            </a:r>
            <a:r>
              <a:rPr lang="en-US" sz="1013" b="1" dirty="0">
                <a:solidFill>
                  <a:srgbClr val="FFFFFF"/>
                </a:solidFill>
                <a:latin typeface="Liter" pitchFamily="34" charset="0"/>
                <a:ea typeface="Liter" pitchFamily="34" charset="-122"/>
                <a:cs typeface="Liter" pitchFamily="34" charset="-120"/>
              </a:rPr>
              <a:t>semantic search</a:t>
            </a:r>
            <a:r>
              <a:rPr lang="en-US" sz="1013" dirty="0">
                <a:solidFill>
                  <a:srgbClr val="FFFFFF"/>
                </a:solidFill>
                <a:latin typeface="Liter" pitchFamily="34" charset="0"/>
                <a:ea typeface="Liter" pitchFamily="34" charset="-122"/>
                <a:cs typeface="Liter" pitchFamily="34" charset="-120"/>
              </a:rPr>
              <a:t> by finding results based on meaning similarity.</a:t>
            </a:r>
            <a:endParaRPr lang="en-US" sz="900" dirty="0"/>
          </a:p>
        </p:txBody>
      </p:sp>
      <p:pic>
        <p:nvPicPr>
          <p:cNvPr id="9" name="Image 0" descr="https://kimi-img.moonshot.cn/pub/slides/okc/pcpvqv7bqmkfa/mnt/agents/output/rag_presentation/images/image_5.png"/>
          <p:cNvPicPr>
            <a:picLocks noChangeAspect="1"/>
          </p:cNvPicPr>
          <p:nvPr/>
        </p:nvPicPr>
        <p:blipFill>
          <a:blip r:embed="rId3"/>
          <a:srcRect t="6491" b="6491"/>
          <a:stretch/>
        </p:blipFill>
        <p:spPr>
          <a:xfrm>
            <a:off x="4714875" y="1000124"/>
            <a:ext cx="4143375" cy="1928813"/>
          </a:xfrm>
          <a:prstGeom prst="rect">
            <a:avLst/>
          </a:prstGeom>
        </p:spPr>
      </p:pic>
      <p:sp>
        <p:nvSpPr>
          <p:cNvPr id="10" name="Shape 7"/>
          <p:cNvSpPr/>
          <p:nvPr/>
        </p:nvSpPr>
        <p:spPr>
          <a:xfrm>
            <a:off x="285750" y="3143249"/>
            <a:ext cx="8572500" cy="1785938"/>
          </a:xfrm>
          <a:prstGeom prst="rect">
            <a:avLst/>
          </a:prstGeom>
          <a:solidFill>
            <a:srgbClr val="FFFFFF"/>
          </a:solidFill>
          <a:ln/>
          <a:effectLst>
            <a:outerShdw blurRad="101600" dist="38100" dir="5400000" algn="bl" rotWithShape="0">
              <a:srgbClr val="000000">
                <a:alpha val="8235"/>
              </a:srgbClr>
            </a:outerShdw>
          </a:effectLst>
        </p:spPr>
        <p:txBody>
          <a:bodyPr/>
          <a:lstStyle/>
          <a:p>
            <a:endParaRPr lang="en-US"/>
          </a:p>
        </p:txBody>
      </p:sp>
      <p:sp>
        <p:nvSpPr>
          <p:cNvPr id="11" name="Shape 8"/>
          <p:cNvSpPr/>
          <p:nvPr/>
        </p:nvSpPr>
        <p:spPr>
          <a:xfrm>
            <a:off x="285750" y="3143249"/>
            <a:ext cx="42863" cy="1785938"/>
          </a:xfrm>
          <a:prstGeom prst="rect">
            <a:avLst/>
          </a:prstGeom>
          <a:solidFill>
            <a:srgbClr val="2EAF8B"/>
          </a:solidFill>
          <a:ln/>
        </p:spPr>
        <p:txBody>
          <a:bodyPr/>
          <a:lstStyle/>
          <a:p>
            <a:endParaRPr lang="en-US"/>
          </a:p>
        </p:txBody>
      </p:sp>
      <p:sp>
        <p:nvSpPr>
          <p:cNvPr id="12" name="Shape 9"/>
          <p:cNvSpPr/>
          <p:nvPr/>
        </p:nvSpPr>
        <p:spPr>
          <a:xfrm>
            <a:off x="500063" y="3286125"/>
            <a:ext cx="257175" cy="257175"/>
          </a:xfrm>
          <a:custGeom>
            <a:avLst/>
            <a:gdLst/>
            <a:ahLst/>
            <a:cxnLst/>
            <a:rect l="l" t="t" r="r" b="b"/>
            <a:pathLst>
              <a:path w="457200" h="457200">
                <a:moveTo>
                  <a:pt x="171450" y="71438"/>
                </a:moveTo>
                <a:cubicBezTo>
                  <a:pt x="171450" y="47774"/>
                  <a:pt x="190649" y="28575"/>
                  <a:pt x="214313" y="28575"/>
                </a:cubicBezTo>
                <a:lnTo>
                  <a:pt x="242888" y="28575"/>
                </a:lnTo>
                <a:cubicBezTo>
                  <a:pt x="266551" y="28575"/>
                  <a:pt x="285750" y="47774"/>
                  <a:pt x="285750" y="71438"/>
                </a:cubicBezTo>
                <a:lnTo>
                  <a:pt x="285750" y="385763"/>
                </a:lnTo>
                <a:cubicBezTo>
                  <a:pt x="285750" y="409426"/>
                  <a:pt x="266551" y="428625"/>
                  <a:pt x="242888" y="428625"/>
                </a:cubicBezTo>
                <a:lnTo>
                  <a:pt x="214313" y="428625"/>
                </a:lnTo>
                <a:cubicBezTo>
                  <a:pt x="190649" y="428625"/>
                  <a:pt x="171450" y="409426"/>
                  <a:pt x="171450" y="385763"/>
                </a:cubicBezTo>
                <a:lnTo>
                  <a:pt x="171450" y="71438"/>
                </a:lnTo>
                <a:close/>
                <a:moveTo>
                  <a:pt x="0" y="242888"/>
                </a:moveTo>
                <a:cubicBezTo>
                  <a:pt x="0" y="219224"/>
                  <a:pt x="19199" y="200025"/>
                  <a:pt x="42863" y="200025"/>
                </a:cubicBezTo>
                <a:lnTo>
                  <a:pt x="71438" y="200025"/>
                </a:lnTo>
                <a:cubicBezTo>
                  <a:pt x="95101" y="200025"/>
                  <a:pt x="114300" y="219224"/>
                  <a:pt x="114300" y="242888"/>
                </a:cubicBezTo>
                <a:lnTo>
                  <a:pt x="114300" y="385763"/>
                </a:lnTo>
                <a:cubicBezTo>
                  <a:pt x="114300" y="409426"/>
                  <a:pt x="95101" y="428625"/>
                  <a:pt x="71438" y="428625"/>
                </a:cubicBezTo>
                <a:lnTo>
                  <a:pt x="42863" y="428625"/>
                </a:lnTo>
                <a:cubicBezTo>
                  <a:pt x="19199" y="428625"/>
                  <a:pt x="0" y="409426"/>
                  <a:pt x="0" y="385763"/>
                </a:cubicBezTo>
                <a:lnTo>
                  <a:pt x="0" y="242888"/>
                </a:lnTo>
                <a:close/>
                <a:moveTo>
                  <a:pt x="385763" y="85725"/>
                </a:moveTo>
                <a:lnTo>
                  <a:pt x="414338" y="85725"/>
                </a:lnTo>
                <a:cubicBezTo>
                  <a:pt x="438001" y="85725"/>
                  <a:pt x="457200" y="104924"/>
                  <a:pt x="457200" y="128588"/>
                </a:cubicBezTo>
                <a:lnTo>
                  <a:pt x="457200" y="385763"/>
                </a:lnTo>
                <a:cubicBezTo>
                  <a:pt x="457200" y="409426"/>
                  <a:pt x="438001" y="428625"/>
                  <a:pt x="414338" y="428625"/>
                </a:cubicBezTo>
                <a:lnTo>
                  <a:pt x="385763" y="428625"/>
                </a:lnTo>
                <a:cubicBezTo>
                  <a:pt x="362099" y="428625"/>
                  <a:pt x="342900" y="409426"/>
                  <a:pt x="342900" y="385763"/>
                </a:cubicBezTo>
                <a:lnTo>
                  <a:pt x="342900" y="128588"/>
                </a:lnTo>
                <a:cubicBezTo>
                  <a:pt x="342900" y="104924"/>
                  <a:pt x="362099" y="85725"/>
                  <a:pt x="385763" y="85725"/>
                </a:cubicBezTo>
                <a:close/>
              </a:path>
            </a:pathLst>
          </a:custGeom>
          <a:solidFill>
            <a:srgbClr val="2EAF8B"/>
          </a:solidFill>
          <a:ln/>
        </p:spPr>
        <p:txBody>
          <a:bodyPr/>
          <a:lstStyle/>
          <a:p>
            <a:endParaRPr lang="en-US"/>
          </a:p>
        </p:txBody>
      </p:sp>
      <p:sp>
        <p:nvSpPr>
          <p:cNvPr id="13" name="Text 10"/>
          <p:cNvSpPr/>
          <p:nvPr/>
        </p:nvSpPr>
        <p:spPr>
          <a:xfrm>
            <a:off x="857250" y="3286125"/>
            <a:ext cx="2857500" cy="257175"/>
          </a:xfrm>
          <a:prstGeom prst="rect">
            <a:avLst/>
          </a:prstGeom>
          <a:noFill/>
          <a:ln/>
        </p:spPr>
        <p:txBody>
          <a:bodyPr wrap="none" lIns="0" tIns="0" rIns="0" bIns="0" rtlCol="0" anchor="ctr"/>
          <a:lstStyle/>
          <a:p>
            <a:pPr>
              <a:lnSpc>
                <a:spcPct val="100000"/>
              </a:lnSpc>
            </a:pPr>
            <a:r>
              <a:rPr lang="en-US" sz="1238" b="1" dirty="0">
                <a:solidFill>
                  <a:srgbClr val="2EAF8B"/>
                </a:solidFill>
                <a:latin typeface="Liter" pitchFamily="34" charset="0"/>
                <a:ea typeface="Liter" pitchFamily="34" charset="-122"/>
                <a:cs typeface="Liter" pitchFamily="34" charset="-120"/>
              </a:rPr>
              <a:t>rag_data Collection</a:t>
            </a:r>
            <a:endParaRPr lang="en-US" sz="1238" dirty="0"/>
          </a:p>
        </p:txBody>
      </p:sp>
      <p:sp>
        <p:nvSpPr>
          <p:cNvPr id="14" name="Text 11"/>
          <p:cNvSpPr/>
          <p:nvPr/>
        </p:nvSpPr>
        <p:spPr>
          <a:xfrm>
            <a:off x="500062" y="3643312"/>
            <a:ext cx="5214938" cy="1143000"/>
          </a:xfrm>
          <a:prstGeom prst="rect">
            <a:avLst/>
          </a:prstGeom>
          <a:noFill/>
          <a:ln/>
        </p:spPr>
        <p:txBody>
          <a:bodyPr wrap="square" lIns="0" tIns="0" rIns="0" bIns="0" rtlCol="0" anchor="t"/>
          <a:lstStyle/>
          <a:p>
            <a:pPr>
              <a:lnSpc>
                <a:spcPct val="160000"/>
              </a:lnSpc>
            </a:pPr>
            <a:r>
              <a:rPr lang="en-US" sz="1013" dirty="0">
                <a:solidFill>
                  <a:srgbClr val="2D3748"/>
                </a:solidFill>
                <a:latin typeface="Liter" pitchFamily="34" charset="0"/>
                <a:ea typeface="Liter" pitchFamily="34" charset="-122"/>
                <a:cs typeface="Liter" pitchFamily="34" charset="-120"/>
              </a:rPr>
              <a:t>• Each record from the dataset is converted into a </a:t>
            </a:r>
            <a:r>
              <a:rPr lang="en-US" sz="1013" b="1" dirty="0">
                <a:solidFill>
                  <a:srgbClr val="2D3748"/>
                </a:solidFill>
                <a:latin typeface="Liter" pitchFamily="34" charset="0"/>
                <a:ea typeface="Liter" pitchFamily="34" charset="-122"/>
                <a:cs typeface="Liter" pitchFamily="34" charset="-120"/>
              </a:rPr>
              <a:t>768-dimensional vector</a:t>
            </a:r>
            <a:endParaRPr lang="en-US" sz="900" dirty="0"/>
          </a:p>
          <a:p>
            <a:pPr>
              <a:lnSpc>
                <a:spcPct val="160000"/>
              </a:lnSpc>
            </a:pPr>
            <a:r>
              <a:rPr lang="en-US" sz="1013" dirty="0">
                <a:solidFill>
                  <a:srgbClr val="2D3748"/>
                </a:solidFill>
                <a:latin typeface="Liter" pitchFamily="34" charset="0"/>
                <a:ea typeface="Liter" pitchFamily="34" charset="-122"/>
                <a:cs typeface="Liter" pitchFamily="34" charset="-120"/>
              </a:rPr>
              <a:t>• Stored as a point inside a collection called </a:t>
            </a:r>
            <a:r>
              <a:rPr lang="en-US" sz="1013" b="1" dirty="0">
                <a:solidFill>
                  <a:srgbClr val="2D3748"/>
                </a:solidFill>
                <a:latin typeface="Liter" pitchFamily="34" charset="0"/>
                <a:ea typeface="Liter" pitchFamily="34" charset="-122"/>
                <a:cs typeface="Liter" pitchFamily="34" charset="-120"/>
              </a:rPr>
              <a:t>rag_data</a:t>
            </a:r>
            <a:endParaRPr lang="en-US" sz="900" dirty="0"/>
          </a:p>
          <a:p>
            <a:pPr>
              <a:lnSpc>
                <a:spcPct val="160000"/>
              </a:lnSpc>
            </a:pPr>
            <a:r>
              <a:rPr lang="en-US" sz="1013" dirty="0">
                <a:solidFill>
                  <a:srgbClr val="2D3748"/>
                </a:solidFill>
                <a:latin typeface="Liter" pitchFamily="34" charset="0"/>
                <a:ea typeface="Liter" pitchFamily="34" charset="-122"/>
                <a:cs typeface="Liter" pitchFamily="34" charset="-120"/>
              </a:rPr>
              <a:t>• Contains approximately </a:t>
            </a:r>
            <a:r>
              <a:rPr lang="en-US" sz="1013" b="1" dirty="0">
                <a:solidFill>
                  <a:srgbClr val="2D3748"/>
                </a:solidFill>
                <a:latin typeface="Liter" pitchFamily="34" charset="0"/>
                <a:ea typeface="Liter" pitchFamily="34" charset="-122"/>
                <a:cs typeface="Liter" pitchFamily="34" charset="-120"/>
              </a:rPr>
              <a:t>296,000 records</a:t>
            </a:r>
            <a:endParaRPr lang="en-US" sz="900" dirty="0"/>
          </a:p>
          <a:p>
            <a:pPr>
              <a:lnSpc>
                <a:spcPct val="160000"/>
              </a:lnSpc>
            </a:pPr>
            <a:r>
              <a:rPr lang="en-US" sz="1013" dirty="0">
                <a:solidFill>
                  <a:srgbClr val="2D3748"/>
                </a:solidFill>
                <a:latin typeface="Liter" pitchFamily="34" charset="0"/>
                <a:ea typeface="Liter" pitchFamily="34" charset="-122"/>
                <a:cs typeface="Liter" pitchFamily="34" charset="-120"/>
              </a:rPr>
              <a:t>• The database is optimized for fast retrieval using segmentation and similarity search</a:t>
            </a:r>
            <a:endParaRPr lang="en-US" sz="900" dirty="0"/>
          </a:p>
        </p:txBody>
      </p:sp>
      <p:pic>
        <p:nvPicPr>
          <p:cNvPr id="15" name="Image 1" descr="https://kimi-img.moonshot.cn/pub/slides/okc/pcpvqv7bqmkfa/mnt/agents/output/rag_presentation/images/image_3.png"/>
          <p:cNvPicPr>
            <a:picLocks noChangeAspect="1"/>
          </p:cNvPicPr>
          <p:nvPr/>
        </p:nvPicPr>
        <p:blipFill>
          <a:blip r:embed="rId4"/>
          <a:srcRect l="-2500" r="-2500"/>
          <a:stretch/>
        </p:blipFill>
        <p:spPr>
          <a:xfrm>
            <a:off x="5857875" y="3643312"/>
            <a:ext cx="2857500" cy="1143000"/>
          </a:xfrm>
          <a:prstGeom prst="rect">
            <a:avLst/>
          </a:prstGeom>
        </p:spPr>
      </p:pic>
      <p:pic>
        <p:nvPicPr>
          <p:cNvPr id="16" name="Image 0" descr="preencoded.png">
            <a:extLst>
              <a:ext uri="{FF2B5EF4-FFF2-40B4-BE49-F238E27FC236}">
                <a16:creationId xmlns:a16="http://schemas.microsoft.com/office/drawing/2014/main" id="{EFC99380-6463-EB7E-420A-3E5AF6B21F42}"/>
              </a:ext>
            </a:extLst>
          </p:cNvPr>
          <p:cNvPicPr>
            <a:picLocks noChangeAspect="1"/>
          </p:cNvPicPr>
          <p:nvPr/>
        </p:nvPicPr>
        <p:blipFill>
          <a:blip r:embed="rId5"/>
          <a:stretch>
            <a:fillRect/>
          </a:stretch>
        </p:blipFill>
        <p:spPr>
          <a:xfrm>
            <a:off x="8046720" y="45720"/>
            <a:ext cx="685800" cy="676656"/>
          </a:xfrm>
          <a:prstGeom prst="rect">
            <a:avLst/>
          </a:prstGeom>
        </p:spPr>
      </p:pic>
    </p:spTree>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22376"/>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285750" y="0"/>
            <a:ext cx="4286250" cy="722376"/>
          </a:xfrm>
          <a:prstGeom prst="rect">
            <a:avLst/>
          </a:prstGeom>
          <a:noFill/>
          <a:ln/>
        </p:spPr>
        <p:txBody>
          <a:bodyPr wrap="none" lIns="0" tIns="0" rIns="0" bIns="0" rtlCol="0" anchor="ctr"/>
          <a:lstStyle/>
          <a:p>
            <a:pPr>
              <a:lnSpc>
                <a:spcPct val="100000"/>
              </a:lnSpc>
            </a:pPr>
            <a:r>
              <a:rPr lang="en-US" b="1" dirty="0">
                <a:solidFill>
                  <a:srgbClr val="FFFFFF"/>
                </a:solidFill>
                <a:latin typeface="Liter" pitchFamily="34" charset="0"/>
                <a:ea typeface="Liter" pitchFamily="34" charset="-122"/>
                <a:cs typeface="Liter" pitchFamily="34" charset="-120"/>
              </a:rPr>
              <a:t>Cosine Similarity</a:t>
            </a:r>
            <a:endParaRPr lang="en-US" dirty="0"/>
          </a:p>
        </p:txBody>
      </p:sp>
      <p:sp>
        <p:nvSpPr>
          <p:cNvPr id="4" name="Shape 2"/>
          <p:cNvSpPr/>
          <p:nvPr/>
        </p:nvSpPr>
        <p:spPr>
          <a:xfrm>
            <a:off x="285750" y="928688"/>
            <a:ext cx="4143375" cy="1928813"/>
          </a:xfrm>
          <a:prstGeom prst="rect">
            <a:avLst/>
          </a:prstGeom>
          <a:solidFill>
            <a:srgbClr val="1B2A4A"/>
          </a:solidFill>
          <a:ln/>
          <a:effectLst>
            <a:outerShdw blurRad="101600" dist="38100" dir="5400000" algn="bl" rotWithShape="0">
              <a:srgbClr val="000000">
                <a:alpha val="12549"/>
              </a:srgbClr>
            </a:outerShdw>
          </a:effectLst>
        </p:spPr>
        <p:txBody>
          <a:bodyPr/>
          <a:lstStyle/>
          <a:p>
            <a:endParaRPr lang="en-US"/>
          </a:p>
        </p:txBody>
      </p:sp>
      <p:sp>
        <p:nvSpPr>
          <p:cNvPr id="5" name="Shape 3"/>
          <p:cNvSpPr/>
          <p:nvPr/>
        </p:nvSpPr>
        <p:spPr>
          <a:xfrm>
            <a:off x="285750" y="928688"/>
            <a:ext cx="42863" cy="1928813"/>
          </a:xfrm>
          <a:prstGeom prst="rect">
            <a:avLst/>
          </a:prstGeom>
          <a:solidFill>
            <a:srgbClr val="2EAF8B"/>
          </a:solidFill>
          <a:ln/>
        </p:spPr>
        <p:txBody>
          <a:bodyPr/>
          <a:lstStyle/>
          <a:p>
            <a:endParaRPr lang="en-US"/>
          </a:p>
        </p:txBody>
      </p:sp>
      <p:sp>
        <p:nvSpPr>
          <p:cNvPr id="6" name="Shape 4"/>
          <p:cNvSpPr/>
          <p:nvPr/>
        </p:nvSpPr>
        <p:spPr>
          <a:xfrm>
            <a:off x="532210" y="1071564"/>
            <a:ext cx="192881" cy="257175"/>
          </a:xfrm>
          <a:custGeom>
            <a:avLst/>
            <a:gdLst/>
            <a:ahLst/>
            <a:cxnLst/>
            <a:rect l="l" t="t" r="r" b="b"/>
            <a:pathLst>
              <a:path w="342900" h="457200">
                <a:moveTo>
                  <a:pt x="57150" y="0"/>
                </a:moveTo>
                <a:cubicBezTo>
                  <a:pt x="25628" y="0"/>
                  <a:pt x="0" y="25628"/>
                  <a:pt x="0" y="57150"/>
                </a:cubicBezTo>
                <a:lnTo>
                  <a:pt x="0" y="400050"/>
                </a:lnTo>
                <a:cubicBezTo>
                  <a:pt x="0" y="431572"/>
                  <a:pt x="25628" y="457200"/>
                  <a:pt x="57150" y="457200"/>
                </a:cubicBezTo>
                <a:lnTo>
                  <a:pt x="285750" y="457200"/>
                </a:lnTo>
                <a:cubicBezTo>
                  <a:pt x="317272" y="457200"/>
                  <a:pt x="342900" y="431572"/>
                  <a:pt x="342900" y="400050"/>
                </a:cubicBezTo>
                <a:lnTo>
                  <a:pt x="342900" y="57150"/>
                </a:lnTo>
                <a:cubicBezTo>
                  <a:pt x="342900" y="25628"/>
                  <a:pt x="317272" y="0"/>
                  <a:pt x="285750" y="0"/>
                </a:cubicBezTo>
                <a:lnTo>
                  <a:pt x="57150" y="0"/>
                </a:lnTo>
                <a:close/>
                <a:moveTo>
                  <a:pt x="85725" y="57150"/>
                </a:moveTo>
                <a:lnTo>
                  <a:pt x="257175" y="57150"/>
                </a:lnTo>
                <a:cubicBezTo>
                  <a:pt x="272981" y="57150"/>
                  <a:pt x="285750" y="69919"/>
                  <a:pt x="285750" y="85725"/>
                </a:cubicBezTo>
                <a:lnTo>
                  <a:pt x="285750" y="114300"/>
                </a:lnTo>
                <a:cubicBezTo>
                  <a:pt x="285750" y="130106"/>
                  <a:pt x="272981" y="142875"/>
                  <a:pt x="257175" y="142875"/>
                </a:cubicBezTo>
                <a:lnTo>
                  <a:pt x="85725" y="142875"/>
                </a:lnTo>
                <a:cubicBezTo>
                  <a:pt x="69919" y="142875"/>
                  <a:pt x="57150" y="130106"/>
                  <a:pt x="57150" y="114300"/>
                </a:cubicBezTo>
                <a:lnTo>
                  <a:pt x="57150" y="85725"/>
                </a:lnTo>
                <a:cubicBezTo>
                  <a:pt x="57150" y="69919"/>
                  <a:pt x="69919" y="57150"/>
                  <a:pt x="85725" y="57150"/>
                </a:cubicBezTo>
                <a:close/>
                <a:moveTo>
                  <a:pt x="100013" y="207169"/>
                </a:moveTo>
                <a:cubicBezTo>
                  <a:pt x="100013" y="218997"/>
                  <a:pt x="90409" y="228600"/>
                  <a:pt x="78581" y="228600"/>
                </a:cubicBezTo>
                <a:cubicBezTo>
                  <a:pt x="66753" y="228600"/>
                  <a:pt x="57150" y="218997"/>
                  <a:pt x="57150" y="207169"/>
                </a:cubicBezTo>
                <a:cubicBezTo>
                  <a:pt x="57150" y="195341"/>
                  <a:pt x="66753" y="185738"/>
                  <a:pt x="78581" y="185738"/>
                </a:cubicBezTo>
                <a:cubicBezTo>
                  <a:pt x="90409" y="185738"/>
                  <a:pt x="100013" y="195341"/>
                  <a:pt x="100013" y="207169"/>
                </a:cubicBezTo>
                <a:close/>
                <a:moveTo>
                  <a:pt x="171450" y="228600"/>
                </a:moveTo>
                <a:cubicBezTo>
                  <a:pt x="159622" y="228600"/>
                  <a:pt x="150019" y="218997"/>
                  <a:pt x="150019" y="207169"/>
                </a:cubicBezTo>
                <a:cubicBezTo>
                  <a:pt x="150019" y="195341"/>
                  <a:pt x="159622" y="185738"/>
                  <a:pt x="171450" y="185738"/>
                </a:cubicBezTo>
                <a:cubicBezTo>
                  <a:pt x="183278" y="185738"/>
                  <a:pt x="192881" y="195341"/>
                  <a:pt x="192881" y="207169"/>
                </a:cubicBezTo>
                <a:cubicBezTo>
                  <a:pt x="192881" y="218997"/>
                  <a:pt x="183278" y="228600"/>
                  <a:pt x="171450" y="228600"/>
                </a:cubicBezTo>
                <a:close/>
                <a:moveTo>
                  <a:pt x="285750" y="207169"/>
                </a:moveTo>
                <a:cubicBezTo>
                  <a:pt x="285750" y="218997"/>
                  <a:pt x="276147" y="228600"/>
                  <a:pt x="264319" y="228600"/>
                </a:cubicBezTo>
                <a:cubicBezTo>
                  <a:pt x="252491" y="228600"/>
                  <a:pt x="242888" y="218997"/>
                  <a:pt x="242888" y="207169"/>
                </a:cubicBezTo>
                <a:cubicBezTo>
                  <a:pt x="242888" y="195341"/>
                  <a:pt x="252491" y="185738"/>
                  <a:pt x="264319" y="185738"/>
                </a:cubicBezTo>
                <a:cubicBezTo>
                  <a:pt x="276147" y="185738"/>
                  <a:pt x="285750" y="195341"/>
                  <a:pt x="285750" y="207169"/>
                </a:cubicBezTo>
                <a:close/>
                <a:moveTo>
                  <a:pt x="78581" y="314325"/>
                </a:moveTo>
                <a:cubicBezTo>
                  <a:pt x="66753" y="314325"/>
                  <a:pt x="57150" y="304722"/>
                  <a:pt x="57150" y="292894"/>
                </a:cubicBezTo>
                <a:cubicBezTo>
                  <a:pt x="57150" y="281066"/>
                  <a:pt x="66753" y="271463"/>
                  <a:pt x="78581" y="271463"/>
                </a:cubicBezTo>
                <a:cubicBezTo>
                  <a:pt x="90409" y="271463"/>
                  <a:pt x="100013" y="281066"/>
                  <a:pt x="100013" y="292894"/>
                </a:cubicBezTo>
                <a:cubicBezTo>
                  <a:pt x="100013" y="304722"/>
                  <a:pt x="90409" y="314325"/>
                  <a:pt x="78581" y="314325"/>
                </a:cubicBezTo>
                <a:close/>
                <a:moveTo>
                  <a:pt x="192881" y="292894"/>
                </a:moveTo>
                <a:cubicBezTo>
                  <a:pt x="192881" y="304722"/>
                  <a:pt x="183278" y="314325"/>
                  <a:pt x="171450" y="314325"/>
                </a:cubicBezTo>
                <a:cubicBezTo>
                  <a:pt x="159622" y="314325"/>
                  <a:pt x="150019" y="304722"/>
                  <a:pt x="150019" y="292894"/>
                </a:cubicBezTo>
                <a:cubicBezTo>
                  <a:pt x="150019" y="281066"/>
                  <a:pt x="159622" y="271463"/>
                  <a:pt x="171450" y="271463"/>
                </a:cubicBezTo>
                <a:cubicBezTo>
                  <a:pt x="183278" y="271463"/>
                  <a:pt x="192881" y="281066"/>
                  <a:pt x="192881" y="292894"/>
                </a:cubicBezTo>
                <a:close/>
                <a:moveTo>
                  <a:pt x="264319" y="314325"/>
                </a:moveTo>
                <a:cubicBezTo>
                  <a:pt x="252491" y="314325"/>
                  <a:pt x="242888" y="304722"/>
                  <a:pt x="242888" y="292894"/>
                </a:cubicBezTo>
                <a:cubicBezTo>
                  <a:pt x="242888" y="281066"/>
                  <a:pt x="252491" y="271463"/>
                  <a:pt x="264319" y="271463"/>
                </a:cubicBezTo>
                <a:cubicBezTo>
                  <a:pt x="276147" y="271463"/>
                  <a:pt x="285750" y="281066"/>
                  <a:pt x="285750" y="292894"/>
                </a:cubicBezTo>
                <a:cubicBezTo>
                  <a:pt x="285750" y="304722"/>
                  <a:pt x="276147" y="314325"/>
                  <a:pt x="264319" y="314325"/>
                </a:cubicBezTo>
                <a:close/>
                <a:moveTo>
                  <a:pt x="57150" y="378619"/>
                </a:moveTo>
                <a:cubicBezTo>
                  <a:pt x="57150" y="366742"/>
                  <a:pt x="66705" y="357188"/>
                  <a:pt x="78581" y="357188"/>
                </a:cubicBezTo>
                <a:lnTo>
                  <a:pt x="178594" y="357188"/>
                </a:lnTo>
                <a:cubicBezTo>
                  <a:pt x="190470" y="357188"/>
                  <a:pt x="200025" y="366742"/>
                  <a:pt x="200025" y="378619"/>
                </a:cubicBezTo>
                <a:cubicBezTo>
                  <a:pt x="200025" y="390495"/>
                  <a:pt x="190470" y="400050"/>
                  <a:pt x="178594" y="400050"/>
                </a:cubicBezTo>
                <a:lnTo>
                  <a:pt x="78581" y="400050"/>
                </a:lnTo>
                <a:cubicBezTo>
                  <a:pt x="66705" y="400050"/>
                  <a:pt x="57150" y="390495"/>
                  <a:pt x="57150" y="378619"/>
                </a:cubicBezTo>
                <a:close/>
                <a:moveTo>
                  <a:pt x="264319" y="357188"/>
                </a:moveTo>
                <a:cubicBezTo>
                  <a:pt x="276195" y="357188"/>
                  <a:pt x="285750" y="366742"/>
                  <a:pt x="285750" y="378619"/>
                </a:cubicBezTo>
                <a:cubicBezTo>
                  <a:pt x="285750" y="390495"/>
                  <a:pt x="276195" y="400050"/>
                  <a:pt x="264319" y="400050"/>
                </a:cubicBezTo>
                <a:cubicBezTo>
                  <a:pt x="252442" y="400050"/>
                  <a:pt x="242888" y="390495"/>
                  <a:pt x="242888" y="378619"/>
                </a:cubicBezTo>
                <a:cubicBezTo>
                  <a:pt x="242888" y="366742"/>
                  <a:pt x="252442" y="357188"/>
                  <a:pt x="264319" y="357188"/>
                </a:cubicBezTo>
                <a:close/>
              </a:path>
            </a:pathLst>
          </a:custGeom>
          <a:solidFill>
            <a:srgbClr val="2EAF8B"/>
          </a:solidFill>
          <a:ln/>
        </p:spPr>
        <p:txBody>
          <a:bodyPr/>
          <a:lstStyle/>
          <a:p>
            <a:endParaRPr lang="en-US"/>
          </a:p>
        </p:txBody>
      </p:sp>
      <p:sp>
        <p:nvSpPr>
          <p:cNvPr id="7" name="Text 5"/>
          <p:cNvSpPr/>
          <p:nvPr/>
        </p:nvSpPr>
        <p:spPr>
          <a:xfrm>
            <a:off x="857250" y="1071564"/>
            <a:ext cx="3286125" cy="257175"/>
          </a:xfrm>
          <a:prstGeom prst="rect">
            <a:avLst/>
          </a:prstGeom>
          <a:noFill/>
          <a:ln/>
        </p:spPr>
        <p:txBody>
          <a:bodyPr wrap="none" lIns="0" tIns="0" rIns="0" bIns="0" rtlCol="0" anchor="ctr"/>
          <a:lstStyle/>
          <a:p>
            <a:pPr>
              <a:lnSpc>
                <a:spcPct val="100000"/>
              </a:lnSpc>
            </a:pPr>
            <a:r>
              <a:rPr lang="en-US" sz="1238" b="1" dirty="0">
                <a:solidFill>
                  <a:srgbClr val="FFFFFF"/>
                </a:solidFill>
                <a:latin typeface="Liter" pitchFamily="34" charset="0"/>
                <a:ea typeface="Liter" pitchFamily="34" charset="-122"/>
                <a:cs typeface="Liter" pitchFamily="34" charset="-120"/>
              </a:rPr>
              <a:t>Similarity Measurement</a:t>
            </a:r>
            <a:endParaRPr lang="en-US" sz="1238" dirty="0"/>
          </a:p>
        </p:txBody>
      </p:sp>
      <p:sp>
        <p:nvSpPr>
          <p:cNvPr id="8" name="Text 6"/>
          <p:cNvSpPr/>
          <p:nvPr/>
        </p:nvSpPr>
        <p:spPr>
          <a:xfrm>
            <a:off x="500062" y="1428751"/>
            <a:ext cx="3786188" cy="1285875"/>
          </a:xfrm>
          <a:prstGeom prst="rect">
            <a:avLst/>
          </a:prstGeom>
          <a:noFill/>
          <a:ln/>
        </p:spPr>
        <p:txBody>
          <a:bodyPr wrap="square" lIns="0" tIns="0" rIns="0" bIns="0" rtlCol="0" anchor="t"/>
          <a:lstStyle/>
          <a:p>
            <a:pPr>
              <a:lnSpc>
                <a:spcPct val="160000"/>
              </a:lnSpc>
            </a:pPr>
            <a:r>
              <a:rPr lang="en-US" sz="1013" dirty="0">
                <a:solidFill>
                  <a:srgbClr val="FFFFFF"/>
                </a:solidFill>
                <a:latin typeface="Liter" pitchFamily="34" charset="0"/>
                <a:ea typeface="Liter" pitchFamily="34" charset="-122"/>
                <a:cs typeface="Liter" pitchFamily="34" charset="-120"/>
              </a:rPr>
              <a:t>The similarity between vectors is measured using </a:t>
            </a:r>
            <a:r>
              <a:rPr lang="en-US" sz="1013" b="1" dirty="0">
                <a:solidFill>
                  <a:srgbClr val="FFFFFF"/>
                </a:solidFill>
                <a:latin typeface="Liter" pitchFamily="34" charset="0"/>
                <a:ea typeface="Liter" pitchFamily="34" charset="-122"/>
                <a:cs typeface="Liter" pitchFamily="34" charset="-120"/>
              </a:rPr>
              <a:t>Cosine Similarity</a:t>
            </a:r>
            <a:r>
              <a:rPr lang="en-US" sz="1013" dirty="0">
                <a:solidFill>
                  <a:srgbClr val="FFFFFF"/>
                </a:solidFill>
                <a:latin typeface="Liter" pitchFamily="34" charset="0"/>
                <a:ea typeface="Liter" pitchFamily="34" charset="-122"/>
                <a:cs typeface="Liter" pitchFamily="34" charset="-120"/>
              </a:rPr>
              <a:t>, which compares the angle between two vectors:</a:t>
            </a:r>
            <a:endParaRPr lang="en-US" sz="900" dirty="0"/>
          </a:p>
          <a:p>
            <a:pPr>
              <a:lnSpc>
                <a:spcPct val="160000"/>
              </a:lnSpc>
              <a:spcBef>
                <a:spcPts val="450"/>
              </a:spcBef>
            </a:pPr>
            <a:r>
              <a:rPr lang="en-US" sz="1013" dirty="0">
                <a:solidFill>
                  <a:srgbClr val="FFFFFF"/>
                </a:solidFill>
                <a:latin typeface="Liter" pitchFamily="34" charset="0"/>
                <a:ea typeface="Liter" pitchFamily="34" charset="-122"/>
                <a:cs typeface="Liter" pitchFamily="34" charset="-120"/>
              </a:rPr>
              <a:t>• </a:t>
            </a:r>
            <a:r>
              <a:rPr lang="en-US" sz="1013" b="1" dirty="0">
                <a:solidFill>
                  <a:srgbClr val="FFFFFF"/>
                </a:solidFill>
                <a:latin typeface="Liter" pitchFamily="34" charset="0"/>
                <a:ea typeface="Liter" pitchFamily="34" charset="-122"/>
                <a:cs typeface="Liter" pitchFamily="34" charset="-120"/>
              </a:rPr>
              <a:t>1.0</a:t>
            </a:r>
            <a:r>
              <a:rPr lang="en-US" sz="1013" dirty="0">
                <a:solidFill>
                  <a:srgbClr val="FFFFFF"/>
                </a:solidFill>
                <a:latin typeface="Liter" pitchFamily="34" charset="0"/>
                <a:ea typeface="Liter" pitchFamily="34" charset="-122"/>
                <a:cs typeface="Liter" pitchFamily="34" charset="-120"/>
              </a:rPr>
              <a:t> (0° angle): identical meaning</a:t>
            </a:r>
            <a:endParaRPr lang="en-US" sz="900" dirty="0"/>
          </a:p>
          <a:p>
            <a:pPr>
              <a:lnSpc>
                <a:spcPct val="160000"/>
              </a:lnSpc>
            </a:pPr>
            <a:r>
              <a:rPr lang="en-US" sz="1013" dirty="0">
                <a:solidFill>
                  <a:srgbClr val="FFFFFF"/>
                </a:solidFill>
                <a:latin typeface="Liter" pitchFamily="34" charset="0"/>
                <a:ea typeface="Liter" pitchFamily="34" charset="-122"/>
                <a:cs typeface="Liter" pitchFamily="34" charset="-120"/>
              </a:rPr>
              <a:t>• </a:t>
            </a:r>
            <a:r>
              <a:rPr lang="en-US" sz="1013" b="1" dirty="0">
                <a:solidFill>
                  <a:srgbClr val="FFFFFF"/>
                </a:solidFill>
                <a:latin typeface="Liter" pitchFamily="34" charset="0"/>
                <a:ea typeface="Liter" pitchFamily="34" charset="-122"/>
                <a:cs typeface="Liter" pitchFamily="34" charset="-120"/>
              </a:rPr>
              <a:t>0.0</a:t>
            </a:r>
            <a:r>
              <a:rPr lang="en-US" sz="1013" dirty="0">
                <a:solidFill>
                  <a:srgbClr val="FFFFFF"/>
                </a:solidFill>
                <a:latin typeface="Liter" pitchFamily="34" charset="0"/>
                <a:ea typeface="Liter" pitchFamily="34" charset="-122"/>
                <a:cs typeface="Liter" pitchFamily="34" charset="-120"/>
              </a:rPr>
              <a:t> (90° angle): completely unrelated</a:t>
            </a:r>
            <a:endParaRPr lang="en-US" sz="900" dirty="0"/>
          </a:p>
          <a:p>
            <a:pPr>
              <a:lnSpc>
                <a:spcPct val="160000"/>
              </a:lnSpc>
            </a:pPr>
            <a:r>
              <a:rPr lang="en-US" sz="1013" dirty="0">
                <a:solidFill>
                  <a:srgbClr val="FFFFFF"/>
                </a:solidFill>
                <a:latin typeface="Liter" pitchFamily="34" charset="0"/>
                <a:ea typeface="Liter" pitchFamily="34" charset="-122"/>
                <a:cs typeface="Liter" pitchFamily="34" charset="-120"/>
              </a:rPr>
              <a:t>• </a:t>
            </a:r>
            <a:r>
              <a:rPr lang="en-US" sz="1013" b="1" dirty="0">
                <a:solidFill>
                  <a:srgbClr val="FFFFFF"/>
                </a:solidFill>
                <a:latin typeface="Liter" pitchFamily="34" charset="0"/>
                <a:ea typeface="Liter" pitchFamily="34" charset="-122"/>
                <a:cs typeface="Liter" pitchFamily="34" charset="-120"/>
              </a:rPr>
              <a:t>-1.0</a:t>
            </a:r>
            <a:r>
              <a:rPr lang="en-US" sz="1013" dirty="0">
                <a:solidFill>
                  <a:srgbClr val="FFFFFF"/>
                </a:solidFill>
                <a:latin typeface="Liter" pitchFamily="34" charset="0"/>
                <a:ea typeface="Liter" pitchFamily="34" charset="-122"/>
                <a:cs typeface="Liter" pitchFamily="34" charset="-120"/>
              </a:rPr>
              <a:t> (180° angle): opposite meaning</a:t>
            </a:r>
            <a:endParaRPr lang="en-US" sz="900" dirty="0"/>
          </a:p>
        </p:txBody>
      </p:sp>
      <p:pic>
        <p:nvPicPr>
          <p:cNvPr id="9" name="Image 0" descr="https://kimi-img.moonshot.cn/pub/slides/okc/pcpvqv7bqmkfa/mnt/agents/output/rag_presentation/images/image_1.png"/>
          <p:cNvPicPr>
            <a:picLocks noChangeAspect="1"/>
          </p:cNvPicPr>
          <p:nvPr/>
        </p:nvPicPr>
        <p:blipFill>
          <a:blip r:embed="rId3"/>
          <a:srcRect l="16243" r="16243"/>
          <a:stretch/>
        </p:blipFill>
        <p:spPr>
          <a:xfrm>
            <a:off x="4714875" y="928688"/>
            <a:ext cx="4143375" cy="1928813"/>
          </a:xfrm>
          <a:prstGeom prst="rect">
            <a:avLst/>
          </a:prstGeom>
        </p:spPr>
      </p:pic>
      <p:sp>
        <p:nvSpPr>
          <p:cNvPr id="10" name="Shape 7"/>
          <p:cNvSpPr/>
          <p:nvPr/>
        </p:nvSpPr>
        <p:spPr>
          <a:xfrm>
            <a:off x="285750" y="3071813"/>
            <a:ext cx="8572500" cy="1785938"/>
          </a:xfrm>
          <a:prstGeom prst="rect">
            <a:avLst/>
          </a:prstGeom>
          <a:solidFill>
            <a:srgbClr val="FFFFFF"/>
          </a:solidFill>
          <a:ln/>
          <a:effectLst>
            <a:outerShdw blurRad="101600" dist="38100" dir="5400000" algn="bl" rotWithShape="0">
              <a:srgbClr val="000000">
                <a:alpha val="8235"/>
              </a:srgbClr>
            </a:outerShdw>
          </a:effectLst>
        </p:spPr>
        <p:txBody>
          <a:bodyPr/>
          <a:lstStyle/>
          <a:p>
            <a:endParaRPr lang="en-US"/>
          </a:p>
        </p:txBody>
      </p:sp>
      <p:sp>
        <p:nvSpPr>
          <p:cNvPr id="11" name="Shape 8"/>
          <p:cNvSpPr/>
          <p:nvPr/>
        </p:nvSpPr>
        <p:spPr>
          <a:xfrm>
            <a:off x="285750" y="3071813"/>
            <a:ext cx="42863" cy="1785938"/>
          </a:xfrm>
          <a:prstGeom prst="rect">
            <a:avLst/>
          </a:prstGeom>
          <a:solidFill>
            <a:srgbClr val="2EAF8B"/>
          </a:solidFill>
          <a:ln/>
        </p:spPr>
        <p:txBody>
          <a:bodyPr/>
          <a:lstStyle/>
          <a:p>
            <a:endParaRPr lang="en-US"/>
          </a:p>
        </p:txBody>
      </p:sp>
      <p:sp>
        <p:nvSpPr>
          <p:cNvPr id="12" name="Shape 9"/>
          <p:cNvSpPr/>
          <p:nvPr/>
        </p:nvSpPr>
        <p:spPr>
          <a:xfrm>
            <a:off x="500063" y="3214689"/>
            <a:ext cx="257175" cy="257175"/>
          </a:xfrm>
          <a:custGeom>
            <a:avLst/>
            <a:gdLst/>
            <a:ahLst/>
            <a:cxnLst/>
            <a:rect l="l" t="t" r="r" b="b"/>
            <a:pathLst>
              <a:path w="457200" h="457200">
                <a:moveTo>
                  <a:pt x="371475" y="185738"/>
                </a:moveTo>
                <a:cubicBezTo>
                  <a:pt x="371475" y="226725"/>
                  <a:pt x="358170" y="264587"/>
                  <a:pt x="335756" y="295305"/>
                </a:cubicBezTo>
                <a:lnTo>
                  <a:pt x="448806" y="408444"/>
                </a:lnTo>
                <a:cubicBezTo>
                  <a:pt x="459968" y="419606"/>
                  <a:pt x="459968" y="437733"/>
                  <a:pt x="448806" y="448895"/>
                </a:cubicBezTo>
                <a:cubicBezTo>
                  <a:pt x="437644" y="460058"/>
                  <a:pt x="419517" y="460058"/>
                  <a:pt x="408355" y="448895"/>
                </a:cubicBezTo>
                <a:lnTo>
                  <a:pt x="295305" y="335756"/>
                </a:lnTo>
                <a:cubicBezTo>
                  <a:pt x="264587" y="358170"/>
                  <a:pt x="226725" y="371475"/>
                  <a:pt x="185738" y="371475"/>
                </a:cubicBezTo>
                <a:cubicBezTo>
                  <a:pt x="83135" y="371475"/>
                  <a:pt x="0" y="288340"/>
                  <a:pt x="0" y="185738"/>
                </a:cubicBezTo>
                <a:cubicBezTo>
                  <a:pt x="0" y="83135"/>
                  <a:pt x="83135" y="0"/>
                  <a:pt x="185738" y="0"/>
                </a:cubicBezTo>
                <a:cubicBezTo>
                  <a:pt x="288340" y="0"/>
                  <a:pt x="371475" y="83135"/>
                  <a:pt x="371475" y="185738"/>
                </a:cubicBezTo>
                <a:close/>
                <a:moveTo>
                  <a:pt x="185738" y="314325"/>
                </a:moveTo>
                <a:cubicBezTo>
                  <a:pt x="256707" y="314325"/>
                  <a:pt x="314325" y="256707"/>
                  <a:pt x="314325" y="185738"/>
                </a:cubicBezTo>
                <a:cubicBezTo>
                  <a:pt x="314325" y="114768"/>
                  <a:pt x="256707" y="57150"/>
                  <a:pt x="185738" y="57150"/>
                </a:cubicBezTo>
                <a:cubicBezTo>
                  <a:pt x="114768" y="57150"/>
                  <a:pt x="57150" y="114768"/>
                  <a:pt x="57150" y="185737"/>
                </a:cubicBezTo>
                <a:cubicBezTo>
                  <a:pt x="57150" y="256707"/>
                  <a:pt x="114768" y="314325"/>
                  <a:pt x="185737" y="314325"/>
                </a:cubicBezTo>
                <a:close/>
              </a:path>
            </a:pathLst>
          </a:custGeom>
          <a:solidFill>
            <a:srgbClr val="2EAF8B"/>
          </a:solidFill>
          <a:ln/>
        </p:spPr>
        <p:txBody>
          <a:bodyPr/>
          <a:lstStyle/>
          <a:p>
            <a:endParaRPr lang="en-US"/>
          </a:p>
        </p:txBody>
      </p:sp>
      <p:sp>
        <p:nvSpPr>
          <p:cNvPr id="13" name="Text 10"/>
          <p:cNvSpPr/>
          <p:nvPr/>
        </p:nvSpPr>
        <p:spPr>
          <a:xfrm>
            <a:off x="857250" y="3214689"/>
            <a:ext cx="2857500" cy="257175"/>
          </a:xfrm>
          <a:prstGeom prst="rect">
            <a:avLst/>
          </a:prstGeom>
          <a:noFill/>
          <a:ln/>
        </p:spPr>
        <p:txBody>
          <a:bodyPr wrap="none" lIns="0" tIns="0" rIns="0" bIns="0" rtlCol="0" anchor="ctr"/>
          <a:lstStyle/>
          <a:p>
            <a:pPr>
              <a:lnSpc>
                <a:spcPct val="100000"/>
              </a:lnSpc>
            </a:pPr>
            <a:r>
              <a:rPr lang="en-US" sz="1238" b="1" dirty="0">
                <a:solidFill>
                  <a:srgbClr val="2EAF8B"/>
                </a:solidFill>
                <a:latin typeface="Liter" pitchFamily="34" charset="0"/>
                <a:ea typeface="Liter" pitchFamily="34" charset="-122"/>
                <a:cs typeface="Liter" pitchFamily="34" charset="-120"/>
              </a:rPr>
              <a:t>Semantic Search Advantage</a:t>
            </a:r>
            <a:endParaRPr lang="en-US" sz="1238" dirty="0"/>
          </a:p>
        </p:txBody>
      </p:sp>
      <p:sp>
        <p:nvSpPr>
          <p:cNvPr id="14" name="Text 11"/>
          <p:cNvSpPr/>
          <p:nvPr/>
        </p:nvSpPr>
        <p:spPr>
          <a:xfrm>
            <a:off x="500063" y="3571876"/>
            <a:ext cx="8143875" cy="1143000"/>
          </a:xfrm>
          <a:prstGeom prst="rect">
            <a:avLst/>
          </a:prstGeom>
          <a:noFill/>
          <a:ln/>
        </p:spPr>
        <p:txBody>
          <a:bodyPr wrap="square" lIns="0" tIns="0" rIns="0" bIns="0" rtlCol="0" anchor="t"/>
          <a:lstStyle/>
          <a:p>
            <a:pPr>
              <a:lnSpc>
                <a:spcPct val="160000"/>
              </a:lnSpc>
            </a:pPr>
            <a:r>
              <a:rPr lang="en-US" sz="1013" dirty="0">
                <a:solidFill>
                  <a:srgbClr val="2D3748"/>
                </a:solidFill>
                <a:latin typeface="Liter" pitchFamily="34" charset="0"/>
                <a:ea typeface="Liter" pitchFamily="34" charset="-122"/>
                <a:cs typeface="Liter" pitchFamily="34" charset="-120"/>
              </a:rPr>
              <a:t>This allows the system to retrieve the </a:t>
            </a:r>
            <a:r>
              <a:rPr lang="en-US" sz="1013" b="1" dirty="0">
                <a:solidFill>
                  <a:srgbClr val="2D3748"/>
                </a:solidFill>
                <a:latin typeface="Liter" pitchFamily="34" charset="0"/>
                <a:ea typeface="Liter" pitchFamily="34" charset="-122"/>
                <a:cs typeface="Liter" pitchFamily="34" charset="-120"/>
              </a:rPr>
              <a:t>most semantically relevant answers</a:t>
            </a:r>
            <a:r>
              <a:rPr lang="en-US" sz="1013" dirty="0">
                <a:solidFill>
                  <a:srgbClr val="2D3748"/>
                </a:solidFill>
                <a:latin typeface="Liter" pitchFamily="34" charset="0"/>
                <a:ea typeface="Liter" pitchFamily="34" charset="-122"/>
                <a:cs typeface="Liter" pitchFamily="34" charset="-120"/>
              </a:rPr>
              <a:t> instead of exact text matches.</a:t>
            </a:r>
            <a:endParaRPr lang="en-US" sz="900" dirty="0"/>
          </a:p>
          <a:p>
            <a:pPr>
              <a:lnSpc>
                <a:spcPct val="160000"/>
              </a:lnSpc>
              <a:spcBef>
                <a:spcPts val="450"/>
              </a:spcBef>
            </a:pPr>
            <a:r>
              <a:rPr lang="en-US" sz="1013" dirty="0">
                <a:solidFill>
                  <a:srgbClr val="2D3748"/>
                </a:solidFill>
                <a:latin typeface="Liter" pitchFamily="34" charset="0"/>
                <a:ea typeface="Liter" pitchFamily="34" charset="-122"/>
                <a:cs typeface="Liter" pitchFamily="34" charset="-120"/>
              </a:rPr>
              <a:t>For example, a query about "employment rate" can retrieve documents about "job statistics" or "labor force participation" — even if they don't contain the exact same keywords — because their vector representations are close in the embedding space.</a:t>
            </a:r>
            <a:endParaRPr lang="en-US" sz="900" dirty="0"/>
          </a:p>
        </p:txBody>
      </p:sp>
      <p:pic>
        <p:nvPicPr>
          <p:cNvPr id="15" name="Image 0" descr="preencoded.png">
            <a:extLst>
              <a:ext uri="{FF2B5EF4-FFF2-40B4-BE49-F238E27FC236}">
                <a16:creationId xmlns:a16="http://schemas.microsoft.com/office/drawing/2014/main" id="{B9BF6BB9-1F80-3681-8BF5-4A823F10CD80}"/>
              </a:ext>
            </a:extLst>
          </p:cNvPr>
          <p:cNvPicPr>
            <a:picLocks noChangeAspect="1"/>
          </p:cNvPicPr>
          <p:nvPr/>
        </p:nvPicPr>
        <p:blipFill>
          <a:blip r:embed="rId4"/>
          <a:stretch>
            <a:fillRect/>
          </a:stretch>
        </p:blipFill>
        <p:spPr>
          <a:xfrm>
            <a:off x="8046720" y="22860"/>
            <a:ext cx="685800" cy="676656"/>
          </a:xfrm>
          <a:prstGeom prst="rect">
            <a:avLst/>
          </a:prstGeom>
        </p:spPr>
      </p:pic>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22376"/>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285750" y="0"/>
            <a:ext cx="5000625" cy="722376"/>
          </a:xfrm>
          <a:prstGeom prst="rect">
            <a:avLst/>
          </a:prstGeom>
          <a:noFill/>
          <a:ln/>
        </p:spPr>
        <p:txBody>
          <a:bodyPr wrap="none" lIns="0" tIns="0" rIns="0" bIns="0" rtlCol="0" anchor="ctr"/>
          <a:lstStyle/>
          <a:p>
            <a:pPr>
              <a:lnSpc>
                <a:spcPct val="100000"/>
              </a:lnSpc>
            </a:pPr>
            <a:r>
              <a:rPr lang="en-US" b="1" dirty="0">
                <a:solidFill>
                  <a:srgbClr val="FFFFFF"/>
                </a:solidFill>
                <a:latin typeface="Liter" pitchFamily="34" charset="0"/>
                <a:ea typeface="Liter" pitchFamily="34" charset="-122"/>
                <a:cs typeface="Liter" pitchFamily="34" charset="-120"/>
              </a:rPr>
              <a:t>Docker-Based Infrastructure</a:t>
            </a:r>
            <a:endParaRPr lang="en-US" dirty="0"/>
          </a:p>
        </p:txBody>
      </p:sp>
      <p:sp>
        <p:nvSpPr>
          <p:cNvPr id="4" name="Shape 2"/>
          <p:cNvSpPr/>
          <p:nvPr/>
        </p:nvSpPr>
        <p:spPr>
          <a:xfrm>
            <a:off x="285750" y="1000124"/>
            <a:ext cx="4143375" cy="1928813"/>
          </a:xfrm>
          <a:prstGeom prst="rect">
            <a:avLst/>
          </a:prstGeom>
          <a:solidFill>
            <a:srgbClr val="1B2A4A"/>
          </a:solidFill>
          <a:ln/>
          <a:effectLst>
            <a:outerShdw blurRad="101600" dist="38100" dir="5400000" algn="bl" rotWithShape="0">
              <a:srgbClr val="000000">
                <a:alpha val="12549"/>
              </a:srgbClr>
            </a:outerShdw>
          </a:effectLst>
        </p:spPr>
        <p:txBody>
          <a:bodyPr/>
          <a:lstStyle/>
          <a:p>
            <a:endParaRPr lang="en-US"/>
          </a:p>
        </p:txBody>
      </p:sp>
      <p:sp>
        <p:nvSpPr>
          <p:cNvPr id="5" name="Shape 3"/>
          <p:cNvSpPr/>
          <p:nvPr/>
        </p:nvSpPr>
        <p:spPr>
          <a:xfrm>
            <a:off x="285750" y="1000124"/>
            <a:ext cx="42863" cy="1928813"/>
          </a:xfrm>
          <a:prstGeom prst="rect">
            <a:avLst/>
          </a:prstGeom>
          <a:solidFill>
            <a:srgbClr val="2EAF8B"/>
          </a:solidFill>
          <a:ln/>
        </p:spPr>
        <p:txBody>
          <a:bodyPr/>
          <a:lstStyle/>
          <a:p>
            <a:endParaRPr lang="en-US"/>
          </a:p>
        </p:txBody>
      </p:sp>
      <p:sp>
        <p:nvSpPr>
          <p:cNvPr id="6" name="Shape 4"/>
          <p:cNvSpPr/>
          <p:nvPr/>
        </p:nvSpPr>
        <p:spPr>
          <a:xfrm>
            <a:off x="467916" y="1143000"/>
            <a:ext cx="321469" cy="257175"/>
          </a:xfrm>
          <a:custGeom>
            <a:avLst/>
            <a:gdLst/>
            <a:ahLst/>
            <a:cxnLst/>
            <a:rect l="l" t="t" r="r" b="b"/>
            <a:pathLst>
              <a:path w="571500" h="457200">
                <a:moveTo>
                  <a:pt x="312450" y="211009"/>
                </a:moveTo>
                <a:lnTo>
                  <a:pt x="253425" y="211009"/>
                </a:lnTo>
                <a:lnTo>
                  <a:pt x="253425" y="157966"/>
                </a:lnTo>
                <a:lnTo>
                  <a:pt x="312450" y="157966"/>
                </a:lnTo>
                <a:lnTo>
                  <a:pt x="312450" y="211009"/>
                </a:lnTo>
                <a:close/>
                <a:moveTo>
                  <a:pt x="312450" y="28575"/>
                </a:moveTo>
                <a:lnTo>
                  <a:pt x="253425" y="28575"/>
                </a:lnTo>
                <a:lnTo>
                  <a:pt x="253425" y="82778"/>
                </a:lnTo>
                <a:lnTo>
                  <a:pt x="312450" y="82778"/>
                </a:lnTo>
                <a:lnTo>
                  <a:pt x="312450" y="28575"/>
                </a:lnTo>
                <a:close/>
                <a:moveTo>
                  <a:pt x="382280" y="157877"/>
                </a:moveTo>
                <a:lnTo>
                  <a:pt x="323255" y="157877"/>
                </a:lnTo>
                <a:lnTo>
                  <a:pt x="323255" y="210919"/>
                </a:lnTo>
                <a:lnTo>
                  <a:pt x="382280" y="210919"/>
                </a:lnTo>
                <a:lnTo>
                  <a:pt x="382280" y="157877"/>
                </a:lnTo>
                <a:close/>
                <a:moveTo>
                  <a:pt x="242709" y="93494"/>
                </a:moveTo>
                <a:lnTo>
                  <a:pt x="183684" y="93494"/>
                </a:lnTo>
                <a:lnTo>
                  <a:pt x="183684" y="147161"/>
                </a:lnTo>
                <a:lnTo>
                  <a:pt x="242709" y="147161"/>
                </a:lnTo>
                <a:lnTo>
                  <a:pt x="242709" y="93494"/>
                </a:lnTo>
                <a:close/>
                <a:moveTo>
                  <a:pt x="312450" y="93494"/>
                </a:moveTo>
                <a:lnTo>
                  <a:pt x="253425" y="93494"/>
                </a:lnTo>
                <a:lnTo>
                  <a:pt x="253425" y="147161"/>
                </a:lnTo>
                <a:lnTo>
                  <a:pt x="312450" y="147161"/>
                </a:lnTo>
                <a:lnTo>
                  <a:pt x="312450" y="93494"/>
                </a:lnTo>
                <a:close/>
                <a:moveTo>
                  <a:pt x="559624" y="182791"/>
                </a:moveTo>
                <a:cubicBezTo>
                  <a:pt x="546765" y="174129"/>
                  <a:pt x="517118" y="171004"/>
                  <a:pt x="494348" y="175290"/>
                </a:cubicBezTo>
                <a:cubicBezTo>
                  <a:pt x="491401" y="153859"/>
                  <a:pt x="479435" y="135195"/>
                  <a:pt x="457646" y="118408"/>
                </a:cubicBezTo>
                <a:lnTo>
                  <a:pt x="445145" y="110103"/>
                </a:lnTo>
                <a:lnTo>
                  <a:pt x="436840" y="122605"/>
                </a:lnTo>
                <a:cubicBezTo>
                  <a:pt x="420410" y="147429"/>
                  <a:pt x="415945" y="188327"/>
                  <a:pt x="433536" y="215295"/>
                </a:cubicBezTo>
                <a:cubicBezTo>
                  <a:pt x="425768" y="219492"/>
                  <a:pt x="410498" y="225207"/>
                  <a:pt x="390317" y="224850"/>
                </a:cubicBezTo>
                <a:lnTo>
                  <a:pt x="2143" y="224850"/>
                </a:lnTo>
                <a:cubicBezTo>
                  <a:pt x="-5626" y="270212"/>
                  <a:pt x="7322" y="329148"/>
                  <a:pt x="41434" y="369600"/>
                </a:cubicBezTo>
                <a:cubicBezTo>
                  <a:pt x="74563" y="408801"/>
                  <a:pt x="124212" y="428714"/>
                  <a:pt x="189131" y="428714"/>
                </a:cubicBezTo>
                <a:cubicBezTo>
                  <a:pt x="329684" y="428714"/>
                  <a:pt x="433715" y="363974"/>
                  <a:pt x="482382" y="246370"/>
                </a:cubicBezTo>
                <a:cubicBezTo>
                  <a:pt x="501491" y="246727"/>
                  <a:pt x="542746" y="246459"/>
                  <a:pt x="563910" y="206008"/>
                </a:cubicBezTo>
                <a:cubicBezTo>
                  <a:pt x="565249" y="203775"/>
                  <a:pt x="569803" y="194221"/>
                  <a:pt x="571500" y="190738"/>
                </a:cubicBezTo>
                <a:lnTo>
                  <a:pt x="559624" y="182791"/>
                </a:lnTo>
                <a:close/>
                <a:moveTo>
                  <a:pt x="103227" y="157877"/>
                </a:moveTo>
                <a:lnTo>
                  <a:pt x="44291" y="157877"/>
                </a:lnTo>
                <a:lnTo>
                  <a:pt x="44291" y="210919"/>
                </a:lnTo>
                <a:lnTo>
                  <a:pt x="103316" y="210919"/>
                </a:lnTo>
                <a:lnTo>
                  <a:pt x="103316" y="157877"/>
                </a:lnTo>
                <a:lnTo>
                  <a:pt x="103227" y="157877"/>
                </a:lnTo>
                <a:close/>
                <a:moveTo>
                  <a:pt x="172968" y="157877"/>
                </a:moveTo>
                <a:lnTo>
                  <a:pt x="113943" y="157877"/>
                </a:lnTo>
                <a:lnTo>
                  <a:pt x="113943" y="210919"/>
                </a:lnTo>
                <a:lnTo>
                  <a:pt x="172968" y="210919"/>
                </a:lnTo>
                <a:lnTo>
                  <a:pt x="172968" y="157877"/>
                </a:lnTo>
                <a:close/>
                <a:moveTo>
                  <a:pt x="242709" y="157877"/>
                </a:moveTo>
                <a:lnTo>
                  <a:pt x="183684" y="157877"/>
                </a:lnTo>
                <a:lnTo>
                  <a:pt x="183684" y="210919"/>
                </a:lnTo>
                <a:lnTo>
                  <a:pt x="242709" y="210919"/>
                </a:lnTo>
                <a:lnTo>
                  <a:pt x="242709" y="157877"/>
                </a:lnTo>
                <a:close/>
                <a:moveTo>
                  <a:pt x="172968" y="93494"/>
                </a:moveTo>
                <a:lnTo>
                  <a:pt x="113943" y="93494"/>
                </a:lnTo>
                <a:lnTo>
                  <a:pt x="113943" y="147161"/>
                </a:lnTo>
                <a:lnTo>
                  <a:pt x="172968" y="147161"/>
                </a:lnTo>
                <a:lnTo>
                  <a:pt x="172968" y="93494"/>
                </a:lnTo>
                <a:close/>
              </a:path>
            </a:pathLst>
          </a:custGeom>
          <a:solidFill>
            <a:srgbClr val="2EAF8B"/>
          </a:solidFill>
          <a:ln/>
        </p:spPr>
        <p:txBody>
          <a:bodyPr/>
          <a:lstStyle/>
          <a:p>
            <a:endParaRPr lang="en-US"/>
          </a:p>
        </p:txBody>
      </p:sp>
      <p:sp>
        <p:nvSpPr>
          <p:cNvPr id="7" name="Text 5"/>
          <p:cNvSpPr/>
          <p:nvPr/>
        </p:nvSpPr>
        <p:spPr>
          <a:xfrm>
            <a:off x="857250" y="1143000"/>
            <a:ext cx="3286125" cy="257175"/>
          </a:xfrm>
          <a:prstGeom prst="rect">
            <a:avLst/>
          </a:prstGeom>
          <a:noFill/>
          <a:ln/>
        </p:spPr>
        <p:txBody>
          <a:bodyPr wrap="none" lIns="0" tIns="0" rIns="0" bIns="0" rtlCol="0" anchor="ctr"/>
          <a:lstStyle/>
          <a:p>
            <a:pPr>
              <a:lnSpc>
                <a:spcPct val="100000"/>
              </a:lnSpc>
            </a:pPr>
            <a:r>
              <a:rPr lang="en-US" sz="1238" b="1" dirty="0">
                <a:solidFill>
                  <a:srgbClr val="FFFFFF"/>
                </a:solidFill>
                <a:latin typeface="Liter" pitchFamily="34" charset="0"/>
                <a:ea typeface="Liter" pitchFamily="34" charset="-122"/>
                <a:cs typeface="Liter" pitchFamily="34" charset="-120"/>
              </a:rPr>
              <a:t>Containerized Architecture</a:t>
            </a:r>
            <a:endParaRPr lang="en-US" sz="1238" dirty="0"/>
          </a:p>
        </p:txBody>
      </p:sp>
      <p:sp>
        <p:nvSpPr>
          <p:cNvPr id="8" name="Text 6"/>
          <p:cNvSpPr/>
          <p:nvPr/>
        </p:nvSpPr>
        <p:spPr>
          <a:xfrm>
            <a:off x="500062" y="1500187"/>
            <a:ext cx="3786188" cy="1285875"/>
          </a:xfrm>
          <a:prstGeom prst="rect">
            <a:avLst/>
          </a:prstGeom>
          <a:noFill/>
          <a:ln/>
        </p:spPr>
        <p:txBody>
          <a:bodyPr wrap="square" lIns="0" tIns="0" rIns="0" bIns="0" rtlCol="0" anchor="t"/>
          <a:lstStyle/>
          <a:p>
            <a:pPr>
              <a:lnSpc>
                <a:spcPct val="160000"/>
              </a:lnSpc>
            </a:pPr>
            <a:r>
              <a:rPr lang="en-US" sz="1013" dirty="0">
                <a:solidFill>
                  <a:srgbClr val="FFFFFF"/>
                </a:solidFill>
                <a:latin typeface="Liter" pitchFamily="34" charset="0"/>
                <a:ea typeface="Liter" pitchFamily="34" charset="-122"/>
                <a:cs typeface="Liter" pitchFamily="34" charset="-120"/>
              </a:rPr>
              <a:t>All system components run inside </a:t>
            </a:r>
            <a:r>
              <a:rPr lang="en-US" sz="1013" b="1" dirty="0">
                <a:solidFill>
                  <a:srgbClr val="FFFFFF"/>
                </a:solidFill>
                <a:latin typeface="Liter" pitchFamily="34" charset="0"/>
                <a:ea typeface="Liter" pitchFamily="34" charset="-122"/>
                <a:cs typeface="Liter" pitchFamily="34" charset="-120"/>
              </a:rPr>
              <a:t>Docker containers</a:t>
            </a:r>
            <a:r>
              <a:rPr lang="en-US" sz="1013" dirty="0">
                <a:solidFill>
                  <a:srgbClr val="FFFFFF"/>
                </a:solidFill>
                <a:latin typeface="Liter" pitchFamily="34" charset="0"/>
                <a:ea typeface="Liter" pitchFamily="34" charset="-122"/>
                <a:cs typeface="Liter" pitchFamily="34" charset="-120"/>
              </a:rPr>
              <a:t>, providing:</a:t>
            </a:r>
            <a:endParaRPr lang="en-US" sz="900" dirty="0"/>
          </a:p>
          <a:p>
            <a:pPr>
              <a:lnSpc>
                <a:spcPct val="160000"/>
              </a:lnSpc>
              <a:spcBef>
                <a:spcPts val="450"/>
              </a:spcBef>
            </a:pPr>
            <a:r>
              <a:rPr lang="en-US" sz="1013" dirty="0">
                <a:solidFill>
                  <a:srgbClr val="FFFFFF"/>
                </a:solidFill>
                <a:latin typeface="Liter" pitchFamily="34" charset="0"/>
                <a:ea typeface="Liter" pitchFamily="34" charset="-122"/>
                <a:cs typeface="Liter" pitchFamily="34" charset="-120"/>
              </a:rPr>
              <a:t>• </a:t>
            </a:r>
            <a:r>
              <a:rPr lang="en-US" sz="1013" b="1" dirty="0">
                <a:solidFill>
                  <a:srgbClr val="FFFFFF"/>
                </a:solidFill>
                <a:latin typeface="Liter" pitchFamily="34" charset="0"/>
                <a:ea typeface="Liter" pitchFamily="34" charset="-122"/>
                <a:cs typeface="Liter" pitchFamily="34" charset="-120"/>
              </a:rPr>
              <a:t>Isolation</a:t>
            </a:r>
            <a:r>
              <a:rPr lang="en-US" sz="1013" dirty="0">
                <a:solidFill>
                  <a:srgbClr val="FFFFFF"/>
                </a:solidFill>
                <a:latin typeface="Liter" pitchFamily="34" charset="0"/>
                <a:ea typeface="Liter" pitchFamily="34" charset="-122"/>
                <a:cs typeface="Liter" pitchFamily="34" charset="-120"/>
              </a:rPr>
              <a:t>: Each service operates in its own environment</a:t>
            </a:r>
            <a:endParaRPr lang="en-US" sz="900" dirty="0"/>
          </a:p>
          <a:p>
            <a:pPr>
              <a:lnSpc>
                <a:spcPct val="160000"/>
              </a:lnSpc>
            </a:pPr>
            <a:r>
              <a:rPr lang="en-US" sz="1013" dirty="0">
                <a:solidFill>
                  <a:srgbClr val="FFFFFF"/>
                </a:solidFill>
                <a:latin typeface="Liter" pitchFamily="34" charset="0"/>
                <a:ea typeface="Liter" pitchFamily="34" charset="-122"/>
                <a:cs typeface="Liter" pitchFamily="34" charset="-120"/>
              </a:rPr>
              <a:t>• </a:t>
            </a:r>
            <a:r>
              <a:rPr lang="en-US" sz="1013" b="1" dirty="0">
                <a:solidFill>
                  <a:srgbClr val="FFFFFF"/>
                </a:solidFill>
                <a:latin typeface="Liter" pitchFamily="34" charset="0"/>
                <a:ea typeface="Liter" pitchFamily="34" charset="-122"/>
                <a:cs typeface="Liter" pitchFamily="34" charset="-120"/>
              </a:rPr>
              <a:t>Portability</a:t>
            </a:r>
            <a:r>
              <a:rPr lang="en-US" sz="1013" dirty="0">
                <a:solidFill>
                  <a:srgbClr val="FFFFFF"/>
                </a:solidFill>
                <a:latin typeface="Liter" pitchFamily="34" charset="0"/>
                <a:ea typeface="Liter" pitchFamily="34" charset="-122"/>
                <a:cs typeface="Liter" pitchFamily="34" charset="-120"/>
              </a:rPr>
              <a:t>: Run on any machine with Docker installed</a:t>
            </a:r>
            <a:endParaRPr lang="en-US" sz="900" dirty="0"/>
          </a:p>
          <a:p>
            <a:pPr>
              <a:lnSpc>
                <a:spcPct val="160000"/>
              </a:lnSpc>
            </a:pPr>
            <a:r>
              <a:rPr lang="en-US" sz="1013" dirty="0">
                <a:solidFill>
                  <a:srgbClr val="FFFFFF"/>
                </a:solidFill>
                <a:latin typeface="Liter" pitchFamily="34" charset="0"/>
                <a:ea typeface="Liter" pitchFamily="34" charset="-122"/>
                <a:cs typeface="Liter" pitchFamily="34" charset="-120"/>
              </a:rPr>
              <a:t>• </a:t>
            </a:r>
            <a:r>
              <a:rPr lang="en-US" sz="1013" b="1" dirty="0">
                <a:solidFill>
                  <a:srgbClr val="FFFFFF"/>
                </a:solidFill>
                <a:latin typeface="Liter" pitchFamily="34" charset="0"/>
                <a:ea typeface="Liter" pitchFamily="34" charset="-122"/>
                <a:cs typeface="Liter" pitchFamily="34" charset="-120"/>
              </a:rPr>
              <a:t>Persistence</a:t>
            </a:r>
            <a:r>
              <a:rPr lang="en-US" sz="1013" dirty="0">
                <a:solidFill>
                  <a:srgbClr val="FFFFFF"/>
                </a:solidFill>
                <a:latin typeface="Liter" pitchFamily="34" charset="0"/>
                <a:ea typeface="Liter" pitchFamily="34" charset="-122"/>
                <a:cs typeface="Liter" pitchFamily="34" charset="-120"/>
              </a:rPr>
              <a:t>: Data preserved using Docker volumes</a:t>
            </a:r>
            <a:endParaRPr lang="en-US" sz="900" dirty="0"/>
          </a:p>
        </p:txBody>
      </p:sp>
      <p:pic>
        <p:nvPicPr>
          <p:cNvPr id="9" name="Image 0" descr="https://kimi-img.moonshot.cn/pub/slides/okc/pcpvqv7bqmkfa/mnt/agents/output/rag_presentation/images/image_9.png"/>
          <p:cNvPicPr>
            <a:picLocks noChangeAspect="1"/>
          </p:cNvPicPr>
          <p:nvPr/>
        </p:nvPicPr>
        <p:blipFill>
          <a:blip r:embed="rId3"/>
          <a:srcRect t="6377" b="6377"/>
          <a:stretch/>
        </p:blipFill>
        <p:spPr>
          <a:xfrm>
            <a:off x="4714875" y="1000124"/>
            <a:ext cx="4143375" cy="1928813"/>
          </a:xfrm>
          <a:prstGeom prst="rect">
            <a:avLst/>
          </a:prstGeom>
        </p:spPr>
      </p:pic>
      <p:sp>
        <p:nvSpPr>
          <p:cNvPr id="10" name="Shape 7"/>
          <p:cNvSpPr/>
          <p:nvPr/>
        </p:nvSpPr>
        <p:spPr>
          <a:xfrm>
            <a:off x="285750" y="3143249"/>
            <a:ext cx="8572500" cy="1785938"/>
          </a:xfrm>
          <a:prstGeom prst="rect">
            <a:avLst/>
          </a:prstGeom>
          <a:solidFill>
            <a:srgbClr val="FFFFFF"/>
          </a:solidFill>
          <a:ln/>
          <a:effectLst>
            <a:outerShdw blurRad="101600" dist="38100" dir="5400000" algn="bl" rotWithShape="0">
              <a:srgbClr val="000000">
                <a:alpha val="8235"/>
              </a:srgbClr>
            </a:outerShdw>
          </a:effectLst>
        </p:spPr>
        <p:txBody>
          <a:bodyPr/>
          <a:lstStyle/>
          <a:p>
            <a:endParaRPr lang="en-US"/>
          </a:p>
        </p:txBody>
      </p:sp>
      <p:sp>
        <p:nvSpPr>
          <p:cNvPr id="11" name="Shape 8"/>
          <p:cNvSpPr/>
          <p:nvPr/>
        </p:nvSpPr>
        <p:spPr>
          <a:xfrm>
            <a:off x="285750" y="3143249"/>
            <a:ext cx="42863" cy="1785938"/>
          </a:xfrm>
          <a:prstGeom prst="rect">
            <a:avLst/>
          </a:prstGeom>
          <a:solidFill>
            <a:srgbClr val="2EAF8B"/>
          </a:solidFill>
          <a:ln/>
        </p:spPr>
        <p:txBody>
          <a:bodyPr/>
          <a:lstStyle/>
          <a:p>
            <a:endParaRPr lang="en-US"/>
          </a:p>
        </p:txBody>
      </p:sp>
      <p:sp>
        <p:nvSpPr>
          <p:cNvPr id="12" name="Shape 9"/>
          <p:cNvSpPr/>
          <p:nvPr/>
        </p:nvSpPr>
        <p:spPr>
          <a:xfrm>
            <a:off x="516136" y="3286125"/>
            <a:ext cx="225028" cy="257175"/>
          </a:xfrm>
          <a:custGeom>
            <a:avLst/>
            <a:gdLst/>
            <a:ahLst/>
            <a:cxnLst/>
            <a:rect l="l" t="t" r="r" b="b"/>
            <a:pathLst>
              <a:path w="400050" h="457200">
                <a:moveTo>
                  <a:pt x="57150" y="28575"/>
                </a:moveTo>
                <a:cubicBezTo>
                  <a:pt x="25628" y="28575"/>
                  <a:pt x="0" y="54203"/>
                  <a:pt x="0" y="85725"/>
                </a:cubicBezTo>
                <a:lnTo>
                  <a:pt x="0" y="142875"/>
                </a:lnTo>
                <a:cubicBezTo>
                  <a:pt x="0" y="174397"/>
                  <a:pt x="25628" y="200025"/>
                  <a:pt x="57150" y="200025"/>
                </a:cubicBezTo>
                <a:lnTo>
                  <a:pt x="342900" y="200025"/>
                </a:lnTo>
                <a:cubicBezTo>
                  <a:pt x="374422" y="200025"/>
                  <a:pt x="400050" y="174397"/>
                  <a:pt x="400050" y="142875"/>
                </a:cubicBezTo>
                <a:lnTo>
                  <a:pt x="400050" y="85725"/>
                </a:lnTo>
                <a:cubicBezTo>
                  <a:pt x="400050" y="54203"/>
                  <a:pt x="374422" y="28575"/>
                  <a:pt x="342900" y="28575"/>
                </a:cubicBezTo>
                <a:lnTo>
                  <a:pt x="57150" y="28575"/>
                </a:lnTo>
                <a:close/>
                <a:moveTo>
                  <a:pt x="250031" y="92869"/>
                </a:moveTo>
                <a:cubicBezTo>
                  <a:pt x="261859" y="92869"/>
                  <a:pt x="271463" y="102472"/>
                  <a:pt x="271463" y="114300"/>
                </a:cubicBezTo>
                <a:cubicBezTo>
                  <a:pt x="271463" y="126128"/>
                  <a:pt x="261859" y="135731"/>
                  <a:pt x="250031" y="135731"/>
                </a:cubicBezTo>
                <a:cubicBezTo>
                  <a:pt x="238203" y="135731"/>
                  <a:pt x="228600" y="126128"/>
                  <a:pt x="228600" y="114300"/>
                </a:cubicBezTo>
                <a:cubicBezTo>
                  <a:pt x="228600" y="102472"/>
                  <a:pt x="238203" y="92869"/>
                  <a:pt x="250031" y="92869"/>
                </a:cubicBezTo>
                <a:close/>
                <a:moveTo>
                  <a:pt x="300038" y="114300"/>
                </a:moveTo>
                <a:cubicBezTo>
                  <a:pt x="300038" y="102472"/>
                  <a:pt x="309641" y="92869"/>
                  <a:pt x="321469" y="92869"/>
                </a:cubicBezTo>
                <a:cubicBezTo>
                  <a:pt x="333297" y="92869"/>
                  <a:pt x="342900" y="102472"/>
                  <a:pt x="342900" y="114300"/>
                </a:cubicBezTo>
                <a:cubicBezTo>
                  <a:pt x="342900" y="126128"/>
                  <a:pt x="333297" y="135731"/>
                  <a:pt x="321469" y="135731"/>
                </a:cubicBezTo>
                <a:cubicBezTo>
                  <a:pt x="309641" y="135731"/>
                  <a:pt x="300038" y="126128"/>
                  <a:pt x="300038" y="114300"/>
                </a:cubicBezTo>
                <a:close/>
                <a:moveTo>
                  <a:pt x="57150" y="257175"/>
                </a:moveTo>
                <a:cubicBezTo>
                  <a:pt x="25628" y="257175"/>
                  <a:pt x="0" y="282803"/>
                  <a:pt x="0" y="314325"/>
                </a:cubicBezTo>
                <a:lnTo>
                  <a:pt x="0" y="371475"/>
                </a:lnTo>
                <a:cubicBezTo>
                  <a:pt x="0" y="402997"/>
                  <a:pt x="25628" y="428625"/>
                  <a:pt x="57150" y="428625"/>
                </a:cubicBezTo>
                <a:lnTo>
                  <a:pt x="342900" y="428625"/>
                </a:lnTo>
                <a:cubicBezTo>
                  <a:pt x="374422" y="428625"/>
                  <a:pt x="400050" y="402997"/>
                  <a:pt x="400050" y="371475"/>
                </a:cubicBezTo>
                <a:lnTo>
                  <a:pt x="400050" y="314325"/>
                </a:lnTo>
                <a:cubicBezTo>
                  <a:pt x="400050" y="282803"/>
                  <a:pt x="374422" y="257175"/>
                  <a:pt x="342900" y="257175"/>
                </a:cubicBezTo>
                <a:lnTo>
                  <a:pt x="57150" y="257175"/>
                </a:lnTo>
                <a:close/>
                <a:moveTo>
                  <a:pt x="250031" y="321469"/>
                </a:moveTo>
                <a:cubicBezTo>
                  <a:pt x="261859" y="321469"/>
                  <a:pt x="271463" y="331072"/>
                  <a:pt x="271463" y="342900"/>
                </a:cubicBezTo>
                <a:cubicBezTo>
                  <a:pt x="271463" y="354728"/>
                  <a:pt x="261859" y="364331"/>
                  <a:pt x="250031" y="364331"/>
                </a:cubicBezTo>
                <a:cubicBezTo>
                  <a:pt x="238203" y="364331"/>
                  <a:pt x="228600" y="354728"/>
                  <a:pt x="228600" y="342900"/>
                </a:cubicBezTo>
                <a:cubicBezTo>
                  <a:pt x="228600" y="331072"/>
                  <a:pt x="238203" y="321469"/>
                  <a:pt x="250031" y="321469"/>
                </a:cubicBezTo>
                <a:close/>
                <a:moveTo>
                  <a:pt x="300038" y="342900"/>
                </a:moveTo>
                <a:cubicBezTo>
                  <a:pt x="300038" y="331072"/>
                  <a:pt x="309641" y="321469"/>
                  <a:pt x="321469" y="321469"/>
                </a:cubicBezTo>
                <a:cubicBezTo>
                  <a:pt x="333297" y="321469"/>
                  <a:pt x="342900" y="331072"/>
                  <a:pt x="342900" y="342900"/>
                </a:cubicBezTo>
                <a:cubicBezTo>
                  <a:pt x="342900" y="354728"/>
                  <a:pt x="333297" y="364331"/>
                  <a:pt x="321469" y="364331"/>
                </a:cubicBezTo>
                <a:cubicBezTo>
                  <a:pt x="309641" y="364331"/>
                  <a:pt x="300038" y="354728"/>
                  <a:pt x="300038" y="342900"/>
                </a:cubicBezTo>
                <a:close/>
              </a:path>
            </a:pathLst>
          </a:custGeom>
          <a:solidFill>
            <a:srgbClr val="2EAF8B"/>
          </a:solidFill>
          <a:ln/>
        </p:spPr>
        <p:txBody>
          <a:bodyPr/>
          <a:lstStyle/>
          <a:p>
            <a:endParaRPr lang="en-US"/>
          </a:p>
        </p:txBody>
      </p:sp>
      <p:sp>
        <p:nvSpPr>
          <p:cNvPr id="13" name="Text 10"/>
          <p:cNvSpPr/>
          <p:nvPr/>
        </p:nvSpPr>
        <p:spPr>
          <a:xfrm>
            <a:off x="857250" y="3286125"/>
            <a:ext cx="2857500" cy="257175"/>
          </a:xfrm>
          <a:prstGeom prst="rect">
            <a:avLst/>
          </a:prstGeom>
          <a:noFill/>
          <a:ln/>
        </p:spPr>
        <p:txBody>
          <a:bodyPr wrap="none" lIns="0" tIns="0" rIns="0" bIns="0" rtlCol="0" anchor="ctr"/>
          <a:lstStyle/>
          <a:p>
            <a:pPr>
              <a:lnSpc>
                <a:spcPct val="100000"/>
              </a:lnSpc>
            </a:pPr>
            <a:r>
              <a:rPr lang="en-US" sz="1238" b="1" dirty="0">
                <a:solidFill>
                  <a:srgbClr val="2EAF8B"/>
                </a:solidFill>
                <a:latin typeface="Liter" pitchFamily="34" charset="0"/>
                <a:ea typeface="Liter" pitchFamily="34" charset="-122"/>
                <a:cs typeface="Liter" pitchFamily="34" charset="-120"/>
              </a:rPr>
              <a:t>Ollama</a:t>
            </a:r>
            <a:endParaRPr lang="en-US" sz="1238" dirty="0"/>
          </a:p>
        </p:txBody>
      </p:sp>
      <p:sp>
        <p:nvSpPr>
          <p:cNvPr id="14" name="Text 11"/>
          <p:cNvSpPr/>
          <p:nvPr/>
        </p:nvSpPr>
        <p:spPr>
          <a:xfrm>
            <a:off x="500063" y="3643312"/>
            <a:ext cx="8143875" cy="1143000"/>
          </a:xfrm>
          <a:prstGeom prst="rect">
            <a:avLst/>
          </a:prstGeom>
          <a:noFill/>
          <a:ln/>
        </p:spPr>
        <p:txBody>
          <a:bodyPr wrap="square" lIns="0" tIns="0" rIns="0" bIns="0" rtlCol="0" anchor="t"/>
          <a:lstStyle/>
          <a:p>
            <a:pPr>
              <a:lnSpc>
                <a:spcPct val="160000"/>
              </a:lnSpc>
            </a:pPr>
            <a:r>
              <a:rPr lang="en-US" sz="1013" b="1" dirty="0">
                <a:solidFill>
                  <a:srgbClr val="2D3748"/>
                </a:solidFill>
                <a:latin typeface="Liter" pitchFamily="34" charset="0"/>
                <a:ea typeface="Liter" pitchFamily="34" charset="-122"/>
                <a:cs typeface="Liter" pitchFamily="34" charset="-120"/>
              </a:rPr>
              <a:t>Ollama</a:t>
            </a:r>
            <a:r>
              <a:rPr lang="en-US" sz="1013" dirty="0">
                <a:solidFill>
                  <a:srgbClr val="2D3748"/>
                </a:solidFill>
                <a:latin typeface="Liter" pitchFamily="34" charset="0"/>
                <a:ea typeface="Liter" pitchFamily="34" charset="-122"/>
                <a:cs typeface="Liter" pitchFamily="34" charset="-120"/>
              </a:rPr>
              <a:t> enables running open-source Large Language Models (LLMs) locally without requiring internet access or external API costs.</a:t>
            </a:r>
            <a:endParaRPr lang="en-US" sz="900" dirty="0"/>
          </a:p>
          <a:p>
            <a:pPr>
              <a:lnSpc>
                <a:spcPct val="160000"/>
              </a:lnSpc>
              <a:spcBef>
                <a:spcPts val="450"/>
              </a:spcBef>
            </a:pPr>
            <a:r>
              <a:rPr lang="en-US" sz="1013" dirty="0">
                <a:solidFill>
                  <a:srgbClr val="2D3748"/>
                </a:solidFill>
                <a:latin typeface="Liter" pitchFamily="34" charset="0"/>
                <a:ea typeface="Liter" pitchFamily="34" charset="-122"/>
                <a:cs typeface="Liter" pitchFamily="34" charset="-120"/>
              </a:rPr>
              <a:t>This means the entire RAG system can operate </a:t>
            </a:r>
            <a:r>
              <a:rPr lang="en-US" sz="1013" b="1" dirty="0">
                <a:solidFill>
                  <a:srgbClr val="2D3748"/>
                </a:solidFill>
                <a:latin typeface="Liter" pitchFamily="34" charset="0"/>
                <a:ea typeface="Liter" pitchFamily="34" charset="-122"/>
                <a:cs typeface="Liter" pitchFamily="34" charset="-120"/>
              </a:rPr>
              <a:t>fully offline</a:t>
            </a:r>
            <a:r>
              <a:rPr lang="en-US" sz="1013" dirty="0">
                <a:solidFill>
                  <a:srgbClr val="2D3748"/>
                </a:solidFill>
                <a:latin typeface="Liter" pitchFamily="34" charset="0"/>
                <a:ea typeface="Liter" pitchFamily="34" charset="-122"/>
                <a:cs typeface="Liter" pitchFamily="34" charset="-120"/>
              </a:rPr>
              <a:t> — all data stays within the organization's infrastructure, ensuring maximum privacy and security for sensitive information.</a:t>
            </a:r>
            <a:endParaRPr lang="en-US" sz="900" dirty="0"/>
          </a:p>
        </p:txBody>
      </p:sp>
      <p:pic>
        <p:nvPicPr>
          <p:cNvPr id="15" name="Image 0" descr="preencoded.png">
            <a:extLst>
              <a:ext uri="{FF2B5EF4-FFF2-40B4-BE49-F238E27FC236}">
                <a16:creationId xmlns:a16="http://schemas.microsoft.com/office/drawing/2014/main" id="{C3EED70C-707C-854F-07EA-89E0741A7B7B}"/>
              </a:ext>
            </a:extLst>
          </p:cNvPr>
          <p:cNvPicPr>
            <a:picLocks noChangeAspect="1"/>
          </p:cNvPicPr>
          <p:nvPr/>
        </p:nvPicPr>
        <p:blipFill>
          <a:blip r:embed="rId4"/>
          <a:stretch>
            <a:fillRect/>
          </a:stretch>
        </p:blipFill>
        <p:spPr>
          <a:xfrm>
            <a:off x="8046720" y="45720"/>
            <a:ext cx="685800" cy="676656"/>
          </a:xfrm>
          <a:prstGeom prst="rect">
            <a:avLst/>
          </a:prstGeom>
        </p:spPr>
      </p:pic>
    </p:spTree>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285750" y="0"/>
            <a:ext cx="4286250" cy="771526"/>
          </a:xfrm>
          <a:prstGeom prst="rect">
            <a:avLst/>
          </a:prstGeom>
          <a:noFill/>
          <a:ln/>
        </p:spPr>
        <p:txBody>
          <a:bodyPr wrap="none" lIns="0" tIns="0" rIns="0" bIns="0" rtlCol="0" anchor="ctr"/>
          <a:lstStyle/>
          <a:p>
            <a:pPr>
              <a:lnSpc>
                <a:spcPct val="100000"/>
              </a:lnSpc>
            </a:pPr>
            <a:r>
              <a:rPr lang="en-US" b="1" dirty="0">
                <a:solidFill>
                  <a:srgbClr val="FFFFFF"/>
                </a:solidFill>
                <a:latin typeface="Liter" pitchFamily="34" charset="0"/>
                <a:ea typeface="Liter" pitchFamily="34" charset="-122"/>
                <a:cs typeface="Liter" pitchFamily="34" charset="-120"/>
              </a:rPr>
              <a:t>AI Models Used</a:t>
            </a:r>
            <a:endParaRPr lang="en-US" dirty="0"/>
          </a:p>
        </p:txBody>
      </p:sp>
      <p:graphicFrame>
        <p:nvGraphicFramePr>
          <p:cNvPr id="12" name="Table 0"/>
          <p:cNvGraphicFramePr>
            <a:graphicFrameLocks noGrp="1"/>
          </p:cNvGraphicFramePr>
          <p:nvPr>
            <p:extLst>
              <p:ext uri="{D42A27DB-BD31-4B8C-83A1-F6EECF244321}">
                <p14:modId xmlns:p14="http://schemas.microsoft.com/office/powerpoint/2010/main" val="1489978058"/>
              </p:ext>
            </p:extLst>
          </p:nvPr>
        </p:nvGraphicFramePr>
        <p:xfrm>
          <a:off x="285750" y="942976"/>
          <a:ext cx="8572500" cy="1428751"/>
        </p:xfrm>
        <a:graphic>
          <a:graphicData uri="http://schemas.openxmlformats.org/drawingml/2006/table">
            <a:tbl>
              <a:tblPr/>
              <a:tblGrid>
                <a:gridCol w="2143125">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471488">
                <a:tc>
                  <a:txBody>
                    <a:bodyPr/>
                    <a:lstStyle/>
                    <a:p>
                      <a:pPr algn="l"/>
                      <a:r>
                        <a:rPr lang="en-US" sz="900" b="1" u="none" dirty="0">
                          <a:solidFill>
                            <a:srgbClr val="FFFFFF"/>
                          </a:solidFill>
                          <a:latin typeface="Liter" pitchFamily="34" charset="0"/>
                          <a:ea typeface="Liter" pitchFamily="34" charset="-122"/>
                          <a:cs typeface="Liter" pitchFamily="34" charset="-120"/>
                        </a:rPr>
                        <a:t>Model</a:t>
                      </a:r>
                      <a:endParaRPr lang="en-US" sz="900" dirty="0">
                        <a:latin typeface="Liter" charset="0"/>
                        <a:ea typeface="Liter" charset="0"/>
                        <a:cs typeface="Liter" charset="0"/>
                      </a:endParaRPr>
                    </a:p>
                  </a:txBody>
                  <a:tcPr marL="51435" marR="51435"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36ADA3"/>
                    </a:solidFill>
                  </a:tcPr>
                </a:tc>
                <a:tc>
                  <a:txBody>
                    <a:bodyPr/>
                    <a:lstStyle/>
                    <a:p>
                      <a:pPr algn="l"/>
                      <a:r>
                        <a:rPr lang="en-US" sz="900" b="1" u="none" dirty="0">
                          <a:solidFill>
                            <a:srgbClr val="FFFFFF"/>
                          </a:solidFill>
                          <a:latin typeface="Liter" pitchFamily="34" charset="0"/>
                          <a:ea typeface="Liter" pitchFamily="34" charset="-122"/>
                          <a:cs typeface="Liter" pitchFamily="34" charset="-120"/>
                        </a:rPr>
                        <a:t>Purpose</a:t>
                      </a:r>
                      <a:endParaRPr lang="en-US" sz="900" dirty="0">
                        <a:latin typeface="Liter" charset="0"/>
                        <a:ea typeface="Liter" charset="0"/>
                        <a:cs typeface="Liter" charset="0"/>
                      </a:endParaRPr>
                    </a:p>
                  </a:txBody>
                  <a:tcPr marL="51435" marR="51435"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36ADA3"/>
                    </a:solidFill>
                  </a:tcPr>
                </a:tc>
                <a:tc>
                  <a:txBody>
                    <a:bodyPr/>
                    <a:lstStyle/>
                    <a:p>
                      <a:pPr algn="l"/>
                      <a:r>
                        <a:rPr lang="en-US" sz="900" b="1" u="none" dirty="0">
                          <a:solidFill>
                            <a:srgbClr val="FFFFFF"/>
                          </a:solidFill>
                          <a:latin typeface="Liter" pitchFamily="34" charset="0"/>
                          <a:ea typeface="Liter" pitchFamily="34" charset="-122"/>
                          <a:cs typeface="Liter" pitchFamily="34" charset="-120"/>
                        </a:rPr>
                        <a:t>Description</a:t>
                      </a:r>
                      <a:endParaRPr lang="en-US" sz="900" dirty="0">
                        <a:latin typeface="Liter" charset="0"/>
                        <a:ea typeface="Liter" charset="0"/>
                        <a:cs typeface="Liter" charset="0"/>
                      </a:endParaRPr>
                    </a:p>
                  </a:txBody>
                  <a:tcPr marL="51435" marR="51435"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36ADA3"/>
                    </a:solidFill>
                  </a:tcPr>
                </a:tc>
                <a:extLst>
                  <a:ext uri="{0D108BD9-81ED-4DB2-BD59-A6C34878D82A}">
                    <a16:rowId xmlns:a16="http://schemas.microsoft.com/office/drawing/2014/main" val="10000"/>
                  </a:ext>
                </a:extLst>
              </a:tr>
              <a:tr h="471488">
                <a:tc>
                  <a:txBody>
                    <a:bodyPr/>
                    <a:lstStyle/>
                    <a:p>
                      <a:pPr algn="l"/>
                      <a:r>
                        <a:rPr lang="en-US" sz="900" u="none" dirty="0">
                          <a:solidFill>
                            <a:srgbClr val="2D3748"/>
                          </a:solidFill>
                          <a:latin typeface="Liter" pitchFamily="34" charset="0"/>
                          <a:ea typeface="Liter" pitchFamily="34" charset="-122"/>
                          <a:cs typeface="Liter" pitchFamily="34" charset="-120"/>
                        </a:rPr>
                        <a:t>nomic-embed-text</a:t>
                      </a:r>
                      <a:endParaRPr lang="en-US" sz="900" dirty="0">
                        <a:latin typeface="Liter" charset="0"/>
                        <a:ea typeface="Liter" charset="0"/>
                        <a:cs typeface="Liter" charset="0"/>
                      </a:endParaRPr>
                    </a:p>
                  </a:txBody>
                  <a:tcPr marL="51435" marR="51435"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900" u="none" dirty="0">
                          <a:solidFill>
                            <a:srgbClr val="2D3748"/>
                          </a:solidFill>
                          <a:latin typeface="Liter" pitchFamily="34" charset="0"/>
                          <a:ea typeface="Liter" pitchFamily="34" charset="-122"/>
                          <a:cs typeface="Liter" pitchFamily="34" charset="-120"/>
                        </a:rPr>
                        <a:t>Text Embedding</a:t>
                      </a:r>
                      <a:endParaRPr lang="en-US" sz="900" dirty="0">
                        <a:latin typeface="Liter" charset="0"/>
                        <a:ea typeface="Liter" charset="0"/>
                        <a:cs typeface="Liter" charset="0"/>
                      </a:endParaRPr>
                    </a:p>
                  </a:txBody>
                  <a:tcPr marL="51435" marR="51435"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900" u="none" dirty="0">
                          <a:solidFill>
                            <a:srgbClr val="2D3748"/>
                          </a:solidFill>
                          <a:latin typeface="Liter" pitchFamily="34" charset="0"/>
                          <a:ea typeface="Liter" pitchFamily="34" charset="-122"/>
                          <a:cs typeface="Liter" pitchFamily="34" charset="-120"/>
                        </a:rPr>
                        <a:t>Converts text into 768-dimensional vector embeddings for semantic search and retrieval</a:t>
                      </a:r>
                      <a:endParaRPr lang="en-US" sz="900" dirty="0">
                        <a:latin typeface="Liter" charset="0"/>
                        <a:ea typeface="Liter" charset="0"/>
                        <a:cs typeface="Liter" charset="0"/>
                      </a:endParaRPr>
                    </a:p>
                  </a:txBody>
                  <a:tcPr marL="51435" marR="51435"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5775">
                <a:tc>
                  <a:txBody>
                    <a:bodyPr/>
                    <a:lstStyle/>
                    <a:p>
                      <a:pPr algn="l"/>
                      <a:r>
                        <a:rPr lang="en-US" sz="900" u="none" dirty="0">
                          <a:solidFill>
                            <a:srgbClr val="2D3748"/>
                          </a:solidFill>
                          <a:latin typeface="Liter" pitchFamily="34" charset="0"/>
                          <a:ea typeface="Liter" pitchFamily="34" charset="-122"/>
                          <a:cs typeface="Liter" pitchFamily="34" charset="-120"/>
                        </a:rPr>
                        <a:t>llama3.2</a:t>
                      </a:r>
                      <a:endParaRPr lang="en-US" sz="900" dirty="0">
                        <a:latin typeface="Liter" charset="0"/>
                        <a:ea typeface="Liter" charset="0"/>
                        <a:cs typeface="Liter" charset="0"/>
                      </a:endParaRPr>
                    </a:p>
                  </a:txBody>
                  <a:tcPr marL="51435" marR="51435"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7F8FA"/>
                    </a:solidFill>
                  </a:tcPr>
                </a:tc>
                <a:tc>
                  <a:txBody>
                    <a:bodyPr/>
                    <a:lstStyle/>
                    <a:p>
                      <a:pPr algn="l"/>
                      <a:r>
                        <a:rPr lang="en-US" sz="900" u="none" dirty="0">
                          <a:solidFill>
                            <a:srgbClr val="2D3748"/>
                          </a:solidFill>
                          <a:latin typeface="Liter" pitchFamily="34" charset="0"/>
                          <a:ea typeface="Liter" pitchFamily="34" charset="-122"/>
                          <a:cs typeface="Liter" pitchFamily="34" charset="-120"/>
                        </a:rPr>
                        <a:t>Response Generation</a:t>
                      </a:r>
                      <a:endParaRPr lang="en-US" sz="900" dirty="0">
                        <a:latin typeface="Liter" charset="0"/>
                        <a:ea typeface="Liter" charset="0"/>
                        <a:cs typeface="Liter" charset="0"/>
                      </a:endParaRPr>
                    </a:p>
                  </a:txBody>
                  <a:tcPr marL="51435" marR="51435"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7F8FA"/>
                    </a:solidFill>
                  </a:tcPr>
                </a:tc>
                <a:tc>
                  <a:txBody>
                    <a:bodyPr/>
                    <a:lstStyle/>
                    <a:p>
                      <a:pPr algn="l"/>
                      <a:r>
                        <a:rPr lang="en-US" sz="900" u="none" dirty="0">
                          <a:solidFill>
                            <a:srgbClr val="2D3748"/>
                          </a:solidFill>
                          <a:latin typeface="Liter" pitchFamily="34" charset="0"/>
                          <a:ea typeface="Liter" pitchFamily="34" charset="-122"/>
                          <a:cs typeface="Liter" pitchFamily="34" charset="-120"/>
                        </a:rPr>
                        <a:t>Generates natural language responses, analyzes retrieved data, and answers user queries</a:t>
                      </a:r>
                      <a:endParaRPr lang="en-US" sz="900" dirty="0">
                        <a:latin typeface="Liter" charset="0"/>
                        <a:ea typeface="Liter" charset="0"/>
                        <a:cs typeface="Liter" charset="0"/>
                      </a:endParaRPr>
                    </a:p>
                  </a:txBody>
                  <a:tcPr marL="51435" marR="51435"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bl>
          </a:graphicData>
        </a:graphic>
      </p:graphicFrame>
      <p:sp>
        <p:nvSpPr>
          <p:cNvPr id="5" name="Shape 2"/>
          <p:cNvSpPr/>
          <p:nvPr/>
        </p:nvSpPr>
        <p:spPr>
          <a:xfrm>
            <a:off x="285750" y="2586038"/>
            <a:ext cx="8572500" cy="2286000"/>
          </a:xfrm>
          <a:prstGeom prst="rect">
            <a:avLst/>
          </a:prstGeom>
          <a:solidFill>
            <a:srgbClr val="FFFFFF"/>
          </a:solidFill>
          <a:ln/>
          <a:effectLst>
            <a:outerShdw blurRad="101600" dist="38100" dir="5400000" algn="bl" rotWithShape="0">
              <a:srgbClr val="000000">
                <a:alpha val="8235"/>
              </a:srgbClr>
            </a:outerShdw>
          </a:effectLst>
        </p:spPr>
        <p:txBody>
          <a:bodyPr/>
          <a:lstStyle/>
          <a:p>
            <a:endParaRPr lang="en-US"/>
          </a:p>
        </p:txBody>
      </p:sp>
      <p:sp>
        <p:nvSpPr>
          <p:cNvPr id="6" name="Shape 3"/>
          <p:cNvSpPr/>
          <p:nvPr/>
        </p:nvSpPr>
        <p:spPr>
          <a:xfrm>
            <a:off x="285750" y="2586038"/>
            <a:ext cx="42863" cy="2286000"/>
          </a:xfrm>
          <a:prstGeom prst="rect">
            <a:avLst/>
          </a:prstGeom>
          <a:solidFill>
            <a:srgbClr val="36ADA3"/>
          </a:solidFill>
          <a:ln/>
        </p:spPr>
        <p:txBody>
          <a:bodyPr/>
          <a:lstStyle/>
          <a:p>
            <a:endParaRPr lang="en-US"/>
          </a:p>
        </p:txBody>
      </p:sp>
      <p:sp>
        <p:nvSpPr>
          <p:cNvPr id="7" name="Shape 4"/>
          <p:cNvSpPr/>
          <p:nvPr/>
        </p:nvSpPr>
        <p:spPr>
          <a:xfrm>
            <a:off x="500063" y="2728913"/>
            <a:ext cx="257175" cy="257175"/>
          </a:xfrm>
          <a:custGeom>
            <a:avLst/>
            <a:gdLst/>
            <a:ahLst/>
            <a:cxnLst/>
            <a:rect l="l" t="t" r="r" b="b"/>
            <a:pathLst>
              <a:path w="457200" h="457200">
                <a:moveTo>
                  <a:pt x="430143" y="214402"/>
                </a:moveTo>
                <a:cubicBezTo>
                  <a:pt x="414427" y="213330"/>
                  <a:pt x="400764" y="225117"/>
                  <a:pt x="399604" y="240923"/>
                </a:cubicBezTo>
                <a:cubicBezTo>
                  <a:pt x="396657" y="282893"/>
                  <a:pt x="378529" y="320754"/>
                  <a:pt x="350669" y="348972"/>
                </a:cubicBezTo>
                <a:lnTo>
                  <a:pt x="322362" y="320576"/>
                </a:lnTo>
                <a:cubicBezTo>
                  <a:pt x="316200" y="314414"/>
                  <a:pt x="307003" y="312628"/>
                  <a:pt x="298966" y="315932"/>
                </a:cubicBezTo>
                <a:cubicBezTo>
                  <a:pt x="290929" y="319236"/>
                  <a:pt x="285750" y="327094"/>
                  <a:pt x="285750" y="335756"/>
                </a:cubicBezTo>
                <a:lnTo>
                  <a:pt x="285750" y="435769"/>
                </a:lnTo>
                <a:cubicBezTo>
                  <a:pt x="285750" y="447645"/>
                  <a:pt x="295305" y="457200"/>
                  <a:pt x="307181" y="457200"/>
                </a:cubicBezTo>
                <a:lnTo>
                  <a:pt x="407194" y="457200"/>
                </a:lnTo>
                <a:cubicBezTo>
                  <a:pt x="415856" y="457200"/>
                  <a:pt x="423714" y="452021"/>
                  <a:pt x="427018" y="443984"/>
                </a:cubicBezTo>
                <a:cubicBezTo>
                  <a:pt x="430322" y="435947"/>
                  <a:pt x="428536" y="426750"/>
                  <a:pt x="422374" y="420588"/>
                </a:cubicBezTo>
                <a:lnTo>
                  <a:pt x="391120" y="389334"/>
                </a:lnTo>
                <a:cubicBezTo>
                  <a:pt x="428357" y="351651"/>
                  <a:pt x="452646" y="301109"/>
                  <a:pt x="456664" y="244852"/>
                </a:cubicBezTo>
                <a:cubicBezTo>
                  <a:pt x="457736" y="229136"/>
                  <a:pt x="445949" y="215473"/>
                  <a:pt x="430143" y="214313"/>
                </a:cubicBezTo>
                <a:close/>
                <a:moveTo>
                  <a:pt x="34826" y="36612"/>
                </a:moveTo>
                <a:lnTo>
                  <a:pt x="66080" y="67866"/>
                </a:lnTo>
                <a:cubicBezTo>
                  <a:pt x="28843" y="105549"/>
                  <a:pt x="4554" y="156091"/>
                  <a:pt x="536" y="212348"/>
                </a:cubicBezTo>
                <a:cubicBezTo>
                  <a:pt x="-536" y="228064"/>
                  <a:pt x="11251" y="241727"/>
                  <a:pt x="27057" y="242888"/>
                </a:cubicBezTo>
                <a:cubicBezTo>
                  <a:pt x="42862" y="244048"/>
                  <a:pt x="56436" y="232172"/>
                  <a:pt x="57596" y="216366"/>
                </a:cubicBezTo>
                <a:cubicBezTo>
                  <a:pt x="60543" y="174397"/>
                  <a:pt x="78671" y="136535"/>
                  <a:pt x="106531" y="108317"/>
                </a:cubicBezTo>
                <a:lnTo>
                  <a:pt x="134838" y="136624"/>
                </a:lnTo>
                <a:cubicBezTo>
                  <a:pt x="141000" y="142786"/>
                  <a:pt x="150197" y="144572"/>
                  <a:pt x="158234" y="141268"/>
                </a:cubicBezTo>
                <a:cubicBezTo>
                  <a:pt x="166271" y="137964"/>
                  <a:pt x="171450" y="130106"/>
                  <a:pt x="171450" y="121444"/>
                </a:cubicBezTo>
                <a:lnTo>
                  <a:pt x="171450" y="21431"/>
                </a:lnTo>
                <a:cubicBezTo>
                  <a:pt x="171450" y="9555"/>
                  <a:pt x="161895" y="0"/>
                  <a:pt x="150019" y="0"/>
                </a:cubicBezTo>
                <a:lnTo>
                  <a:pt x="50006" y="0"/>
                </a:lnTo>
                <a:cubicBezTo>
                  <a:pt x="41344" y="0"/>
                  <a:pt x="33486" y="5179"/>
                  <a:pt x="30182" y="13216"/>
                </a:cubicBezTo>
                <a:cubicBezTo>
                  <a:pt x="26878" y="21253"/>
                  <a:pt x="28754" y="30450"/>
                  <a:pt x="34826" y="36612"/>
                </a:cubicBezTo>
                <a:close/>
                <a:moveTo>
                  <a:pt x="214313" y="27057"/>
                </a:moveTo>
                <a:cubicBezTo>
                  <a:pt x="213241" y="42773"/>
                  <a:pt x="225028" y="56436"/>
                  <a:pt x="240834" y="57596"/>
                </a:cubicBezTo>
                <a:cubicBezTo>
                  <a:pt x="282803" y="60543"/>
                  <a:pt x="320665" y="78671"/>
                  <a:pt x="348883" y="106531"/>
                </a:cubicBezTo>
                <a:lnTo>
                  <a:pt x="320576" y="134838"/>
                </a:lnTo>
                <a:cubicBezTo>
                  <a:pt x="314414" y="141000"/>
                  <a:pt x="312628" y="150197"/>
                  <a:pt x="315932" y="158234"/>
                </a:cubicBezTo>
                <a:cubicBezTo>
                  <a:pt x="319236" y="166271"/>
                  <a:pt x="327094" y="171450"/>
                  <a:pt x="335756" y="171450"/>
                </a:cubicBezTo>
                <a:lnTo>
                  <a:pt x="435769" y="171450"/>
                </a:lnTo>
                <a:cubicBezTo>
                  <a:pt x="447645" y="171450"/>
                  <a:pt x="457200" y="161895"/>
                  <a:pt x="457200" y="150019"/>
                </a:cubicBezTo>
                <a:lnTo>
                  <a:pt x="457200" y="50006"/>
                </a:lnTo>
                <a:cubicBezTo>
                  <a:pt x="457200" y="41344"/>
                  <a:pt x="452021" y="33486"/>
                  <a:pt x="443984" y="30182"/>
                </a:cubicBezTo>
                <a:cubicBezTo>
                  <a:pt x="435947" y="26878"/>
                  <a:pt x="426750" y="28754"/>
                  <a:pt x="420588" y="34826"/>
                </a:cubicBezTo>
                <a:lnTo>
                  <a:pt x="389334" y="66080"/>
                </a:lnTo>
                <a:cubicBezTo>
                  <a:pt x="351651" y="28843"/>
                  <a:pt x="301109" y="4554"/>
                  <a:pt x="244852" y="536"/>
                </a:cubicBezTo>
                <a:cubicBezTo>
                  <a:pt x="229136" y="-536"/>
                  <a:pt x="215473" y="11251"/>
                  <a:pt x="214313" y="27057"/>
                </a:cubicBezTo>
                <a:close/>
                <a:moveTo>
                  <a:pt x="36612" y="422374"/>
                </a:moveTo>
                <a:lnTo>
                  <a:pt x="67866" y="391120"/>
                </a:lnTo>
                <a:cubicBezTo>
                  <a:pt x="105549" y="428357"/>
                  <a:pt x="156091" y="452646"/>
                  <a:pt x="212348" y="456664"/>
                </a:cubicBezTo>
                <a:cubicBezTo>
                  <a:pt x="228064" y="457736"/>
                  <a:pt x="241727" y="445949"/>
                  <a:pt x="242888" y="430143"/>
                </a:cubicBezTo>
                <a:cubicBezTo>
                  <a:pt x="244048" y="414338"/>
                  <a:pt x="232172" y="400764"/>
                  <a:pt x="216366" y="399604"/>
                </a:cubicBezTo>
                <a:cubicBezTo>
                  <a:pt x="174397" y="396657"/>
                  <a:pt x="136535" y="378529"/>
                  <a:pt x="108317" y="350669"/>
                </a:cubicBezTo>
                <a:lnTo>
                  <a:pt x="136624" y="322362"/>
                </a:lnTo>
                <a:cubicBezTo>
                  <a:pt x="142786" y="316200"/>
                  <a:pt x="144572" y="307003"/>
                  <a:pt x="141268" y="298966"/>
                </a:cubicBezTo>
                <a:cubicBezTo>
                  <a:pt x="137964" y="290929"/>
                  <a:pt x="130106" y="285750"/>
                  <a:pt x="121444" y="285750"/>
                </a:cubicBezTo>
                <a:lnTo>
                  <a:pt x="21431" y="285750"/>
                </a:lnTo>
                <a:cubicBezTo>
                  <a:pt x="9555" y="285750"/>
                  <a:pt x="0" y="295305"/>
                  <a:pt x="0" y="307181"/>
                </a:cubicBezTo>
                <a:lnTo>
                  <a:pt x="0" y="407194"/>
                </a:lnTo>
                <a:cubicBezTo>
                  <a:pt x="0" y="415856"/>
                  <a:pt x="5179" y="423714"/>
                  <a:pt x="13216" y="427018"/>
                </a:cubicBezTo>
                <a:cubicBezTo>
                  <a:pt x="21253" y="430322"/>
                  <a:pt x="30450" y="428446"/>
                  <a:pt x="36612" y="422374"/>
                </a:cubicBezTo>
                <a:close/>
              </a:path>
            </a:pathLst>
          </a:custGeom>
          <a:solidFill>
            <a:srgbClr val="36ADA3"/>
          </a:solidFill>
          <a:ln/>
        </p:spPr>
        <p:txBody>
          <a:bodyPr/>
          <a:lstStyle/>
          <a:p>
            <a:endParaRPr lang="en-US"/>
          </a:p>
        </p:txBody>
      </p:sp>
      <p:sp>
        <p:nvSpPr>
          <p:cNvPr id="8" name="Text 5"/>
          <p:cNvSpPr/>
          <p:nvPr/>
        </p:nvSpPr>
        <p:spPr>
          <a:xfrm>
            <a:off x="857250" y="2728913"/>
            <a:ext cx="2857500" cy="257175"/>
          </a:xfrm>
          <a:prstGeom prst="rect">
            <a:avLst/>
          </a:prstGeom>
          <a:noFill/>
          <a:ln/>
        </p:spPr>
        <p:txBody>
          <a:bodyPr wrap="none" lIns="0" tIns="0" rIns="0" bIns="0" rtlCol="0" anchor="ctr"/>
          <a:lstStyle/>
          <a:p>
            <a:pPr>
              <a:lnSpc>
                <a:spcPct val="100000"/>
              </a:lnSpc>
            </a:pPr>
            <a:r>
              <a:rPr lang="en-US" sz="1238" b="1" dirty="0">
                <a:solidFill>
                  <a:srgbClr val="36ADA3"/>
                </a:solidFill>
                <a:latin typeface="Liter" pitchFamily="34" charset="0"/>
                <a:ea typeface="Liter" pitchFamily="34" charset="-122"/>
                <a:cs typeface="Liter" pitchFamily="34" charset="-120"/>
              </a:rPr>
              <a:t>Model Workflow</a:t>
            </a:r>
            <a:endParaRPr lang="en-US" sz="1238" dirty="0">
              <a:solidFill>
                <a:srgbClr val="36ADA3"/>
              </a:solidFill>
            </a:endParaRPr>
          </a:p>
        </p:txBody>
      </p:sp>
      <p:sp>
        <p:nvSpPr>
          <p:cNvPr id="9" name="Shape 6"/>
          <p:cNvSpPr/>
          <p:nvPr/>
        </p:nvSpPr>
        <p:spPr>
          <a:xfrm>
            <a:off x="571500" y="3157538"/>
            <a:ext cx="357188" cy="357188"/>
          </a:xfrm>
          <a:prstGeom prst="ellipse">
            <a:avLst/>
          </a:prstGeom>
          <a:solidFill>
            <a:srgbClr val="36ADA3"/>
          </a:solidFill>
          <a:ln/>
        </p:spPr>
        <p:txBody>
          <a:bodyPr/>
          <a:lstStyle/>
          <a:p>
            <a:endParaRPr lang="en-US"/>
          </a:p>
        </p:txBody>
      </p:sp>
      <p:sp>
        <p:nvSpPr>
          <p:cNvPr id="10" name="Text 7"/>
          <p:cNvSpPr/>
          <p:nvPr/>
        </p:nvSpPr>
        <p:spPr>
          <a:xfrm>
            <a:off x="571500" y="3157538"/>
            <a:ext cx="357188" cy="357188"/>
          </a:xfrm>
          <a:prstGeom prst="rect">
            <a:avLst/>
          </a:prstGeom>
          <a:noFill/>
          <a:ln/>
        </p:spPr>
        <p:txBody>
          <a:bodyPr wrap="none" lIns="0" tIns="0" rIns="0" bIns="0" rtlCol="0" anchor="ctr"/>
          <a:lstStyle/>
          <a:p>
            <a:pPr algn="ctr">
              <a:lnSpc>
                <a:spcPct val="100000"/>
              </a:lnSpc>
            </a:pPr>
            <a:r>
              <a:rPr lang="en-US" sz="1125" dirty="0">
                <a:solidFill>
                  <a:srgbClr val="FFFFFF"/>
                </a:solidFill>
                <a:latin typeface="Liter" pitchFamily="34" charset="0"/>
                <a:ea typeface="Liter" pitchFamily="34" charset="-122"/>
                <a:cs typeface="Liter" pitchFamily="34" charset="-120"/>
              </a:rPr>
              <a:t>1</a:t>
            </a:r>
            <a:endParaRPr lang="en-US" sz="900" dirty="0"/>
          </a:p>
        </p:txBody>
      </p:sp>
      <p:sp>
        <p:nvSpPr>
          <p:cNvPr id="11" name="Text 8"/>
          <p:cNvSpPr/>
          <p:nvPr/>
        </p:nvSpPr>
        <p:spPr>
          <a:xfrm>
            <a:off x="1035844" y="3157538"/>
            <a:ext cx="1785938" cy="357188"/>
          </a:xfrm>
          <a:prstGeom prst="rect">
            <a:avLst/>
          </a:prstGeom>
          <a:noFill/>
          <a:ln/>
        </p:spPr>
        <p:txBody>
          <a:bodyPr wrap="square" lIns="0" tIns="0" rIns="0" bIns="0" rtlCol="0" anchor="ctr"/>
          <a:lstStyle/>
          <a:p>
            <a:pPr>
              <a:lnSpc>
                <a:spcPct val="100000"/>
              </a:lnSpc>
            </a:pPr>
            <a:r>
              <a:rPr lang="en-US" sz="900" b="1" dirty="0">
                <a:solidFill>
                  <a:srgbClr val="2D3748"/>
                </a:solidFill>
                <a:latin typeface="Liter" pitchFamily="34" charset="0"/>
                <a:ea typeface="Liter" pitchFamily="34" charset="-122"/>
                <a:cs typeface="Liter" pitchFamily="34" charset="-120"/>
              </a:rPr>
              <a:t>User Query</a:t>
            </a:r>
            <a:r>
              <a:rPr lang="en-US" sz="900" dirty="0">
                <a:solidFill>
                  <a:srgbClr val="2D3748"/>
                </a:solidFill>
                <a:latin typeface="Liter" pitchFamily="34" charset="0"/>
                <a:ea typeface="Liter" pitchFamily="34" charset="-122"/>
                <a:cs typeface="Liter" pitchFamily="34" charset="-120"/>
              </a:rPr>
              <a:t> entered in chat interface</a:t>
            </a:r>
            <a:endParaRPr lang="en-US" sz="900" dirty="0"/>
          </a:p>
        </p:txBody>
      </p:sp>
      <p:sp>
        <p:nvSpPr>
          <p:cNvPr id="4" name="Shape 9"/>
          <p:cNvSpPr/>
          <p:nvPr/>
        </p:nvSpPr>
        <p:spPr>
          <a:xfrm>
            <a:off x="2857500" y="3336132"/>
            <a:ext cx="285750" cy="0"/>
          </a:xfrm>
          <a:prstGeom prst="straightConnector1">
            <a:avLst/>
          </a:prstGeom>
          <a:noFill/>
          <a:ln w="25400">
            <a:solidFill>
              <a:srgbClr val="2EAF8B"/>
            </a:solidFill>
            <a:prstDash val="solid"/>
            <a:headEnd type="none"/>
            <a:tailEnd type="arrow"/>
          </a:ln>
        </p:spPr>
        <p:txBody>
          <a:bodyPr/>
          <a:lstStyle/>
          <a:p>
            <a:endParaRPr lang="en-US"/>
          </a:p>
        </p:txBody>
      </p:sp>
      <p:sp>
        <p:nvSpPr>
          <p:cNvPr id="13" name="Shape 10"/>
          <p:cNvSpPr/>
          <p:nvPr/>
        </p:nvSpPr>
        <p:spPr>
          <a:xfrm>
            <a:off x="3214687" y="3157538"/>
            <a:ext cx="357188" cy="357188"/>
          </a:xfrm>
          <a:prstGeom prst="ellipse">
            <a:avLst/>
          </a:prstGeom>
          <a:solidFill>
            <a:srgbClr val="36ADA3"/>
          </a:solidFill>
          <a:ln/>
        </p:spPr>
        <p:txBody>
          <a:bodyPr/>
          <a:lstStyle/>
          <a:p>
            <a:endParaRPr lang="en-US"/>
          </a:p>
        </p:txBody>
      </p:sp>
      <p:sp>
        <p:nvSpPr>
          <p:cNvPr id="14" name="Text 11"/>
          <p:cNvSpPr/>
          <p:nvPr/>
        </p:nvSpPr>
        <p:spPr>
          <a:xfrm>
            <a:off x="3214687" y="3157538"/>
            <a:ext cx="357188" cy="357188"/>
          </a:xfrm>
          <a:prstGeom prst="rect">
            <a:avLst/>
          </a:prstGeom>
          <a:noFill/>
          <a:ln/>
        </p:spPr>
        <p:txBody>
          <a:bodyPr wrap="none" lIns="0" tIns="0" rIns="0" bIns="0" rtlCol="0" anchor="ctr"/>
          <a:lstStyle/>
          <a:p>
            <a:pPr algn="ctr">
              <a:lnSpc>
                <a:spcPct val="100000"/>
              </a:lnSpc>
            </a:pPr>
            <a:r>
              <a:rPr lang="en-US" sz="1125" dirty="0">
                <a:solidFill>
                  <a:srgbClr val="FFFFFF"/>
                </a:solidFill>
                <a:latin typeface="Liter" pitchFamily="34" charset="0"/>
                <a:ea typeface="Liter" pitchFamily="34" charset="-122"/>
                <a:cs typeface="Liter" pitchFamily="34" charset="-120"/>
              </a:rPr>
              <a:t>2</a:t>
            </a:r>
            <a:endParaRPr lang="en-US" sz="900" dirty="0"/>
          </a:p>
        </p:txBody>
      </p:sp>
      <p:sp>
        <p:nvSpPr>
          <p:cNvPr id="15" name="Text 12"/>
          <p:cNvSpPr/>
          <p:nvPr/>
        </p:nvSpPr>
        <p:spPr>
          <a:xfrm>
            <a:off x="3679031" y="3157538"/>
            <a:ext cx="1785938" cy="357188"/>
          </a:xfrm>
          <a:prstGeom prst="rect">
            <a:avLst/>
          </a:prstGeom>
          <a:noFill/>
          <a:ln/>
        </p:spPr>
        <p:txBody>
          <a:bodyPr wrap="square" lIns="0" tIns="0" rIns="0" bIns="0" rtlCol="0" anchor="ctr"/>
          <a:lstStyle/>
          <a:p>
            <a:pPr>
              <a:lnSpc>
                <a:spcPct val="100000"/>
              </a:lnSpc>
            </a:pPr>
            <a:r>
              <a:rPr lang="en-US" sz="900" b="1" dirty="0">
                <a:solidFill>
                  <a:srgbClr val="2D3748"/>
                </a:solidFill>
                <a:latin typeface="Liter" pitchFamily="34" charset="0"/>
                <a:ea typeface="Liter" pitchFamily="34" charset="-122"/>
                <a:cs typeface="Liter" pitchFamily="34" charset="-120"/>
              </a:rPr>
              <a:t>nomic-embed-text</a:t>
            </a:r>
            <a:r>
              <a:rPr lang="en-US" sz="900" dirty="0">
                <a:solidFill>
                  <a:srgbClr val="2D3748"/>
                </a:solidFill>
                <a:latin typeface="Liter" pitchFamily="34" charset="0"/>
                <a:ea typeface="Liter" pitchFamily="34" charset="-122"/>
                <a:cs typeface="Liter" pitchFamily="34" charset="-120"/>
              </a:rPr>
              <a:t> converts query to vector</a:t>
            </a:r>
            <a:endParaRPr lang="en-US" sz="900" dirty="0"/>
          </a:p>
        </p:txBody>
      </p:sp>
      <p:sp>
        <p:nvSpPr>
          <p:cNvPr id="16" name="Shape 13"/>
          <p:cNvSpPr/>
          <p:nvPr/>
        </p:nvSpPr>
        <p:spPr>
          <a:xfrm>
            <a:off x="5500688" y="3336132"/>
            <a:ext cx="285750" cy="0"/>
          </a:xfrm>
          <a:prstGeom prst="straightConnector1">
            <a:avLst/>
          </a:prstGeom>
          <a:noFill/>
          <a:ln w="25400">
            <a:solidFill>
              <a:srgbClr val="2EAF8B"/>
            </a:solidFill>
            <a:prstDash val="solid"/>
            <a:headEnd type="none"/>
            <a:tailEnd type="arrow"/>
          </a:ln>
        </p:spPr>
        <p:txBody>
          <a:bodyPr/>
          <a:lstStyle/>
          <a:p>
            <a:endParaRPr lang="en-US"/>
          </a:p>
        </p:txBody>
      </p:sp>
      <p:sp>
        <p:nvSpPr>
          <p:cNvPr id="17" name="Shape 14"/>
          <p:cNvSpPr/>
          <p:nvPr/>
        </p:nvSpPr>
        <p:spPr>
          <a:xfrm>
            <a:off x="5857875" y="3157538"/>
            <a:ext cx="357188" cy="357188"/>
          </a:xfrm>
          <a:prstGeom prst="ellipse">
            <a:avLst/>
          </a:prstGeom>
          <a:solidFill>
            <a:srgbClr val="36ADA3"/>
          </a:solidFill>
          <a:ln/>
        </p:spPr>
        <p:txBody>
          <a:bodyPr/>
          <a:lstStyle/>
          <a:p>
            <a:endParaRPr lang="en-US"/>
          </a:p>
        </p:txBody>
      </p:sp>
      <p:sp>
        <p:nvSpPr>
          <p:cNvPr id="18" name="Text 15"/>
          <p:cNvSpPr/>
          <p:nvPr/>
        </p:nvSpPr>
        <p:spPr>
          <a:xfrm>
            <a:off x="5857875" y="3157538"/>
            <a:ext cx="357188" cy="357188"/>
          </a:xfrm>
          <a:prstGeom prst="rect">
            <a:avLst/>
          </a:prstGeom>
          <a:noFill/>
          <a:ln/>
        </p:spPr>
        <p:txBody>
          <a:bodyPr wrap="none" lIns="0" tIns="0" rIns="0" bIns="0" rtlCol="0" anchor="ctr"/>
          <a:lstStyle/>
          <a:p>
            <a:pPr algn="ctr">
              <a:lnSpc>
                <a:spcPct val="100000"/>
              </a:lnSpc>
            </a:pPr>
            <a:r>
              <a:rPr lang="en-US" sz="1125" dirty="0">
                <a:solidFill>
                  <a:srgbClr val="FFFFFF"/>
                </a:solidFill>
                <a:latin typeface="Liter" pitchFamily="34" charset="0"/>
                <a:ea typeface="Liter" pitchFamily="34" charset="-122"/>
                <a:cs typeface="Liter" pitchFamily="34" charset="-120"/>
              </a:rPr>
              <a:t>3</a:t>
            </a:r>
            <a:endParaRPr lang="en-US" sz="900" dirty="0"/>
          </a:p>
        </p:txBody>
      </p:sp>
      <p:sp>
        <p:nvSpPr>
          <p:cNvPr id="19" name="Text 16"/>
          <p:cNvSpPr/>
          <p:nvPr/>
        </p:nvSpPr>
        <p:spPr>
          <a:xfrm>
            <a:off x="6322219" y="3157538"/>
            <a:ext cx="2357438" cy="214313"/>
          </a:xfrm>
          <a:prstGeom prst="rect">
            <a:avLst/>
          </a:prstGeom>
          <a:noFill/>
          <a:ln/>
        </p:spPr>
        <p:txBody>
          <a:bodyPr wrap="square" lIns="0" tIns="0" rIns="0" bIns="0" rtlCol="0" anchor="ctr"/>
          <a:lstStyle/>
          <a:p>
            <a:pPr>
              <a:lnSpc>
                <a:spcPct val="100000"/>
              </a:lnSpc>
            </a:pPr>
            <a:r>
              <a:rPr lang="en-US" sz="900" b="1" dirty="0">
                <a:solidFill>
                  <a:srgbClr val="2D3748"/>
                </a:solidFill>
                <a:latin typeface="Liter" pitchFamily="34" charset="0"/>
                <a:ea typeface="Liter" pitchFamily="34" charset="-122"/>
                <a:cs typeface="Liter" pitchFamily="34" charset="-120"/>
              </a:rPr>
              <a:t>Qdrant</a:t>
            </a:r>
            <a:r>
              <a:rPr lang="en-US" sz="900" dirty="0">
                <a:solidFill>
                  <a:srgbClr val="2D3748"/>
                </a:solidFill>
                <a:latin typeface="Liter" pitchFamily="34" charset="0"/>
                <a:ea typeface="Liter" pitchFamily="34" charset="-122"/>
                <a:cs typeface="Liter" pitchFamily="34" charset="-120"/>
              </a:rPr>
              <a:t> retrieves similar vectors</a:t>
            </a:r>
            <a:endParaRPr lang="en-US" sz="900" dirty="0"/>
          </a:p>
        </p:txBody>
      </p:sp>
      <p:sp>
        <p:nvSpPr>
          <p:cNvPr id="20" name="Shape 17"/>
          <p:cNvSpPr/>
          <p:nvPr/>
        </p:nvSpPr>
        <p:spPr>
          <a:xfrm>
            <a:off x="571500" y="3729038"/>
            <a:ext cx="357188" cy="357188"/>
          </a:xfrm>
          <a:prstGeom prst="ellipse">
            <a:avLst/>
          </a:prstGeom>
          <a:solidFill>
            <a:srgbClr val="1B2A4A"/>
          </a:solidFill>
          <a:ln/>
        </p:spPr>
        <p:txBody>
          <a:bodyPr/>
          <a:lstStyle/>
          <a:p>
            <a:endParaRPr lang="en-US"/>
          </a:p>
        </p:txBody>
      </p:sp>
      <p:sp>
        <p:nvSpPr>
          <p:cNvPr id="21" name="Text 18"/>
          <p:cNvSpPr/>
          <p:nvPr/>
        </p:nvSpPr>
        <p:spPr>
          <a:xfrm>
            <a:off x="571500" y="3729038"/>
            <a:ext cx="357188" cy="357188"/>
          </a:xfrm>
          <a:prstGeom prst="rect">
            <a:avLst/>
          </a:prstGeom>
          <a:noFill/>
          <a:ln/>
        </p:spPr>
        <p:txBody>
          <a:bodyPr wrap="none" lIns="0" tIns="0" rIns="0" bIns="0" rtlCol="0" anchor="ctr"/>
          <a:lstStyle/>
          <a:p>
            <a:pPr algn="ctr">
              <a:lnSpc>
                <a:spcPct val="100000"/>
              </a:lnSpc>
            </a:pPr>
            <a:r>
              <a:rPr lang="en-US" sz="1125" dirty="0">
                <a:solidFill>
                  <a:srgbClr val="FFFFFF"/>
                </a:solidFill>
                <a:latin typeface="Liter" pitchFamily="34" charset="0"/>
                <a:ea typeface="Liter" pitchFamily="34" charset="-122"/>
                <a:cs typeface="Liter" pitchFamily="34" charset="-120"/>
              </a:rPr>
              <a:t>4</a:t>
            </a:r>
            <a:endParaRPr lang="en-US" sz="900" dirty="0"/>
          </a:p>
        </p:txBody>
      </p:sp>
      <p:sp>
        <p:nvSpPr>
          <p:cNvPr id="22" name="Text 19"/>
          <p:cNvSpPr/>
          <p:nvPr/>
        </p:nvSpPr>
        <p:spPr>
          <a:xfrm>
            <a:off x="1035844" y="3729038"/>
            <a:ext cx="1785938" cy="357188"/>
          </a:xfrm>
          <a:prstGeom prst="rect">
            <a:avLst/>
          </a:prstGeom>
          <a:noFill/>
          <a:ln/>
        </p:spPr>
        <p:txBody>
          <a:bodyPr wrap="square" lIns="0" tIns="0" rIns="0" bIns="0" rtlCol="0" anchor="ctr"/>
          <a:lstStyle/>
          <a:p>
            <a:pPr>
              <a:lnSpc>
                <a:spcPct val="100000"/>
              </a:lnSpc>
            </a:pPr>
            <a:r>
              <a:rPr lang="en-US" sz="900" b="1" dirty="0">
                <a:solidFill>
                  <a:srgbClr val="2D3748"/>
                </a:solidFill>
                <a:latin typeface="Liter" pitchFamily="34" charset="0"/>
                <a:ea typeface="Liter" pitchFamily="34" charset="-122"/>
                <a:cs typeface="Liter" pitchFamily="34" charset="-120"/>
              </a:rPr>
              <a:t>llama3.2</a:t>
            </a:r>
            <a:r>
              <a:rPr lang="en-US" sz="900" dirty="0">
                <a:solidFill>
                  <a:srgbClr val="2D3748"/>
                </a:solidFill>
                <a:latin typeface="Liter" pitchFamily="34" charset="0"/>
                <a:ea typeface="Liter" pitchFamily="34" charset="-122"/>
                <a:cs typeface="Liter" pitchFamily="34" charset="-120"/>
              </a:rPr>
              <a:t> generates final response</a:t>
            </a:r>
            <a:endParaRPr lang="en-US" sz="900" dirty="0"/>
          </a:p>
        </p:txBody>
      </p:sp>
      <p:sp>
        <p:nvSpPr>
          <p:cNvPr id="23" name="Shape 20"/>
          <p:cNvSpPr/>
          <p:nvPr/>
        </p:nvSpPr>
        <p:spPr>
          <a:xfrm>
            <a:off x="2857500" y="3907632"/>
            <a:ext cx="285750" cy="0"/>
          </a:xfrm>
          <a:prstGeom prst="straightConnector1">
            <a:avLst/>
          </a:prstGeom>
          <a:noFill/>
          <a:ln w="25400">
            <a:solidFill>
              <a:srgbClr val="1B2A4A"/>
            </a:solidFill>
            <a:prstDash val="solid"/>
            <a:headEnd type="none"/>
            <a:tailEnd type="arrow"/>
          </a:ln>
        </p:spPr>
        <p:txBody>
          <a:bodyPr/>
          <a:lstStyle/>
          <a:p>
            <a:endParaRPr lang="en-US"/>
          </a:p>
        </p:txBody>
      </p:sp>
      <p:sp>
        <p:nvSpPr>
          <p:cNvPr id="24" name="Shape 21"/>
          <p:cNvSpPr/>
          <p:nvPr/>
        </p:nvSpPr>
        <p:spPr>
          <a:xfrm>
            <a:off x="3214687" y="3729038"/>
            <a:ext cx="357188" cy="357188"/>
          </a:xfrm>
          <a:prstGeom prst="ellipse">
            <a:avLst/>
          </a:prstGeom>
          <a:solidFill>
            <a:srgbClr val="1B2A4A"/>
          </a:solidFill>
          <a:ln/>
        </p:spPr>
        <p:txBody>
          <a:bodyPr/>
          <a:lstStyle/>
          <a:p>
            <a:endParaRPr lang="en-US"/>
          </a:p>
        </p:txBody>
      </p:sp>
      <p:sp>
        <p:nvSpPr>
          <p:cNvPr id="25" name="Text 22"/>
          <p:cNvSpPr/>
          <p:nvPr/>
        </p:nvSpPr>
        <p:spPr>
          <a:xfrm>
            <a:off x="3214687" y="3729038"/>
            <a:ext cx="357188" cy="357188"/>
          </a:xfrm>
          <a:prstGeom prst="rect">
            <a:avLst/>
          </a:prstGeom>
          <a:noFill/>
          <a:ln/>
        </p:spPr>
        <p:txBody>
          <a:bodyPr wrap="none" lIns="0" tIns="0" rIns="0" bIns="0" rtlCol="0" anchor="ctr"/>
          <a:lstStyle/>
          <a:p>
            <a:pPr algn="ctr">
              <a:lnSpc>
                <a:spcPct val="100000"/>
              </a:lnSpc>
            </a:pPr>
            <a:r>
              <a:rPr lang="en-US" sz="1125" dirty="0">
                <a:solidFill>
                  <a:srgbClr val="FFFFFF"/>
                </a:solidFill>
                <a:latin typeface="Liter" pitchFamily="34" charset="0"/>
                <a:ea typeface="Liter" pitchFamily="34" charset="-122"/>
                <a:cs typeface="Liter" pitchFamily="34" charset="-120"/>
              </a:rPr>
              <a:t>5</a:t>
            </a:r>
            <a:endParaRPr lang="en-US" sz="900" dirty="0"/>
          </a:p>
        </p:txBody>
      </p:sp>
      <p:sp>
        <p:nvSpPr>
          <p:cNvPr id="26" name="Text 23"/>
          <p:cNvSpPr/>
          <p:nvPr/>
        </p:nvSpPr>
        <p:spPr>
          <a:xfrm>
            <a:off x="3679031" y="3729038"/>
            <a:ext cx="1785938" cy="214313"/>
          </a:xfrm>
          <a:prstGeom prst="rect">
            <a:avLst/>
          </a:prstGeom>
          <a:noFill/>
          <a:ln/>
        </p:spPr>
        <p:txBody>
          <a:bodyPr wrap="square" lIns="0" tIns="0" rIns="0" bIns="0" rtlCol="0" anchor="ctr"/>
          <a:lstStyle/>
          <a:p>
            <a:pPr>
              <a:lnSpc>
                <a:spcPct val="100000"/>
              </a:lnSpc>
            </a:pPr>
            <a:r>
              <a:rPr lang="en-US" sz="900" b="1" dirty="0">
                <a:solidFill>
                  <a:srgbClr val="2D3748"/>
                </a:solidFill>
                <a:latin typeface="Liter" pitchFamily="34" charset="0"/>
                <a:ea typeface="Liter" pitchFamily="34" charset="-122"/>
                <a:cs typeface="Liter" pitchFamily="34" charset="-120"/>
              </a:rPr>
              <a:t>Response</a:t>
            </a:r>
            <a:r>
              <a:rPr lang="en-US" sz="900" dirty="0">
                <a:solidFill>
                  <a:srgbClr val="2D3748"/>
                </a:solidFill>
                <a:latin typeface="Liter" pitchFamily="34" charset="0"/>
                <a:ea typeface="Liter" pitchFamily="34" charset="-122"/>
                <a:cs typeface="Liter" pitchFamily="34" charset="-120"/>
              </a:rPr>
              <a:t> returned to user</a:t>
            </a:r>
            <a:endParaRPr lang="en-US" sz="900" dirty="0"/>
          </a:p>
        </p:txBody>
      </p:sp>
      <p:pic>
        <p:nvPicPr>
          <p:cNvPr id="27" name="Image 0" descr="https://kimi-img.moonshot.cn/pub/slides/okc/pcpvqv7bqmkfa/mnt/agents/output/rag_presentation/images/image_8.png"/>
          <p:cNvPicPr>
            <a:picLocks noChangeAspect="1"/>
          </p:cNvPicPr>
          <p:nvPr/>
        </p:nvPicPr>
        <p:blipFill>
          <a:blip r:embed="rId3"/>
          <a:srcRect t="-40480" b="-40480"/>
          <a:stretch/>
        </p:blipFill>
        <p:spPr>
          <a:xfrm>
            <a:off x="5857875" y="3657600"/>
            <a:ext cx="2857500" cy="1071563"/>
          </a:xfrm>
          <a:prstGeom prst="rect">
            <a:avLst/>
          </a:prstGeom>
        </p:spPr>
      </p:pic>
      <p:pic>
        <p:nvPicPr>
          <p:cNvPr id="28" name="Image 0" descr="preencoded.png">
            <a:extLst>
              <a:ext uri="{FF2B5EF4-FFF2-40B4-BE49-F238E27FC236}">
                <a16:creationId xmlns:a16="http://schemas.microsoft.com/office/drawing/2014/main" id="{B2FCC47A-088F-0EFB-4EA3-C9DA5D37E471}"/>
              </a:ext>
            </a:extLst>
          </p:cNvPr>
          <p:cNvPicPr>
            <a:picLocks noChangeAspect="1"/>
          </p:cNvPicPr>
          <p:nvPr/>
        </p:nvPicPr>
        <p:blipFill>
          <a:blip r:embed="rId4"/>
          <a:stretch>
            <a:fillRect/>
          </a:stretch>
        </p:blipFill>
        <p:spPr>
          <a:xfrm>
            <a:off x="8046720" y="0"/>
            <a:ext cx="685800" cy="676656"/>
          </a:xfrm>
          <a:prstGeom prst="rect">
            <a:avLst/>
          </a:prstGeom>
        </p:spPr>
      </p:pic>
    </p:spTree>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285750" y="-1"/>
            <a:ext cx="5715000" cy="676085"/>
          </a:xfrm>
          <a:prstGeom prst="rect">
            <a:avLst/>
          </a:prstGeom>
          <a:noFill/>
          <a:ln/>
        </p:spPr>
        <p:txBody>
          <a:bodyPr wrap="none" lIns="0" tIns="0" rIns="0" bIns="0" rtlCol="0" anchor="ctr"/>
          <a:lstStyle/>
          <a:p>
            <a:pPr>
              <a:lnSpc>
                <a:spcPct val="100000"/>
              </a:lnSpc>
            </a:pPr>
            <a:r>
              <a:rPr lang="en-US" b="1" dirty="0">
                <a:solidFill>
                  <a:srgbClr val="FFFFFF"/>
                </a:solidFill>
                <a:latin typeface="Liter" pitchFamily="34" charset="0"/>
                <a:ea typeface="Liter" pitchFamily="34" charset="-122"/>
                <a:cs typeface="Liter" pitchFamily="34" charset="-120"/>
              </a:rPr>
              <a:t>Flask API &amp; Question Classification</a:t>
            </a:r>
            <a:endParaRPr lang="en-US" dirty="0"/>
          </a:p>
        </p:txBody>
      </p:sp>
      <p:sp>
        <p:nvSpPr>
          <p:cNvPr id="4" name="Shape 2"/>
          <p:cNvSpPr/>
          <p:nvPr/>
        </p:nvSpPr>
        <p:spPr>
          <a:xfrm>
            <a:off x="285750" y="978694"/>
            <a:ext cx="8572500" cy="714375"/>
          </a:xfrm>
          <a:prstGeom prst="rect">
            <a:avLst/>
          </a:prstGeom>
          <a:solidFill>
            <a:srgbClr val="FFFFFF"/>
          </a:solidFill>
          <a:ln/>
          <a:effectLst>
            <a:outerShdw blurRad="76200" dist="38100" dir="5400000" algn="bl" rotWithShape="0">
              <a:srgbClr val="000000">
                <a:alpha val="8235"/>
              </a:srgbClr>
            </a:outerShdw>
          </a:effectLst>
        </p:spPr>
        <p:txBody>
          <a:bodyPr/>
          <a:lstStyle/>
          <a:p>
            <a:endParaRPr lang="en-US"/>
          </a:p>
        </p:txBody>
      </p:sp>
      <p:sp>
        <p:nvSpPr>
          <p:cNvPr id="5" name="Shape 3"/>
          <p:cNvSpPr/>
          <p:nvPr/>
        </p:nvSpPr>
        <p:spPr>
          <a:xfrm>
            <a:off x="285750" y="978694"/>
            <a:ext cx="42863" cy="714375"/>
          </a:xfrm>
          <a:prstGeom prst="rect">
            <a:avLst/>
          </a:prstGeom>
          <a:solidFill>
            <a:srgbClr val="2EAF8B"/>
          </a:solidFill>
          <a:ln/>
        </p:spPr>
        <p:txBody>
          <a:bodyPr/>
          <a:lstStyle/>
          <a:p>
            <a:endParaRPr lang="en-US"/>
          </a:p>
        </p:txBody>
      </p:sp>
      <p:sp>
        <p:nvSpPr>
          <p:cNvPr id="6" name="Text 4"/>
          <p:cNvSpPr/>
          <p:nvPr/>
        </p:nvSpPr>
        <p:spPr>
          <a:xfrm>
            <a:off x="500063" y="1050131"/>
            <a:ext cx="8143875" cy="571500"/>
          </a:xfrm>
          <a:prstGeom prst="rect">
            <a:avLst/>
          </a:prstGeom>
          <a:noFill/>
          <a:ln/>
        </p:spPr>
        <p:txBody>
          <a:bodyPr wrap="square" lIns="0" tIns="0" rIns="0" bIns="0" rtlCol="0" anchor="ctr"/>
          <a:lstStyle/>
          <a:p>
            <a:pPr>
              <a:lnSpc>
                <a:spcPct val="150000"/>
              </a:lnSpc>
            </a:pPr>
            <a:r>
              <a:rPr lang="en-US" sz="1013" dirty="0">
                <a:solidFill>
                  <a:srgbClr val="2D3748"/>
                </a:solidFill>
                <a:latin typeface="Liter" pitchFamily="34" charset="0"/>
                <a:ea typeface="Liter" pitchFamily="34" charset="-122"/>
                <a:cs typeface="Liter" pitchFamily="34" charset="-120"/>
              </a:rPr>
              <a:t>The Flask application running on </a:t>
            </a:r>
            <a:r>
              <a:rPr lang="en-US" sz="1013" b="1" dirty="0">
                <a:solidFill>
                  <a:srgbClr val="2D3748"/>
                </a:solidFill>
                <a:latin typeface="Liter" pitchFamily="34" charset="0"/>
                <a:ea typeface="Liter" pitchFamily="34" charset="-122"/>
                <a:cs typeface="Liter" pitchFamily="34" charset="-120"/>
              </a:rPr>
              <a:t>port 5000</a:t>
            </a:r>
            <a:r>
              <a:rPr lang="en-US" sz="1013" dirty="0">
                <a:solidFill>
                  <a:srgbClr val="2D3748"/>
                </a:solidFill>
                <a:latin typeface="Liter" pitchFamily="34" charset="0"/>
                <a:ea typeface="Liter" pitchFamily="34" charset="-122"/>
                <a:cs typeface="Liter" pitchFamily="34" charset="-120"/>
              </a:rPr>
              <a:t> receives user queries from n8n, classifies them, and routes them to the appropriate processing pipeline.</a:t>
            </a:r>
            <a:endParaRPr lang="en-US" sz="900" dirty="0"/>
          </a:p>
        </p:txBody>
      </p:sp>
      <p:pic>
        <p:nvPicPr>
          <p:cNvPr id="7" name="Image 0" descr="https://kimi-img.moonshot.cn/pub/slides/okc/pcpvqv7bqmkfa/mnt/agents/output/rag_presentation/images/image_6.png"/>
          <p:cNvPicPr>
            <a:picLocks noChangeAspect="1"/>
          </p:cNvPicPr>
          <p:nvPr/>
        </p:nvPicPr>
        <p:blipFill>
          <a:blip r:embed="rId4"/>
          <a:srcRect t="-12719" b="-12719"/>
          <a:stretch/>
        </p:blipFill>
        <p:spPr>
          <a:xfrm>
            <a:off x="285750" y="1907381"/>
            <a:ext cx="4286250" cy="3000375"/>
          </a:xfrm>
          <a:prstGeom prst="rect">
            <a:avLst/>
          </a:prstGeom>
        </p:spPr>
      </p:pic>
      <p:sp>
        <p:nvSpPr>
          <p:cNvPr id="8" name="Shape 5"/>
          <p:cNvSpPr/>
          <p:nvPr/>
        </p:nvSpPr>
        <p:spPr>
          <a:xfrm>
            <a:off x="4857750" y="1907381"/>
            <a:ext cx="4000500" cy="857250"/>
          </a:xfrm>
          <a:prstGeom prst="rect">
            <a:avLst/>
          </a:prstGeom>
          <a:solidFill>
            <a:srgbClr val="1B2A4A"/>
          </a:solidFill>
          <a:ln/>
          <a:effectLst>
            <a:outerShdw blurRad="101600" dist="38100" dir="5400000" algn="bl" rotWithShape="0">
              <a:srgbClr val="000000">
                <a:alpha val="12549"/>
              </a:srgbClr>
            </a:outerShdw>
          </a:effectLst>
        </p:spPr>
        <p:txBody>
          <a:bodyPr/>
          <a:lstStyle/>
          <a:p>
            <a:endParaRPr lang="en-US"/>
          </a:p>
        </p:txBody>
      </p:sp>
      <p:sp>
        <p:nvSpPr>
          <p:cNvPr id="9" name="Shape 6"/>
          <p:cNvSpPr/>
          <p:nvPr/>
        </p:nvSpPr>
        <p:spPr>
          <a:xfrm>
            <a:off x="4857750" y="1907381"/>
            <a:ext cx="42863" cy="857250"/>
          </a:xfrm>
          <a:prstGeom prst="rect">
            <a:avLst/>
          </a:prstGeom>
          <a:solidFill>
            <a:srgbClr val="2EAF8B"/>
          </a:solidFill>
          <a:ln/>
        </p:spPr>
        <p:txBody>
          <a:bodyPr/>
          <a:lstStyle/>
          <a:p>
            <a:endParaRPr lang="en-US"/>
          </a:p>
        </p:txBody>
      </p:sp>
      <p:sp>
        <p:nvSpPr>
          <p:cNvPr id="10" name="Shape 7"/>
          <p:cNvSpPr/>
          <p:nvPr/>
        </p:nvSpPr>
        <p:spPr>
          <a:xfrm>
            <a:off x="5057775" y="2014537"/>
            <a:ext cx="257175" cy="228600"/>
          </a:xfrm>
          <a:custGeom>
            <a:avLst/>
            <a:gdLst/>
            <a:ahLst/>
            <a:cxnLst/>
            <a:rect l="l" t="t" r="r" b="b"/>
            <a:pathLst>
              <a:path w="457200" h="406400">
                <a:moveTo>
                  <a:pt x="406718" y="190500"/>
                </a:moveTo>
                <a:lnTo>
                  <a:pt x="267017" y="190500"/>
                </a:lnTo>
                <a:cubicBezTo>
                  <a:pt x="252968" y="190500"/>
                  <a:pt x="241618" y="179149"/>
                  <a:pt x="241618" y="165100"/>
                </a:cubicBezTo>
                <a:lnTo>
                  <a:pt x="241618" y="25400"/>
                </a:lnTo>
                <a:cubicBezTo>
                  <a:pt x="241618" y="11351"/>
                  <a:pt x="253047" y="-159"/>
                  <a:pt x="266938" y="1667"/>
                </a:cubicBezTo>
                <a:cubicBezTo>
                  <a:pt x="351869" y="12938"/>
                  <a:pt x="419179" y="80248"/>
                  <a:pt x="430451" y="165179"/>
                </a:cubicBezTo>
                <a:cubicBezTo>
                  <a:pt x="432276" y="179070"/>
                  <a:pt x="420767" y="190500"/>
                  <a:pt x="406718" y="190500"/>
                </a:cubicBezTo>
                <a:close/>
                <a:moveTo>
                  <a:pt x="176689" y="29528"/>
                </a:moveTo>
                <a:cubicBezTo>
                  <a:pt x="191056" y="26511"/>
                  <a:pt x="203518" y="38259"/>
                  <a:pt x="203518" y="52943"/>
                </a:cubicBezTo>
                <a:lnTo>
                  <a:pt x="203518" y="209550"/>
                </a:lnTo>
                <a:cubicBezTo>
                  <a:pt x="203518" y="213995"/>
                  <a:pt x="205105" y="218281"/>
                  <a:pt x="207883" y="221694"/>
                </a:cubicBezTo>
                <a:lnTo>
                  <a:pt x="312738" y="348218"/>
                </a:lnTo>
                <a:cubicBezTo>
                  <a:pt x="322024" y="359410"/>
                  <a:pt x="320040" y="376317"/>
                  <a:pt x="307261" y="383223"/>
                </a:cubicBezTo>
                <a:cubicBezTo>
                  <a:pt x="280194" y="397986"/>
                  <a:pt x="249158" y="406400"/>
                  <a:pt x="216218" y="406400"/>
                </a:cubicBezTo>
                <a:cubicBezTo>
                  <a:pt x="111046" y="406400"/>
                  <a:pt x="25718" y="321072"/>
                  <a:pt x="25718" y="215900"/>
                </a:cubicBezTo>
                <a:cubicBezTo>
                  <a:pt x="25718" y="124222"/>
                  <a:pt x="90408" y="47704"/>
                  <a:pt x="176689" y="29527"/>
                </a:cubicBezTo>
                <a:close/>
                <a:moveTo>
                  <a:pt x="379254" y="228600"/>
                </a:moveTo>
                <a:lnTo>
                  <a:pt x="430054" y="228600"/>
                </a:lnTo>
                <a:cubicBezTo>
                  <a:pt x="444738" y="228600"/>
                  <a:pt x="456486" y="241062"/>
                  <a:pt x="453469" y="255429"/>
                </a:cubicBezTo>
                <a:cubicBezTo>
                  <a:pt x="445373" y="293846"/>
                  <a:pt x="425688" y="327978"/>
                  <a:pt x="398224" y="354013"/>
                </a:cubicBezTo>
                <a:cubicBezTo>
                  <a:pt x="388461" y="363299"/>
                  <a:pt x="373142" y="361315"/>
                  <a:pt x="364569" y="350917"/>
                </a:cubicBezTo>
                <a:lnTo>
                  <a:pt x="297577" y="270193"/>
                </a:lnTo>
                <a:cubicBezTo>
                  <a:pt x="283845" y="253603"/>
                  <a:pt x="295672" y="228600"/>
                  <a:pt x="317103" y="228600"/>
                </a:cubicBezTo>
                <a:lnTo>
                  <a:pt x="379174" y="228600"/>
                </a:lnTo>
                <a:close/>
              </a:path>
            </a:pathLst>
          </a:custGeom>
          <a:solidFill>
            <a:srgbClr val="2EAF8B"/>
          </a:solidFill>
          <a:ln/>
        </p:spPr>
        <p:txBody>
          <a:bodyPr/>
          <a:lstStyle/>
          <a:p>
            <a:endParaRPr lang="en-US"/>
          </a:p>
        </p:txBody>
      </p:sp>
      <p:sp>
        <p:nvSpPr>
          <p:cNvPr id="11" name="Text 8"/>
          <p:cNvSpPr/>
          <p:nvPr/>
        </p:nvSpPr>
        <p:spPr>
          <a:xfrm>
            <a:off x="5393531" y="2014537"/>
            <a:ext cx="3286125" cy="228600"/>
          </a:xfrm>
          <a:prstGeom prst="rect">
            <a:avLst/>
          </a:prstGeom>
          <a:noFill/>
          <a:ln/>
        </p:spPr>
        <p:txBody>
          <a:bodyPr wrap="none" lIns="0" tIns="0" rIns="0" bIns="0" rtlCol="0" anchor="ctr"/>
          <a:lstStyle/>
          <a:p>
            <a:pPr>
              <a:lnSpc>
                <a:spcPct val="100000"/>
              </a:lnSpc>
            </a:pPr>
            <a:r>
              <a:rPr lang="en-US" sz="1013" b="1" dirty="0">
                <a:solidFill>
                  <a:srgbClr val="2EAF8B"/>
                </a:solidFill>
                <a:latin typeface="Liter" pitchFamily="34" charset="0"/>
                <a:ea typeface="Liter" pitchFamily="34" charset="-122"/>
                <a:cs typeface="Liter" pitchFamily="34" charset="-120"/>
              </a:rPr>
              <a:t>Statistical Request</a:t>
            </a:r>
            <a:endParaRPr lang="en-US" sz="900" dirty="0"/>
          </a:p>
        </p:txBody>
      </p:sp>
      <p:sp>
        <p:nvSpPr>
          <p:cNvPr id="12" name="Text 9"/>
          <p:cNvSpPr/>
          <p:nvPr/>
        </p:nvSpPr>
        <p:spPr>
          <a:xfrm>
            <a:off x="5072062" y="2300287"/>
            <a:ext cx="3643313" cy="357188"/>
          </a:xfrm>
          <a:prstGeom prst="rect">
            <a:avLst/>
          </a:prstGeom>
          <a:noFill/>
          <a:ln/>
        </p:spPr>
        <p:txBody>
          <a:bodyPr wrap="square" lIns="0" tIns="0" rIns="0" bIns="0" rtlCol="0" anchor="t"/>
          <a:lstStyle/>
          <a:p>
            <a:pPr>
              <a:lnSpc>
                <a:spcPct val="140000"/>
              </a:lnSpc>
            </a:pPr>
            <a:r>
              <a:rPr lang="en-US" sz="844" dirty="0">
                <a:solidFill>
                  <a:srgbClr val="FFFFFF"/>
                </a:solidFill>
                <a:latin typeface="Liter" pitchFamily="34" charset="0"/>
                <a:ea typeface="Liter" pitchFamily="34" charset="-122"/>
                <a:cs typeface="Liter" pitchFamily="34" charset="-120"/>
              </a:rPr>
              <a:t>Needs direct numerical computation — counts, averages, distributions</a:t>
            </a:r>
            <a:endParaRPr lang="en-US" sz="900" dirty="0"/>
          </a:p>
        </p:txBody>
      </p:sp>
      <p:sp>
        <p:nvSpPr>
          <p:cNvPr id="13" name="Shape 10"/>
          <p:cNvSpPr/>
          <p:nvPr/>
        </p:nvSpPr>
        <p:spPr>
          <a:xfrm>
            <a:off x="4857750" y="2978944"/>
            <a:ext cx="4000500" cy="857250"/>
          </a:xfrm>
          <a:prstGeom prst="rect">
            <a:avLst/>
          </a:prstGeom>
          <a:solidFill>
            <a:srgbClr val="1B2A4A"/>
          </a:solidFill>
          <a:ln/>
          <a:effectLst>
            <a:outerShdw blurRad="101600" dist="38100" dir="5400000" algn="bl" rotWithShape="0">
              <a:srgbClr val="000000">
                <a:alpha val="12549"/>
              </a:srgbClr>
            </a:outerShdw>
          </a:effectLst>
        </p:spPr>
        <p:txBody>
          <a:bodyPr/>
          <a:lstStyle/>
          <a:p>
            <a:endParaRPr lang="en-US"/>
          </a:p>
        </p:txBody>
      </p:sp>
      <p:sp>
        <p:nvSpPr>
          <p:cNvPr id="14" name="Shape 11"/>
          <p:cNvSpPr/>
          <p:nvPr/>
        </p:nvSpPr>
        <p:spPr>
          <a:xfrm>
            <a:off x="4857750" y="2978944"/>
            <a:ext cx="42863" cy="857250"/>
          </a:xfrm>
          <a:prstGeom prst="rect">
            <a:avLst/>
          </a:prstGeom>
          <a:solidFill>
            <a:srgbClr val="2EAF8B"/>
          </a:solidFill>
          <a:ln/>
        </p:spPr>
        <p:txBody>
          <a:bodyPr/>
          <a:lstStyle/>
          <a:p>
            <a:endParaRPr lang="en-US"/>
          </a:p>
        </p:txBody>
      </p:sp>
      <p:sp>
        <p:nvSpPr>
          <p:cNvPr id="15" name="Shape 12"/>
          <p:cNvSpPr/>
          <p:nvPr/>
        </p:nvSpPr>
        <p:spPr>
          <a:xfrm>
            <a:off x="5072063" y="3086100"/>
            <a:ext cx="228600" cy="228600"/>
          </a:xfrm>
          <a:custGeom>
            <a:avLst/>
            <a:gdLst/>
            <a:ahLst/>
            <a:cxnLst/>
            <a:rect l="l" t="t" r="r" b="b"/>
            <a:pathLst>
              <a:path w="406400" h="406400">
                <a:moveTo>
                  <a:pt x="50800" y="50800"/>
                </a:moveTo>
                <a:cubicBezTo>
                  <a:pt x="50800" y="36751"/>
                  <a:pt x="39449" y="25400"/>
                  <a:pt x="25400" y="25400"/>
                </a:cubicBezTo>
                <a:cubicBezTo>
                  <a:pt x="11351" y="25400"/>
                  <a:pt x="0" y="36751"/>
                  <a:pt x="0" y="50800"/>
                </a:cubicBezTo>
                <a:lnTo>
                  <a:pt x="0" y="317500"/>
                </a:lnTo>
                <a:cubicBezTo>
                  <a:pt x="0" y="352584"/>
                  <a:pt x="28416" y="381000"/>
                  <a:pt x="63500" y="381000"/>
                </a:cubicBezTo>
                <a:lnTo>
                  <a:pt x="381000" y="381000"/>
                </a:lnTo>
                <a:cubicBezTo>
                  <a:pt x="395049" y="381000"/>
                  <a:pt x="406400" y="369649"/>
                  <a:pt x="406400" y="355600"/>
                </a:cubicBezTo>
                <a:cubicBezTo>
                  <a:pt x="406400" y="341551"/>
                  <a:pt x="395049" y="330200"/>
                  <a:pt x="381000" y="330200"/>
                </a:cubicBezTo>
                <a:lnTo>
                  <a:pt x="63500" y="330200"/>
                </a:lnTo>
                <a:cubicBezTo>
                  <a:pt x="56515" y="330200"/>
                  <a:pt x="50800" y="324485"/>
                  <a:pt x="50800" y="317500"/>
                </a:cubicBezTo>
                <a:lnTo>
                  <a:pt x="50800" y="50800"/>
                </a:lnTo>
                <a:close/>
                <a:moveTo>
                  <a:pt x="373539" y="119539"/>
                </a:moveTo>
                <a:cubicBezTo>
                  <a:pt x="383461" y="109617"/>
                  <a:pt x="383461" y="93504"/>
                  <a:pt x="373539" y="83582"/>
                </a:cubicBezTo>
                <a:cubicBezTo>
                  <a:pt x="363617" y="73660"/>
                  <a:pt x="347504" y="73660"/>
                  <a:pt x="337582" y="83582"/>
                </a:cubicBezTo>
                <a:lnTo>
                  <a:pt x="254000" y="167243"/>
                </a:lnTo>
                <a:lnTo>
                  <a:pt x="208439" y="121761"/>
                </a:lnTo>
                <a:cubicBezTo>
                  <a:pt x="198517" y="111839"/>
                  <a:pt x="182404" y="111839"/>
                  <a:pt x="172482" y="121761"/>
                </a:cubicBezTo>
                <a:lnTo>
                  <a:pt x="96282" y="197961"/>
                </a:lnTo>
                <a:cubicBezTo>
                  <a:pt x="86360" y="207883"/>
                  <a:pt x="86360" y="223996"/>
                  <a:pt x="96282" y="233918"/>
                </a:cubicBezTo>
                <a:cubicBezTo>
                  <a:pt x="106204" y="243840"/>
                  <a:pt x="122317" y="243840"/>
                  <a:pt x="132239" y="233918"/>
                </a:cubicBezTo>
                <a:lnTo>
                  <a:pt x="190500" y="175657"/>
                </a:lnTo>
                <a:lnTo>
                  <a:pt x="236061" y="221218"/>
                </a:lnTo>
                <a:cubicBezTo>
                  <a:pt x="245983" y="231140"/>
                  <a:pt x="262096" y="231140"/>
                  <a:pt x="272018" y="221218"/>
                </a:cubicBezTo>
                <a:lnTo>
                  <a:pt x="373618" y="119618"/>
                </a:lnTo>
                <a:close/>
              </a:path>
            </a:pathLst>
          </a:custGeom>
          <a:solidFill>
            <a:srgbClr val="2EAF8B"/>
          </a:solidFill>
          <a:ln/>
        </p:spPr>
        <p:txBody>
          <a:bodyPr/>
          <a:lstStyle/>
          <a:p>
            <a:endParaRPr lang="en-US"/>
          </a:p>
        </p:txBody>
      </p:sp>
      <p:sp>
        <p:nvSpPr>
          <p:cNvPr id="16" name="Text 13"/>
          <p:cNvSpPr/>
          <p:nvPr/>
        </p:nvSpPr>
        <p:spPr>
          <a:xfrm>
            <a:off x="5393531" y="3086100"/>
            <a:ext cx="3286125" cy="228600"/>
          </a:xfrm>
          <a:prstGeom prst="rect">
            <a:avLst/>
          </a:prstGeom>
          <a:noFill/>
          <a:ln/>
        </p:spPr>
        <p:txBody>
          <a:bodyPr wrap="none" lIns="0" tIns="0" rIns="0" bIns="0" rtlCol="0" anchor="ctr"/>
          <a:lstStyle/>
          <a:p>
            <a:pPr>
              <a:lnSpc>
                <a:spcPct val="100000"/>
              </a:lnSpc>
            </a:pPr>
            <a:r>
              <a:rPr lang="en-US" sz="1013" b="1" dirty="0">
                <a:solidFill>
                  <a:srgbClr val="2EAF8B"/>
                </a:solidFill>
                <a:latin typeface="Liter" pitchFamily="34" charset="0"/>
                <a:ea typeface="Liter" pitchFamily="34" charset="-122"/>
                <a:cs typeface="Liter" pitchFamily="34" charset="-120"/>
              </a:rPr>
              <a:t>Analytical Request</a:t>
            </a:r>
            <a:endParaRPr lang="en-US" sz="900" dirty="0"/>
          </a:p>
        </p:txBody>
      </p:sp>
      <p:sp>
        <p:nvSpPr>
          <p:cNvPr id="17" name="Text 14"/>
          <p:cNvSpPr/>
          <p:nvPr/>
        </p:nvSpPr>
        <p:spPr>
          <a:xfrm>
            <a:off x="5072062" y="3371850"/>
            <a:ext cx="3643313" cy="357188"/>
          </a:xfrm>
          <a:prstGeom prst="rect">
            <a:avLst/>
          </a:prstGeom>
          <a:noFill/>
          <a:ln/>
        </p:spPr>
        <p:txBody>
          <a:bodyPr wrap="square" lIns="0" tIns="0" rIns="0" bIns="0" rtlCol="0" anchor="t"/>
          <a:lstStyle/>
          <a:p>
            <a:pPr>
              <a:lnSpc>
                <a:spcPct val="140000"/>
              </a:lnSpc>
            </a:pPr>
            <a:r>
              <a:rPr lang="en-US" sz="844" dirty="0">
                <a:solidFill>
                  <a:srgbClr val="FFFFFF"/>
                </a:solidFill>
                <a:latin typeface="Liter" pitchFamily="34" charset="0"/>
                <a:ea typeface="Liter" pitchFamily="34" charset="-122"/>
                <a:cs typeface="Liter" pitchFamily="34" charset="-120"/>
              </a:rPr>
              <a:t>Requires comparison, trends, or explanation — insight generation</a:t>
            </a:r>
            <a:endParaRPr lang="en-US" sz="900" dirty="0"/>
          </a:p>
        </p:txBody>
      </p:sp>
      <p:sp>
        <p:nvSpPr>
          <p:cNvPr id="18" name="Shape 15"/>
          <p:cNvSpPr/>
          <p:nvPr/>
        </p:nvSpPr>
        <p:spPr>
          <a:xfrm>
            <a:off x="4857750" y="4050506"/>
            <a:ext cx="4000500" cy="857250"/>
          </a:xfrm>
          <a:prstGeom prst="rect">
            <a:avLst/>
          </a:prstGeom>
          <a:solidFill>
            <a:srgbClr val="1B2A4A"/>
          </a:solidFill>
          <a:ln/>
          <a:effectLst>
            <a:outerShdw blurRad="101600" dist="38100" dir="5400000" algn="bl" rotWithShape="0">
              <a:srgbClr val="000000">
                <a:alpha val="12549"/>
              </a:srgbClr>
            </a:outerShdw>
          </a:effectLst>
        </p:spPr>
        <p:txBody>
          <a:bodyPr/>
          <a:lstStyle/>
          <a:p>
            <a:endParaRPr lang="en-US"/>
          </a:p>
        </p:txBody>
      </p:sp>
      <p:sp>
        <p:nvSpPr>
          <p:cNvPr id="19" name="Shape 16"/>
          <p:cNvSpPr/>
          <p:nvPr/>
        </p:nvSpPr>
        <p:spPr>
          <a:xfrm>
            <a:off x="4857750" y="4050506"/>
            <a:ext cx="42863" cy="857250"/>
          </a:xfrm>
          <a:prstGeom prst="rect">
            <a:avLst/>
          </a:prstGeom>
          <a:solidFill>
            <a:srgbClr val="2EAF8B"/>
          </a:solidFill>
          <a:ln/>
        </p:spPr>
        <p:txBody>
          <a:bodyPr/>
          <a:lstStyle/>
          <a:p>
            <a:endParaRPr lang="en-US"/>
          </a:p>
        </p:txBody>
      </p:sp>
      <p:sp>
        <p:nvSpPr>
          <p:cNvPr id="20" name="Shape 17"/>
          <p:cNvSpPr/>
          <p:nvPr/>
        </p:nvSpPr>
        <p:spPr>
          <a:xfrm>
            <a:off x="5086350" y="4157662"/>
            <a:ext cx="200025" cy="228600"/>
          </a:xfrm>
          <a:custGeom>
            <a:avLst/>
            <a:gdLst/>
            <a:ahLst/>
            <a:cxnLst/>
            <a:rect l="l" t="t" r="r" b="b"/>
            <a:pathLst>
              <a:path w="355600" h="406400">
                <a:moveTo>
                  <a:pt x="177800" y="196850"/>
                </a:moveTo>
                <a:cubicBezTo>
                  <a:pt x="230370" y="196850"/>
                  <a:pt x="273050" y="154170"/>
                  <a:pt x="273050" y="101600"/>
                </a:cubicBezTo>
                <a:cubicBezTo>
                  <a:pt x="273050" y="49030"/>
                  <a:pt x="230370" y="6350"/>
                  <a:pt x="177800" y="6350"/>
                </a:cubicBezTo>
                <a:cubicBezTo>
                  <a:pt x="125230" y="6350"/>
                  <a:pt x="82550" y="49030"/>
                  <a:pt x="82550" y="101600"/>
                </a:cubicBezTo>
                <a:cubicBezTo>
                  <a:pt x="82550" y="154170"/>
                  <a:pt x="125230" y="196850"/>
                  <a:pt x="177800" y="196850"/>
                </a:cubicBezTo>
                <a:close/>
                <a:moveTo>
                  <a:pt x="154226" y="241300"/>
                </a:moveTo>
                <a:cubicBezTo>
                  <a:pt x="76041" y="241300"/>
                  <a:pt x="12700" y="304641"/>
                  <a:pt x="12700" y="382826"/>
                </a:cubicBezTo>
                <a:cubicBezTo>
                  <a:pt x="12700" y="395843"/>
                  <a:pt x="23257" y="406400"/>
                  <a:pt x="36274" y="406400"/>
                </a:cubicBezTo>
                <a:lnTo>
                  <a:pt x="319326" y="406400"/>
                </a:lnTo>
                <a:cubicBezTo>
                  <a:pt x="332343" y="406400"/>
                  <a:pt x="342900" y="395843"/>
                  <a:pt x="342900" y="382826"/>
                </a:cubicBezTo>
                <a:cubicBezTo>
                  <a:pt x="342900" y="304641"/>
                  <a:pt x="279559" y="241300"/>
                  <a:pt x="201374" y="241300"/>
                </a:cubicBezTo>
                <a:lnTo>
                  <a:pt x="154226" y="241300"/>
                </a:lnTo>
                <a:close/>
              </a:path>
            </a:pathLst>
          </a:custGeom>
          <a:solidFill>
            <a:srgbClr val="2EAF8B"/>
          </a:solidFill>
          <a:ln/>
        </p:spPr>
        <p:txBody>
          <a:bodyPr/>
          <a:lstStyle/>
          <a:p>
            <a:endParaRPr lang="en-US"/>
          </a:p>
        </p:txBody>
      </p:sp>
      <p:sp>
        <p:nvSpPr>
          <p:cNvPr id="21" name="Text 18"/>
          <p:cNvSpPr/>
          <p:nvPr/>
        </p:nvSpPr>
        <p:spPr>
          <a:xfrm>
            <a:off x="5393531" y="4157662"/>
            <a:ext cx="3286125" cy="228600"/>
          </a:xfrm>
          <a:prstGeom prst="rect">
            <a:avLst/>
          </a:prstGeom>
          <a:noFill/>
          <a:ln/>
        </p:spPr>
        <p:txBody>
          <a:bodyPr wrap="none" lIns="0" tIns="0" rIns="0" bIns="0" rtlCol="0" anchor="ctr"/>
          <a:lstStyle/>
          <a:p>
            <a:pPr>
              <a:lnSpc>
                <a:spcPct val="100000"/>
              </a:lnSpc>
            </a:pPr>
            <a:r>
              <a:rPr lang="en-US" sz="1013" b="1" dirty="0">
                <a:solidFill>
                  <a:srgbClr val="2EAF8B"/>
                </a:solidFill>
                <a:latin typeface="Liter" pitchFamily="34" charset="0"/>
                <a:ea typeface="Liter" pitchFamily="34" charset="-122"/>
                <a:cs typeface="Liter" pitchFamily="34" charset="-120"/>
              </a:rPr>
              <a:t>Individual Request</a:t>
            </a:r>
            <a:endParaRPr lang="en-US" sz="900" dirty="0"/>
          </a:p>
        </p:txBody>
      </p:sp>
      <p:sp>
        <p:nvSpPr>
          <p:cNvPr id="22" name="Text 19"/>
          <p:cNvSpPr/>
          <p:nvPr/>
        </p:nvSpPr>
        <p:spPr>
          <a:xfrm>
            <a:off x="5072062" y="4443412"/>
            <a:ext cx="3643313" cy="357188"/>
          </a:xfrm>
          <a:prstGeom prst="rect">
            <a:avLst/>
          </a:prstGeom>
          <a:noFill/>
          <a:ln/>
        </p:spPr>
        <p:txBody>
          <a:bodyPr wrap="square" lIns="0" tIns="0" rIns="0" bIns="0" rtlCol="0" anchor="t"/>
          <a:lstStyle/>
          <a:p>
            <a:pPr>
              <a:lnSpc>
                <a:spcPct val="140000"/>
              </a:lnSpc>
            </a:pPr>
            <a:r>
              <a:rPr lang="en-US" sz="844" dirty="0">
                <a:solidFill>
                  <a:srgbClr val="FFFFFF"/>
                </a:solidFill>
                <a:latin typeface="Liter" pitchFamily="34" charset="0"/>
                <a:ea typeface="Liter" pitchFamily="34" charset="-122"/>
                <a:cs typeface="Liter" pitchFamily="34" charset="-120"/>
              </a:rPr>
              <a:t>Retrieves specific records — person or case data via semantic search</a:t>
            </a:r>
            <a:endParaRPr lang="en-US" sz="900" dirty="0"/>
          </a:p>
        </p:txBody>
      </p:sp>
      <p:pic>
        <p:nvPicPr>
          <p:cNvPr id="23" name="Image 0" descr="preencoded.png">
            <a:extLst>
              <a:ext uri="{FF2B5EF4-FFF2-40B4-BE49-F238E27FC236}">
                <a16:creationId xmlns:a16="http://schemas.microsoft.com/office/drawing/2014/main" id="{98E79324-C6ED-8F81-8560-4E8BDD220BAB}"/>
              </a:ext>
            </a:extLst>
          </p:cNvPr>
          <p:cNvPicPr>
            <a:picLocks noChangeAspect="1"/>
          </p:cNvPicPr>
          <p:nvPr/>
        </p:nvPicPr>
        <p:blipFill>
          <a:blip r:embed="rId5"/>
          <a:stretch>
            <a:fillRect/>
          </a:stretch>
        </p:blipFill>
        <p:spPr>
          <a:xfrm>
            <a:off x="8046720" y="-571"/>
            <a:ext cx="685800" cy="676656"/>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411197-C6DC-B55A-6959-5D1654FB5E77}"/>
              </a:ext>
            </a:extLst>
          </p:cNvPr>
          <p:cNvPicPr>
            <a:picLocks noChangeAspect="1"/>
          </p:cNvPicPr>
          <p:nvPr/>
        </p:nvPicPr>
        <p:blipFill>
          <a:blip r:embed="rId2"/>
          <a:stretch>
            <a:fillRect/>
          </a:stretch>
        </p:blipFill>
        <p:spPr>
          <a:xfrm>
            <a:off x="86373" y="60453"/>
            <a:ext cx="4384516" cy="2377247"/>
          </a:xfrm>
          <a:prstGeom prst="rect">
            <a:avLst/>
          </a:prstGeom>
        </p:spPr>
      </p:pic>
      <p:pic>
        <p:nvPicPr>
          <p:cNvPr id="6" name="Picture 5">
            <a:extLst>
              <a:ext uri="{FF2B5EF4-FFF2-40B4-BE49-F238E27FC236}">
                <a16:creationId xmlns:a16="http://schemas.microsoft.com/office/drawing/2014/main" id="{FC1F75A5-C213-4101-E8AF-F1D9F34C6863}"/>
              </a:ext>
            </a:extLst>
          </p:cNvPr>
          <p:cNvPicPr>
            <a:picLocks noChangeAspect="1"/>
          </p:cNvPicPr>
          <p:nvPr/>
        </p:nvPicPr>
        <p:blipFill>
          <a:blip r:embed="rId3"/>
          <a:stretch>
            <a:fillRect/>
          </a:stretch>
        </p:blipFill>
        <p:spPr>
          <a:xfrm>
            <a:off x="4572000" y="60453"/>
            <a:ext cx="4384515" cy="2377247"/>
          </a:xfrm>
          <a:prstGeom prst="rect">
            <a:avLst/>
          </a:prstGeom>
        </p:spPr>
      </p:pic>
      <p:pic>
        <p:nvPicPr>
          <p:cNvPr id="8" name="Picture 7">
            <a:extLst>
              <a:ext uri="{FF2B5EF4-FFF2-40B4-BE49-F238E27FC236}">
                <a16:creationId xmlns:a16="http://schemas.microsoft.com/office/drawing/2014/main" id="{C6CE4BD1-16D0-7939-0344-1FBE168EE444}"/>
              </a:ext>
            </a:extLst>
          </p:cNvPr>
          <p:cNvPicPr>
            <a:picLocks noChangeAspect="1"/>
          </p:cNvPicPr>
          <p:nvPr/>
        </p:nvPicPr>
        <p:blipFill>
          <a:blip r:embed="rId4"/>
          <a:stretch>
            <a:fillRect/>
          </a:stretch>
        </p:blipFill>
        <p:spPr>
          <a:xfrm>
            <a:off x="86373" y="2498394"/>
            <a:ext cx="4384516" cy="2584653"/>
          </a:xfrm>
          <a:prstGeom prst="rect">
            <a:avLst/>
          </a:prstGeom>
        </p:spPr>
      </p:pic>
      <p:pic>
        <p:nvPicPr>
          <p:cNvPr id="10" name="Picture 9">
            <a:extLst>
              <a:ext uri="{FF2B5EF4-FFF2-40B4-BE49-F238E27FC236}">
                <a16:creationId xmlns:a16="http://schemas.microsoft.com/office/drawing/2014/main" id="{117ADF2B-392E-AB77-171F-6E00E647EA41}"/>
              </a:ext>
            </a:extLst>
          </p:cNvPr>
          <p:cNvPicPr>
            <a:picLocks noChangeAspect="1"/>
          </p:cNvPicPr>
          <p:nvPr/>
        </p:nvPicPr>
        <p:blipFill>
          <a:blip r:embed="rId5"/>
          <a:stretch>
            <a:fillRect/>
          </a:stretch>
        </p:blipFill>
        <p:spPr>
          <a:xfrm>
            <a:off x="4572000" y="2498394"/>
            <a:ext cx="4384515" cy="2584653"/>
          </a:xfrm>
          <a:prstGeom prst="rect">
            <a:avLst/>
          </a:prstGeom>
        </p:spPr>
      </p:pic>
    </p:spTree>
    <p:extLst>
      <p:ext uri="{BB962C8B-B14F-4D97-AF65-F5344CB8AC3E}">
        <p14:creationId xmlns:p14="http://schemas.microsoft.com/office/powerpoint/2010/main" val="1391538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D03039-AD3C-6D43-EBCB-EB6DE6C82772}"/>
              </a:ext>
            </a:extLst>
          </p:cNvPr>
          <p:cNvPicPr>
            <a:picLocks noChangeAspect="1"/>
          </p:cNvPicPr>
          <p:nvPr/>
        </p:nvPicPr>
        <p:blipFill>
          <a:blip r:embed="rId2"/>
          <a:stretch>
            <a:fillRect/>
          </a:stretch>
        </p:blipFill>
        <p:spPr>
          <a:xfrm>
            <a:off x="0" y="0"/>
            <a:ext cx="4708281" cy="2297948"/>
          </a:xfrm>
          <a:prstGeom prst="rect">
            <a:avLst/>
          </a:prstGeom>
        </p:spPr>
      </p:pic>
      <p:pic>
        <p:nvPicPr>
          <p:cNvPr id="5" name="Picture 4">
            <a:extLst>
              <a:ext uri="{FF2B5EF4-FFF2-40B4-BE49-F238E27FC236}">
                <a16:creationId xmlns:a16="http://schemas.microsoft.com/office/drawing/2014/main" id="{E1B3F4D2-873E-58FF-F15D-EE9A65168B09}"/>
              </a:ext>
            </a:extLst>
          </p:cNvPr>
          <p:cNvPicPr>
            <a:picLocks noChangeAspect="1"/>
          </p:cNvPicPr>
          <p:nvPr/>
        </p:nvPicPr>
        <p:blipFill>
          <a:blip r:embed="rId3"/>
          <a:stretch>
            <a:fillRect/>
          </a:stretch>
        </p:blipFill>
        <p:spPr>
          <a:xfrm>
            <a:off x="0" y="2380311"/>
            <a:ext cx="4708281" cy="2453260"/>
          </a:xfrm>
          <a:prstGeom prst="rect">
            <a:avLst/>
          </a:prstGeom>
        </p:spPr>
      </p:pic>
      <p:pic>
        <p:nvPicPr>
          <p:cNvPr id="7" name="Picture 6">
            <a:extLst>
              <a:ext uri="{FF2B5EF4-FFF2-40B4-BE49-F238E27FC236}">
                <a16:creationId xmlns:a16="http://schemas.microsoft.com/office/drawing/2014/main" id="{FBDD3A27-2EBF-6494-37CF-2E4C49B4B2D3}"/>
              </a:ext>
            </a:extLst>
          </p:cNvPr>
          <p:cNvPicPr>
            <a:picLocks noChangeAspect="1"/>
          </p:cNvPicPr>
          <p:nvPr/>
        </p:nvPicPr>
        <p:blipFill>
          <a:blip r:embed="rId4"/>
          <a:stretch>
            <a:fillRect/>
          </a:stretch>
        </p:blipFill>
        <p:spPr>
          <a:xfrm>
            <a:off x="4800600" y="0"/>
            <a:ext cx="4343400" cy="2297948"/>
          </a:xfrm>
          <a:prstGeom prst="rect">
            <a:avLst/>
          </a:prstGeom>
        </p:spPr>
      </p:pic>
      <p:pic>
        <p:nvPicPr>
          <p:cNvPr id="9" name="Picture 8">
            <a:extLst>
              <a:ext uri="{FF2B5EF4-FFF2-40B4-BE49-F238E27FC236}">
                <a16:creationId xmlns:a16="http://schemas.microsoft.com/office/drawing/2014/main" id="{7416617B-F8CC-69CD-5183-02EE7A1D0A45}"/>
              </a:ext>
            </a:extLst>
          </p:cNvPr>
          <p:cNvPicPr>
            <a:picLocks noChangeAspect="1"/>
          </p:cNvPicPr>
          <p:nvPr/>
        </p:nvPicPr>
        <p:blipFill>
          <a:blip r:embed="rId5"/>
          <a:stretch>
            <a:fillRect/>
          </a:stretch>
        </p:blipFill>
        <p:spPr>
          <a:xfrm>
            <a:off x="4800600" y="2380311"/>
            <a:ext cx="4343400" cy="2453260"/>
          </a:xfrm>
          <a:prstGeom prst="rect">
            <a:avLst/>
          </a:prstGeom>
        </p:spPr>
      </p:pic>
    </p:spTree>
    <p:extLst>
      <p:ext uri="{BB962C8B-B14F-4D97-AF65-F5344CB8AC3E}">
        <p14:creationId xmlns:p14="http://schemas.microsoft.com/office/powerpoint/2010/main" val="16105864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285750" y="0"/>
            <a:ext cx="5000625" cy="676656"/>
          </a:xfrm>
          <a:prstGeom prst="rect">
            <a:avLst/>
          </a:prstGeom>
          <a:noFill/>
          <a:ln/>
        </p:spPr>
        <p:txBody>
          <a:bodyPr wrap="none" lIns="0" tIns="0" rIns="0" bIns="0" rtlCol="0" anchor="ctr"/>
          <a:lstStyle/>
          <a:p>
            <a:pPr>
              <a:lnSpc>
                <a:spcPct val="100000"/>
              </a:lnSpc>
            </a:pPr>
            <a:r>
              <a:rPr lang="en-US" b="1" dirty="0">
                <a:solidFill>
                  <a:srgbClr val="FFFFFF"/>
                </a:solidFill>
                <a:latin typeface="Liter" pitchFamily="34" charset="0"/>
                <a:ea typeface="Liter" pitchFamily="34" charset="-122"/>
                <a:cs typeface="Liter" pitchFamily="34" charset="-120"/>
              </a:rPr>
              <a:t>n8n Workflow Orchestration</a:t>
            </a:r>
            <a:endParaRPr lang="en-US" dirty="0"/>
          </a:p>
        </p:txBody>
      </p:sp>
      <p:sp>
        <p:nvSpPr>
          <p:cNvPr id="4" name="Shape 2"/>
          <p:cNvSpPr/>
          <p:nvPr/>
        </p:nvSpPr>
        <p:spPr>
          <a:xfrm>
            <a:off x="285750" y="928688"/>
            <a:ext cx="4143375" cy="1928813"/>
          </a:xfrm>
          <a:prstGeom prst="rect">
            <a:avLst/>
          </a:prstGeom>
          <a:solidFill>
            <a:srgbClr val="1B2A4A"/>
          </a:solidFill>
          <a:ln/>
          <a:effectLst>
            <a:outerShdw blurRad="101600" dist="38100" dir="5400000" algn="bl" rotWithShape="0">
              <a:srgbClr val="000000">
                <a:alpha val="12549"/>
              </a:srgbClr>
            </a:outerShdw>
          </a:effectLst>
        </p:spPr>
        <p:txBody>
          <a:bodyPr/>
          <a:lstStyle/>
          <a:p>
            <a:endParaRPr lang="en-US"/>
          </a:p>
        </p:txBody>
      </p:sp>
      <p:sp>
        <p:nvSpPr>
          <p:cNvPr id="5" name="Shape 3"/>
          <p:cNvSpPr/>
          <p:nvPr/>
        </p:nvSpPr>
        <p:spPr>
          <a:xfrm>
            <a:off x="285750" y="928688"/>
            <a:ext cx="42863" cy="1928813"/>
          </a:xfrm>
          <a:prstGeom prst="rect">
            <a:avLst/>
          </a:prstGeom>
          <a:solidFill>
            <a:srgbClr val="2EAF8B"/>
          </a:solidFill>
          <a:ln/>
        </p:spPr>
        <p:txBody>
          <a:bodyPr/>
          <a:lstStyle/>
          <a:p>
            <a:endParaRPr lang="en-US"/>
          </a:p>
        </p:txBody>
      </p:sp>
      <p:sp>
        <p:nvSpPr>
          <p:cNvPr id="6" name="Shape 4"/>
          <p:cNvSpPr/>
          <p:nvPr/>
        </p:nvSpPr>
        <p:spPr>
          <a:xfrm>
            <a:off x="467916" y="1071564"/>
            <a:ext cx="321469" cy="257175"/>
          </a:xfrm>
          <a:custGeom>
            <a:avLst/>
            <a:gdLst/>
            <a:ahLst/>
            <a:cxnLst/>
            <a:rect l="l" t="t" r="r" b="b"/>
            <a:pathLst>
              <a:path w="571500" h="457200">
                <a:moveTo>
                  <a:pt x="314325" y="0"/>
                </a:moveTo>
                <a:cubicBezTo>
                  <a:pt x="314325" y="-15806"/>
                  <a:pt x="301556" y="-28575"/>
                  <a:pt x="285750" y="-28575"/>
                </a:cubicBezTo>
                <a:cubicBezTo>
                  <a:pt x="269944" y="-28575"/>
                  <a:pt x="257175" y="-15806"/>
                  <a:pt x="257175" y="0"/>
                </a:cubicBezTo>
                <a:lnTo>
                  <a:pt x="257175" y="57150"/>
                </a:lnTo>
                <a:lnTo>
                  <a:pt x="171450" y="57150"/>
                </a:lnTo>
                <a:cubicBezTo>
                  <a:pt x="124123" y="57150"/>
                  <a:pt x="85725" y="95548"/>
                  <a:pt x="85725" y="142875"/>
                </a:cubicBezTo>
                <a:lnTo>
                  <a:pt x="85725" y="342900"/>
                </a:lnTo>
                <a:cubicBezTo>
                  <a:pt x="85725" y="390227"/>
                  <a:pt x="124123" y="428625"/>
                  <a:pt x="171450" y="428625"/>
                </a:cubicBezTo>
                <a:lnTo>
                  <a:pt x="400050" y="428625"/>
                </a:lnTo>
                <a:cubicBezTo>
                  <a:pt x="447377" y="428625"/>
                  <a:pt x="485775" y="390227"/>
                  <a:pt x="485775" y="342900"/>
                </a:cubicBezTo>
                <a:lnTo>
                  <a:pt x="485775" y="142875"/>
                </a:lnTo>
                <a:cubicBezTo>
                  <a:pt x="485775" y="95548"/>
                  <a:pt x="447377" y="57150"/>
                  <a:pt x="400050" y="57150"/>
                </a:cubicBezTo>
                <a:lnTo>
                  <a:pt x="314325" y="57150"/>
                </a:lnTo>
                <a:lnTo>
                  <a:pt x="314325" y="0"/>
                </a:lnTo>
                <a:close/>
                <a:moveTo>
                  <a:pt x="142875" y="328613"/>
                </a:moveTo>
                <a:cubicBezTo>
                  <a:pt x="142875" y="316736"/>
                  <a:pt x="152430" y="307181"/>
                  <a:pt x="164306" y="307181"/>
                </a:cubicBezTo>
                <a:lnTo>
                  <a:pt x="192881" y="307181"/>
                </a:lnTo>
                <a:cubicBezTo>
                  <a:pt x="204758" y="307181"/>
                  <a:pt x="214313" y="316736"/>
                  <a:pt x="214313" y="328613"/>
                </a:cubicBezTo>
                <a:cubicBezTo>
                  <a:pt x="214313" y="340489"/>
                  <a:pt x="204758" y="350044"/>
                  <a:pt x="192881" y="350044"/>
                </a:cubicBezTo>
                <a:lnTo>
                  <a:pt x="164306" y="350044"/>
                </a:lnTo>
                <a:cubicBezTo>
                  <a:pt x="152430" y="350044"/>
                  <a:pt x="142875" y="340489"/>
                  <a:pt x="142875" y="328613"/>
                </a:cubicBezTo>
                <a:close/>
                <a:moveTo>
                  <a:pt x="250031" y="328613"/>
                </a:moveTo>
                <a:cubicBezTo>
                  <a:pt x="250031" y="316736"/>
                  <a:pt x="259586" y="307181"/>
                  <a:pt x="271463" y="307181"/>
                </a:cubicBezTo>
                <a:lnTo>
                  <a:pt x="300038" y="307181"/>
                </a:lnTo>
                <a:cubicBezTo>
                  <a:pt x="311914" y="307181"/>
                  <a:pt x="321469" y="316736"/>
                  <a:pt x="321469" y="328613"/>
                </a:cubicBezTo>
                <a:cubicBezTo>
                  <a:pt x="321469" y="340489"/>
                  <a:pt x="311914" y="350044"/>
                  <a:pt x="300038" y="350044"/>
                </a:cubicBezTo>
                <a:lnTo>
                  <a:pt x="271463" y="350044"/>
                </a:lnTo>
                <a:cubicBezTo>
                  <a:pt x="259586" y="350044"/>
                  <a:pt x="250031" y="340489"/>
                  <a:pt x="250031" y="328613"/>
                </a:cubicBezTo>
                <a:close/>
                <a:moveTo>
                  <a:pt x="357188" y="328613"/>
                </a:moveTo>
                <a:cubicBezTo>
                  <a:pt x="357188" y="316736"/>
                  <a:pt x="366742" y="307181"/>
                  <a:pt x="378619" y="307181"/>
                </a:cubicBezTo>
                <a:lnTo>
                  <a:pt x="407194" y="307181"/>
                </a:lnTo>
                <a:cubicBezTo>
                  <a:pt x="419070" y="307181"/>
                  <a:pt x="428625" y="316736"/>
                  <a:pt x="428625" y="328613"/>
                </a:cubicBezTo>
                <a:cubicBezTo>
                  <a:pt x="428625" y="340489"/>
                  <a:pt x="419070" y="350044"/>
                  <a:pt x="407194" y="350044"/>
                </a:cubicBezTo>
                <a:lnTo>
                  <a:pt x="378619" y="350044"/>
                </a:lnTo>
                <a:cubicBezTo>
                  <a:pt x="366742" y="350044"/>
                  <a:pt x="357188" y="340489"/>
                  <a:pt x="357188" y="328613"/>
                </a:cubicBezTo>
                <a:close/>
                <a:moveTo>
                  <a:pt x="200025" y="157163"/>
                </a:moveTo>
                <a:cubicBezTo>
                  <a:pt x="223681" y="157163"/>
                  <a:pt x="242888" y="176369"/>
                  <a:pt x="242888" y="200025"/>
                </a:cubicBezTo>
                <a:cubicBezTo>
                  <a:pt x="242888" y="223681"/>
                  <a:pt x="223681" y="242888"/>
                  <a:pt x="200025" y="242888"/>
                </a:cubicBezTo>
                <a:cubicBezTo>
                  <a:pt x="176369" y="242888"/>
                  <a:pt x="157163" y="223681"/>
                  <a:pt x="157163" y="200025"/>
                </a:cubicBezTo>
                <a:cubicBezTo>
                  <a:pt x="157163" y="176369"/>
                  <a:pt x="176369" y="157163"/>
                  <a:pt x="200025" y="157163"/>
                </a:cubicBezTo>
                <a:close/>
                <a:moveTo>
                  <a:pt x="328613" y="200025"/>
                </a:moveTo>
                <a:cubicBezTo>
                  <a:pt x="328613" y="176369"/>
                  <a:pt x="347819" y="157163"/>
                  <a:pt x="371475" y="157163"/>
                </a:cubicBezTo>
                <a:cubicBezTo>
                  <a:pt x="395131" y="157163"/>
                  <a:pt x="414338" y="176369"/>
                  <a:pt x="414338" y="200025"/>
                </a:cubicBezTo>
                <a:cubicBezTo>
                  <a:pt x="414338" y="223681"/>
                  <a:pt x="395131" y="242888"/>
                  <a:pt x="371475" y="242888"/>
                </a:cubicBezTo>
                <a:cubicBezTo>
                  <a:pt x="347819" y="242888"/>
                  <a:pt x="328613" y="223681"/>
                  <a:pt x="328613" y="200025"/>
                </a:cubicBezTo>
                <a:close/>
                <a:moveTo>
                  <a:pt x="57150" y="200025"/>
                </a:moveTo>
                <a:cubicBezTo>
                  <a:pt x="57150" y="184219"/>
                  <a:pt x="44381" y="171450"/>
                  <a:pt x="28575" y="171450"/>
                </a:cubicBezTo>
                <a:cubicBezTo>
                  <a:pt x="12769" y="171450"/>
                  <a:pt x="0" y="184219"/>
                  <a:pt x="0" y="200025"/>
                </a:cubicBezTo>
                <a:lnTo>
                  <a:pt x="0" y="285750"/>
                </a:lnTo>
                <a:cubicBezTo>
                  <a:pt x="0" y="301556"/>
                  <a:pt x="12769" y="314325"/>
                  <a:pt x="28575" y="314325"/>
                </a:cubicBezTo>
                <a:cubicBezTo>
                  <a:pt x="44381" y="314325"/>
                  <a:pt x="57150" y="301556"/>
                  <a:pt x="57150" y="285750"/>
                </a:cubicBezTo>
                <a:lnTo>
                  <a:pt x="57150" y="200025"/>
                </a:lnTo>
                <a:close/>
                <a:moveTo>
                  <a:pt x="542925" y="171450"/>
                </a:moveTo>
                <a:cubicBezTo>
                  <a:pt x="527119" y="171450"/>
                  <a:pt x="514350" y="184219"/>
                  <a:pt x="514350" y="200025"/>
                </a:cubicBezTo>
                <a:lnTo>
                  <a:pt x="514350" y="285750"/>
                </a:lnTo>
                <a:cubicBezTo>
                  <a:pt x="514350" y="301556"/>
                  <a:pt x="527119" y="314325"/>
                  <a:pt x="542925" y="314325"/>
                </a:cubicBezTo>
                <a:cubicBezTo>
                  <a:pt x="558731" y="314325"/>
                  <a:pt x="571500" y="301556"/>
                  <a:pt x="571500" y="285750"/>
                </a:cubicBezTo>
                <a:lnTo>
                  <a:pt x="571500" y="200025"/>
                </a:lnTo>
                <a:cubicBezTo>
                  <a:pt x="571500" y="184219"/>
                  <a:pt x="558731" y="171450"/>
                  <a:pt x="542925" y="171450"/>
                </a:cubicBezTo>
                <a:close/>
              </a:path>
            </a:pathLst>
          </a:custGeom>
          <a:solidFill>
            <a:srgbClr val="2EAF8B"/>
          </a:solidFill>
          <a:ln/>
        </p:spPr>
        <p:txBody>
          <a:bodyPr/>
          <a:lstStyle/>
          <a:p>
            <a:endParaRPr lang="en-US"/>
          </a:p>
        </p:txBody>
      </p:sp>
      <p:sp>
        <p:nvSpPr>
          <p:cNvPr id="7" name="Text 5"/>
          <p:cNvSpPr/>
          <p:nvPr/>
        </p:nvSpPr>
        <p:spPr>
          <a:xfrm>
            <a:off x="857250" y="1071564"/>
            <a:ext cx="3286125" cy="257175"/>
          </a:xfrm>
          <a:prstGeom prst="rect">
            <a:avLst/>
          </a:prstGeom>
          <a:noFill/>
          <a:ln/>
        </p:spPr>
        <p:txBody>
          <a:bodyPr wrap="none" lIns="0" tIns="0" rIns="0" bIns="0" rtlCol="0" anchor="ctr"/>
          <a:lstStyle/>
          <a:p>
            <a:pPr>
              <a:lnSpc>
                <a:spcPct val="100000"/>
              </a:lnSpc>
            </a:pPr>
            <a:r>
              <a:rPr lang="en-US" sz="1238" b="1" dirty="0">
                <a:solidFill>
                  <a:srgbClr val="FFFFFF"/>
                </a:solidFill>
                <a:latin typeface="Liter" pitchFamily="34" charset="0"/>
                <a:ea typeface="Liter" pitchFamily="34" charset="-122"/>
                <a:cs typeface="Liter" pitchFamily="34" charset="-120"/>
              </a:rPr>
              <a:t>RAG Ingest Workflow</a:t>
            </a:r>
            <a:endParaRPr lang="en-US" sz="1238" dirty="0"/>
          </a:p>
        </p:txBody>
      </p:sp>
      <p:sp>
        <p:nvSpPr>
          <p:cNvPr id="8" name="Text 6"/>
          <p:cNvSpPr/>
          <p:nvPr/>
        </p:nvSpPr>
        <p:spPr>
          <a:xfrm>
            <a:off x="500062" y="1428751"/>
            <a:ext cx="3786188" cy="1285875"/>
          </a:xfrm>
          <a:prstGeom prst="rect">
            <a:avLst/>
          </a:prstGeom>
          <a:noFill/>
          <a:ln/>
        </p:spPr>
        <p:txBody>
          <a:bodyPr wrap="square" lIns="0" tIns="0" rIns="0" bIns="0" rtlCol="0" anchor="t"/>
          <a:lstStyle/>
          <a:p>
            <a:pPr>
              <a:lnSpc>
                <a:spcPct val="160000"/>
              </a:lnSpc>
            </a:pPr>
            <a:r>
              <a:rPr lang="en-US" sz="1013" dirty="0">
                <a:solidFill>
                  <a:srgbClr val="FFFFFF"/>
                </a:solidFill>
                <a:latin typeface="Liter" pitchFamily="34" charset="0"/>
                <a:ea typeface="Liter" pitchFamily="34" charset="-122"/>
                <a:cs typeface="Liter" pitchFamily="34" charset="-120"/>
              </a:rPr>
              <a:t>Automated workflow for data ingestion:</a:t>
            </a:r>
            <a:endParaRPr lang="en-US" sz="900" dirty="0"/>
          </a:p>
          <a:p>
            <a:pPr>
              <a:lnSpc>
                <a:spcPct val="160000"/>
              </a:lnSpc>
              <a:spcBef>
                <a:spcPts val="338"/>
              </a:spcBef>
            </a:pPr>
            <a:r>
              <a:rPr lang="en-US" sz="1013" dirty="0">
                <a:solidFill>
                  <a:srgbClr val="FFFFFF"/>
                </a:solidFill>
                <a:latin typeface="Liter" pitchFamily="34" charset="0"/>
                <a:ea typeface="Liter" pitchFamily="34" charset="-122"/>
                <a:cs typeface="Liter" pitchFamily="34" charset="-120"/>
              </a:rPr>
              <a:t>• Trigger → Read CSV file from disk</a:t>
            </a:r>
            <a:endParaRPr lang="en-US" sz="900" dirty="0"/>
          </a:p>
          <a:p>
            <a:pPr>
              <a:lnSpc>
                <a:spcPct val="160000"/>
              </a:lnSpc>
            </a:pPr>
            <a:r>
              <a:rPr lang="en-US" sz="1013" dirty="0">
                <a:solidFill>
                  <a:srgbClr val="FFFFFF"/>
                </a:solidFill>
                <a:latin typeface="Liter" pitchFamily="34" charset="0"/>
                <a:ea typeface="Liter" pitchFamily="34" charset="-122"/>
                <a:cs typeface="Liter" pitchFamily="34" charset="-120"/>
              </a:rPr>
              <a:t>• Extract and process data records</a:t>
            </a:r>
            <a:endParaRPr lang="en-US" sz="900" dirty="0"/>
          </a:p>
          <a:p>
            <a:pPr>
              <a:lnSpc>
                <a:spcPct val="160000"/>
              </a:lnSpc>
            </a:pPr>
            <a:r>
              <a:rPr lang="en-US" sz="1013" dirty="0">
                <a:solidFill>
                  <a:srgbClr val="FFFFFF"/>
                </a:solidFill>
                <a:latin typeface="Liter" pitchFamily="34" charset="0"/>
                <a:ea typeface="Liter" pitchFamily="34" charset="-122"/>
                <a:cs typeface="Liter" pitchFamily="34" charset="-120"/>
              </a:rPr>
              <a:t>• Convert to vector embeddings</a:t>
            </a:r>
            <a:endParaRPr lang="en-US" sz="900" dirty="0"/>
          </a:p>
          <a:p>
            <a:pPr>
              <a:lnSpc>
                <a:spcPct val="160000"/>
              </a:lnSpc>
            </a:pPr>
            <a:r>
              <a:rPr lang="en-US" sz="1013" dirty="0">
                <a:solidFill>
                  <a:srgbClr val="FFFFFF"/>
                </a:solidFill>
                <a:latin typeface="Liter" pitchFamily="34" charset="0"/>
                <a:ea typeface="Liter" pitchFamily="34" charset="-122"/>
                <a:cs typeface="Liter" pitchFamily="34" charset="-120"/>
              </a:rPr>
              <a:t>• Upsert into Qdrant vector database</a:t>
            </a:r>
            <a:endParaRPr lang="en-US" sz="900" dirty="0"/>
          </a:p>
        </p:txBody>
      </p:sp>
      <p:pic>
        <p:nvPicPr>
          <p:cNvPr id="9" name="Image 0" descr="https://kimi-img.moonshot.cn/pub/slides/okc/pcpvqv7bqmkfa/mnt/agents/output/rag_presentation/images/image_2.png"/>
          <p:cNvPicPr>
            <a:picLocks noChangeAspect="1"/>
          </p:cNvPicPr>
          <p:nvPr/>
        </p:nvPicPr>
        <p:blipFill>
          <a:blip r:embed="rId3"/>
          <a:srcRect t="6491" b="6491"/>
          <a:stretch/>
        </p:blipFill>
        <p:spPr>
          <a:xfrm>
            <a:off x="285750" y="3071813"/>
            <a:ext cx="4143375" cy="1928813"/>
          </a:xfrm>
          <a:prstGeom prst="rect">
            <a:avLst/>
          </a:prstGeom>
        </p:spPr>
      </p:pic>
      <p:sp>
        <p:nvSpPr>
          <p:cNvPr id="10" name="Shape 7"/>
          <p:cNvSpPr/>
          <p:nvPr/>
        </p:nvSpPr>
        <p:spPr>
          <a:xfrm>
            <a:off x="4714875" y="928688"/>
            <a:ext cx="4143375" cy="1928813"/>
          </a:xfrm>
          <a:prstGeom prst="rect">
            <a:avLst/>
          </a:prstGeom>
          <a:solidFill>
            <a:srgbClr val="1B2A4A"/>
          </a:solidFill>
          <a:ln/>
          <a:effectLst>
            <a:outerShdw blurRad="101600" dist="38100" dir="5400000" algn="bl" rotWithShape="0">
              <a:srgbClr val="000000">
                <a:alpha val="12549"/>
              </a:srgbClr>
            </a:outerShdw>
          </a:effectLst>
        </p:spPr>
        <p:txBody>
          <a:bodyPr/>
          <a:lstStyle/>
          <a:p>
            <a:endParaRPr lang="en-US"/>
          </a:p>
        </p:txBody>
      </p:sp>
      <p:sp>
        <p:nvSpPr>
          <p:cNvPr id="11" name="Shape 8"/>
          <p:cNvSpPr/>
          <p:nvPr/>
        </p:nvSpPr>
        <p:spPr>
          <a:xfrm>
            <a:off x="4714875" y="928688"/>
            <a:ext cx="42863" cy="1928813"/>
          </a:xfrm>
          <a:prstGeom prst="rect">
            <a:avLst/>
          </a:prstGeom>
          <a:solidFill>
            <a:srgbClr val="2EAF8B"/>
          </a:solidFill>
          <a:ln/>
        </p:spPr>
        <p:txBody>
          <a:bodyPr/>
          <a:lstStyle/>
          <a:p>
            <a:endParaRPr lang="en-US"/>
          </a:p>
        </p:txBody>
      </p:sp>
      <p:sp>
        <p:nvSpPr>
          <p:cNvPr id="12" name="Shape 9"/>
          <p:cNvSpPr/>
          <p:nvPr/>
        </p:nvSpPr>
        <p:spPr>
          <a:xfrm>
            <a:off x="4913114" y="1071564"/>
            <a:ext cx="289322" cy="257175"/>
          </a:xfrm>
          <a:custGeom>
            <a:avLst/>
            <a:gdLst/>
            <a:ahLst/>
            <a:cxnLst/>
            <a:rect l="l" t="t" r="r" b="b"/>
            <a:pathLst>
              <a:path w="514350" h="457200">
                <a:moveTo>
                  <a:pt x="342900" y="128588"/>
                </a:moveTo>
                <a:cubicBezTo>
                  <a:pt x="342900" y="215384"/>
                  <a:pt x="266105" y="285750"/>
                  <a:pt x="171450" y="285750"/>
                </a:cubicBezTo>
                <a:cubicBezTo>
                  <a:pt x="147608" y="285750"/>
                  <a:pt x="124926" y="281285"/>
                  <a:pt x="104299" y="273248"/>
                </a:cubicBezTo>
                <a:lnTo>
                  <a:pt x="31433" y="311825"/>
                </a:lnTo>
                <a:cubicBezTo>
                  <a:pt x="23128" y="316200"/>
                  <a:pt x="12948" y="314682"/>
                  <a:pt x="6251" y="308074"/>
                </a:cubicBezTo>
                <a:cubicBezTo>
                  <a:pt x="-446" y="301466"/>
                  <a:pt x="-1965" y="291197"/>
                  <a:pt x="2500" y="282893"/>
                </a:cubicBezTo>
                <a:lnTo>
                  <a:pt x="34290" y="222885"/>
                </a:lnTo>
                <a:cubicBezTo>
                  <a:pt x="12769" y="196632"/>
                  <a:pt x="0" y="163949"/>
                  <a:pt x="0" y="128588"/>
                </a:cubicBezTo>
                <a:cubicBezTo>
                  <a:pt x="0" y="41791"/>
                  <a:pt x="76795" y="-28575"/>
                  <a:pt x="171450" y="-28575"/>
                </a:cubicBezTo>
                <a:cubicBezTo>
                  <a:pt x="266105" y="-28575"/>
                  <a:pt x="342900" y="41791"/>
                  <a:pt x="342900" y="128588"/>
                </a:cubicBezTo>
                <a:close/>
                <a:moveTo>
                  <a:pt x="342900" y="457200"/>
                </a:moveTo>
                <a:cubicBezTo>
                  <a:pt x="258872" y="457200"/>
                  <a:pt x="188952" y="401747"/>
                  <a:pt x="174308" y="328613"/>
                </a:cubicBezTo>
                <a:cubicBezTo>
                  <a:pt x="281464" y="327273"/>
                  <a:pt x="374600" y="251014"/>
                  <a:pt x="384870" y="147608"/>
                </a:cubicBezTo>
                <a:cubicBezTo>
                  <a:pt x="459254" y="164753"/>
                  <a:pt x="514350" y="226457"/>
                  <a:pt x="514350" y="300038"/>
                </a:cubicBezTo>
                <a:cubicBezTo>
                  <a:pt x="514350" y="335399"/>
                  <a:pt x="501581" y="368082"/>
                  <a:pt x="480060" y="394335"/>
                </a:cubicBezTo>
                <a:lnTo>
                  <a:pt x="511850" y="454342"/>
                </a:lnTo>
                <a:cubicBezTo>
                  <a:pt x="516225" y="462647"/>
                  <a:pt x="514707" y="472827"/>
                  <a:pt x="508099" y="479524"/>
                </a:cubicBezTo>
                <a:cubicBezTo>
                  <a:pt x="501491" y="486221"/>
                  <a:pt x="491222" y="487740"/>
                  <a:pt x="482917" y="483275"/>
                </a:cubicBezTo>
                <a:lnTo>
                  <a:pt x="410051" y="444698"/>
                </a:lnTo>
                <a:cubicBezTo>
                  <a:pt x="389424" y="452735"/>
                  <a:pt x="366742" y="457200"/>
                  <a:pt x="342900" y="457200"/>
                </a:cubicBezTo>
                <a:close/>
              </a:path>
            </a:pathLst>
          </a:custGeom>
          <a:solidFill>
            <a:srgbClr val="2EAF8B"/>
          </a:solidFill>
          <a:ln/>
        </p:spPr>
        <p:txBody>
          <a:bodyPr/>
          <a:lstStyle/>
          <a:p>
            <a:endParaRPr lang="en-US"/>
          </a:p>
        </p:txBody>
      </p:sp>
      <p:sp>
        <p:nvSpPr>
          <p:cNvPr id="13" name="Text 10"/>
          <p:cNvSpPr/>
          <p:nvPr/>
        </p:nvSpPr>
        <p:spPr>
          <a:xfrm>
            <a:off x="5286375" y="1071564"/>
            <a:ext cx="3286125" cy="257175"/>
          </a:xfrm>
          <a:prstGeom prst="rect">
            <a:avLst/>
          </a:prstGeom>
          <a:noFill/>
          <a:ln/>
        </p:spPr>
        <p:txBody>
          <a:bodyPr wrap="none" lIns="0" tIns="0" rIns="0" bIns="0" rtlCol="0" anchor="ctr"/>
          <a:lstStyle/>
          <a:p>
            <a:pPr>
              <a:lnSpc>
                <a:spcPct val="100000"/>
              </a:lnSpc>
            </a:pPr>
            <a:r>
              <a:rPr lang="en-US" sz="1238" b="1" dirty="0">
                <a:solidFill>
                  <a:srgbClr val="FFFFFF"/>
                </a:solidFill>
                <a:latin typeface="Liter" pitchFamily="34" charset="0"/>
                <a:ea typeface="Liter" pitchFamily="34" charset="-122"/>
                <a:cs typeface="Liter" pitchFamily="34" charset="-120"/>
              </a:rPr>
              <a:t>RAG Chat Workflow</a:t>
            </a:r>
            <a:endParaRPr lang="en-US" sz="1238" dirty="0"/>
          </a:p>
        </p:txBody>
      </p:sp>
      <p:sp>
        <p:nvSpPr>
          <p:cNvPr id="14" name="Text 11"/>
          <p:cNvSpPr/>
          <p:nvPr/>
        </p:nvSpPr>
        <p:spPr>
          <a:xfrm>
            <a:off x="4929187" y="1428751"/>
            <a:ext cx="3786188" cy="1285875"/>
          </a:xfrm>
          <a:prstGeom prst="rect">
            <a:avLst/>
          </a:prstGeom>
          <a:noFill/>
          <a:ln/>
        </p:spPr>
        <p:txBody>
          <a:bodyPr wrap="square" lIns="0" tIns="0" rIns="0" bIns="0" rtlCol="0" anchor="t"/>
          <a:lstStyle/>
          <a:p>
            <a:pPr>
              <a:lnSpc>
                <a:spcPct val="160000"/>
              </a:lnSpc>
            </a:pPr>
            <a:r>
              <a:rPr lang="en-US" sz="1013" dirty="0">
                <a:solidFill>
                  <a:srgbClr val="FFFFFF"/>
                </a:solidFill>
                <a:latin typeface="Liter" pitchFamily="34" charset="0"/>
                <a:ea typeface="Liter" pitchFamily="34" charset="-122"/>
                <a:cs typeface="Liter" pitchFamily="34" charset="-120"/>
              </a:rPr>
              <a:t>Real-time chat workflow:</a:t>
            </a:r>
            <a:endParaRPr lang="en-US" sz="900" dirty="0"/>
          </a:p>
          <a:p>
            <a:pPr>
              <a:lnSpc>
                <a:spcPct val="160000"/>
              </a:lnSpc>
              <a:spcBef>
                <a:spcPts val="338"/>
              </a:spcBef>
            </a:pPr>
            <a:r>
              <a:rPr lang="en-US" sz="1013" dirty="0">
                <a:solidFill>
                  <a:srgbClr val="FFFFFF"/>
                </a:solidFill>
                <a:latin typeface="Liter" pitchFamily="34" charset="0"/>
                <a:ea typeface="Liter" pitchFamily="34" charset="-122"/>
                <a:cs typeface="Liter" pitchFamily="34" charset="-120"/>
              </a:rPr>
              <a:t>• Webhook receives user message</a:t>
            </a:r>
            <a:endParaRPr lang="en-US" sz="900" dirty="0"/>
          </a:p>
          <a:p>
            <a:pPr>
              <a:lnSpc>
                <a:spcPct val="160000"/>
              </a:lnSpc>
            </a:pPr>
            <a:r>
              <a:rPr lang="en-US" sz="1013" dirty="0">
                <a:solidFill>
                  <a:srgbClr val="FFFFFF"/>
                </a:solidFill>
                <a:latin typeface="Liter" pitchFamily="34" charset="0"/>
                <a:ea typeface="Liter" pitchFamily="34" charset="-122"/>
                <a:cs typeface="Liter" pitchFamily="34" charset="-120"/>
              </a:rPr>
              <a:t>• HTTP Request forwards to Flask API</a:t>
            </a:r>
            <a:endParaRPr lang="en-US" sz="900" dirty="0"/>
          </a:p>
          <a:p>
            <a:pPr>
              <a:lnSpc>
                <a:spcPct val="160000"/>
              </a:lnSpc>
            </a:pPr>
            <a:r>
              <a:rPr lang="en-US" sz="1013" dirty="0">
                <a:solidFill>
                  <a:srgbClr val="FFFFFF"/>
                </a:solidFill>
                <a:latin typeface="Liter" pitchFamily="34" charset="0"/>
                <a:ea typeface="Liter" pitchFamily="34" charset="-122"/>
                <a:cs typeface="Liter" pitchFamily="34" charset="-120"/>
              </a:rPr>
              <a:t>• Flask processes and routes query</a:t>
            </a:r>
            <a:endParaRPr lang="en-US" sz="900" dirty="0"/>
          </a:p>
          <a:p>
            <a:pPr>
              <a:lnSpc>
                <a:spcPct val="160000"/>
              </a:lnSpc>
            </a:pPr>
            <a:r>
              <a:rPr lang="en-US" sz="1013" dirty="0">
                <a:solidFill>
                  <a:srgbClr val="FFFFFF"/>
                </a:solidFill>
                <a:latin typeface="Liter" pitchFamily="34" charset="0"/>
                <a:ea typeface="Liter" pitchFamily="34" charset="-122"/>
                <a:cs typeface="Liter" pitchFamily="34" charset="-120"/>
              </a:rPr>
              <a:t>• Response returned to user via webhook</a:t>
            </a:r>
            <a:endParaRPr lang="en-US" sz="900" dirty="0"/>
          </a:p>
        </p:txBody>
      </p:sp>
      <p:pic>
        <p:nvPicPr>
          <p:cNvPr id="15" name="Image 1" descr="https://kimi-img.moonshot.cn/pub/slides/okc/pcpvqv7bqmkfa/mnt/agents/output/rag_presentation/images/image_10.png"/>
          <p:cNvPicPr>
            <a:picLocks noChangeAspect="1"/>
          </p:cNvPicPr>
          <p:nvPr/>
        </p:nvPicPr>
        <p:blipFill>
          <a:blip r:embed="rId4"/>
          <a:srcRect t="6661" b="6661"/>
          <a:stretch/>
        </p:blipFill>
        <p:spPr>
          <a:xfrm>
            <a:off x="4714875" y="3071813"/>
            <a:ext cx="4143375" cy="1928813"/>
          </a:xfrm>
          <a:prstGeom prst="rect">
            <a:avLst/>
          </a:prstGeom>
        </p:spPr>
      </p:pic>
      <p:pic>
        <p:nvPicPr>
          <p:cNvPr id="16" name="Image 0" descr="preencoded.png">
            <a:extLst>
              <a:ext uri="{FF2B5EF4-FFF2-40B4-BE49-F238E27FC236}">
                <a16:creationId xmlns:a16="http://schemas.microsoft.com/office/drawing/2014/main" id="{063B7063-A788-C256-C4F1-921ED649C685}"/>
              </a:ext>
            </a:extLst>
          </p:cNvPr>
          <p:cNvPicPr>
            <a:picLocks noChangeAspect="1"/>
          </p:cNvPicPr>
          <p:nvPr/>
        </p:nvPicPr>
        <p:blipFill>
          <a:blip r:embed="rId5"/>
          <a:stretch>
            <a:fillRect/>
          </a:stretch>
        </p:blipFill>
        <p:spPr>
          <a:xfrm>
            <a:off x="8046720" y="-14858"/>
            <a:ext cx="685800" cy="676656"/>
          </a:xfrm>
          <a:prstGeom prst="rect">
            <a:avLst/>
          </a:prstGeom>
        </p:spPr>
      </p:pic>
    </p:spTree>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0"/>
          <p:cNvSpPr/>
          <p:nvPr/>
        </p:nvSpPr>
        <p:spPr>
          <a:xfrm>
            <a:off x="0" y="0"/>
            <a:ext cx="9144000" cy="676656"/>
          </a:xfrm>
          <a:prstGeom prst="rect">
            <a:avLst/>
          </a:prstGeom>
          <a:gradFill flip="none" rotWithShape="1">
            <a:gsLst>
              <a:gs pos="0">
                <a:srgbClr val="121358"/>
              </a:gs>
              <a:gs pos="73000">
                <a:srgbClr val="36ADA3"/>
              </a:gs>
              <a:gs pos="93000">
                <a:schemeClr val="accent1">
                  <a:lumMod val="40000"/>
                  <a:lumOff val="60000"/>
                </a:schemeClr>
              </a:gs>
            </a:gsLst>
            <a:lin ang="0" scaled="1"/>
          </a:gradFill>
          <a:ln/>
        </p:spPr>
        <p:txBody>
          <a:bodyPr/>
          <a:lstStyle/>
          <a:p>
            <a:endParaRPr lang="en-US"/>
          </a:p>
        </p:txBody>
      </p:sp>
      <p:sp>
        <p:nvSpPr>
          <p:cNvPr id="3" name="Text 1"/>
          <p:cNvSpPr/>
          <p:nvPr/>
        </p:nvSpPr>
        <p:spPr>
          <a:xfrm>
            <a:off x="285750" y="0"/>
            <a:ext cx="4286250" cy="676656"/>
          </a:xfrm>
          <a:prstGeom prst="rect">
            <a:avLst/>
          </a:prstGeom>
          <a:noFill/>
          <a:ln/>
        </p:spPr>
        <p:txBody>
          <a:bodyPr wrap="none" lIns="0" tIns="0" rIns="0" bIns="0" rtlCol="0" anchor="ctr"/>
          <a:lstStyle/>
          <a:p>
            <a:pPr>
              <a:lnSpc>
                <a:spcPct val="100000"/>
              </a:lnSpc>
            </a:pPr>
            <a:r>
              <a:rPr lang="en-US" b="1" dirty="0">
                <a:solidFill>
                  <a:srgbClr val="FFFFFF"/>
                </a:solidFill>
                <a:latin typeface="Liter" pitchFamily="34" charset="0"/>
                <a:ea typeface="Liter" pitchFamily="34" charset="-122"/>
                <a:cs typeface="Liter" pitchFamily="34" charset="-120"/>
              </a:rPr>
              <a:t>System Architecture</a:t>
            </a:r>
            <a:endParaRPr lang="en-US" dirty="0"/>
          </a:p>
        </p:txBody>
      </p:sp>
      <p:pic>
        <p:nvPicPr>
          <p:cNvPr id="4" name="Image 0" descr="https://kimi-img.moonshot.cn/pub/slides/okc/pcpvqv7bqmkfa/mnt/agents/output/rag_presentation/images/image_4.jpg"/>
          <p:cNvPicPr>
            <a:picLocks noChangeAspect="1"/>
          </p:cNvPicPr>
          <p:nvPr/>
        </p:nvPicPr>
        <p:blipFill>
          <a:blip r:embed="rId4"/>
          <a:srcRect l="-6694" r="-6694"/>
          <a:stretch/>
        </p:blipFill>
        <p:spPr>
          <a:xfrm>
            <a:off x="285750" y="864394"/>
            <a:ext cx="8572500" cy="4143375"/>
          </a:xfrm>
          <a:prstGeom prst="rect">
            <a:avLst/>
          </a:prstGeom>
        </p:spPr>
      </p:pic>
      <p:pic>
        <p:nvPicPr>
          <p:cNvPr id="5" name="Image 0" descr="preencoded.png">
            <a:extLst>
              <a:ext uri="{FF2B5EF4-FFF2-40B4-BE49-F238E27FC236}">
                <a16:creationId xmlns:a16="http://schemas.microsoft.com/office/drawing/2014/main" id="{A0306C51-C658-6428-D4F2-F352C12C72B8}"/>
              </a:ext>
            </a:extLst>
          </p:cNvPr>
          <p:cNvPicPr>
            <a:picLocks noChangeAspect="1"/>
          </p:cNvPicPr>
          <p:nvPr/>
        </p:nvPicPr>
        <p:blipFill>
          <a:blip r:embed="rId5"/>
          <a:stretch>
            <a:fillRect/>
          </a:stretch>
        </p:blipFill>
        <p:spPr>
          <a:xfrm>
            <a:off x="8046720" y="0"/>
            <a:ext cx="685800" cy="676656"/>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211492-8279-BD40-9975-44E535EE8CD2}"/>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42208502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C47914-6AE8-237B-BC07-8B19CCD28786}"/>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0491195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AC1615-461B-C23C-0501-996EB6A2CA3B}"/>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0301748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B1AA54-77B8-F1CC-4FB3-8140BFB47AF6}"/>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51676797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734BC5-E356-00E0-55E8-74DAD56B4ECA}"/>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5225496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3B049B-10DA-0D1E-235A-17AE5B469A42}"/>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1899498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48F8AB-8F2E-7089-D613-0F2DFD177636}"/>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823025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E55BBC-1CEC-1530-4508-E814B97A2B5A}"/>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16973393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065AB0-6D7F-824F-69D0-AA8B7DC54C96}"/>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32931597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11">
    <p:bg>
      <p:bgPr>
        <a:gradFill flip="none" rotWithShape="1">
          <a:gsLst>
            <a:gs pos="0">
              <a:srgbClr val="121358"/>
            </a:gs>
            <a:gs pos="18000">
              <a:srgbClr val="232F72"/>
            </a:gs>
            <a:gs pos="50000">
              <a:srgbClr val="2F578A"/>
            </a:gs>
          </a:gsLst>
          <a:lin ang="8100000" scaled="1"/>
        </a:gra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36ADA3"/>
          </a:solidFill>
          <a:ln/>
        </p:spPr>
        <p:txBody>
          <a:bodyPr/>
          <a:lstStyle/>
          <a:p>
            <a:endParaRPr lang="en-US"/>
          </a:p>
        </p:txBody>
      </p:sp>
      <p:sp>
        <p:nvSpPr>
          <p:cNvPr id="3" name="Shape 1"/>
          <p:cNvSpPr/>
          <p:nvPr/>
        </p:nvSpPr>
        <p:spPr>
          <a:xfrm>
            <a:off x="0" y="5052060"/>
            <a:ext cx="9144000" cy="91440"/>
          </a:xfrm>
          <a:prstGeom prst="rect">
            <a:avLst/>
          </a:prstGeom>
          <a:solidFill>
            <a:srgbClr val="36ADA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3566160" y="502920"/>
            <a:ext cx="2011680" cy="2103120"/>
          </a:xfrm>
          <a:prstGeom prst="rect">
            <a:avLst/>
          </a:prstGeom>
        </p:spPr>
      </p:pic>
      <p:sp>
        <p:nvSpPr>
          <p:cNvPr id="5" name="Text 2"/>
          <p:cNvSpPr/>
          <p:nvPr/>
        </p:nvSpPr>
        <p:spPr>
          <a:xfrm>
            <a:off x="457200" y="2606040"/>
            <a:ext cx="8229600" cy="1280160"/>
          </a:xfrm>
          <a:prstGeom prst="rect">
            <a:avLst/>
          </a:prstGeom>
          <a:noFill/>
          <a:ln/>
        </p:spPr>
        <p:txBody>
          <a:bodyPr wrap="square" rtlCol="0" anchor="ctr"/>
          <a:lstStyle/>
          <a:p>
            <a:pPr marL="0" indent="0" algn="ctr">
              <a:buNone/>
            </a:pPr>
            <a:r>
              <a:rPr lang="en-US" sz="3400" b="1" dirty="0">
                <a:solidFill>
                  <a:srgbClr val="FFFFFF"/>
                </a:solidFill>
                <a:latin typeface="Quattrocento Sans" pitchFamily="34" charset="0"/>
                <a:ea typeface="Quattrocento Sans" pitchFamily="34" charset="-122"/>
                <a:cs typeface="Quattrocento Sans" pitchFamily="34" charset="-120"/>
              </a:rPr>
              <a:t>One Platform</a:t>
            </a:r>
            <a:endParaRPr lang="en-US" sz="3400" dirty="0">
              <a:solidFill>
                <a:srgbClr val="121358"/>
              </a:solidFill>
            </a:endParaRPr>
          </a:p>
          <a:p>
            <a:pPr marL="0" indent="0" algn="ctr">
              <a:buNone/>
            </a:pPr>
            <a:r>
              <a:rPr lang="en-US" sz="3400" b="1" dirty="0">
                <a:solidFill>
                  <a:srgbClr val="FFFFFF"/>
                </a:solidFill>
                <a:latin typeface="Quattrocento Sans" pitchFamily="34" charset="0"/>
                <a:ea typeface="Quattrocento Sans" pitchFamily="34" charset="-122"/>
                <a:cs typeface="Quattrocento Sans" pitchFamily="34" charset="-120"/>
              </a:rPr>
              <a:t>Total Visibility</a:t>
            </a:r>
            <a:endParaRPr lang="en-US" sz="3400" dirty="0">
              <a:solidFill>
                <a:srgbClr val="121358"/>
              </a:solidFill>
            </a:endParaRPr>
          </a:p>
        </p:txBody>
      </p:sp>
      <p:sp>
        <p:nvSpPr>
          <p:cNvPr id="6" name="Text 3"/>
          <p:cNvSpPr/>
          <p:nvPr/>
        </p:nvSpPr>
        <p:spPr>
          <a:xfrm>
            <a:off x="457200" y="3977640"/>
            <a:ext cx="8229600" cy="457200"/>
          </a:xfrm>
          <a:prstGeom prst="rect">
            <a:avLst/>
          </a:prstGeom>
          <a:noFill/>
          <a:ln/>
        </p:spPr>
        <p:txBody>
          <a:bodyPr wrap="square" rtlCol="0" anchor="ctr"/>
          <a:lstStyle/>
          <a:p>
            <a:pPr marL="0" indent="0" algn="ctr">
              <a:buNone/>
            </a:pPr>
            <a:r>
              <a:rPr lang="en-US" sz="1400" i="1" dirty="0">
                <a:solidFill>
                  <a:srgbClr val="36ADA3"/>
                </a:solidFill>
              </a:rPr>
              <a:t>From raw census data to actionable labor market intelligence — powered by CAPMAS 2024</a:t>
            </a:r>
            <a:endParaRPr lang="en-US" sz="14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webextensions/webextension1.xml><?xml version="1.0" encoding="utf-8"?>
<we:webextension xmlns:we="http://schemas.microsoft.com/office/webextensions/webextension/2010/11" id="{7F67028A-F930-4DE7-B53A-7E69ED62C63A}">
  <we:reference id="wa200003233" version="2.0.0.3" store="en-GB" storeType="OMEX"/>
  <we:alternateReferences>
    <we:reference id="WA200003233" version="2.0.0.3" store="" storeType="OMEX"/>
  </we:alternateReferences>
  <we:properties>
    <we:property name="embedUrl" value="&quot;/reportEmbed?reportId=a06fb50b-07e0-4377-9f93-da1d84e7fded&amp;config=eyJjbHVzdGVyVXJsIjoiaHR0cHM6Ly9XQUJJLUVVUk9QRS1OT1JUSC1CLXJlZGlyZWN0LmFuYWx5c2lzLndpbmRvd3MubmV0IiwiZW1iZWRGZWF0dXJlcyI6eyJ1c2FnZU1ldHJpY3NWTmV4dCI6dHJ1ZX19&amp;disableSensitivityBanner=true&amp;storytellingChangeViewModeShortcutKeys=true&quot;"/>
    <we:property name="bookmark" value="&quot;H4sIAAAAAAAAA6VWTY/USAz9K6ucR8j1bXNkryuExIoL4mBXObNZMp1WJ42GHc1/X6cbiQOEoJ5Ld8pxnp/9XK566towH0f++pYftHvdvZmmzw98+vyH6+66w9WWBHvqHag2SQgABcTeTsdlmA5z9/qpW/h0r8uHYT7zuAKZ8eOnu47H8R3fr6uex1nvuqOe5unA4/CfXp3t1XI66/Ndp4/HcTrxCvl+4UVX2C/mbmuj4F4Fi8h1Gb7oe63L1dpT8z1qyyVyJoxMaXWbrw4XZj91WaEv4f+cDgsPBwuz2pIvCOr7FhOQI67AdbXPw+F+/Eb4+7d/fz2uxRkeLMO1GvKvhV1xnp8tnT5L71SSEjUNEmuktou16OMi0+OPaJJrrSFAYERWzL6VsIs2/8PHnzCD4rygtFCheQKKjuLtzAixxxCUNUlO7Amz3lozQpcyWtG8CDaEgnU/y01mWJJn6GsKJUVs7DPALhpfOufNeVmswX6ATKpVc6viuWZXcN0Mt8ogjnv2BQpRlVhcTrqPtZlsTtWFRJmctQaAJPA3ywCNo0IR5uq80fLwkgYJgSQV6kvN3DCR7TF+oQzFVXKFPEhAyAFIHN0qQ8jqXNEiVZRcRu85354so48ioUcyZtHlQkVulUE4EluTpFBT8w69C/4FzDyigm9IBW13FXRxn9mvZegVgsdQRH1SCc2F39j6GzKUUJzW6lIgLk2FGPZH73bPSamVNAoDco7ZMt7vuQ0ZVO0kSFmoFk7VZ4PaL9wmMztifAJhX4OPGWxAOXzpUILKrjnwWFyL0RSJ+32yIUNyfVHb7g0Ubf4ax984ZzaTVd9i014jNFeA7My5fSj52mwi2fEMgLk2AeD9wm0ya0B9rh4hQIYQpbm6326/kuGC+t3SPahdiNaH6bzMR676jg+2/vjUHU+T3YKWQS9+duvhQ9P27fm0/v81LHq6xv/A43kNfbk+dZcwn9af/wEIhwYCtgkAAA==&quot;"/>
    <we:property name="datasetId" value="&quot;dc76c9fb-79da-460f-a6d3-4c9d5864c643&quot;"/>
    <we:property name="pageName" value="&quot;f9d2f8ed674a6984a953&quot;"/>
    <we:property name="reportUrl" value="&quot;/groups/me/reports/a06fb50b-07e0-4377-9f93-da1d84e7fded/f9d2f8ed674a6984a953?pbi_source=storytelling_addin&quot;"/>
    <we:property name="reportName" value="&quot;labor_force&quot;"/>
    <we:property name="reportState" value="&quot;CONNECTED&quot;"/>
    <we:property name="pageDisplayName" value="&quot;Egypt Labor Market Insights&quot;"/>
    <we:property name="backgroundColor" value="&quot;#EAF4F3&quot;"/>
    <we:property name="initialStateBookmark" value="&quot;H4sIAAAAAAAAA6VWTW/cRgz9K4XORsD5JnNLipzSfKApcgmCgpyhXDXyarErB04N//dSawM5JIqM9WWl4VKPj3wcztx2bTjuR/72lq+0e969nKYvV3z48pvrLrrdg+3du9dvXvz5+u+3L968MvO0n4dpd+ye33YzHy51/jgcr3lcEMz46fNFx+P4ni+XVc/jUS+6vR6O047H4T+9d7a/5sO13l10erMfpwMvkB9mnnWB/WrutrbY7lmwiFzn4at+0DrfW3tqvkdtuUTOhJEpLW7He4cTs5+6LNCn8L9Pu5mHnYVZbMkXBPV9iwnIEVfgutiPw+5yfCD8/du/vu2XqgxXluFSDfnXwi44d3eWTp+ldypJiZoGiTVS28Sa9WaW6eZHNMm11hAgMCIrZt9K2EQ7/sP7nzCD4rygtFCheQKKjuL5zAixxxCUNUlO7AmznlszQpcyWtG8CDaEgnU7y1VmWJJn6GsKJUVs7DPAJhqfOufl9Txbg/0AmVSr5lbFc82uYMJHQK7III579gUKUZVYXE66jbWabE7VhUSZnLUGgCTwZ8sAjaNCEebqvNHy8JQGCYEkFepLzdwwke0xfqIMxVVyhTxIQMgBSBydK0PI6lzRIlWUXEbvOZ+fLKOPIqFHMmbR5UJFzpVBOBJbk6RQU/MOvQv+Ccw8ooJvSAVtdxV0cZvZr2XoFYLHUER9UgnNhUds/RUZSihOa3UpEJemQgzbo3e956TUShqFATnHbBlv99yKDKp2EqQsVAun6rNBbRdulZkdMT6BsK/Bxww2oBw+dShBZdcceCyuxWiKxO0+WZEhub6obfcGijZ/jeMjzpnVZNW32LTXCM0VIDtzzh9KvjabSHY8A2CuTQB4u3CrzBpQn6tHCJAhRGmubrfbr2Q4oX63dFdqF6LlZbqej3uu+p53tv502+0Pk92C5kFPfnbr4V3T9vB+WJ5/DLMe7uN/5PF6CX26PnWnIEZpkFE3PlguVd2J1ufl5382aN853wkAAA==&quot;"/>
    <we:property name="isFiltersActionButtonVisible" value="true"/>
    <we:property name="isVisualContainerHeaderHidden" value="false"/>
    <we:property name="reportEmbeddedTime" value="&quot;2026-06-07T19:35:33.410Z&quot;"/>
    <we:property name="creatorTenantId" value="&quot;ab23560d-b43b-4533-8a28-e3a128e3266a&quot;"/>
    <we:property name="creatorUserId" value="&quot;10032000B97B0079&quot;"/>
    <we:property name="creatorSessionId" value="&quot;652b26f1-977c-488a-8db1-f41525101a32&quot;"/>
    <we:property name="artifactViewState" value="&quot;liv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922</TotalTime>
  <Words>2963</Words>
  <Application>Microsoft Office PowerPoint</Application>
  <PresentationFormat>On-screen Show (16:9)</PresentationFormat>
  <Paragraphs>566</Paragraphs>
  <Slides>93</Slides>
  <Notes>49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93</vt:i4>
      </vt:variant>
    </vt:vector>
  </HeadingPairs>
  <TitlesOfParts>
    <vt:vector size="102" baseType="lpstr">
      <vt:lpstr>Arial</vt:lpstr>
      <vt:lpstr>Calibri</vt:lpstr>
      <vt:lpstr>Calibri (Body)</vt:lpstr>
      <vt:lpstr>Consolas</vt:lpstr>
      <vt:lpstr>Courier New</vt:lpstr>
      <vt:lpstr>Liter</vt:lpstr>
      <vt:lpstr>Quattrocento Sans</vt:lpstr>
      <vt:lpstr>QuattrocentoSans</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Egypt Labor Market Insights</dc:title>
  <dc:subject>PptxGenJS Presentation</dc:subject>
  <dc:creator>PptxGenJS</dc:creator>
  <cp:lastModifiedBy>Abd Elfatah Gaber</cp:lastModifiedBy>
  <cp:revision>36</cp:revision>
  <dcterms:created xsi:type="dcterms:W3CDTF">2026-06-06T18:38:43Z</dcterms:created>
  <dcterms:modified xsi:type="dcterms:W3CDTF">2026-06-11T14:50:57Z</dcterms:modified>
</cp:coreProperties>
</file>